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Detailed companion: every component, trigger, class, state machine and target of the consolidated platform — at the same depth as the two source decks.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Distinguished-engineer review: seven simplifications, all applied in this version. Net effect: 6 queues to 3, 7 state machines to 4, 3 extraction tiers presented as 1 task + gateway call, 17 triggers to 8 shown, Glue/Athena and OpenSearch deferred. No governance invariant changes: S3 truth, one-way boundary, human gate, fenced publish, determinants, and URN merge all stay.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service, one responsibility. Sixteen services, each with a single job — the consolidated platform swaps Batch for Fargate but keeps A's discipline.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in one line: events flow left to right through five stages and cross one human gate; the data layer underneath holds truth, control state and rebuildable projections. The next four slides zoom into each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per the approved baseline: four event sources — GitHub webhooks, deployment events, Test Automation Service inventory, schedules; the normalizer authenticates and deduplicates, EventBridge rules route, and priority SQS queues (Tier-1 through runtime) buffer. Raw webhooks in; normalized, deduplicated, prioritized events out — spikes absorbed by the lanes, never the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to Stage 1: one push travels the intake path with actual values — the raw GitHub delivery and Jenkins deploy event, the normalized envelope, the DynamoDB control items it creates, and the EventBridge rule that routes it. The same delivery GUID threads every artifact.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Simplified per the DE review: four Step Functions workflows. Deployment promotion is now a three-step Lambda pointer update on the events lane, publication is the fenced final stage of the two proposing workflows, and the runtime session is a controller on the evidence 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workflows step by step, plus the two functions the DE review folded away: the deploy pointer update (a Lambda step) and the runtime session controller. Publication is the fenced tail of the proposing workflows. Three queues only: interactive, events, bulk.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Revised per review: extraction is a set of focused services — deterministic parsers on Fargate, an AST/tree-sitter + rule-pack service, and a separate LLM gateway that chunks source before the call — plus a runtime layer: OTel element-attribute sidecars, custom-config SDKs, and native Spark/Dask emission. Every mechanism emits edges in one OpenLineage-style schema with common URNs for dataset and element. Agreement sets the confidence band: SCA+LLM+runtime highest, SCA+runtime high, LLM-only lowest and never gates. Glue/Athena interaction context stays deferred.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Simplified per the DE review: seventeen rows collapse to eight canonical triggers — onboarding variants fold into scope reconciliation, PR variants into one PRGate row, deploy outcomes into one row. The operational long tail moves to the appendix. There is still no manual invocation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Classification happens before any expensive work. Seven levels of evidence precedence decide the class; nine classes each have a defined baseline and on-change treatment; UNKNOWN is never silent.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macro loop every change follows: eight stages, one human gate, with classification branches and conditional Bedrock and runtime lanes.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Redesigned as a process flow: eight steps from onboarding trigger to fenced publish, with classification before any checkout and the Distributed Map fanning out per repository. The route-by-class strip shows each class's treatment in one line; the appendix slide that follows explains what each routing means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to the baseline flow: what each repository class is, why it takes that route, and what the platform produces for it. Plus the two conditional lanes that only run when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Redesigned as a process flow: eight steps from normalized event to fenced publish. Determinant-bounded targeting is the heart — re-derive an edge only when a file it was derived from changed — with an explainable no-impact exit. Routing per class in the chip strip; meanings on the appendix slide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to the incremental flow: what each class-route means on change, why the no-impact exit is sound, and the nightly safety net that keeps determinant-based invalidation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Simplified per the DE review to the five architectural claims: signed time-boxed session, metadata-only emission, validated ordered streaming, manifest-verified reconciliation into S3, and corroboration joining the URN merge. The full 10-state lifecycle lives in the runbook appendix; the production hard-deny stack is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Edges from all mechanisms merge by URN into a common schema. Agreement is the confidence signal: an edge mapped by multiple independent mechanisms scores higher than any single mechanism alone, and only those high-confidence edges can block PRs.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proposal state machine: corrections never mutate the original — they create version plus one; rejected and superseded proposals are retained forever; publish failures redrive.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Simplified to the five essential steps: write the approved manifest, reserve and fence, stage into an inactive namespace, verify, then flip the pointer in one fenced transaction. The three failure modes are designed outcomes, not accidents.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Redesigned as a process flow: seven steps from PR webhook to rendered check, against the environment baseline — what is deployed, never default-branch HEAD — inside a 30-second p95 budget with fail-open. Verdict meanings and gate policy on the appendix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to the PR gate: what each verdict means, when it fires, and what the author sees — plus the gate policy tying blocking to multi-mechanism confidence, the time budget, and the observe-to-block ramp.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Redesigned as a process flow: truth follows deployment. A merge only records a candidate; the deploy event matches the exact digest and flips the environment pointer. Failure, rollback and hotfix branches below; state meanings on the appendix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to deployment promotion: each state, what it means, and what moves it. The invariant throughout: only a successful deploy of an exact digest changes what an environment asserts as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nine hops of a push becoming published graph facts, with the exact keys and validations at each hop. Every hop stamps the correlationId into the flow-status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Authority versus projection: S3 is the rebuild source of truth, DynamoDB is control state, Neptune and OpenSearch are disposable. The DR posture follows directly from this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Launch gates, not guarantees — each is measured under load before GA. The sizing formula and fairness rules keep Tier-1 latency flat during baseline and backfill.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image" Target="../media/image-3-16.png"/><Relationship Id="rId17" Type="http://schemas.openxmlformats.org/officeDocument/2006/relationships/slideLayout" Target="../slideLayouts/slideLayout1.xml"/><Relationship Id="rId1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slideLayout" Target="../slideLayouts/slideLayout1.xml"/><Relationship Id="rId1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slideLayout" Target="../slideLayouts/slideLayout1.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slideLayout" Target="../slideLayouts/slideLayout1.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slideLayout" Target="../slideLayouts/slideLayout1.xml"/><Relationship Id="rId9"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91C20"/>
        </a:solidFill>
      </p:bgPr>
    </p:bg>
    <p:spTree>
      <p:nvGrpSpPr>
        <p:cNvPr id="1" name=""/>
        <p:cNvGrpSpPr/>
        <p:nvPr/>
      </p:nvGrpSpPr>
      <p:grpSpPr>
        <a:xfrm>
          <a:off x="0" y="0"/>
          <a:ext cx="0" cy="0"/>
          <a:chOff x="0" y="0"/>
          <a:chExt cx="0" cy="0"/>
        </a:xfrm>
      </p:grpSpPr>
      <p:sp>
        <p:nvSpPr>
          <p:cNvPr id="2" name="Text 0"/>
          <p:cNvSpPr/>
          <p:nvPr/>
        </p:nvSpPr>
        <p:spPr>
          <a:xfrm>
            <a:off x="1333500" y="2552700"/>
            <a:ext cx="17183100" cy="361950"/>
          </a:xfrm>
          <a:prstGeom prst="rect">
            <a:avLst/>
          </a:prstGeom>
          <a:noFill/>
          <a:ln/>
        </p:spPr>
        <p:txBody>
          <a:bodyPr wrap="square" lIns="25400" tIns="25400" rIns="25400" bIns="25400" rtlCol="0" anchor="t">
            <a:normAutofit/>
          </a:bodyPr>
          <a:lstStyle/>
          <a:p>
            <a:pPr algn="l" indent="0" marL="0">
              <a:buNone/>
            </a:pPr>
            <a:r>
              <a:rPr lang="en-US" sz="1950" spc="351" kern="0" dirty="0">
                <a:solidFill>
                  <a:srgbClr val="8FB3BF"/>
                </a:solidFill>
                <a:latin typeface="IBM Plex Mono" pitchFamily="34" charset="0"/>
                <a:ea typeface="IBM Plex Mono" pitchFamily="34" charset="-122"/>
                <a:cs typeface="IBM Plex Mono" pitchFamily="34" charset="-120"/>
              </a:rPr>
              <a:t>LINEAGE COLLECTION PLATFORM · CONSOLIDATED DESIGN · V3 — WITH DE REVIEW</a:t>
            </a:r>
            <a:endParaRPr lang="en-US" sz="1950" dirty="0"/>
          </a:p>
        </p:txBody>
      </p:sp>
      <p:sp>
        <p:nvSpPr>
          <p:cNvPr id="3" name="Text 1"/>
          <p:cNvSpPr/>
          <p:nvPr/>
        </p:nvSpPr>
        <p:spPr>
          <a:xfrm>
            <a:off x="1333500" y="3295650"/>
            <a:ext cx="14912340" cy="1847850"/>
          </a:xfrm>
          <a:prstGeom prst="rect">
            <a:avLst/>
          </a:prstGeom>
          <a:noFill/>
          <a:ln/>
        </p:spPr>
        <p:txBody>
          <a:bodyPr wrap="square" lIns="25400" tIns="25400" rIns="25400" bIns="25400" rtlCol="0" anchor="t">
            <a:normAutofit/>
          </a:bodyPr>
          <a:lstStyle/>
          <a:p>
            <a:pPr algn="l" indent="0" marL="0">
              <a:lnSpc>
                <a:spcPct val="83368"/>
              </a:lnSpc>
              <a:buNone/>
            </a:pPr>
            <a:r>
              <a:rPr lang="en-US" sz="6600" b="1" dirty="0">
                <a:solidFill>
                  <a:srgbClr val="F2EFE9"/>
                </a:solidFill>
                <a:latin typeface="IBM Plex Sans" pitchFamily="34" charset="0"/>
                <a:ea typeface="IBM Plex Sans" pitchFamily="34" charset="-122"/>
                <a:cs typeface="IBM Plex Sans" pitchFamily="34" charset="-120"/>
              </a:rPr>
              <a:t>AWS Architecture &amp; Process Flow Diagrams</a:t>
            </a:r>
            <a:endParaRPr lang="en-US" sz="6600" dirty="0"/>
          </a:p>
        </p:txBody>
      </p:sp>
      <p:sp>
        <p:nvSpPr>
          <p:cNvPr id="4" name="Text 2"/>
          <p:cNvSpPr/>
          <p:nvPr/>
        </p:nvSpPr>
        <p:spPr>
          <a:xfrm>
            <a:off x="1333500" y="5429250"/>
            <a:ext cx="13244513" cy="971550"/>
          </a:xfrm>
          <a:prstGeom prst="rect">
            <a:avLst/>
          </a:prstGeom>
          <a:noFill/>
          <a:ln/>
        </p:spPr>
        <p:txBody>
          <a:bodyPr wrap="square" lIns="25400" tIns="25400" rIns="25400" bIns="25400" rtlCol="0" anchor="t">
            <a:normAutofit/>
          </a:bodyPr>
          <a:lstStyle/>
          <a:p>
            <a:pPr algn="l" indent="0" marL="0">
              <a:lnSpc>
                <a:spcPct val="112045"/>
              </a:lnSpc>
              <a:buNone/>
            </a:pPr>
            <a:r>
              <a:rPr lang="en-US" sz="2550" dirty="0">
                <a:solidFill>
                  <a:srgbClr val="B8BDC4"/>
                </a:solidFill>
                <a:latin typeface="IBM Plex Sans" pitchFamily="34" charset="0"/>
                <a:ea typeface="IBM Plex Sans" pitchFamily="34" charset="-122"/>
                <a:cs typeface="IBM Plex Sans" pitchFamily="34" charset="-120"/>
              </a:rPr>
              <a:t>Components, trigger matrix, classification, five collection workflows, evidence &amp; confidence, proposal lifecycle, fenced publication, ownership and scale targets.</a:t>
            </a:r>
            <a:endParaRPr lang="en-US" sz="2550" dirty="0"/>
          </a:p>
        </p:txBody>
      </p:sp>
      <p:sp>
        <p:nvSpPr>
          <p:cNvPr id="5" name="Text 3"/>
          <p:cNvSpPr/>
          <p:nvPr/>
        </p:nvSpPr>
        <p:spPr>
          <a:xfrm>
            <a:off x="1333500" y="7124700"/>
            <a:ext cx="2351187" cy="647700"/>
          </a:xfrm>
          <a:prstGeom prst="rect">
            <a:avLst/>
          </a:prstGeom>
          <a:noFill/>
          <a:ln/>
        </p:spPr>
        <p:txBody>
          <a:bodyPr wrap="square" lIns="25400" tIns="25400" rIns="25400" bIns="25400" rtlCol="0" anchor="t">
            <a:normAutofit/>
          </a:bodyPr>
          <a:lstStyle/>
          <a:p>
            <a:pPr algn="l" indent="0" marL="0">
              <a:buNone/>
            </a:pPr>
            <a:r>
              <a:rPr lang="en-US" sz="1800" dirty="0">
                <a:solidFill>
                  <a:srgbClr val="8A9099"/>
                </a:solidFill>
                <a:latin typeface="IBM Plex Mono" pitchFamily="34" charset="0"/>
                <a:ea typeface="IBM Plex Mono" pitchFamily="34" charset="-122"/>
                <a:cs typeface="IBM Plex Mono" pitchFamily="34" charset="-120"/>
              </a:rPr>
              <a:t>10,000 REPOSITORIES</a:t>
            </a:r>
            <a:endParaRPr lang="en-US" sz="1800" dirty="0"/>
          </a:p>
        </p:txBody>
      </p:sp>
      <p:sp>
        <p:nvSpPr>
          <p:cNvPr id="6" name="Text 4"/>
          <p:cNvSpPr/>
          <p:nvPr/>
        </p:nvSpPr>
        <p:spPr>
          <a:xfrm>
            <a:off x="4103787" y="7124700"/>
            <a:ext cx="2221260" cy="647700"/>
          </a:xfrm>
          <a:prstGeom prst="rect">
            <a:avLst/>
          </a:prstGeom>
          <a:noFill/>
          <a:ln/>
        </p:spPr>
        <p:txBody>
          <a:bodyPr wrap="square" lIns="25400" tIns="25400" rIns="25400" bIns="25400" rtlCol="0" anchor="t">
            <a:normAutofit/>
          </a:bodyPr>
          <a:lstStyle/>
          <a:p>
            <a:pPr algn="l" indent="0" marL="0">
              <a:buNone/>
            </a:pPr>
            <a:r>
              <a:rPr lang="en-US" sz="1800" dirty="0">
                <a:solidFill>
                  <a:srgbClr val="8A9099"/>
                </a:solidFill>
                <a:latin typeface="IBM Plex Mono" pitchFamily="34" charset="0"/>
                <a:ea typeface="IBM Plex Mono" pitchFamily="34" charset="-122"/>
                <a:cs typeface="IBM Plex Mono" pitchFamily="34" charset="-120"/>
              </a:rPr>
              <a:t>≥1 DEPLOY/REPO/DAY</a:t>
            </a:r>
            <a:endParaRPr lang="en-US" sz="1800" dirty="0"/>
          </a:p>
        </p:txBody>
      </p:sp>
      <p:sp>
        <p:nvSpPr>
          <p:cNvPr id="7" name="Text 5"/>
          <p:cNvSpPr/>
          <p:nvPr/>
        </p:nvSpPr>
        <p:spPr>
          <a:xfrm>
            <a:off x="6744146" y="7124700"/>
            <a:ext cx="2351187" cy="647700"/>
          </a:xfrm>
          <a:prstGeom prst="rect">
            <a:avLst/>
          </a:prstGeom>
          <a:noFill/>
          <a:ln/>
        </p:spPr>
        <p:txBody>
          <a:bodyPr wrap="square" lIns="25400" tIns="25400" rIns="25400" bIns="25400" rtlCol="0" anchor="t">
            <a:normAutofit/>
          </a:bodyPr>
          <a:lstStyle/>
          <a:p>
            <a:pPr algn="l" indent="0" marL="0">
              <a:buNone/>
            </a:pPr>
            <a:r>
              <a:rPr lang="en-US" sz="1800" dirty="0">
                <a:solidFill>
                  <a:srgbClr val="8A9099"/>
                </a:solidFill>
                <a:latin typeface="IBM Plex Mono" pitchFamily="34" charset="0"/>
                <a:ea typeface="IBM Plex Mono" pitchFamily="34" charset="-122"/>
                <a:cs typeface="IBM Plex Mono" pitchFamily="34" charset="-120"/>
              </a:rPr>
              <a:t>ZERO-TOUCH TRIGGERS</a:t>
            </a:r>
            <a:endParaRPr lang="en-US" sz="1800" dirty="0"/>
          </a:p>
        </p:txBody>
      </p:sp>
      <p:sp>
        <p:nvSpPr>
          <p:cNvPr id="8" name="Text 6"/>
          <p:cNvSpPr/>
          <p:nvPr/>
        </p:nvSpPr>
        <p:spPr>
          <a:xfrm>
            <a:off x="9514433" y="7124700"/>
            <a:ext cx="3206582" cy="647700"/>
          </a:xfrm>
          <a:prstGeom prst="rect">
            <a:avLst/>
          </a:prstGeom>
          <a:noFill/>
          <a:ln/>
        </p:spPr>
        <p:txBody>
          <a:bodyPr wrap="square" lIns="25400" tIns="25400" rIns="25400" bIns="25400" rtlCol="0" anchor="t">
            <a:normAutofit/>
          </a:bodyPr>
          <a:lstStyle/>
          <a:p>
            <a:pPr algn="l" indent="0" marL="0">
              <a:buNone/>
            </a:pPr>
            <a:r>
              <a:rPr lang="en-US" sz="1800" dirty="0">
                <a:solidFill>
                  <a:srgbClr val="8A9099"/>
                </a:solidFill>
                <a:latin typeface="IBM Plex Mono" pitchFamily="34" charset="0"/>
                <a:ea typeface="IBM Plex Mono" pitchFamily="34" charset="-122"/>
                <a:cs typeface="IBM Plex Mono" pitchFamily="34" charset="-120"/>
              </a:rPr>
              <a:t>HUMAN-APPROVED PUBLICATION</a:t>
            </a:r>
            <a:endParaRPr lang="en-US" sz="1800" dirty="0"/>
          </a:p>
        </p:txBody>
      </p:sp>
      <p:sp>
        <p:nvSpPr>
          <p:cNvPr id="9" name="Text 7"/>
          <p:cNvSpPr/>
          <p:nvPr/>
        </p:nvSpPr>
        <p:spPr>
          <a:xfrm>
            <a:off x="13122920" y="7124700"/>
            <a:ext cx="3946527" cy="647700"/>
          </a:xfrm>
          <a:prstGeom prst="rect">
            <a:avLst/>
          </a:prstGeom>
          <a:noFill/>
          <a:ln/>
        </p:spPr>
        <p:txBody>
          <a:bodyPr wrap="square" lIns="25400" tIns="25400" rIns="25400" bIns="25400" rtlCol="0" anchor="t">
            <a:normAutofit/>
          </a:bodyPr>
          <a:lstStyle/>
          <a:p>
            <a:pPr algn="l" indent="0" marL="0">
              <a:buNone/>
            </a:pPr>
            <a:r>
              <a:rPr lang="en-US" sz="1800" dirty="0">
                <a:solidFill>
                  <a:srgbClr val="8A9099"/>
                </a:solidFill>
                <a:latin typeface="IBM Plex Mono" pitchFamily="34" charset="0"/>
                <a:ea typeface="IBM Plex Mono" pitchFamily="34" charset="-122"/>
                <a:cs typeface="IBM Plex Mono" pitchFamily="34" charset="-120"/>
              </a:rPr>
              <a:t>NEPTUNE + OPENSEARCH PROJECTIONS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57250" y="495300"/>
            <a:ext cx="18230850" cy="361950"/>
          </a:xfrm>
          <a:prstGeom prst="rect">
            <a:avLst/>
          </a:prstGeom>
          <a:noFill/>
          <a:ln/>
        </p:spPr>
        <p:txBody>
          <a:bodyPr wrap="square" lIns="25400" tIns="25400" rIns="25400" bIns="25400" rtlCol="0" anchor="t">
            <a:normAutofit/>
          </a:bodyPr>
          <a:lstStyle/>
          <a:p>
            <a:pPr algn="l" indent="0" marL="0">
              <a:buNone/>
            </a:pPr>
            <a:r>
              <a:rPr lang="en-US" sz="1950" spc="312" kern="0" dirty="0">
                <a:solidFill>
                  <a:srgbClr val="A8551F"/>
                </a:solidFill>
                <a:latin typeface="IBM Plex Mono" pitchFamily="34" charset="0"/>
                <a:ea typeface="IBM Plex Mono" pitchFamily="34" charset="-122"/>
                <a:cs typeface="IBM Plex Mono" pitchFamily="34" charset="-120"/>
              </a:rPr>
              <a:t>DE REVIEW · APPLIED IN V3 · FEWER MOVING PARTS, SAME INVARIANTS</a:t>
            </a:r>
            <a:endParaRPr lang="en-US" sz="1950" dirty="0"/>
          </a:p>
        </p:txBody>
      </p:sp>
      <p:sp>
        <p:nvSpPr>
          <p:cNvPr id="3" name="Text 1"/>
          <p:cNvSpPr/>
          <p:nvPr/>
        </p:nvSpPr>
        <p:spPr>
          <a:xfrm>
            <a:off x="857250" y="933450"/>
            <a:ext cx="18230850" cy="771525"/>
          </a:xfrm>
          <a:prstGeom prst="rect">
            <a:avLst/>
          </a:prstGeom>
          <a:noFill/>
          <a:ln/>
        </p:spPr>
        <p:txBody>
          <a:bodyPr wrap="square" lIns="25400" tIns="25400" rIns="25400" bIns="25400" rtlCol="0" anchor="t">
            <a:normAutofit/>
          </a:bodyPr>
          <a:lstStyle/>
          <a:p>
            <a:pPr algn="l" indent="0" marL="0">
              <a:buNone/>
            </a:pPr>
            <a:r>
              <a:rPr lang="en-US" sz="4500" b="1" dirty="0">
                <a:solidFill>
                  <a:srgbClr val="191C20"/>
                </a:solidFill>
                <a:latin typeface="IBM Plex Sans" pitchFamily="34" charset="0"/>
                <a:ea typeface="IBM Plex Sans" pitchFamily="34" charset="-122"/>
                <a:cs typeface="IBM Plex Sans" pitchFamily="34" charset="-120"/>
              </a:rPr>
              <a:t>Simplifications Applied in v3</a:t>
            </a:r>
            <a:endParaRPr lang="en-US" sz="4500" dirty="0"/>
          </a:p>
        </p:txBody>
      </p:sp>
      <p:sp>
        <p:nvSpPr>
          <p:cNvPr id="4" name="Shape 2"/>
          <p:cNvSpPr/>
          <p:nvPr/>
        </p:nvSpPr>
        <p:spPr>
          <a:xfrm>
            <a:off x="857250" y="1933575"/>
            <a:ext cx="5435501" cy="2590800"/>
          </a:xfrm>
          <a:prstGeom prst="rect">
            <a:avLst/>
          </a:prstGeom>
          <a:solidFill>
            <a:srgbClr val="FFFFFF"/>
          </a:solidFill>
          <a:ln w="9525">
            <a:solidFill>
              <a:srgbClr val="E0DCD3"/>
            </a:solidFill>
            <a:prstDash val="solid"/>
          </a:ln>
        </p:spPr>
      </p:sp>
      <p:sp>
        <p:nvSpPr>
          <p:cNvPr id="5" name="Text 3"/>
          <p:cNvSpPr/>
          <p:nvPr/>
        </p:nvSpPr>
        <p:spPr>
          <a:xfrm>
            <a:off x="1057275" y="2095500"/>
            <a:ext cx="5198516" cy="230505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A8551F"/>
                </a:solidFill>
                <a:latin typeface="IBM Plex Mono" pitchFamily="34" charset="0"/>
                <a:ea typeface="IBM Plex Mono" pitchFamily="34" charset="-122"/>
                <a:cs typeface="IBM Plex Mono" pitchFamily="34" charset="-120"/>
              </a:rPr>
              <a:t>P1 </a:t>
            </a:r>
            <a:pPr algn="l" indent="0" marL="0">
              <a:lnSpc>
                <a:spcPct val="108750"/>
              </a:lnSpc>
              <a:buNone/>
            </a:pPr>
            <a:r>
              <a:rPr lang="en-US" sz="1800" b="1" dirty="0">
                <a:solidFill>
                  <a:srgbClr val="191C20"/>
                </a:solidFill>
                <a:latin typeface="IBM Plex Sans" pitchFamily="34" charset="0"/>
                <a:ea typeface="IBM Plex Sans" pitchFamily="34" charset="-122"/>
                <a:cs typeface="IBM Plex Sans" pitchFamily="34" charset="-120"/>
              </a:rPr>
              <a:t>Queues: 6 → 3 </a:t>
            </a:r>
            <a:pPr algn="l" indent="0" marL="0">
              <a:lnSpc>
                <a:spcPct val="108750"/>
              </a:lnSpc>
              <a:buNone/>
            </a:pPr>
            <a:r>
              <a:rPr lang="en-US" sz="1800" dirty="0">
                <a:solidFill>
                  <a:srgbClr val="4D535B"/>
                </a:solidFill>
                <a:latin typeface="IBM Plex Sans" pitchFamily="34" charset="0"/>
                <a:ea typeface="IBM Plex Sans" pitchFamily="34" charset="-122"/>
                <a:cs typeface="IBM Plex Sans" pitchFamily="34" charset="-120"/>
              </a:rPr>
              <a:t>the only isolation that matters is interactive vs bulk — </a:t>
            </a:r>
            <a:pPr algn="l" indent="0" marL="0">
              <a:lnSpc>
                <a:spcPct val="108750"/>
              </a:lnSpc>
              <a:buNone/>
            </a:pPr>
            <a:r>
              <a:rPr lang="en-US" sz="1800" b="1" dirty="0">
                <a:solidFill>
                  <a:srgbClr val="4D535B"/>
                </a:solidFill>
                <a:latin typeface="IBM Plex Sans" pitchFamily="34" charset="0"/>
                <a:ea typeface="IBM Plex Sans" pitchFamily="34" charset="-122"/>
                <a:cs typeface="IBM Plex Sans" pitchFamily="34" charset="-120"/>
              </a:rPr>
              <a:t>interactive </a:t>
            </a:r>
            <a:pPr algn="l" indent="0" marL="0">
              <a:lnSpc>
                <a:spcPct val="108750"/>
              </a:lnSpc>
              <a:buNone/>
            </a:pPr>
            <a:r>
              <a:rPr lang="en-US" sz="1800" dirty="0">
                <a:solidFill>
                  <a:srgbClr val="4D535B"/>
                </a:solidFill>
                <a:latin typeface="IBM Plex Sans" pitchFamily="34" charset="0"/>
                <a:ea typeface="IBM Plex Sans" pitchFamily="34" charset="-122"/>
                <a:cs typeface="IBM Plex Sans" pitchFamily="34" charset="-120"/>
              </a:rPr>
              <a:t>(PRGate) · </a:t>
            </a:r>
            <a:pPr algn="l" indent="0" marL="0">
              <a:lnSpc>
                <a:spcPct val="108750"/>
              </a:lnSpc>
              <a:buNone/>
            </a:pPr>
            <a:r>
              <a:rPr lang="en-US" sz="1800" b="1" dirty="0">
                <a:solidFill>
                  <a:srgbClr val="4D535B"/>
                </a:solidFill>
                <a:latin typeface="IBM Plex Sans" pitchFamily="34" charset="0"/>
                <a:ea typeface="IBM Plex Sans" pitchFamily="34" charset="-122"/>
                <a:cs typeface="IBM Plex Sans" pitchFamily="34" charset="-120"/>
              </a:rPr>
              <a:t>events </a:t>
            </a:r>
            <a:pPr algn="l" indent="0" marL="0">
              <a:lnSpc>
                <a:spcPct val="108750"/>
              </a:lnSpc>
              <a:buNone/>
            </a:pPr>
            <a:r>
              <a:rPr lang="en-US" sz="1800" dirty="0">
                <a:solidFill>
                  <a:srgbClr val="4D535B"/>
                </a:solidFill>
                <a:latin typeface="IBM Plex Sans" pitchFamily="34" charset="0"/>
                <a:ea typeface="IBM Plex Sans" pitchFamily="34" charset="-122"/>
                <a:cs typeface="IBM Plex Sans" pitchFamily="34" charset="-120"/>
              </a:rPr>
              <a:t>(incremental + deploy) · </a:t>
            </a:r>
            <a:pPr algn="l" indent="0" marL="0">
              <a:lnSpc>
                <a:spcPct val="108750"/>
              </a:lnSpc>
              <a:buNone/>
            </a:pPr>
            <a:r>
              <a:rPr lang="en-US" sz="1800" b="1" dirty="0">
                <a:solidFill>
                  <a:srgbClr val="4D535B"/>
                </a:solidFill>
                <a:latin typeface="IBM Plex Sans" pitchFamily="34" charset="0"/>
                <a:ea typeface="IBM Plex Sans" pitchFamily="34" charset="-122"/>
                <a:cs typeface="IBM Plex Sans" pitchFamily="34" charset="-120"/>
              </a:rPr>
              <a:t>bulk </a:t>
            </a:r>
            <a:pPr algn="l" indent="0" marL="0">
              <a:lnSpc>
                <a:spcPct val="108750"/>
              </a:lnSpc>
              <a:buNone/>
            </a:pPr>
            <a:r>
              <a:rPr lang="en-US" sz="1800" dirty="0">
                <a:solidFill>
                  <a:srgbClr val="4D535B"/>
                </a:solidFill>
                <a:latin typeface="IBM Plex Sans" pitchFamily="34" charset="0"/>
                <a:ea typeface="IBM Plex Sans" pitchFamily="34" charset="-122"/>
                <a:cs typeface="IBM Plex Sans" pitchFamily="34" charset="-120"/>
              </a:rPr>
              <a:t>(baseline, backfill, nightly, LLM batch); runtime already has its own stream. Revisit only when metrics show contention · slides 04, 05B</a:t>
            </a:r>
            <a:endParaRPr lang="en-US" sz="1800" dirty="0"/>
          </a:p>
        </p:txBody>
      </p:sp>
      <p:sp>
        <p:nvSpPr>
          <p:cNvPr id="6" name="Shape 4"/>
          <p:cNvSpPr/>
          <p:nvPr/>
        </p:nvSpPr>
        <p:spPr>
          <a:xfrm>
            <a:off x="6426101" y="1933575"/>
            <a:ext cx="5435650" cy="2590800"/>
          </a:xfrm>
          <a:prstGeom prst="rect">
            <a:avLst/>
          </a:prstGeom>
          <a:solidFill>
            <a:srgbClr val="FFFFFF"/>
          </a:solidFill>
          <a:ln w="9525">
            <a:solidFill>
              <a:srgbClr val="E0DCD3"/>
            </a:solidFill>
            <a:prstDash val="solid"/>
          </a:ln>
        </p:spPr>
      </p:sp>
      <p:sp>
        <p:nvSpPr>
          <p:cNvPr id="7" name="Text 5"/>
          <p:cNvSpPr/>
          <p:nvPr/>
        </p:nvSpPr>
        <p:spPr>
          <a:xfrm>
            <a:off x="6626126" y="2095500"/>
            <a:ext cx="5198669" cy="230505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A8551F"/>
                </a:solidFill>
                <a:latin typeface="IBM Plex Mono" pitchFamily="34" charset="0"/>
                <a:ea typeface="IBM Plex Mono" pitchFamily="34" charset="-122"/>
                <a:cs typeface="IBM Plex Mono" pitchFamily="34" charset="-120"/>
              </a:rPr>
              <a:t>P2 </a:t>
            </a:r>
            <a:pPr algn="l" indent="0" marL="0">
              <a:lnSpc>
                <a:spcPct val="108750"/>
              </a:lnSpc>
              <a:buNone/>
            </a:pPr>
            <a:r>
              <a:rPr lang="en-US" sz="1800" b="1" dirty="0">
                <a:solidFill>
                  <a:srgbClr val="191C20"/>
                </a:solidFill>
                <a:latin typeface="IBM Plex Sans" pitchFamily="34" charset="0"/>
                <a:ea typeface="IBM Plex Sans" pitchFamily="34" charset="-122"/>
                <a:cs typeface="IBM Plex Sans" pitchFamily="34" charset="-120"/>
              </a:rPr>
              <a:t>State machines: 7 → 4 </a:t>
            </a:r>
            <a:pPr algn="l" indent="0" marL="0">
              <a:lnSpc>
                <a:spcPct val="108750"/>
              </a:lnSpc>
              <a:buNone/>
            </a:pPr>
            <a:r>
              <a:rPr lang="en-US" sz="1800" dirty="0">
                <a:solidFill>
                  <a:srgbClr val="4D535B"/>
                </a:solidFill>
                <a:latin typeface="IBM Plex Sans" pitchFamily="34" charset="0"/>
                <a:ea typeface="IBM Plex Sans" pitchFamily="34" charset="-122"/>
                <a:cs typeface="IBM Plex Sans" pitchFamily="34" charset="-120"/>
              </a:rPr>
              <a:t>DeploymentPromotion is a 3-step pointer update → a Lambda step, not a workflow · Publication folds into the tail of Baseline/Incremental (they own their publish) · keep PRGate, Incremental, Baseline, NightlyReconciliation · slides 05, 05B</a:t>
            </a:r>
            <a:endParaRPr lang="en-US" sz="1800" dirty="0"/>
          </a:p>
        </p:txBody>
      </p:sp>
      <p:sp>
        <p:nvSpPr>
          <p:cNvPr id="8" name="Shape 6"/>
          <p:cNvSpPr/>
          <p:nvPr/>
        </p:nvSpPr>
        <p:spPr>
          <a:xfrm>
            <a:off x="11995100" y="1933575"/>
            <a:ext cx="5435501" cy="2590800"/>
          </a:xfrm>
          <a:prstGeom prst="rect">
            <a:avLst/>
          </a:prstGeom>
          <a:solidFill>
            <a:srgbClr val="FFFFFF"/>
          </a:solidFill>
          <a:ln w="9525">
            <a:solidFill>
              <a:srgbClr val="E0DCD3"/>
            </a:solidFill>
            <a:prstDash val="solid"/>
          </a:ln>
        </p:spPr>
      </p:sp>
      <p:sp>
        <p:nvSpPr>
          <p:cNvPr id="9" name="Text 7"/>
          <p:cNvSpPr/>
          <p:nvPr/>
        </p:nvSpPr>
        <p:spPr>
          <a:xfrm>
            <a:off x="12195125" y="2095500"/>
            <a:ext cx="5198516" cy="230505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A8551F"/>
                </a:solidFill>
                <a:latin typeface="IBM Plex Mono" pitchFamily="34" charset="0"/>
                <a:ea typeface="IBM Plex Mono" pitchFamily="34" charset="-122"/>
                <a:cs typeface="IBM Plex Mono" pitchFamily="34" charset="-120"/>
              </a:rPr>
              <a:t>P3 </a:t>
            </a:r>
            <a:pPr algn="l" indent="0" marL="0">
              <a:lnSpc>
                <a:spcPct val="108750"/>
              </a:lnSpc>
              <a:buNone/>
            </a:pPr>
            <a:r>
              <a:rPr lang="en-US" sz="1800" b="1" dirty="0">
                <a:solidFill>
                  <a:srgbClr val="191C20"/>
                </a:solidFill>
                <a:latin typeface="IBM Plex Sans" pitchFamily="34" charset="0"/>
                <a:ea typeface="IBM Plex Sans" pitchFamily="34" charset="-122"/>
                <a:cs typeface="IBM Plex Sans" pitchFamily="34" charset="-120"/>
              </a:rPr>
              <a:t>Extraction as focused services </a:t>
            </a:r>
            <a:pPr algn="l" indent="0" marL="0">
              <a:lnSpc>
                <a:spcPct val="108750"/>
              </a:lnSpc>
              <a:buNone/>
            </a:pPr>
            <a:r>
              <a:rPr lang="en-US" sz="1800" dirty="0">
                <a:solidFill>
                  <a:srgbClr val="4D535B"/>
                </a:solidFill>
                <a:latin typeface="IBM Plex Sans" pitchFamily="34" charset="0"/>
                <a:ea typeface="IBM Plex Sans" pitchFamily="34" charset="-122"/>
                <a:cs typeface="IBM Plex Sans" pitchFamily="34" charset="-120"/>
              </a:rPr>
              <a:t>revised in review: deterministic parsers (Fargate task) · AST walk (tree-sitter + rule packs) as its own service · LLM gateway with source chunking as a separate service · Spark/Dask native emission moves to the runtime layer — the URN merge stays the prominent seam · slides 06, 07</a:t>
            </a:r>
            <a:endParaRPr lang="en-US" sz="1800" dirty="0"/>
          </a:p>
        </p:txBody>
      </p:sp>
      <p:sp>
        <p:nvSpPr>
          <p:cNvPr id="10" name="Shape 8"/>
          <p:cNvSpPr/>
          <p:nvPr/>
        </p:nvSpPr>
        <p:spPr>
          <a:xfrm>
            <a:off x="857250" y="4657725"/>
            <a:ext cx="5435501" cy="2266950"/>
          </a:xfrm>
          <a:prstGeom prst="rect">
            <a:avLst/>
          </a:prstGeom>
          <a:solidFill>
            <a:srgbClr val="FFFFFF"/>
          </a:solidFill>
          <a:ln w="9525">
            <a:solidFill>
              <a:srgbClr val="E0DCD3"/>
            </a:solidFill>
            <a:prstDash val="solid"/>
          </a:ln>
        </p:spPr>
      </p:sp>
      <p:sp>
        <p:nvSpPr>
          <p:cNvPr id="11" name="Text 9"/>
          <p:cNvSpPr/>
          <p:nvPr/>
        </p:nvSpPr>
        <p:spPr>
          <a:xfrm>
            <a:off x="1057275" y="4819650"/>
            <a:ext cx="5198516" cy="198120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A8551F"/>
                </a:solidFill>
                <a:latin typeface="IBM Plex Mono" pitchFamily="34" charset="0"/>
                <a:ea typeface="IBM Plex Mono" pitchFamily="34" charset="-122"/>
                <a:cs typeface="IBM Plex Mono" pitchFamily="34" charset="-120"/>
              </a:rPr>
              <a:t>P4 </a:t>
            </a:r>
            <a:pPr algn="l" indent="0" marL="0">
              <a:lnSpc>
                <a:spcPct val="108750"/>
              </a:lnSpc>
              <a:buNone/>
            </a:pPr>
            <a:r>
              <a:rPr lang="en-US" sz="1800" b="1" dirty="0">
                <a:solidFill>
                  <a:srgbClr val="191C20"/>
                </a:solidFill>
                <a:latin typeface="IBM Plex Sans" pitchFamily="34" charset="0"/>
                <a:ea typeface="IBM Plex Sans" pitchFamily="34" charset="-122"/>
                <a:cs typeface="IBM Plex Sans" pitchFamily="34" charset="-120"/>
              </a:rPr>
              <a:t>Drop Glue + Athena from target state </a:t>
            </a:r>
            <a:pPr algn="l" indent="0" marL="0">
              <a:lnSpc>
                <a:spcPct val="108750"/>
              </a:lnSpc>
              <a:buNone/>
            </a:pPr>
            <a:r>
              <a:rPr lang="en-US" sz="1800" dirty="0">
                <a:solidFill>
                  <a:srgbClr val="4D535B"/>
                </a:solidFill>
                <a:latin typeface="IBM Plex Sans" pitchFamily="34" charset="0"/>
                <a:ea typeface="IBM Plex Sans" pitchFamily="34" charset="-122"/>
                <a:cs typeface="IBM Plex Sans" pitchFamily="34" charset="-120"/>
              </a:rPr>
              <a:t>two services for the weakest evidence class (recency hints, never columns) — move interaction context to a Phase-2 footnote · slide 07</a:t>
            </a:r>
            <a:endParaRPr lang="en-US" sz="1800" dirty="0"/>
          </a:p>
        </p:txBody>
      </p:sp>
      <p:sp>
        <p:nvSpPr>
          <p:cNvPr id="12" name="Shape 10"/>
          <p:cNvSpPr/>
          <p:nvPr/>
        </p:nvSpPr>
        <p:spPr>
          <a:xfrm>
            <a:off x="6426101" y="4657725"/>
            <a:ext cx="5435650" cy="2266950"/>
          </a:xfrm>
          <a:prstGeom prst="rect">
            <a:avLst/>
          </a:prstGeom>
          <a:solidFill>
            <a:srgbClr val="FFFFFF"/>
          </a:solidFill>
          <a:ln w="9525">
            <a:solidFill>
              <a:srgbClr val="E0DCD3"/>
            </a:solidFill>
            <a:prstDash val="solid"/>
          </a:ln>
        </p:spPr>
      </p:sp>
      <p:sp>
        <p:nvSpPr>
          <p:cNvPr id="13" name="Text 11"/>
          <p:cNvSpPr/>
          <p:nvPr/>
        </p:nvSpPr>
        <p:spPr>
          <a:xfrm>
            <a:off x="6626126" y="4819650"/>
            <a:ext cx="5198669" cy="198120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A8551F"/>
                </a:solidFill>
                <a:latin typeface="IBM Plex Mono" pitchFamily="34" charset="0"/>
                <a:ea typeface="IBM Plex Mono" pitchFamily="34" charset="-122"/>
                <a:cs typeface="IBM Plex Mono" pitchFamily="34" charset="-120"/>
              </a:rPr>
              <a:t>P5 </a:t>
            </a:r>
            <a:pPr algn="l" indent="0" marL="0">
              <a:lnSpc>
                <a:spcPct val="108750"/>
              </a:lnSpc>
              <a:buNone/>
            </a:pPr>
            <a:r>
              <a:rPr lang="en-US" sz="1800" b="1" dirty="0">
                <a:solidFill>
                  <a:srgbClr val="191C20"/>
                </a:solidFill>
                <a:latin typeface="IBM Plex Sans" pitchFamily="34" charset="0"/>
                <a:ea typeface="IBM Plex Sans" pitchFamily="34" charset="-122"/>
                <a:cs typeface="IBM Plex Sans" pitchFamily="34" charset="-120"/>
              </a:rPr>
              <a:t>Trigger matrix: 17 rows → 8 shown </a:t>
            </a:r>
            <a:pPr algn="l" indent="0" marL="0">
              <a:lnSpc>
                <a:spcPct val="108750"/>
              </a:lnSpc>
              <a:buNone/>
            </a:pPr>
            <a:r>
              <a:rPr lang="en-US" sz="1800" dirty="0">
                <a:solidFill>
                  <a:srgbClr val="4D535B"/>
                </a:solidFill>
                <a:latin typeface="IBM Plex Sans" pitchFamily="34" charset="0"/>
                <a:ea typeface="IBM Plex Sans" pitchFamily="34" charset="-122"/>
                <a:cs typeface="IBM Plex Sans" pitchFamily="34" charset="-120"/>
              </a:rPr>
              <a:t>rows 2/3 fold into row 1 (scope reconciliation) · 5/6 = one PRGate row · 8/9 = one deploy row · heartbeat + waiver expiry are ops hygiene, not architecture — long tail folded into a footnote on the trigger slide</a:t>
            </a:r>
            <a:endParaRPr lang="en-US" sz="1800" dirty="0"/>
          </a:p>
        </p:txBody>
      </p:sp>
      <p:sp>
        <p:nvSpPr>
          <p:cNvPr id="14" name="Shape 12"/>
          <p:cNvSpPr/>
          <p:nvPr/>
        </p:nvSpPr>
        <p:spPr>
          <a:xfrm>
            <a:off x="11995100" y="4657725"/>
            <a:ext cx="5435501" cy="2266950"/>
          </a:xfrm>
          <a:prstGeom prst="rect">
            <a:avLst/>
          </a:prstGeom>
          <a:solidFill>
            <a:srgbClr val="FFFFFF"/>
          </a:solidFill>
          <a:ln w="9525">
            <a:solidFill>
              <a:srgbClr val="E0DCD3"/>
            </a:solidFill>
            <a:prstDash val="solid"/>
          </a:ln>
        </p:spPr>
      </p:sp>
      <p:sp>
        <p:nvSpPr>
          <p:cNvPr id="15" name="Text 13"/>
          <p:cNvSpPr/>
          <p:nvPr/>
        </p:nvSpPr>
        <p:spPr>
          <a:xfrm>
            <a:off x="12195125" y="4819650"/>
            <a:ext cx="5198516" cy="198120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A8551F"/>
                </a:solidFill>
                <a:latin typeface="IBM Plex Mono" pitchFamily="34" charset="0"/>
                <a:ea typeface="IBM Plex Mono" pitchFamily="34" charset="-122"/>
                <a:cs typeface="IBM Plex Mono" pitchFamily="34" charset="-120"/>
              </a:rPr>
              <a:t>P6 </a:t>
            </a:r>
            <a:pPr algn="l" indent="0" marL="0">
              <a:lnSpc>
                <a:spcPct val="108750"/>
              </a:lnSpc>
              <a:buNone/>
            </a:pPr>
            <a:r>
              <a:rPr lang="en-US" sz="1800" b="1" dirty="0">
                <a:solidFill>
                  <a:srgbClr val="191C20"/>
                </a:solidFill>
                <a:latin typeface="IBM Plex Sans" pitchFamily="34" charset="0"/>
                <a:ea typeface="IBM Plex Sans" pitchFamily="34" charset="-122"/>
                <a:cs typeface="IBM Plex Sans" pitchFamily="34" charset="-120"/>
              </a:rPr>
              <a:t>Runtime evidence: 10 steps → 5 </a:t>
            </a:r>
            <a:pPr algn="l" indent="0" marL="0">
              <a:lnSpc>
                <a:spcPct val="108750"/>
              </a:lnSpc>
              <a:buNone/>
            </a:pPr>
            <a:r>
              <a:rPr lang="en-US" sz="1800" dirty="0">
                <a:solidFill>
                  <a:srgbClr val="4D535B"/>
                </a:solidFill>
                <a:latin typeface="IBM Plex Sans" pitchFamily="34" charset="0"/>
                <a:ea typeface="IBM Plex Sans" pitchFamily="34" charset="-122"/>
                <a:cs typeface="IBM Plex Sans" pitchFamily="34" charset="-120"/>
              </a:rPr>
              <a:t>the architectural claims are: signed time-boxed session · metadata only · production hard-deny · corroboration raises confidence — full state machine to an appendix · slide 18</a:t>
            </a:r>
            <a:endParaRPr lang="en-US" sz="1800" dirty="0"/>
          </a:p>
        </p:txBody>
      </p:sp>
      <p:sp>
        <p:nvSpPr>
          <p:cNvPr id="16" name="Shape 14"/>
          <p:cNvSpPr/>
          <p:nvPr/>
        </p:nvSpPr>
        <p:spPr>
          <a:xfrm>
            <a:off x="857250" y="7058025"/>
            <a:ext cx="5435501" cy="1943100"/>
          </a:xfrm>
          <a:prstGeom prst="rect">
            <a:avLst/>
          </a:prstGeom>
          <a:solidFill>
            <a:srgbClr val="FFFFFF"/>
          </a:solidFill>
          <a:ln w="9525">
            <a:solidFill>
              <a:srgbClr val="E0DCD3"/>
            </a:solidFill>
            <a:prstDash val="solid"/>
          </a:ln>
        </p:spPr>
      </p:sp>
      <p:sp>
        <p:nvSpPr>
          <p:cNvPr id="17" name="Text 15"/>
          <p:cNvSpPr/>
          <p:nvPr/>
        </p:nvSpPr>
        <p:spPr>
          <a:xfrm>
            <a:off x="1057275" y="7219950"/>
            <a:ext cx="5198516" cy="165735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A8551F"/>
                </a:solidFill>
                <a:latin typeface="IBM Plex Mono" pitchFamily="34" charset="0"/>
                <a:ea typeface="IBM Plex Mono" pitchFamily="34" charset="-122"/>
                <a:cs typeface="IBM Plex Mono" pitchFamily="34" charset="-120"/>
              </a:rPr>
              <a:t>P7 </a:t>
            </a:r>
            <a:pPr algn="l" indent="0" marL="0">
              <a:lnSpc>
                <a:spcPct val="108750"/>
              </a:lnSpc>
              <a:buNone/>
            </a:pPr>
            <a:r>
              <a:rPr lang="en-US" sz="1800" b="1" dirty="0">
                <a:solidFill>
                  <a:srgbClr val="191C20"/>
                </a:solidFill>
                <a:latin typeface="IBM Plex Sans" pitchFamily="34" charset="0"/>
                <a:ea typeface="IBM Plex Sans" pitchFamily="34" charset="-122"/>
                <a:cs typeface="IBM Plex Sans" pitchFamily="34" charset="-120"/>
              </a:rPr>
              <a:t>OpenSearch out of MVP </a:t>
            </a:r>
            <a:pPr algn="l" indent="0" marL="0">
              <a:lnSpc>
                <a:spcPct val="108750"/>
              </a:lnSpc>
              <a:buNone/>
            </a:pPr>
            <a:r>
              <a:rPr lang="en-US" sz="1800" dirty="0">
                <a:solidFill>
                  <a:srgbClr val="4D535B"/>
                </a:solidFill>
                <a:latin typeface="IBM Plex Sans" pitchFamily="34" charset="0"/>
                <a:ea typeface="IBM Plex Sans" pitchFamily="34" charset="-122"/>
                <a:cs typeface="IBM Plex Sans" pitchFamily="34" charset="-120"/>
              </a:rPr>
              <a:t>it is a rebuildable projection — the cleanest deferral; Neptune + the bounded query API prove the slice, discovery search lands in Phase 1 with zero rework · slides 03, 08</a:t>
            </a:r>
            <a:endParaRPr lang="en-US" sz="1800" dirty="0"/>
          </a:p>
        </p:txBody>
      </p:sp>
      <p:sp>
        <p:nvSpPr>
          <p:cNvPr id="18" name="Shape 16"/>
          <p:cNvSpPr/>
          <p:nvPr/>
        </p:nvSpPr>
        <p:spPr>
          <a:xfrm>
            <a:off x="6426101" y="7058025"/>
            <a:ext cx="11004500" cy="1943100"/>
          </a:xfrm>
          <a:prstGeom prst="rect">
            <a:avLst/>
          </a:prstGeom>
          <a:solidFill>
            <a:srgbClr val="191C20"/>
          </a:solidFill>
          <a:ln/>
        </p:spPr>
      </p:sp>
      <p:sp>
        <p:nvSpPr>
          <p:cNvPr id="19" name="Text 17"/>
          <p:cNvSpPr/>
          <p:nvPr/>
        </p:nvSpPr>
        <p:spPr>
          <a:xfrm>
            <a:off x="6616601" y="7210425"/>
            <a:ext cx="10953635" cy="167640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8FB3BF"/>
                </a:solidFill>
                <a:latin typeface="IBM Plex Mono" pitchFamily="34" charset="0"/>
                <a:ea typeface="IBM Plex Mono" pitchFamily="34" charset="-122"/>
                <a:cs typeface="IBM Plex Mono" pitchFamily="34" charset="-120"/>
              </a:rPr>
              <a:t>NET EFFECT </a:t>
            </a:r>
            <a:pPr algn="l" indent="0" marL="0">
              <a:lnSpc>
                <a:spcPct val="108750"/>
              </a:lnSpc>
              <a:buNone/>
            </a:pPr>
            <a:r>
              <a:rPr lang="en-US" sz="1800" dirty="0">
                <a:solidFill>
                  <a:srgbClr val="E8E4DC"/>
                </a:solidFill>
                <a:highlight>
                  <a:srgbClr val="191C20"/>
                </a:highlight>
                <a:latin typeface="IBM Plex Sans" pitchFamily="34" charset="0"/>
                <a:ea typeface="IBM Plex Sans" pitchFamily="34" charset="-122"/>
                <a:cs typeface="IBM Plex Sans" pitchFamily="34" charset="-120"/>
              </a:rPr>
              <a:t>— 6 queues → 3 · 7 state machines → 4 · 3 tiers → focused extraction services + runtime layer · 17 triggers → 8 shown · −2 services · OpenSearch deferred — zero change to governance guarantees or the 5-month phasing</a:t>
            </a:r>
            <a:endParaRPr lang="en-US" sz="1800" dirty="0"/>
          </a:p>
        </p:txBody>
      </p:sp>
      <p:sp>
        <p:nvSpPr>
          <p:cNvPr id="20" name="Shape 18"/>
          <p:cNvSpPr/>
          <p:nvPr/>
        </p:nvSpPr>
        <p:spPr>
          <a:xfrm>
            <a:off x="857250" y="9134475"/>
            <a:ext cx="16573500" cy="914400"/>
          </a:xfrm>
          <a:prstGeom prst="rect">
            <a:avLst/>
          </a:prstGeom>
          <a:solidFill>
            <a:srgbClr val="FFFFFF"/>
          </a:solidFill>
          <a:ln/>
        </p:spPr>
      </p:sp>
      <p:sp>
        <p:nvSpPr>
          <p:cNvPr id="21" name="Shape 19"/>
          <p:cNvSpPr/>
          <p:nvPr/>
        </p:nvSpPr>
        <p:spPr>
          <a:xfrm>
            <a:off x="857250" y="9134475"/>
            <a:ext cx="57150" cy="914400"/>
          </a:xfrm>
          <a:prstGeom prst="rect">
            <a:avLst/>
          </a:prstGeom>
          <a:solidFill>
            <a:srgbClr val="3D5A48"/>
          </a:solidFill>
          <a:ln/>
        </p:spPr>
      </p:sp>
      <p:sp>
        <p:nvSpPr>
          <p:cNvPr id="22" name="Text 20"/>
          <p:cNvSpPr/>
          <p:nvPr/>
        </p:nvSpPr>
        <p:spPr>
          <a:xfrm>
            <a:off x="1104900" y="9267825"/>
            <a:ext cx="16632555" cy="68580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3D5A48"/>
                </a:solidFill>
                <a:latin typeface="IBM Plex Mono" pitchFamily="34" charset="0"/>
                <a:ea typeface="IBM Plex Mono" pitchFamily="34" charset="-122"/>
                <a:cs typeface="IBM Plex Mono" pitchFamily="34" charset="-120"/>
              </a:rPr>
              <a:t>DO NOT SIMPLIFY </a:t>
            </a:r>
            <a:pPr algn="l" indent="0" marL="0">
              <a:lnSpc>
                <a:spcPct val="108750"/>
              </a:lnSpc>
              <a:buNone/>
            </a:pPr>
            <a:r>
              <a:rPr lang="en-US" sz="1800" dirty="0">
                <a:solidFill>
                  <a:srgbClr val="4D535B"/>
                </a:solidFill>
                <a:highlight>
                  <a:srgbClr val="FFFFFF"/>
                </a:highlight>
                <a:latin typeface="IBM Plex Sans" pitchFamily="34" charset="0"/>
                <a:ea typeface="IBM Plex Sans" pitchFamily="34" charset="-122"/>
                <a:cs typeface="IBM Plex Sans" pitchFamily="34" charset="-120"/>
              </a:rPr>
              <a:t>— S3 immutable truth + rebuildable projections · one-way plane boundary · human gate · fenced single-writer publish with versioned namespaces · determinant-based invalidation · URN merge with agreement-based confidence — each buys an invariant you cannot retrofit</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57250" y="666750"/>
            <a:ext cx="18230850" cy="361950"/>
          </a:xfrm>
          <a:prstGeom prst="rect">
            <a:avLst/>
          </a:prstGeom>
          <a:noFill/>
          <a:ln/>
        </p:spPr>
        <p:txBody>
          <a:bodyPr wrap="square" lIns="25400" tIns="25400" rIns="25400" bIns="25400" rtlCol="0" anchor="t">
            <a:normAutofit/>
          </a:bodyPr>
          <a:lstStyle/>
          <a:p>
            <a:pPr algn="l" indent="0" marL="0">
              <a:buNone/>
            </a:pPr>
            <a:r>
              <a:rPr lang="en-US" sz="1950" spc="312" kern="0" dirty="0">
                <a:solidFill>
                  <a:srgbClr val="4D535B"/>
                </a:solidFill>
                <a:latin typeface="IBM Plex Mono" pitchFamily="34" charset="0"/>
                <a:ea typeface="IBM Plex Mono" pitchFamily="34" charset="-122"/>
                <a:cs typeface="IBM Plex Mono" pitchFamily="34" charset="-120"/>
              </a:rPr>
              <a:t>01 · ONE SERVICE, ONE RESPONSIBILITY</a:t>
            </a:r>
            <a:endParaRPr lang="en-US" sz="1950" dirty="0"/>
          </a:p>
        </p:txBody>
      </p:sp>
      <p:sp>
        <p:nvSpPr>
          <p:cNvPr id="3" name="Text 1"/>
          <p:cNvSpPr/>
          <p:nvPr/>
        </p:nvSpPr>
        <p:spPr>
          <a:xfrm>
            <a:off x="857250" y="1123950"/>
            <a:ext cx="18230850" cy="771525"/>
          </a:xfrm>
          <a:prstGeom prst="rect">
            <a:avLst/>
          </a:prstGeom>
          <a:noFill/>
          <a:ln/>
        </p:spPr>
        <p:txBody>
          <a:bodyPr wrap="square" lIns="25400" tIns="25400" rIns="25400" bIns="25400" rtlCol="0" anchor="t">
            <a:normAutofit/>
          </a:bodyPr>
          <a:lstStyle/>
          <a:p>
            <a:pPr algn="l" indent="0" marL="0">
              <a:buNone/>
            </a:pPr>
            <a:r>
              <a:rPr lang="en-US" sz="4500" b="1" dirty="0">
                <a:solidFill>
                  <a:srgbClr val="191C20"/>
                </a:solidFill>
                <a:latin typeface="IBM Plex Sans" pitchFamily="34" charset="0"/>
                <a:ea typeface="IBM Plex Sans" pitchFamily="34" charset="-122"/>
                <a:cs typeface="IBM Plex Sans" pitchFamily="34" charset="-120"/>
              </a:rPr>
              <a:t>Service Responsibilities</a:t>
            </a:r>
            <a:endParaRPr lang="en-US" sz="4500" dirty="0"/>
          </a:p>
        </p:txBody>
      </p:sp>
      <p:sp>
        <p:nvSpPr>
          <p:cNvPr id="4" name="Shape 2"/>
          <p:cNvSpPr/>
          <p:nvPr/>
        </p:nvSpPr>
        <p:spPr>
          <a:xfrm>
            <a:off x="857250" y="2200275"/>
            <a:ext cx="4029075" cy="1447800"/>
          </a:xfrm>
          <a:prstGeom prst="rect">
            <a:avLst/>
          </a:prstGeom>
          <a:solidFill>
            <a:srgbClr val="FFFFFF"/>
          </a:solidFill>
          <a:ln w="9525">
            <a:solidFill>
              <a:srgbClr val="E0DCD3"/>
            </a:solidFill>
            <a:prstDash val="solid"/>
          </a:ln>
        </p:spPr>
      </p:sp>
      <p:pic>
        <p:nvPicPr>
          <p:cNvPr id="5" name="Image 0" descr="preencoded.png">    </p:cNvPr>
          <p:cNvPicPr>
            <a:picLocks noChangeAspect="1"/>
          </p:cNvPicPr>
          <p:nvPr/>
        </p:nvPicPr>
        <p:blipFill>
          <a:blip r:embed="rId1"/>
          <a:stretch>
            <a:fillRect/>
          </a:stretch>
        </p:blipFill>
        <p:spPr>
          <a:xfrm>
            <a:off x="1095375" y="2400300"/>
            <a:ext cx="419100" cy="419100"/>
          </a:xfrm>
          <a:prstGeom prst="rect">
            <a:avLst/>
          </a:prstGeom>
        </p:spPr>
      </p:pic>
      <p:sp>
        <p:nvSpPr>
          <p:cNvPr id="6" name="Text 3"/>
          <p:cNvSpPr/>
          <p:nvPr/>
        </p:nvSpPr>
        <p:spPr>
          <a:xfrm>
            <a:off x="1568425" y="2447925"/>
            <a:ext cx="1446146" cy="342900"/>
          </a:xfrm>
          <a:prstGeom prst="rect">
            <a:avLst/>
          </a:prstGeom>
          <a:noFill/>
          <a:ln/>
        </p:spPr>
        <p:txBody>
          <a:bodyPr wrap="square" lIns="25400" tIns="25400" rIns="25400" bIns="25400" rtlCol="0" anchor="t">
            <a:normAutofit/>
          </a:bodyPr>
          <a:lstStyle/>
          <a:p>
            <a:pPr algn="l" indent="0" marL="0">
              <a:lnSpc>
                <a:spcPct val="105000"/>
              </a:lnSpc>
              <a:buNone/>
            </a:pPr>
            <a:r>
              <a:rPr lang="en-US" sz="1800" b="1" dirty="0">
                <a:solidFill>
                  <a:srgbClr val="191C20"/>
                </a:solidFill>
                <a:latin typeface="IBM Plex Sans" pitchFamily="34" charset="0"/>
                <a:ea typeface="IBM Plex Sans" pitchFamily="34" charset="-122"/>
                <a:cs typeface="IBM Plex Sans" pitchFamily="34" charset="-120"/>
              </a:rPr>
              <a:t>EventBridge</a:t>
            </a:r>
            <a:endParaRPr lang="en-US" sz="1800" dirty="0"/>
          </a:p>
        </p:txBody>
      </p:sp>
      <p:sp>
        <p:nvSpPr>
          <p:cNvPr id="7" name="Text 4"/>
          <p:cNvSpPr/>
          <p:nvPr/>
        </p:nvSpPr>
        <p:spPr>
          <a:xfrm>
            <a:off x="1095375" y="2819400"/>
            <a:ext cx="3617341" cy="657225"/>
          </a:xfrm>
          <a:prstGeom prst="rect">
            <a:avLst/>
          </a:prstGeom>
          <a:noFill/>
          <a:ln/>
        </p:spPr>
        <p:txBody>
          <a:bodyPr wrap="square" lIns="25400" tIns="25400" rIns="25400" bIns="25400" rtlCol="0" anchor="t">
            <a:normAutofit/>
          </a:bodyPr>
          <a:lstStyle/>
          <a:p>
            <a:pPr algn="l" indent="0" marL="0">
              <a:lnSpc>
                <a:spcPct val="105000"/>
              </a:lnSpc>
              <a:buNone/>
            </a:pPr>
            <a:r>
              <a:rPr lang="en-US" sz="1800" dirty="0">
                <a:solidFill>
                  <a:srgbClr val="4D535B"/>
                </a:solidFill>
                <a:latin typeface="IBM Plex Sans" pitchFamily="34" charset="0"/>
                <a:ea typeface="IBM Plex Sans" pitchFamily="34" charset="-122"/>
                <a:cs typeface="IBM Plex Sans" pitchFamily="34" charset="-120"/>
              </a:rPr>
              <a:t>Decides where a normalized event goes; archive + replay</a:t>
            </a:r>
            <a:endParaRPr lang="en-US" sz="1800" dirty="0"/>
          </a:p>
        </p:txBody>
      </p:sp>
      <p:sp>
        <p:nvSpPr>
          <p:cNvPr id="8" name="Shape 5"/>
          <p:cNvSpPr/>
          <p:nvPr/>
        </p:nvSpPr>
        <p:spPr>
          <a:xfrm>
            <a:off x="5038725" y="2200275"/>
            <a:ext cx="4029075" cy="1447800"/>
          </a:xfrm>
          <a:prstGeom prst="rect">
            <a:avLst/>
          </a:prstGeom>
          <a:solidFill>
            <a:srgbClr val="FFFFFF"/>
          </a:solidFill>
          <a:ln w="9525">
            <a:solidFill>
              <a:srgbClr val="E0DCD3"/>
            </a:solidFill>
            <a:prstDash val="solid"/>
          </a:ln>
        </p:spPr>
      </p:sp>
      <p:pic>
        <p:nvPicPr>
          <p:cNvPr id="9" name="Image 1" descr="preencoded.png">    </p:cNvPr>
          <p:cNvPicPr>
            <a:picLocks noChangeAspect="1"/>
          </p:cNvPicPr>
          <p:nvPr/>
        </p:nvPicPr>
        <p:blipFill>
          <a:blip r:embed="rId2"/>
          <a:stretch>
            <a:fillRect/>
          </a:stretch>
        </p:blipFill>
        <p:spPr>
          <a:xfrm>
            <a:off x="5276850" y="2400300"/>
            <a:ext cx="419100" cy="419100"/>
          </a:xfrm>
          <a:prstGeom prst="rect">
            <a:avLst/>
          </a:prstGeom>
        </p:spPr>
      </p:pic>
      <p:sp>
        <p:nvSpPr>
          <p:cNvPr id="10" name="Text 6"/>
          <p:cNvSpPr/>
          <p:nvPr/>
        </p:nvSpPr>
        <p:spPr>
          <a:xfrm>
            <a:off x="5749900" y="2447925"/>
            <a:ext cx="523799" cy="342900"/>
          </a:xfrm>
          <a:prstGeom prst="rect">
            <a:avLst/>
          </a:prstGeom>
          <a:noFill/>
          <a:ln/>
        </p:spPr>
        <p:txBody>
          <a:bodyPr wrap="square" lIns="25400" tIns="25400" rIns="25400" bIns="25400" rtlCol="0" anchor="t">
            <a:normAutofit/>
          </a:bodyPr>
          <a:lstStyle/>
          <a:p>
            <a:pPr algn="l" indent="0" marL="0">
              <a:lnSpc>
                <a:spcPct val="105000"/>
              </a:lnSpc>
              <a:buNone/>
            </a:pPr>
            <a:r>
              <a:rPr lang="en-US" sz="1800" b="1" dirty="0">
                <a:solidFill>
                  <a:srgbClr val="191C20"/>
                </a:solidFill>
                <a:latin typeface="IBM Plex Sans" pitchFamily="34" charset="0"/>
                <a:ea typeface="IBM Plex Sans" pitchFamily="34" charset="-122"/>
                <a:cs typeface="IBM Plex Sans" pitchFamily="34" charset="-120"/>
              </a:rPr>
              <a:t>SQS</a:t>
            </a:r>
            <a:endParaRPr lang="en-US" sz="1800" dirty="0"/>
          </a:p>
        </p:txBody>
      </p:sp>
      <p:sp>
        <p:nvSpPr>
          <p:cNvPr id="11" name="Text 7"/>
          <p:cNvSpPr/>
          <p:nvPr/>
        </p:nvSpPr>
        <p:spPr>
          <a:xfrm>
            <a:off x="5276850" y="2819400"/>
            <a:ext cx="3030580" cy="657225"/>
          </a:xfrm>
          <a:prstGeom prst="rect">
            <a:avLst/>
          </a:prstGeom>
          <a:noFill/>
          <a:ln/>
        </p:spPr>
        <p:txBody>
          <a:bodyPr wrap="square" lIns="25400" tIns="25400" rIns="25400" bIns="25400" rtlCol="0" anchor="t">
            <a:normAutofit/>
          </a:bodyPr>
          <a:lstStyle/>
          <a:p>
            <a:pPr algn="l" indent="0" marL="0">
              <a:lnSpc>
                <a:spcPct val="105000"/>
              </a:lnSpc>
              <a:buNone/>
            </a:pPr>
            <a:r>
              <a:rPr lang="en-US" sz="1800" dirty="0">
                <a:solidFill>
                  <a:srgbClr val="4D535B"/>
                </a:solidFill>
                <a:latin typeface="IBM Plex Sans" pitchFamily="34" charset="0"/>
                <a:ea typeface="IBM Plex Sans" pitchFamily="34" charset="-122"/>
                <a:cs typeface="IBM Plex Sans" pitchFamily="34" charset="-120"/>
              </a:rPr>
              <a:t>Holds prioritized work until capacity exists; DLQ per lane</a:t>
            </a:r>
            <a:endParaRPr lang="en-US" sz="1800" dirty="0"/>
          </a:p>
        </p:txBody>
      </p:sp>
      <p:sp>
        <p:nvSpPr>
          <p:cNvPr id="12" name="Shape 8"/>
          <p:cNvSpPr/>
          <p:nvPr/>
        </p:nvSpPr>
        <p:spPr>
          <a:xfrm>
            <a:off x="9220200" y="2200275"/>
            <a:ext cx="4029075" cy="1447800"/>
          </a:xfrm>
          <a:prstGeom prst="rect">
            <a:avLst/>
          </a:prstGeom>
          <a:solidFill>
            <a:srgbClr val="FFFFFF"/>
          </a:solidFill>
          <a:ln w="9525">
            <a:solidFill>
              <a:srgbClr val="E0DCD3"/>
            </a:solidFill>
            <a:prstDash val="solid"/>
          </a:ln>
        </p:spPr>
      </p:sp>
      <p:pic>
        <p:nvPicPr>
          <p:cNvPr id="13" name="Image 2" descr="preencoded.png">    </p:cNvPr>
          <p:cNvPicPr>
            <a:picLocks noChangeAspect="1"/>
          </p:cNvPicPr>
          <p:nvPr/>
        </p:nvPicPr>
        <p:blipFill>
          <a:blip r:embed="rId3"/>
          <a:stretch>
            <a:fillRect/>
          </a:stretch>
        </p:blipFill>
        <p:spPr>
          <a:xfrm>
            <a:off x="9458325" y="2400300"/>
            <a:ext cx="419100" cy="419100"/>
          </a:xfrm>
          <a:prstGeom prst="rect">
            <a:avLst/>
          </a:prstGeom>
        </p:spPr>
      </p:pic>
      <p:sp>
        <p:nvSpPr>
          <p:cNvPr id="14" name="Text 9"/>
          <p:cNvSpPr/>
          <p:nvPr/>
        </p:nvSpPr>
        <p:spPr>
          <a:xfrm>
            <a:off x="9931375" y="2447925"/>
            <a:ext cx="1761728" cy="342900"/>
          </a:xfrm>
          <a:prstGeom prst="rect">
            <a:avLst/>
          </a:prstGeom>
          <a:noFill/>
          <a:ln/>
        </p:spPr>
        <p:txBody>
          <a:bodyPr wrap="square" lIns="25400" tIns="25400" rIns="25400" bIns="25400" rtlCol="0" anchor="t">
            <a:normAutofit/>
          </a:bodyPr>
          <a:lstStyle/>
          <a:p>
            <a:pPr algn="l" indent="0" marL="0">
              <a:lnSpc>
                <a:spcPct val="105000"/>
              </a:lnSpc>
              <a:buNone/>
            </a:pPr>
            <a:r>
              <a:rPr lang="en-US" sz="1800" b="1" dirty="0">
                <a:solidFill>
                  <a:srgbClr val="191C20"/>
                </a:solidFill>
                <a:latin typeface="IBM Plex Sans" pitchFamily="34" charset="0"/>
                <a:ea typeface="IBM Plex Sans" pitchFamily="34" charset="-122"/>
                <a:cs typeface="IBM Plex Sans" pitchFamily="34" charset="-120"/>
              </a:rPr>
              <a:t>Step Functions</a:t>
            </a:r>
            <a:endParaRPr lang="en-US" sz="1800" dirty="0"/>
          </a:p>
        </p:txBody>
      </p:sp>
      <p:sp>
        <p:nvSpPr>
          <p:cNvPr id="15" name="Text 10"/>
          <p:cNvSpPr/>
          <p:nvPr/>
        </p:nvSpPr>
        <p:spPr>
          <a:xfrm>
            <a:off x="9458325" y="2819400"/>
            <a:ext cx="3484307" cy="657225"/>
          </a:xfrm>
          <a:prstGeom prst="rect">
            <a:avLst/>
          </a:prstGeom>
          <a:noFill/>
          <a:ln/>
        </p:spPr>
        <p:txBody>
          <a:bodyPr wrap="square" lIns="25400" tIns="25400" rIns="25400" bIns="25400" rtlCol="0" anchor="t">
            <a:normAutofit/>
          </a:bodyPr>
          <a:lstStyle/>
          <a:p>
            <a:pPr algn="l" indent="0" marL="0">
              <a:lnSpc>
                <a:spcPct val="105000"/>
              </a:lnSpc>
              <a:buNone/>
            </a:pPr>
            <a:r>
              <a:rPr lang="en-US" sz="1800" dirty="0">
                <a:solidFill>
                  <a:srgbClr val="4D535B"/>
                </a:solidFill>
                <a:latin typeface="IBM Plex Sans" pitchFamily="34" charset="0"/>
                <a:ea typeface="IBM Plex Sans" pitchFamily="34" charset="-122"/>
                <a:cs typeface="IBM Plex Sans" pitchFamily="34" charset="-120"/>
              </a:rPr>
              <a:t>Coordinates long-running, visible workflows; redrive</a:t>
            </a:r>
            <a:endParaRPr lang="en-US" sz="1800" dirty="0"/>
          </a:p>
        </p:txBody>
      </p:sp>
      <p:sp>
        <p:nvSpPr>
          <p:cNvPr id="16" name="Shape 11"/>
          <p:cNvSpPr/>
          <p:nvPr/>
        </p:nvSpPr>
        <p:spPr>
          <a:xfrm>
            <a:off x="13401675" y="2200275"/>
            <a:ext cx="4029075" cy="1447800"/>
          </a:xfrm>
          <a:prstGeom prst="rect">
            <a:avLst/>
          </a:prstGeom>
          <a:solidFill>
            <a:srgbClr val="FFFFFF"/>
          </a:solidFill>
          <a:ln w="9525">
            <a:solidFill>
              <a:srgbClr val="E0DCD3"/>
            </a:solidFill>
            <a:prstDash val="solid"/>
          </a:ln>
        </p:spPr>
      </p:sp>
      <p:pic>
        <p:nvPicPr>
          <p:cNvPr id="17" name="Image 3" descr="preencoded.png">    </p:cNvPr>
          <p:cNvPicPr>
            <a:picLocks noChangeAspect="1"/>
          </p:cNvPicPr>
          <p:nvPr/>
        </p:nvPicPr>
        <p:blipFill>
          <a:blip r:embed="rId4"/>
          <a:stretch>
            <a:fillRect/>
          </a:stretch>
        </p:blipFill>
        <p:spPr>
          <a:xfrm>
            <a:off x="13639800" y="2400300"/>
            <a:ext cx="419100" cy="419100"/>
          </a:xfrm>
          <a:prstGeom prst="rect">
            <a:avLst/>
          </a:prstGeom>
        </p:spPr>
      </p:pic>
      <p:sp>
        <p:nvSpPr>
          <p:cNvPr id="18" name="Text 12"/>
          <p:cNvSpPr/>
          <p:nvPr/>
        </p:nvSpPr>
        <p:spPr>
          <a:xfrm>
            <a:off x="14112850" y="2447925"/>
            <a:ext cx="940765" cy="342900"/>
          </a:xfrm>
          <a:prstGeom prst="rect">
            <a:avLst/>
          </a:prstGeom>
          <a:noFill/>
          <a:ln/>
        </p:spPr>
        <p:txBody>
          <a:bodyPr wrap="square" lIns="25400" tIns="25400" rIns="25400" bIns="25400" rtlCol="0" anchor="t">
            <a:normAutofit/>
          </a:bodyPr>
          <a:lstStyle/>
          <a:p>
            <a:pPr algn="l" indent="0" marL="0">
              <a:lnSpc>
                <a:spcPct val="105000"/>
              </a:lnSpc>
              <a:buNone/>
            </a:pPr>
            <a:r>
              <a:rPr lang="en-US" sz="1800" b="1" dirty="0">
                <a:solidFill>
                  <a:srgbClr val="191C20"/>
                </a:solidFill>
                <a:latin typeface="IBM Plex Sans" pitchFamily="34" charset="0"/>
                <a:ea typeface="IBM Plex Sans" pitchFamily="34" charset="-122"/>
                <a:cs typeface="IBM Plex Sans" pitchFamily="34" charset="-120"/>
              </a:rPr>
              <a:t>Lambda</a:t>
            </a:r>
            <a:endParaRPr lang="en-US" sz="1800" dirty="0"/>
          </a:p>
        </p:txBody>
      </p:sp>
      <p:sp>
        <p:nvSpPr>
          <p:cNvPr id="19" name="Text 13"/>
          <p:cNvSpPr/>
          <p:nvPr/>
        </p:nvSpPr>
        <p:spPr>
          <a:xfrm>
            <a:off x="13639800" y="2819400"/>
            <a:ext cx="3553062" cy="657225"/>
          </a:xfrm>
          <a:prstGeom prst="rect">
            <a:avLst/>
          </a:prstGeom>
          <a:noFill/>
          <a:ln/>
        </p:spPr>
        <p:txBody>
          <a:bodyPr wrap="square" lIns="25400" tIns="25400" rIns="25400" bIns="25400" rtlCol="0" anchor="t">
            <a:normAutofit/>
          </a:bodyPr>
          <a:lstStyle/>
          <a:p>
            <a:pPr algn="l" indent="0" marL="0">
              <a:lnSpc>
                <a:spcPct val="105000"/>
              </a:lnSpc>
              <a:buNone/>
            </a:pPr>
            <a:r>
              <a:rPr lang="en-US" sz="1800" dirty="0">
                <a:solidFill>
                  <a:srgbClr val="4D535B"/>
                </a:solidFill>
                <a:latin typeface="IBM Plex Sans" pitchFamily="34" charset="0"/>
                <a:ea typeface="IBM Plex Sans" pitchFamily="34" charset="-122"/>
                <a:cs typeface="IBM Plex Sans" pitchFamily="34" charset="-120"/>
              </a:rPr>
              <a:t>Short control, validation &amp; routing actions only</a:t>
            </a:r>
            <a:endParaRPr lang="en-US" sz="1800" dirty="0"/>
          </a:p>
        </p:txBody>
      </p:sp>
      <p:sp>
        <p:nvSpPr>
          <p:cNvPr id="20" name="Shape 14"/>
          <p:cNvSpPr/>
          <p:nvPr/>
        </p:nvSpPr>
        <p:spPr>
          <a:xfrm>
            <a:off x="857250" y="3800475"/>
            <a:ext cx="4029075" cy="2076450"/>
          </a:xfrm>
          <a:prstGeom prst="rect">
            <a:avLst/>
          </a:prstGeom>
          <a:solidFill>
            <a:srgbClr val="FFFFFF"/>
          </a:solidFill>
          <a:ln w="9525">
            <a:solidFill>
              <a:srgbClr val="E0DCD3"/>
            </a:solidFill>
            <a:prstDash val="solid"/>
          </a:ln>
        </p:spPr>
      </p:sp>
      <p:pic>
        <p:nvPicPr>
          <p:cNvPr id="21" name="Image 4" descr="preencoded.png">    </p:cNvPr>
          <p:cNvPicPr>
            <a:picLocks noChangeAspect="1"/>
          </p:cNvPicPr>
          <p:nvPr/>
        </p:nvPicPr>
        <p:blipFill>
          <a:blip r:embed="rId5"/>
          <a:stretch>
            <a:fillRect/>
          </a:stretch>
        </p:blipFill>
        <p:spPr>
          <a:xfrm>
            <a:off x="1095375" y="4000500"/>
            <a:ext cx="419100" cy="419100"/>
          </a:xfrm>
          <a:prstGeom prst="rect">
            <a:avLst/>
          </a:prstGeom>
        </p:spPr>
      </p:pic>
      <p:sp>
        <p:nvSpPr>
          <p:cNvPr id="22" name="Text 15"/>
          <p:cNvSpPr/>
          <p:nvPr/>
        </p:nvSpPr>
        <p:spPr>
          <a:xfrm>
            <a:off x="1568425" y="4048125"/>
            <a:ext cx="1427287" cy="342900"/>
          </a:xfrm>
          <a:prstGeom prst="rect">
            <a:avLst/>
          </a:prstGeom>
          <a:noFill/>
          <a:ln/>
        </p:spPr>
        <p:txBody>
          <a:bodyPr wrap="square" lIns="25400" tIns="25400" rIns="25400" bIns="25400" rtlCol="0" anchor="t">
            <a:normAutofit/>
          </a:bodyPr>
          <a:lstStyle/>
          <a:p>
            <a:pPr algn="l" indent="0" marL="0">
              <a:lnSpc>
                <a:spcPct val="105000"/>
              </a:lnSpc>
              <a:buNone/>
            </a:pPr>
            <a:r>
              <a:rPr lang="en-US" sz="1800" b="1" dirty="0">
                <a:solidFill>
                  <a:srgbClr val="191C20"/>
                </a:solidFill>
                <a:latin typeface="IBM Plex Sans" pitchFamily="34" charset="0"/>
                <a:ea typeface="IBM Plex Sans" pitchFamily="34" charset="-122"/>
                <a:cs typeface="IBM Plex Sans" pitchFamily="34" charset="-120"/>
              </a:rPr>
              <a:t>ECS Fargate</a:t>
            </a:r>
            <a:endParaRPr lang="en-US" sz="1800" dirty="0"/>
          </a:p>
        </p:txBody>
      </p:sp>
      <p:sp>
        <p:nvSpPr>
          <p:cNvPr id="23" name="Text 16"/>
          <p:cNvSpPr/>
          <p:nvPr/>
        </p:nvSpPr>
        <p:spPr>
          <a:xfrm>
            <a:off x="1095375" y="4419600"/>
            <a:ext cx="3600624" cy="971550"/>
          </a:xfrm>
          <a:prstGeom prst="rect">
            <a:avLst/>
          </a:prstGeom>
          <a:noFill/>
          <a:ln/>
        </p:spPr>
        <p:txBody>
          <a:bodyPr wrap="square" lIns="25400" tIns="25400" rIns="25400" bIns="25400" rtlCol="0" anchor="t">
            <a:normAutofit/>
          </a:bodyPr>
          <a:lstStyle/>
          <a:p>
            <a:pPr algn="l" indent="0" marL="0">
              <a:lnSpc>
                <a:spcPct val="105000"/>
              </a:lnSpc>
              <a:buNone/>
            </a:pPr>
            <a:r>
              <a:rPr lang="en-US" sz="1800" dirty="0">
                <a:solidFill>
                  <a:srgbClr val="4D535B"/>
                </a:solidFill>
                <a:latin typeface="IBM Plex Sans" pitchFamily="34" charset="0"/>
                <a:ea typeface="IBM Plex Sans" pitchFamily="34" charset="-122"/>
                <a:cs typeface="IBM Plex Sans" pitchFamily="34" charset="-120"/>
              </a:rPr>
              <a:t>Extraction services — parsers (sqlglot, dbt, OpenAPI) + AST service (tree-sitter); per-run creds</a:t>
            </a:r>
            <a:endParaRPr lang="en-US" sz="1800" dirty="0"/>
          </a:p>
        </p:txBody>
      </p:sp>
      <p:sp>
        <p:nvSpPr>
          <p:cNvPr id="24" name="Shape 17"/>
          <p:cNvSpPr/>
          <p:nvPr/>
        </p:nvSpPr>
        <p:spPr>
          <a:xfrm>
            <a:off x="5038725" y="3800475"/>
            <a:ext cx="4029075" cy="2076450"/>
          </a:xfrm>
          <a:prstGeom prst="rect">
            <a:avLst/>
          </a:prstGeom>
          <a:solidFill>
            <a:srgbClr val="FFFFFF"/>
          </a:solidFill>
          <a:ln w="9525">
            <a:solidFill>
              <a:srgbClr val="E0DCD3"/>
            </a:solidFill>
            <a:prstDash val="solid"/>
          </a:ln>
        </p:spPr>
      </p:sp>
      <p:pic>
        <p:nvPicPr>
          <p:cNvPr id="25" name="Image 5" descr="preencoded.png">    </p:cNvPr>
          <p:cNvPicPr>
            <a:picLocks noChangeAspect="1"/>
          </p:cNvPicPr>
          <p:nvPr/>
        </p:nvPicPr>
        <p:blipFill>
          <a:blip r:embed="rId6"/>
          <a:stretch>
            <a:fillRect/>
          </a:stretch>
        </p:blipFill>
        <p:spPr>
          <a:xfrm>
            <a:off x="5276850" y="4000500"/>
            <a:ext cx="419100" cy="419100"/>
          </a:xfrm>
          <a:prstGeom prst="rect">
            <a:avLst/>
          </a:prstGeom>
        </p:spPr>
      </p:pic>
      <p:sp>
        <p:nvSpPr>
          <p:cNvPr id="26" name="Text 18"/>
          <p:cNvSpPr/>
          <p:nvPr/>
        </p:nvSpPr>
        <p:spPr>
          <a:xfrm>
            <a:off x="5749900" y="4048125"/>
            <a:ext cx="2555337" cy="342900"/>
          </a:xfrm>
          <a:prstGeom prst="rect">
            <a:avLst/>
          </a:prstGeom>
          <a:noFill/>
          <a:ln/>
        </p:spPr>
        <p:txBody>
          <a:bodyPr wrap="square" lIns="25400" tIns="25400" rIns="25400" bIns="25400" rtlCol="0" anchor="t">
            <a:normAutofit/>
          </a:bodyPr>
          <a:lstStyle/>
          <a:p>
            <a:pPr algn="l" indent="0" marL="0">
              <a:lnSpc>
                <a:spcPct val="105000"/>
              </a:lnSpc>
              <a:buNone/>
            </a:pPr>
            <a:r>
              <a:rPr lang="en-US" sz="1800" b="1" dirty="0">
                <a:solidFill>
                  <a:srgbClr val="191C20"/>
                </a:solidFill>
                <a:latin typeface="IBM Plex Sans" pitchFamily="34" charset="0"/>
                <a:ea typeface="IBM Plex Sans" pitchFamily="34" charset="-122"/>
                <a:cs typeface="IBM Plex Sans" pitchFamily="34" charset="-120"/>
              </a:rPr>
              <a:t>Internal LLM gateway</a:t>
            </a:r>
            <a:endParaRPr lang="en-US" sz="1800" dirty="0"/>
          </a:p>
        </p:txBody>
      </p:sp>
      <p:sp>
        <p:nvSpPr>
          <p:cNvPr id="27" name="Text 19"/>
          <p:cNvSpPr/>
          <p:nvPr/>
        </p:nvSpPr>
        <p:spPr>
          <a:xfrm>
            <a:off x="5276850" y="4419600"/>
            <a:ext cx="3615222" cy="1285875"/>
          </a:xfrm>
          <a:prstGeom prst="rect">
            <a:avLst/>
          </a:prstGeom>
          <a:noFill/>
          <a:ln/>
        </p:spPr>
        <p:txBody>
          <a:bodyPr wrap="square" lIns="25400" tIns="25400" rIns="25400" bIns="25400" rtlCol="0" anchor="t">
            <a:normAutofit/>
          </a:bodyPr>
          <a:lstStyle/>
          <a:p>
            <a:pPr algn="l" indent="0" marL="0">
              <a:lnSpc>
                <a:spcPct val="105000"/>
              </a:lnSpc>
              <a:buNone/>
            </a:pPr>
            <a:r>
              <a:rPr lang="en-US" sz="1800" dirty="0">
                <a:solidFill>
                  <a:srgbClr val="4D535B"/>
                </a:solidFill>
                <a:latin typeface="IBM Plex Sans" pitchFamily="34" charset="0"/>
                <a:ea typeface="IBM Plex Sans" pitchFamily="34" charset="-122"/>
                <a:cs typeface="IBM Plex Sans" pitchFamily="34" charset="-120"/>
              </a:rPr>
              <a:t>Bedrock behind our gateway, a separate service — chunks source, answers only what parsers could not; cached &amp; capped</a:t>
            </a:r>
            <a:endParaRPr lang="en-US" sz="1800" dirty="0"/>
          </a:p>
        </p:txBody>
      </p:sp>
      <p:sp>
        <p:nvSpPr>
          <p:cNvPr id="28" name="Shape 20"/>
          <p:cNvSpPr/>
          <p:nvPr/>
        </p:nvSpPr>
        <p:spPr>
          <a:xfrm>
            <a:off x="9220200" y="3800475"/>
            <a:ext cx="4029075" cy="2076450"/>
          </a:xfrm>
          <a:prstGeom prst="rect">
            <a:avLst/>
          </a:prstGeom>
          <a:solidFill>
            <a:srgbClr val="FFFFFF"/>
          </a:solidFill>
          <a:ln w="9525">
            <a:solidFill>
              <a:srgbClr val="E0DCD3"/>
            </a:solidFill>
            <a:prstDash val="solid"/>
          </a:ln>
        </p:spPr>
      </p:sp>
      <p:pic>
        <p:nvPicPr>
          <p:cNvPr id="29" name="Image 6" descr="preencoded.png">    </p:cNvPr>
          <p:cNvPicPr>
            <a:picLocks noChangeAspect="1"/>
          </p:cNvPicPr>
          <p:nvPr/>
        </p:nvPicPr>
        <p:blipFill>
          <a:blip r:embed="rId7"/>
          <a:stretch>
            <a:fillRect/>
          </a:stretch>
        </p:blipFill>
        <p:spPr>
          <a:xfrm>
            <a:off x="9458325" y="4000500"/>
            <a:ext cx="419100" cy="419100"/>
          </a:xfrm>
          <a:prstGeom prst="rect">
            <a:avLst/>
          </a:prstGeom>
        </p:spPr>
      </p:pic>
      <p:sp>
        <p:nvSpPr>
          <p:cNvPr id="30" name="Text 21"/>
          <p:cNvSpPr/>
          <p:nvPr/>
        </p:nvSpPr>
        <p:spPr>
          <a:xfrm>
            <a:off x="9931375" y="4048125"/>
            <a:ext cx="1198855" cy="342900"/>
          </a:xfrm>
          <a:prstGeom prst="rect">
            <a:avLst/>
          </a:prstGeom>
          <a:noFill/>
          <a:ln/>
        </p:spPr>
        <p:txBody>
          <a:bodyPr wrap="square" lIns="25400" tIns="25400" rIns="25400" bIns="25400" rtlCol="0" anchor="t">
            <a:normAutofit/>
          </a:bodyPr>
          <a:lstStyle/>
          <a:p>
            <a:pPr algn="l" indent="0" marL="0">
              <a:lnSpc>
                <a:spcPct val="105000"/>
              </a:lnSpc>
              <a:buNone/>
            </a:pPr>
            <a:r>
              <a:rPr lang="en-US" sz="1800" b="1" dirty="0">
                <a:solidFill>
                  <a:srgbClr val="191C20"/>
                </a:solidFill>
                <a:latin typeface="IBM Plex Sans" pitchFamily="34" charset="0"/>
                <a:ea typeface="IBM Plex Sans" pitchFamily="34" charset="-122"/>
                <a:cs typeface="IBM Plex Sans" pitchFamily="34" charset="-120"/>
              </a:rPr>
              <a:t>AppConfig</a:t>
            </a:r>
            <a:endParaRPr lang="en-US" sz="1800" dirty="0"/>
          </a:p>
        </p:txBody>
      </p:sp>
      <p:sp>
        <p:nvSpPr>
          <p:cNvPr id="31" name="Text 22"/>
          <p:cNvSpPr/>
          <p:nvPr/>
        </p:nvSpPr>
        <p:spPr>
          <a:xfrm>
            <a:off x="9458325" y="4419600"/>
            <a:ext cx="2657850" cy="657225"/>
          </a:xfrm>
          <a:prstGeom prst="rect">
            <a:avLst/>
          </a:prstGeom>
          <a:noFill/>
          <a:ln/>
        </p:spPr>
        <p:txBody>
          <a:bodyPr wrap="square" lIns="25400" tIns="25400" rIns="25400" bIns="25400" rtlCol="0" anchor="t">
            <a:normAutofit/>
          </a:bodyPr>
          <a:lstStyle/>
          <a:p>
            <a:pPr algn="l" indent="0" marL="0">
              <a:lnSpc>
                <a:spcPct val="105000"/>
              </a:lnSpc>
              <a:buNone/>
            </a:pPr>
            <a:r>
              <a:rPr lang="en-US" sz="1800" dirty="0">
                <a:solidFill>
                  <a:srgbClr val="4D535B"/>
                </a:solidFill>
                <a:latin typeface="IBM Plex Sans" pitchFamily="34" charset="0"/>
                <a:ea typeface="IBM Plex Sans" pitchFamily="34" charset="-122"/>
                <a:cs typeface="IBM Plex Sans" pitchFamily="34" charset="-120"/>
              </a:rPr>
              <a:t>Bounded integration-test evidence sessions</a:t>
            </a:r>
            <a:endParaRPr lang="en-US" sz="1800" dirty="0"/>
          </a:p>
        </p:txBody>
      </p:sp>
      <p:sp>
        <p:nvSpPr>
          <p:cNvPr id="32" name="Shape 23"/>
          <p:cNvSpPr/>
          <p:nvPr/>
        </p:nvSpPr>
        <p:spPr>
          <a:xfrm>
            <a:off x="13401675" y="3800475"/>
            <a:ext cx="4029075" cy="2076450"/>
          </a:xfrm>
          <a:prstGeom prst="rect">
            <a:avLst/>
          </a:prstGeom>
          <a:solidFill>
            <a:srgbClr val="FFFFFF"/>
          </a:solidFill>
          <a:ln w="9525">
            <a:solidFill>
              <a:srgbClr val="E0DCD3"/>
            </a:solidFill>
            <a:prstDash val="solid"/>
          </a:ln>
        </p:spPr>
      </p:sp>
      <p:pic>
        <p:nvPicPr>
          <p:cNvPr id="33" name="Image 7" descr="preencoded.png">    </p:cNvPr>
          <p:cNvPicPr>
            <a:picLocks noChangeAspect="1"/>
          </p:cNvPicPr>
          <p:nvPr/>
        </p:nvPicPr>
        <p:blipFill>
          <a:blip r:embed="rId8"/>
          <a:stretch>
            <a:fillRect/>
          </a:stretch>
        </p:blipFill>
        <p:spPr>
          <a:xfrm>
            <a:off x="13639800" y="4000500"/>
            <a:ext cx="419100" cy="419100"/>
          </a:xfrm>
          <a:prstGeom prst="rect">
            <a:avLst/>
          </a:prstGeom>
        </p:spPr>
      </p:pic>
      <p:sp>
        <p:nvSpPr>
          <p:cNvPr id="34" name="Text 24"/>
          <p:cNvSpPr/>
          <p:nvPr/>
        </p:nvSpPr>
        <p:spPr>
          <a:xfrm>
            <a:off x="14112850" y="4048125"/>
            <a:ext cx="2035820" cy="342900"/>
          </a:xfrm>
          <a:prstGeom prst="rect">
            <a:avLst/>
          </a:prstGeom>
          <a:noFill/>
          <a:ln/>
        </p:spPr>
        <p:txBody>
          <a:bodyPr wrap="square" lIns="25400" tIns="25400" rIns="25400" bIns="25400" rtlCol="0" anchor="t">
            <a:normAutofit/>
          </a:bodyPr>
          <a:lstStyle/>
          <a:p>
            <a:pPr algn="l" indent="0" marL="0">
              <a:lnSpc>
                <a:spcPct val="105000"/>
              </a:lnSpc>
              <a:buNone/>
            </a:pPr>
            <a:r>
              <a:rPr lang="en-US" sz="1800" b="1" dirty="0">
                <a:solidFill>
                  <a:srgbClr val="191C20"/>
                </a:solidFill>
                <a:latin typeface="IBM Plex Sans" pitchFamily="34" charset="0"/>
                <a:ea typeface="IBM Plex Sans" pitchFamily="34" charset="-122"/>
                <a:cs typeface="IBM Plex Sans" pitchFamily="34" charset="-120"/>
              </a:rPr>
              <a:t>CloudWatch Logs</a:t>
            </a:r>
            <a:endParaRPr lang="en-US" sz="1800" dirty="0"/>
          </a:p>
        </p:txBody>
      </p:sp>
      <p:sp>
        <p:nvSpPr>
          <p:cNvPr id="35" name="Text 25"/>
          <p:cNvSpPr/>
          <p:nvPr/>
        </p:nvSpPr>
        <p:spPr>
          <a:xfrm>
            <a:off x="13639800" y="4419600"/>
            <a:ext cx="2882006" cy="657225"/>
          </a:xfrm>
          <a:prstGeom prst="rect">
            <a:avLst/>
          </a:prstGeom>
          <a:noFill/>
          <a:ln/>
        </p:spPr>
        <p:txBody>
          <a:bodyPr wrap="square" lIns="25400" tIns="25400" rIns="25400" bIns="25400" rtlCol="0" anchor="t">
            <a:normAutofit/>
          </a:bodyPr>
          <a:lstStyle/>
          <a:p>
            <a:pPr algn="l" indent="0" marL="0">
              <a:lnSpc>
                <a:spcPct val="105000"/>
              </a:lnSpc>
              <a:buNone/>
            </a:pPr>
            <a:r>
              <a:rPr lang="en-US" sz="1800" dirty="0">
                <a:solidFill>
                  <a:srgbClr val="4D535B"/>
                </a:solidFill>
                <a:latin typeface="IBM Plex Sans" pitchFamily="34" charset="0"/>
                <a:ea typeface="IBM Plex Sans" pitchFamily="34" charset="-122"/>
                <a:cs typeface="IBM Plex Sans" pitchFamily="34" charset="-120"/>
              </a:rPr>
              <a:t>Context + governed sidecar evidence entry</a:t>
            </a:r>
            <a:endParaRPr lang="en-US" sz="1800" dirty="0"/>
          </a:p>
        </p:txBody>
      </p:sp>
      <p:sp>
        <p:nvSpPr>
          <p:cNvPr id="36" name="Shape 26"/>
          <p:cNvSpPr/>
          <p:nvPr/>
        </p:nvSpPr>
        <p:spPr>
          <a:xfrm>
            <a:off x="857250" y="6029325"/>
            <a:ext cx="4029075" cy="1762125"/>
          </a:xfrm>
          <a:prstGeom prst="rect">
            <a:avLst/>
          </a:prstGeom>
          <a:solidFill>
            <a:srgbClr val="FFFFFF"/>
          </a:solidFill>
          <a:ln w="9525">
            <a:solidFill>
              <a:srgbClr val="E0DCD3"/>
            </a:solidFill>
            <a:prstDash val="solid"/>
          </a:ln>
        </p:spPr>
      </p:sp>
      <p:pic>
        <p:nvPicPr>
          <p:cNvPr id="37" name="Image 8" descr="preencoded.png">    </p:cNvPr>
          <p:cNvPicPr>
            <a:picLocks noChangeAspect="1"/>
          </p:cNvPicPr>
          <p:nvPr/>
        </p:nvPicPr>
        <p:blipFill>
          <a:blip r:embed="rId9"/>
          <a:stretch>
            <a:fillRect/>
          </a:stretch>
        </p:blipFill>
        <p:spPr>
          <a:xfrm>
            <a:off x="1095375" y="6229350"/>
            <a:ext cx="419100" cy="419100"/>
          </a:xfrm>
          <a:prstGeom prst="rect">
            <a:avLst/>
          </a:prstGeom>
        </p:spPr>
      </p:pic>
      <p:sp>
        <p:nvSpPr>
          <p:cNvPr id="38" name="Text 27"/>
          <p:cNvSpPr/>
          <p:nvPr/>
        </p:nvSpPr>
        <p:spPr>
          <a:xfrm>
            <a:off x="1568425" y="6276975"/>
            <a:ext cx="859384" cy="342900"/>
          </a:xfrm>
          <a:prstGeom prst="rect">
            <a:avLst/>
          </a:prstGeom>
          <a:noFill/>
          <a:ln/>
        </p:spPr>
        <p:txBody>
          <a:bodyPr wrap="square" lIns="25400" tIns="25400" rIns="25400" bIns="25400" rtlCol="0" anchor="t">
            <a:normAutofit/>
          </a:bodyPr>
          <a:lstStyle/>
          <a:p>
            <a:pPr algn="l" indent="0" marL="0">
              <a:lnSpc>
                <a:spcPct val="105000"/>
              </a:lnSpc>
              <a:buNone/>
            </a:pPr>
            <a:r>
              <a:rPr lang="en-US" sz="1800" b="1" dirty="0">
                <a:solidFill>
                  <a:srgbClr val="191C20"/>
                </a:solidFill>
                <a:latin typeface="IBM Plex Sans" pitchFamily="34" charset="0"/>
                <a:ea typeface="IBM Plex Sans" pitchFamily="34" charset="-122"/>
                <a:cs typeface="IBM Plex Sans" pitchFamily="34" charset="-120"/>
              </a:rPr>
              <a:t>Stream</a:t>
            </a:r>
            <a:endParaRPr lang="en-US" sz="1800" dirty="0"/>
          </a:p>
        </p:txBody>
      </p:sp>
      <p:sp>
        <p:nvSpPr>
          <p:cNvPr id="39" name="Text 28"/>
          <p:cNvSpPr/>
          <p:nvPr/>
        </p:nvSpPr>
        <p:spPr>
          <a:xfrm>
            <a:off x="1095375" y="6648450"/>
            <a:ext cx="3245082" cy="657225"/>
          </a:xfrm>
          <a:prstGeom prst="rect">
            <a:avLst/>
          </a:prstGeom>
          <a:noFill/>
          <a:ln/>
        </p:spPr>
        <p:txBody>
          <a:bodyPr wrap="square" lIns="25400" tIns="25400" rIns="25400" bIns="25400" rtlCol="0" anchor="t">
            <a:normAutofit/>
          </a:bodyPr>
          <a:lstStyle/>
          <a:p>
            <a:pPr algn="l" indent="0" marL="0">
              <a:lnSpc>
                <a:spcPct val="105000"/>
              </a:lnSpc>
              <a:buNone/>
            </a:pPr>
            <a:r>
              <a:rPr lang="en-US" sz="1800" dirty="0">
                <a:solidFill>
                  <a:srgbClr val="4D535B"/>
                </a:solidFill>
                <a:latin typeface="IBM Plex Sans" pitchFamily="34" charset="0"/>
                <a:ea typeface="IBM Plex Sans" pitchFamily="34" charset="-122"/>
                <a:cs typeface="IBM Plex Sans" pitchFamily="34" charset="-120"/>
              </a:rPr>
              <a:t>High-volume runtime evidence transport, ordered partitions</a:t>
            </a:r>
            <a:endParaRPr lang="en-US" sz="1800" dirty="0"/>
          </a:p>
        </p:txBody>
      </p:sp>
      <p:sp>
        <p:nvSpPr>
          <p:cNvPr id="40" name="Shape 29"/>
          <p:cNvSpPr/>
          <p:nvPr/>
        </p:nvSpPr>
        <p:spPr>
          <a:xfrm>
            <a:off x="5038725" y="6029325"/>
            <a:ext cx="4029075" cy="1762125"/>
          </a:xfrm>
          <a:prstGeom prst="rect">
            <a:avLst/>
          </a:prstGeom>
          <a:solidFill>
            <a:srgbClr val="FFFFFF"/>
          </a:solidFill>
          <a:ln w="9525">
            <a:solidFill>
              <a:srgbClr val="E0DCD3"/>
            </a:solidFill>
            <a:prstDash val="solid"/>
          </a:ln>
        </p:spPr>
      </p:sp>
      <p:pic>
        <p:nvPicPr>
          <p:cNvPr id="41" name="Image 9" descr="preencoded.png">    </p:cNvPr>
          <p:cNvPicPr>
            <a:picLocks noChangeAspect="1"/>
          </p:cNvPicPr>
          <p:nvPr/>
        </p:nvPicPr>
        <p:blipFill>
          <a:blip r:embed="rId10"/>
          <a:stretch>
            <a:fillRect/>
          </a:stretch>
        </p:blipFill>
        <p:spPr>
          <a:xfrm>
            <a:off x="5276850" y="6229350"/>
            <a:ext cx="419100" cy="419100"/>
          </a:xfrm>
          <a:prstGeom prst="rect">
            <a:avLst/>
          </a:prstGeom>
        </p:spPr>
      </p:pic>
      <p:sp>
        <p:nvSpPr>
          <p:cNvPr id="42" name="Text 30"/>
          <p:cNvSpPr/>
          <p:nvPr/>
        </p:nvSpPr>
        <p:spPr>
          <a:xfrm>
            <a:off x="5749900" y="6276975"/>
            <a:ext cx="1326200" cy="342900"/>
          </a:xfrm>
          <a:prstGeom prst="rect">
            <a:avLst/>
          </a:prstGeom>
          <a:noFill/>
          <a:ln/>
        </p:spPr>
        <p:txBody>
          <a:bodyPr wrap="square" lIns="25400" tIns="25400" rIns="25400" bIns="25400" rtlCol="0" anchor="t">
            <a:normAutofit/>
          </a:bodyPr>
          <a:lstStyle/>
          <a:p>
            <a:pPr algn="l" indent="0" marL="0">
              <a:lnSpc>
                <a:spcPct val="105000"/>
              </a:lnSpc>
              <a:buNone/>
            </a:pPr>
            <a:r>
              <a:rPr lang="en-US" sz="1800" b="1" dirty="0">
                <a:solidFill>
                  <a:srgbClr val="191C20"/>
                </a:solidFill>
                <a:latin typeface="IBM Plex Sans" pitchFamily="34" charset="0"/>
                <a:ea typeface="IBM Plex Sans" pitchFamily="34" charset="-122"/>
                <a:cs typeface="IBM Plex Sans" pitchFamily="34" charset="-120"/>
              </a:rPr>
              <a:t>Amazon S3</a:t>
            </a:r>
            <a:endParaRPr lang="en-US" sz="1800" dirty="0"/>
          </a:p>
        </p:txBody>
      </p:sp>
      <p:sp>
        <p:nvSpPr>
          <p:cNvPr id="43" name="Text 31"/>
          <p:cNvSpPr/>
          <p:nvPr/>
        </p:nvSpPr>
        <p:spPr>
          <a:xfrm>
            <a:off x="5276850" y="6648450"/>
            <a:ext cx="3399778" cy="657225"/>
          </a:xfrm>
          <a:prstGeom prst="rect">
            <a:avLst/>
          </a:prstGeom>
          <a:noFill/>
          <a:ln/>
        </p:spPr>
        <p:txBody>
          <a:bodyPr wrap="square" lIns="25400" tIns="25400" rIns="25400" bIns="25400" rtlCol="0" anchor="t">
            <a:normAutofit/>
          </a:bodyPr>
          <a:lstStyle/>
          <a:p>
            <a:pPr algn="l" indent="0" marL="0">
              <a:lnSpc>
                <a:spcPct val="105000"/>
              </a:lnSpc>
              <a:buNone/>
            </a:pPr>
            <a:r>
              <a:rPr lang="en-US" sz="1800" dirty="0">
                <a:solidFill>
                  <a:srgbClr val="4D535B"/>
                </a:solidFill>
                <a:latin typeface="IBM Plex Sans" pitchFamily="34" charset="0"/>
                <a:ea typeface="IBM Plex Sans" pitchFamily="34" charset="-122"/>
                <a:cs typeface="IBM Plex Sans" pitchFamily="34" charset="-120"/>
              </a:rPr>
              <a:t>Immutable evidence, proposals, manifests; Object Lock</a:t>
            </a:r>
            <a:endParaRPr lang="en-US" sz="1800" dirty="0"/>
          </a:p>
        </p:txBody>
      </p:sp>
      <p:sp>
        <p:nvSpPr>
          <p:cNvPr id="44" name="Shape 32"/>
          <p:cNvSpPr/>
          <p:nvPr/>
        </p:nvSpPr>
        <p:spPr>
          <a:xfrm>
            <a:off x="9220200" y="6029325"/>
            <a:ext cx="4029075" cy="1762125"/>
          </a:xfrm>
          <a:prstGeom prst="rect">
            <a:avLst/>
          </a:prstGeom>
          <a:solidFill>
            <a:srgbClr val="FFFFFF"/>
          </a:solidFill>
          <a:ln w="9525">
            <a:solidFill>
              <a:srgbClr val="E0DCD3"/>
            </a:solidFill>
            <a:prstDash val="solid"/>
          </a:ln>
        </p:spPr>
      </p:sp>
      <p:pic>
        <p:nvPicPr>
          <p:cNvPr id="45" name="Image 10" descr="preencoded.png">    </p:cNvPr>
          <p:cNvPicPr>
            <a:picLocks noChangeAspect="1"/>
          </p:cNvPicPr>
          <p:nvPr/>
        </p:nvPicPr>
        <p:blipFill>
          <a:blip r:embed="rId11"/>
          <a:stretch>
            <a:fillRect/>
          </a:stretch>
        </p:blipFill>
        <p:spPr>
          <a:xfrm>
            <a:off x="9458325" y="6229350"/>
            <a:ext cx="419100" cy="419100"/>
          </a:xfrm>
          <a:prstGeom prst="rect">
            <a:avLst/>
          </a:prstGeom>
        </p:spPr>
      </p:pic>
      <p:sp>
        <p:nvSpPr>
          <p:cNvPr id="46" name="Text 33"/>
          <p:cNvSpPr/>
          <p:nvPr/>
        </p:nvSpPr>
        <p:spPr>
          <a:xfrm>
            <a:off x="9931375" y="6276975"/>
            <a:ext cx="1269034" cy="342900"/>
          </a:xfrm>
          <a:prstGeom prst="rect">
            <a:avLst/>
          </a:prstGeom>
          <a:noFill/>
          <a:ln/>
        </p:spPr>
        <p:txBody>
          <a:bodyPr wrap="square" lIns="25400" tIns="25400" rIns="25400" bIns="25400" rtlCol="0" anchor="t">
            <a:normAutofit/>
          </a:bodyPr>
          <a:lstStyle/>
          <a:p>
            <a:pPr algn="l" indent="0" marL="0">
              <a:lnSpc>
                <a:spcPct val="105000"/>
              </a:lnSpc>
              <a:buNone/>
            </a:pPr>
            <a:r>
              <a:rPr lang="en-US" sz="1800" b="1" dirty="0">
                <a:solidFill>
                  <a:srgbClr val="191C20"/>
                </a:solidFill>
                <a:latin typeface="IBM Plex Sans" pitchFamily="34" charset="0"/>
                <a:ea typeface="IBM Plex Sans" pitchFamily="34" charset="-122"/>
                <a:cs typeface="IBM Plex Sans" pitchFamily="34" charset="-120"/>
              </a:rPr>
              <a:t>DynamoDB</a:t>
            </a:r>
            <a:endParaRPr lang="en-US" sz="1800" dirty="0"/>
          </a:p>
        </p:txBody>
      </p:sp>
      <p:sp>
        <p:nvSpPr>
          <p:cNvPr id="47" name="Text 34"/>
          <p:cNvSpPr/>
          <p:nvPr/>
        </p:nvSpPr>
        <p:spPr>
          <a:xfrm>
            <a:off x="9458325" y="6648450"/>
            <a:ext cx="3477008" cy="657225"/>
          </a:xfrm>
          <a:prstGeom prst="rect">
            <a:avLst/>
          </a:prstGeom>
          <a:noFill/>
          <a:ln/>
        </p:spPr>
        <p:txBody>
          <a:bodyPr wrap="square" lIns="25400" tIns="25400" rIns="25400" bIns="25400" rtlCol="0" anchor="t">
            <a:normAutofit/>
          </a:bodyPr>
          <a:lstStyle/>
          <a:p>
            <a:pPr algn="l" indent="0" marL="0">
              <a:lnSpc>
                <a:spcPct val="105000"/>
              </a:lnSpc>
              <a:buNone/>
            </a:pPr>
            <a:r>
              <a:rPr lang="en-US" sz="1800" dirty="0">
                <a:solidFill>
                  <a:srgbClr val="4D535B"/>
                </a:solidFill>
                <a:latin typeface="IBM Plex Sans" pitchFamily="34" charset="0"/>
                <a:ea typeface="IBM Plex Sans" pitchFamily="34" charset="-122"/>
                <a:cs typeface="IBM Plex Sans" pitchFamily="34" charset="-120"/>
              </a:rPr>
              <a:t>Workflow, eligibility, determinant &amp; version state</a:t>
            </a:r>
            <a:endParaRPr lang="en-US" sz="1800" dirty="0"/>
          </a:p>
        </p:txBody>
      </p:sp>
      <p:sp>
        <p:nvSpPr>
          <p:cNvPr id="48" name="Shape 35"/>
          <p:cNvSpPr/>
          <p:nvPr/>
        </p:nvSpPr>
        <p:spPr>
          <a:xfrm>
            <a:off x="13401675" y="6029325"/>
            <a:ext cx="4029075" cy="1762125"/>
          </a:xfrm>
          <a:prstGeom prst="rect">
            <a:avLst/>
          </a:prstGeom>
          <a:solidFill>
            <a:srgbClr val="FFFFFF"/>
          </a:solidFill>
          <a:ln w="9525">
            <a:solidFill>
              <a:srgbClr val="E0DCD3"/>
            </a:solidFill>
            <a:prstDash val="solid"/>
          </a:ln>
        </p:spPr>
      </p:sp>
      <p:pic>
        <p:nvPicPr>
          <p:cNvPr id="49" name="Image 11" descr="preencoded.png">    </p:cNvPr>
          <p:cNvPicPr>
            <a:picLocks noChangeAspect="1"/>
          </p:cNvPicPr>
          <p:nvPr/>
        </p:nvPicPr>
        <p:blipFill>
          <a:blip r:embed="rId12"/>
          <a:stretch>
            <a:fillRect/>
          </a:stretch>
        </p:blipFill>
        <p:spPr>
          <a:xfrm>
            <a:off x="13639800" y="6229350"/>
            <a:ext cx="419100" cy="419100"/>
          </a:xfrm>
          <a:prstGeom prst="rect">
            <a:avLst/>
          </a:prstGeom>
        </p:spPr>
      </p:pic>
      <p:sp>
        <p:nvSpPr>
          <p:cNvPr id="50" name="Text 36"/>
          <p:cNvSpPr/>
          <p:nvPr/>
        </p:nvSpPr>
        <p:spPr>
          <a:xfrm>
            <a:off x="14112850" y="6276975"/>
            <a:ext cx="996315" cy="342900"/>
          </a:xfrm>
          <a:prstGeom prst="rect">
            <a:avLst/>
          </a:prstGeom>
          <a:noFill/>
          <a:ln/>
        </p:spPr>
        <p:txBody>
          <a:bodyPr wrap="square" lIns="25400" tIns="25400" rIns="25400" bIns="25400" rtlCol="0" anchor="t">
            <a:normAutofit/>
          </a:bodyPr>
          <a:lstStyle/>
          <a:p>
            <a:pPr algn="l" indent="0" marL="0">
              <a:lnSpc>
                <a:spcPct val="105000"/>
              </a:lnSpc>
              <a:buNone/>
            </a:pPr>
            <a:r>
              <a:rPr lang="en-US" sz="1800" b="1" dirty="0">
                <a:solidFill>
                  <a:srgbClr val="191C20"/>
                </a:solidFill>
                <a:latin typeface="IBM Plex Sans" pitchFamily="34" charset="0"/>
                <a:ea typeface="IBM Plex Sans" pitchFamily="34" charset="-122"/>
                <a:cs typeface="IBM Plex Sans" pitchFamily="34" charset="-120"/>
              </a:rPr>
              <a:t>Neptune</a:t>
            </a:r>
            <a:endParaRPr lang="en-US" sz="1800" dirty="0"/>
          </a:p>
        </p:txBody>
      </p:sp>
      <p:sp>
        <p:nvSpPr>
          <p:cNvPr id="51" name="Text 37"/>
          <p:cNvSpPr/>
          <p:nvPr/>
        </p:nvSpPr>
        <p:spPr>
          <a:xfrm>
            <a:off x="13639800" y="6648450"/>
            <a:ext cx="2890483" cy="971550"/>
          </a:xfrm>
          <a:prstGeom prst="rect">
            <a:avLst/>
          </a:prstGeom>
          <a:noFill/>
          <a:ln/>
        </p:spPr>
        <p:txBody>
          <a:bodyPr wrap="square" lIns="25400" tIns="25400" rIns="25400" bIns="25400" rtlCol="0" anchor="t">
            <a:normAutofit/>
          </a:bodyPr>
          <a:lstStyle/>
          <a:p>
            <a:pPr algn="l" indent="0" marL="0">
              <a:lnSpc>
                <a:spcPct val="105000"/>
              </a:lnSpc>
              <a:buNone/>
            </a:pPr>
            <a:r>
              <a:rPr lang="en-US" sz="1800" dirty="0">
                <a:solidFill>
                  <a:srgbClr val="4D535B"/>
                </a:solidFill>
                <a:latin typeface="IBM Plex Sans" pitchFamily="34" charset="0"/>
                <a:ea typeface="IBM Plex Sans" pitchFamily="34" charset="-122"/>
                <a:cs typeface="IBM Plex Sans" pitchFamily="34" charset="-120"/>
              </a:rPr>
              <a:t>Traverses approved lineage (projection, versioned namespaces)</a:t>
            </a:r>
            <a:endParaRPr lang="en-US" sz="1800" dirty="0"/>
          </a:p>
        </p:txBody>
      </p:sp>
      <p:sp>
        <p:nvSpPr>
          <p:cNvPr id="52" name="Shape 38"/>
          <p:cNvSpPr/>
          <p:nvPr/>
        </p:nvSpPr>
        <p:spPr>
          <a:xfrm>
            <a:off x="857250" y="7943850"/>
            <a:ext cx="4029075" cy="2390775"/>
          </a:xfrm>
          <a:prstGeom prst="rect">
            <a:avLst/>
          </a:prstGeom>
          <a:solidFill>
            <a:srgbClr val="FFFFFF"/>
          </a:solidFill>
          <a:ln w="9525">
            <a:solidFill>
              <a:srgbClr val="E0DCD3"/>
            </a:solidFill>
            <a:prstDash val="solid"/>
          </a:ln>
        </p:spPr>
      </p:sp>
      <p:pic>
        <p:nvPicPr>
          <p:cNvPr id="53" name="Image 12" descr="preencoded.png">    </p:cNvPr>
          <p:cNvPicPr>
            <a:picLocks noChangeAspect="1"/>
          </p:cNvPicPr>
          <p:nvPr/>
        </p:nvPicPr>
        <p:blipFill>
          <a:blip r:embed="rId13"/>
          <a:stretch>
            <a:fillRect/>
          </a:stretch>
        </p:blipFill>
        <p:spPr>
          <a:xfrm>
            <a:off x="1095375" y="8143875"/>
            <a:ext cx="419100" cy="419100"/>
          </a:xfrm>
          <a:prstGeom prst="rect">
            <a:avLst/>
          </a:prstGeom>
        </p:spPr>
      </p:pic>
      <p:sp>
        <p:nvSpPr>
          <p:cNvPr id="54" name="Text 39"/>
          <p:cNvSpPr/>
          <p:nvPr/>
        </p:nvSpPr>
        <p:spPr>
          <a:xfrm>
            <a:off x="1568425" y="8191500"/>
            <a:ext cx="2610658" cy="342900"/>
          </a:xfrm>
          <a:prstGeom prst="rect">
            <a:avLst/>
          </a:prstGeom>
          <a:noFill/>
          <a:ln/>
        </p:spPr>
        <p:txBody>
          <a:bodyPr wrap="square" lIns="25400" tIns="25400" rIns="25400" bIns="25400" rtlCol="0" anchor="t">
            <a:normAutofit/>
          </a:bodyPr>
          <a:lstStyle/>
          <a:p>
            <a:pPr algn="l" indent="0" marL="0">
              <a:lnSpc>
                <a:spcPct val="105000"/>
              </a:lnSpc>
              <a:buNone/>
            </a:pPr>
            <a:r>
              <a:rPr lang="en-US" sz="1800" b="1" dirty="0">
                <a:solidFill>
                  <a:srgbClr val="191C20"/>
                </a:solidFill>
                <a:latin typeface="IBM Plex Sans" pitchFamily="34" charset="0"/>
                <a:ea typeface="IBM Plex Sans" pitchFamily="34" charset="-122"/>
                <a:cs typeface="IBM Plex Sans" pitchFamily="34" charset="-120"/>
              </a:rPr>
              <a:t>OpenSearch (Phase 1)</a:t>
            </a:r>
            <a:endParaRPr lang="en-US" sz="1800" dirty="0"/>
          </a:p>
        </p:txBody>
      </p:sp>
      <p:sp>
        <p:nvSpPr>
          <p:cNvPr id="55" name="Text 40"/>
          <p:cNvSpPr/>
          <p:nvPr/>
        </p:nvSpPr>
        <p:spPr>
          <a:xfrm>
            <a:off x="1095375" y="8562975"/>
            <a:ext cx="3593560" cy="971550"/>
          </a:xfrm>
          <a:prstGeom prst="rect">
            <a:avLst/>
          </a:prstGeom>
          <a:noFill/>
          <a:ln/>
        </p:spPr>
        <p:txBody>
          <a:bodyPr wrap="square" lIns="25400" tIns="25400" rIns="25400" bIns="25400" rtlCol="0" anchor="t">
            <a:normAutofit/>
          </a:bodyPr>
          <a:lstStyle/>
          <a:p>
            <a:pPr algn="l" indent="0" marL="0">
              <a:lnSpc>
                <a:spcPct val="105000"/>
              </a:lnSpc>
              <a:buNone/>
            </a:pPr>
            <a:r>
              <a:rPr lang="en-US" sz="1800" dirty="0">
                <a:solidFill>
                  <a:srgbClr val="4D535B"/>
                </a:solidFill>
                <a:latin typeface="IBM Plex Sans" pitchFamily="34" charset="0"/>
                <a:ea typeface="IBM Plex Sans" pitchFamily="34" charset="-122"/>
                <a:cs typeface="IBM Plex Sans" pitchFamily="34" charset="-120"/>
              </a:rPr>
              <a:t>Asset &amp; field discovery — deferred from MVP; rebuilt per version with zero rework</a:t>
            </a:r>
            <a:endParaRPr lang="en-US" sz="1800" dirty="0"/>
          </a:p>
        </p:txBody>
      </p:sp>
      <p:sp>
        <p:nvSpPr>
          <p:cNvPr id="56" name="Shape 41"/>
          <p:cNvSpPr/>
          <p:nvPr/>
        </p:nvSpPr>
        <p:spPr>
          <a:xfrm>
            <a:off x="5038725" y="7943850"/>
            <a:ext cx="4029075" cy="2390775"/>
          </a:xfrm>
          <a:prstGeom prst="rect">
            <a:avLst/>
          </a:prstGeom>
          <a:solidFill>
            <a:srgbClr val="FFFFFF"/>
          </a:solidFill>
          <a:ln w="9525">
            <a:solidFill>
              <a:srgbClr val="E0DCD3"/>
            </a:solidFill>
            <a:prstDash val="solid"/>
          </a:ln>
        </p:spPr>
      </p:sp>
      <p:pic>
        <p:nvPicPr>
          <p:cNvPr id="57" name="Image 13" descr="preencoded.png">    </p:cNvPr>
          <p:cNvPicPr>
            <a:picLocks noChangeAspect="1"/>
          </p:cNvPicPr>
          <p:nvPr/>
        </p:nvPicPr>
        <p:blipFill>
          <a:blip r:embed="rId14"/>
          <a:stretch>
            <a:fillRect/>
          </a:stretch>
        </p:blipFill>
        <p:spPr>
          <a:xfrm>
            <a:off x="5276850" y="8143875"/>
            <a:ext cx="419100" cy="419100"/>
          </a:xfrm>
          <a:prstGeom prst="rect">
            <a:avLst/>
          </a:prstGeom>
        </p:spPr>
      </p:pic>
      <p:sp>
        <p:nvSpPr>
          <p:cNvPr id="58" name="Text 42"/>
          <p:cNvSpPr/>
          <p:nvPr/>
        </p:nvSpPr>
        <p:spPr>
          <a:xfrm>
            <a:off x="5749900" y="8191500"/>
            <a:ext cx="2291303" cy="342900"/>
          </a:xfrm>
          <a:prstGeom prst="rect">
            <a:avLst/>
          </a:prstGeom>
          <a:noFill/>
          <a:ln/>
        </p:spPr>
        <p:txBody>
          <a:bodyPr wrap="square" lIns="25400" tIns="25400" rIns="25400" bIns="25400" rtlCol="0" anchor="t">
            <a:normAutofit/>
          </a:bodyPr>
          <a:lstStyle/>
          <a:p>
            <a:pPr algn="l" indent="0" marL="0">
              <a:lnSpc>
                <a:spcPct val="105000"/>
              </a:lnSpc>
              <a:buNone/>
            </a:pPr>
            <a:r>
              <a:rPr lang="en-US" sz="1800" b="1" dirty="0">
                <a:solidFill>
                  <a:srgbClr val="191C20"/>
                </a:solidFill>
                <a:latin typeface="IBM Plex Sans" pitchFamily="34" charset="0"/>
                <a:ea typeface="IBM Plex Sans" pitchFamily="34" charset="-122"/>
                <a:cs typeface="IBM Plex Sans" pitchFamily="34" charset="-120"/>
              </a:rPr>
              <a:t>API Gateway + SPA</a:t>
            </a:r>
            <a:endParaRPr lang="en-US" sz="1800" dirty="0"/>
          </a:p>
        </p:txBody>
      </p:sp>
      <p:sp>
        <p:nvSpPr>
          <p:cNvPr id="59" name="Text 43"/>
          <p:cNvSpPr/>
          <p:nvPr/>
        </p:nvSpPr>
        <p:spPr>
          <a:xfrm>
            <a:off x="5276850" y="8562975"/>
            <a:ext cx="3309598" cy="1600200"/>
          </a:xfrm>
          <a:prstGeom prst="rect">
            <a:avLst/>
          </a:prstGeom>
          <a:noFill/>
          <a:ln/>
        </p:spPr>
        <p:txBody>
          <a:bodyPr wrap="square" lIns="25400" tIns="25400" rIns="25400" bIns="25400" rtlCol="0" anchor="t">
            <a:normAutofit/>
          </a:bodyPr>
          <a:lstStyle/>
          <a:p>
            <a:pPr algn="l" indent="0" marL="0">
              <a:lnSpc>
                <a:spcPct val="105000"/>
              </a:lnSpc>
              <a:buNone/>
            </a:pPr>
            <a:r>
              <a:rPr lang="en-US" sz="1800" dirty="0">
                <a:solidFill>
                  <a:srgbClr val="4D535B"/>
                </a:solidFill>
                <a:latin typeface="IBM Plex Sans" pitchFamily="34" charset="0"/>
                <a:ea typeface="IBM Plex Sans" pitchFamily="34" charset="-122"/>
                <a:cs typeface="IBM Plex Sans" pitchFamily="34" charset="-120"/>
              </a:rPr>
              <a:t>Review, correction &amp; approval workflows · sign-in via Cognito using OIDC (OpenID Connect — the standard corporate single-sign-on protocol)</a:t>
            </a:r>
            <a:endParaRPr lang="en-US" sz="1800" dirty="0"/>
          </a:p>
        </p:txBody>
      </p:sp>
      <p:sp>
        <p:nvSpPr>
          <p:cNvPr id="60" name="Shape 44"/>
          <p:cNvSpPr/>
          <p:nvPr/>
        </p:nvSpPr>
        <p:spPr>
          <a:xfrm>
            <a:off x="9220200" y="7943850"/>
            <a:ext cx="4029075" cy="2390775"/>
          </a:xfrm>
          <a:prstGeom prst="rect">
            <a:avLst/>
          </a:prstGeom>
          <a:solidFill>
            <a:srgbClr val="FFFFFF"/>
          </a:solidFill>
          <a:ln w="9525">
            <a:solidFill>
              <a:srgbClr val="E0DCD3"/>
            </a:solidFill>
            <a:prstDash val="solid"/>
          </a:ln>
        </p:spPr>
      </p:sp>
      <p:pic>
        <p:nvPicPr>
          <p:cNvPr id="61" name="Image 14" descr="preencoded.png">    </p:cNvPr>
          <p:cNvPicPr>
            <a:picLocks noChangeAspect="1"/>
          </p:cNvPicPr>
          <p:nvPr/>
        </p:nvPicPr>
        <p:blipFill>
          <a:blip r:embed="rId15"/>
          <a:stretch>
            <a:fillRect/>
          </a:stretch>
        </p:blipFill>
        <p:spPr>
          <a:xfrm>
            <a:off x="9458325" y="8143875"/>
            <a:ext cx="419100" cy="419100"/>
          </a:xfrm>
          <a:prstGeom prst="rect">
            <a:avLst/>
          </a:prstGeom>
        </p:spPr>
      </p:pic>
      <p:sp>
        <p:nvSpPr>
          <p:cNvPr id="62" name="Text 45"/>
          <p:cNvSpPr/>
          <p:nvPr/>
        </p:nvSpPr>
        <p:spPr>
          <a:xfrm>
            <a:off x="9931375" y="8191500"/>
            <a:ext cx="1197483" cy="342900"/>
          </a:xfrm>
          <a:prstGeom prst="rect">
            <a:avLst/>
          </a:prstGeom>
          <a:noFill/>
          <a:ln/>
        </p:spPr>
        <p:txBody>
          <a:bodyPr wrap="square" lIns="25400" tIns="25400" rIns="25400" bIns="25400" rtlCol="0" anchor="t">
            <a:normAutofit/>
          </a:bodyPr>
          <a:lstStyle/>
          <a:p>
            <a:pPr algn="l" indent="0" marL="0">
              <a:lnSpc>
                <a:spcPct val="105000"/>
              </a:lnSpc>
              <a:buNone/>
            </a:pPr>
            <a:r>
              <a:rPr lang="en-US" sz="1800" b="1" dirty="0">
                <a:solidFill>
                  <a:srgbClr val="191C20"/>
                </a:solidFill>
                <a:latin typeface="IBM Plex Sans" pitchFamily="34" charset="0"/>
                <a:ea typeface="IBM Plex Sans" pitchFamily="34" charset="-122"/>
                <a:cs typeface="IBM Plex Sans" pitchFamily="34" charset="-120"/>
              </a:rPr>
              <a:t>IAM · KMS</a:t>
            </a:r>
            <a:endParaRPr lang="en-US" sz="1800" dirty="0"/>
          </a:p>
        </p:txBody>
      </p:sp>
      <p:sp>
        <p:nvSpPr>
          <p:cNvPr id="63" name="Text 46"/>
          <p:cNvSpPr/>
          <p:nvPr/>
        </p:nvSpPr>
        <p:spPr>
          <a:xfrm>
            <a:off x="9458325" y="8562975"/>
            <a:ext cx="2832795" cy="657225"/>
          </a:xfrm>
          <a:prstGeom prst="rect">
            <a:avLst/>
          </a:prstGeom>
          <a:noFill/>
          <a:ln/>
        </p:spPr>
        <p:txBody>
          <a:bodyPr wrap="square" lIns="25400" tIns="25400" rIns="25400" bIns="25400" rtlCol="0" anchor="t">
            <a:normAutofit/>
          </a:bodyPr>
          <a:lstStyle/>
          <a:p>
            <a:pPr algn="l" indent="0" marL="0">
              <a:lnSpc>
                <a:spcPct val="105000"/>
              </a:lnSpc>
              <a:buNone/>
            </a:pPr>
            <a:r>
              <a:rPr lang="en-US" sz="1800" dirty="0">
                <a:solidFill>
                  <a:srgbClr val="4D535B"/>
                </a:solidFill>
                <a:latin typeface="IBM Plex Sans" pitchFamily="34" charset="0"/>
                <a:ea typeface="IBM Plex Sans" pitchFamily="34" charset="-122"/>
                <a:cs typeface="IBM Plex Sans" pitchFamily="34" charset="-120"/>
              </a:rPr>
              <a:t>Least privilege, encryption, production hard-deny</a:t>
            </a:r>
            <a:endParaRPr lang="en-US" sz="1800" dirty="0"/>
          </a:p>
        </p:txBody>
      </p:sp>
      <p:sp>
        <p:nvSpPr>
          <p:cNvPr id="64" name="Shape 47"/>
          <p:cNvSpPr/>
          <p:nvPr/>
        </p:nvSpPr>
        <p:spPr>
          <a:xfrm>
            <a:off x="13401675" y="7943850"/>
            <a:ext cx="4029075" cy="2390775"/>
          </a:xfrm>
          <a:prstGeom prst="rect">
            <a:avLst/>
          </a:prstGeom>
          <a:solidFill>
            <a:srgbClr val="FFFFFF"/>
          </a:solidFill>
          <a:ln w="9525">
            <a:solidFill>
              <a:srgbClr val="E0DCD3"/>
            </a:solidFill>
            <a:prstDash val="solid"/>
          </a:ln>
        </p:spPr>
      </p:sp>
      <p:pic>
        <p:nvPicPr>
          <p:cNvPr id="65" name="Image 15" descr="preencoded.png">    </p:cNvPr>
          <p:cNvPicPr>
            <a:picLocks noChangeAspect="1"/>
          </p:cNvPicPr>
          <p:nvPr/>
        </p:nvPicPr>
        <p:blipFill>
          <a:blip r:embed="rId16"/>
          <a:stretch>
            <a:fillRect/>
          </a:stretch>
        </p:blipFill>
        <p:spPr>
          <a:xfrm>
            <a:off x="13639800" y="8143875"/>
            <a:ext cx="419100" cy="419100"/>
          </a:xfrm>
          <a:prstGeom prst="rect">
            <a:avLst/>
          </a:prstGeom>
        </p:spPr>
      </p:pic>
      <p:sp>
        <p:nvSpPr>
          <p:cNvPr id="66" name="Text 48"/>
          <p:cNvSpPr/>
          <p:nvPr/>
        </p:nvSpPr>
        <p:spPr>
          <a:xfrm>
            <a:off x="14112850" y="8191500"/>
            <a:ext cx="1175536" cy="342900"/>
          </a:xfrm>
          <a:prstGeom prst="rect">
            <a:avLst/>
          </a:prstGeom>
          <a:noFill/>
          <a:ln/>
        </p:spPr>
        <p:txBody>
          <a:bodyPr wrap="square" lIns="25400" tIns="25400" rIns="25400" bIns="25400" rtlCol="0" anchor="t">
            <a:normAutofit/>
          </a:bodyPr>
          <a:lstStyle/>
          <a:p>
            <a:pPr algn="l" indent="0" marL="0">
              <a:lnSpc>
                <a:spcPct val="105000"/>
              </a:lnSpc>
              <a:buNone/>
            </a:pPr>
            <a:r>
              <a:rPr lang="en-US" sz="1800" b="1" dirty="0">
                <a:solidFill>
                  <a:srgbClr val="191C20"/>
                </a:solidFill>
                <a:latin typeface="IBM Plex Sans" pitchFamily="34" charset="0"/>
                <a:ea typeface="IBM Plex Sans" pitchFamily="34" charset="-122"/>
                <a:cs typeface="IBM Plex Sans" pitchFamily="34" charset="-120"/>
              </a:rPr>
              <a:t>CloudTrail</a:t>
            </a:r>
            <a:endParaRPr lang="en-US" sz="1800" dirty="0"/>
          </a:p>
        </p:txBody>
      </p:sp>
      <p:sp>
        <p:nvSpPr>
          <p:cNvPr id="67" name="Text 49"/>
          <p:cNvSpPr/>
          <p:nvPr/>
        </p:nvSpPr>
        <p:spPr>
          <a:xfrm>
            <a:off x="13639800" y="8562975"/>
            <a:ext cx="3226716" cy="657225"/>
          </a:xfrm>
          <a:prstGeom prst="rect">
            <a:avLst/>
          </a:prstGeom>
          <a:noFill/>
          <a:ln/>
        </p:spPr>
        <p:txBody>
          <a:bodyPr wrap="square" lIns="25400" tIns="25400" rIns="25400" bIns="25400" rtlCol="0" anchor="t">
            <a:normAutofit/>
          </a:bodyPr>
          <a:lstStyle/>
          <a:p>
            <a:pPr algn="l" indent="0" marL="0">
              <a:lnSpc>
                <a:spcPct val="105000"/>
              </a:lnSpc>
              <a:buNone/>
            </a:pPr>
            <a:r>
              <a:rPr lang="en-US" sz="1800" dirty="0">
                <a:solidFill>
                  <a:srgbClr val="4D535B"/>
                </a:solidFill>
                <a:latin typeface="IBM Plex Sans" pitchFamily="34" charset="0"/>
                <a:ea typeface="IBM Plex Sans" pitchFamily="34" charset="-122"/>
                <a:cs typeface="IBM Plex Sans" pitchFamily="34" charset="-120"/>
              </a:rPr>
              <a:t>Operate &amp; audit the platform; correlationId stamped per hop</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57250" y="419100"/>
            <a:ext cx="18230850" cy="361950"/>
          </a:xfrm>
          <a:prstGeom prst="rect">
            <a:avLst/>
          </a:prstGeom>
          <a:noFill/>
          <a:ln/>
        </p:spPr>
        <p:txBody>
          <a:bodyPr wrap="square" lIns="25400" tIns="25400" rIns="25400" bIns="25400" rtlCol="0" anchor="t">
            <a:normAutofit/>
          </a:bodyPr>
          <a:lstStyle/>
          <a:p>
            <a:pPr algn="l" indent="0" marL="0">
              <a:buNone/>
            </a:pPr>
            <a:r>
              <a:rPr lang="en-US" sz="1950" spc="312" kern="0" dirty="0">
                <a:solidFill>
                  <a:srgbClr val="4D535B"/>
                </a:solidFill>
                <a:latin typeface="IBM Plex Mono" pitchFamily="34" charset="0"/>
                <a:ea typeface="IBM Plex Mono" pitchFamily="34" charset="-122"/>
                <a:cs typeface="IBM Plex Mono" pitchFamily="34" charset="-120"/>
              </a:rPr>
              <a:t>02 · COMPONENT VIEW · OVERVIEW</a:t>
            </a:r>
            <a:endParaRPr lang="en-US" sz="1950" dirty="0"/>
          </a:p>
        </p:txBody>
      </p:sp>
      <p:sp>
        <p:nvSpPr>
          <p:cNvPr id="3" name="Text 1"/>
          <p:cNvSpPr/>
          <p:nvPr/>
        </p:nvSpPr>
        <p:spPr>
          <a:xfrm>
            <a:off x="857250" y="857250"/>
            <a:ext cx="18230850" cy="771525"/>
          </a:xfrm>
          <a:prstGeom prst="rect">
            <a:avLst/>
          </a:prstGeom>
          <a:noFill/>
          <a:ln/>
        </p:spPr>
        <p:txBody>
          <a:bodyPr wrap="square" lIns="25400" tIns="25400" rIns="25400" bIns="25400" rtlCol="0" anchor="t">
            <a:normAutofit/>
          </a:bodyPr>
          <a:lstStyle/>
          <a:p>
            <a:pPr algn="l" indent="0" marL="0">
              <a:buNone/>
            </a:pPr>
            <a:r>
              <a:rPr lang="en-US" sz="4500" b="1" dirty="0">
                <a:solidFill>
                  <a:srgbClr val="191C20"/>
                </a:solidFill>
                <a:latin typeface="IBM Plex Sans" pitchFamily="34" charset="0"/>
                <a:ea typeface="IBM Plex Sans" pitchFamily="34" charset="-122"/>
                <a:cs typeface="IBM Plex Sans" pitchFamily="34" charset="-120"/>
              </a:rPr>
              <a:t>Architecture at a Glance</a:t>
            </a:r>
            <a:endParaRPr lang="en-US" sz="4500" dirty="0"/>
          </a:p>
        </p:txBody>
      </p:sp>
      <p:sp>
        <p:nvSpPr>
          <p:cNvPr id="4" name="Shape 2"/>
          <p:cNvSpPr/>
          <p:nvPr/>
        </p:nvSpPr>
        <p:spPr>
          <a:xfrm>
            <a:off x="857250" y="1819275"/>
            <a:ext cx="2830116" cy="6400800"/>
          </a:xfrm>
          <a:prstGeom prst="rect">
            <a:avLst/>
          </a:prstGeom>
          <a:solidFill>
            <a:srgbClr val="FFFFFF"/>
          </a:solidFill>
          <a:ln w="9525">
            <a:solidFill>
              <a:srgbClr val="E0DCD3"/>
            </a:solidFill>
            <a:prstDash val="solid"/>
          </a:ln>
        </p:spPr>
      </p:sp>
      <p:pic>
        <p:nvPicPr>
          <p:cNvPr id="5" name="Image 0" descr="preencoded.png">    </p:cNvPr>
          <p:cNvPicPr>
            <a:picLocks noChangeAspect="1"/>
          </p:cNvPicPr>
          <p:nvPr/>
        </p:nvPicPr>
        <p:blipFill>
          <a:blip r:embed="rId1"/>
          <a:stretch>
            <a:fillRect/>
          </a:stretch>
        </p:blipFill>
        <p:spPr>
          <a:xfrm>
            <a:off x="1076325" y="2209800"/>
            <a:ext cx="381000" cy="381000"/>
          </a:xfrm>
          <a:prstGeom prst="rect">
            <a:avLst/>
          </a:prstGeom>
        </p:spPr>
      </p:pic>
      <p:sp>
        <p:nvSpPr>
          <p:cNvPr id="6" name="Text 3"/>
          <p:cNvSpPr/>
          <p:nvPr/>
        </p:nvSpPr>
        <p:spPr>
          <a:xfrm>
            <a:off x="1552575" y="2000250"/>
            <a:ext cx="1991916" cy="838200"/>
          </a:xfrm>
          <a:prstGeom prst="rect">
            <a:avLst/>
          </a:prstGeom>
          <a:noFill/>
          <a:ln/>
        </p:spPr>
        <p:txBody>
          <a:bodyPr wrap="square" lIns="25400" tIns="25400" rIns="25400" bIns="25400" rtlCol="0" anchor="t">
            <a:normAutofit/>
          </a:bodyPr>
          <a:lstStyle/>
          <a:p>
            <a:pPr algn="l" indent="0" marL="0">
              <a:buNone/>
            </a:pPr>
            <a:r>
              <a:rPr lang="en-US" sz="1575" dirty="0">
                <a:solidFill>
                  <a:srgbClr val="4D535B"/>
                </a:solidFill>
                <a:latin typeface="IBM Plex Mono" pitchFamily="34" charset="0"/>
                <a:ea typeface="IBM Plex Mono" pitchFamily="34" charset="-122"/>
                <a:cs typeface="IBM Plex Mono" pitchFamily="34" charset="-120"/>
              </a:rPr>
              <a:t>JENKINS PIPELINE · CLOUDWATCH</a:t>
            </a:r>
            <a:endParaRPr lang="en-US" sz="1575" dirty="0"/>
          </a:p>
        </p:txBody>
      </p:sp>
      <p:sp>
        <p:nvSpPr>
          <p:cNvPr id="7" name="Text 4"/>
          <p:cNvSpPr/>
          <p:nvPr/>
        </p:nvSpPr>
        <p:spPr>
          <a:xfrm>
            <a:off x="1076325" y="2914650"/>
            <a:ext cx="2631162" cy="390525"/>
          </a:xfrm>
          <a:prstGeom prst="rect">
            <a:avLst/>
          </a:prstGeom>
          <a:noFill/>
          <a:ln/>
        </p:spPr>
        <p:txBody>
          <a:bodyPr wrap="square" lIns="25400" tIns="25400" rIns="25400" bIns="25400" rtlCol="0" anchor="t">
            <a:normAutofit/>
          </a:bodyPr>
          <a:lstStyle/>
          <a:p>
            <a:pPr algn="l" indent="0" marL="0">
              <a:buNone/>
            </a:pPr>
            <a:r>
              <a:rPr lang="en-US" sz="2100" b="1" dirty="0">
                <a:solidFill>
                  <a:srgbClr val="191C20"/>
                </a:solidFill>
                <a:latin typeface="IBM Plex Sans" pitchFamily="34" charset="0"/>
                <a:ea typeface="IBM Plex Sans" pitchFamily="34" charset="-122"/>
                <a:cs typeface="IBM Plex Sans" pitchFamily="34" charset="-120"/>
              </a:rPr>
              <a:t>1 · Sources</a:t>
            </a:r>
            <a:endParaRPr lang="en-US" sz="2100" dirty="0"/>
          </a:p>
        </p:txBody>
      </p:sp>
      <p:sp>
        <p:nvSpPr>
          <p:cNvPr id="8" name="Text 5"/>
          <p:cNvSpPr/>
          <p:nvPr/>
        </p:nvSpPr>
        <p:spPr>
          <a:xfrm>
            <a:off x="1076325" y="3381375"/>
            <a:ext cx="2468166" cy="327660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4D535B"/>
                </a:solidFill>
                <a:latin typeface="IBM Plex Sans" pitchFamily="34" charset="0"/>
                <a:ea typeface="IBM Plex Sans" pitchFamily="34" charset="-122"/>
                <a:cs typeface="IBM Plex Sans" pitchFamily="34" charset="-120"/>
              </a:rPr>
              <a:t>MVP: push webhooks + schedules → Baseline &amp; Incremental · P1: PR webhooks, Jenkins deploys, TAS inventory → PRGate + promotion · P2: nightly, registry, test-run → reconciliation + runtime</a:t>
            </a:r>
            <a:endParaRPr lang="en-US" sz="1800" dirty="0"/>
          </a:p>
        </p:txBody>
      </p:sp>
      <p:sp>
        <p:nvSpPr>
          <p:cNvPr id="9" name="Text 6"/>
          <p:cNvSpPr/>
          <p:nvPr/>
        </p:nvSpPr>
        <p:spPr>
          <a:xfrm>
            <a:off x="1076325" y="7734300"/>
            <a:ext cx="2631162" cy="342900"/>
          </a:xfrm>
          <a:prstGeom prst="rect">
            <a:avLst/>
          </a:prstGeom>
          <a:noFill/>
          <a:ln/>
        </p:spPr>
        <p:txBody>
          <a:bodyPr wrap="square" lIns="25400" tIns="25400" rIns="25400" bIns="25400" rtlCol="0" anchor="t">
            <a:normAutofit/>
          </a:bodyPr>
          <a:lstStyle/>
          <a:p>
            <a:pPr algn="l" indent="0" marL="0">
              <a:buNone/>
            </a:pPr>
            <a:r>
              <a:rPr lang="en-US" sz="1800" dirty="0">
                <a:solidFill>
                  <a:srgbClr val="A8551F"/>
                </a:solidFill>
                <a:latin typeface="IBM Plex Mono" pitchFamily="34" charset="0"/>
                <a:ea typeface="IBM Plex Mono" pitchFamily="34" charset="-122"/>
                <a:cs typeface="IBM Plex Mono" pitchFamily="34" charset="-120"/>
              </a:rPr>
              <a:t>EVENTS IN</a:t>
            </a:r>
            <a:endParaRPr lang="en-US" sz="1800" dirty="0"/>
          </a:p>
        </p:txBody>
      </p:sp>
      <p:sp>
        <p:nvSpPr>
          <p:cNvPr id="10" name="Text 7"/>
          <p:cNvSpPr/>
          <p:nvPr/>
        </p:nvSpPr>
        <p:spPr>
          <a:xfrm>
            <a:off x="3649266" y="1819275"/>
            <a:ext cx="533400" cy="6438900"/>
          </a:xfrm>
          <a:prstGeom prst="rect">
            <a:avLst/>
          </a:prstGeom>
          <a:noFill/>
          <a:ln/>
        </p:spPr>
        <p:txBody>
          <a:bodyPr wrap="square" lIns="25400" tIns="25400" rIns="25400" bIns="25400" rtlCol="0" anchor="ctr">
            <a:normAutofit/>
          </a:bodyPr>
          <a:lstStyle/>
          <a:p>
            <a:pPr algn="ctr" indent="0" marL="0">
              <a:buNone/>
            </a:pPr>
            <a:r>
              <a:rPr lang="en-US" sz="2700" dirty="0">
                <a:solidFill>
                  <a:srgbClr val="9AA0A8"/>
                </a:solidFill>
                <a:latin typeface="IBM Plex Sans" pitchFamily="34" charset="0"/>
                <a:ea typeface="IBM Plex Sans" pitchFamily="34" charset="-122"/>
                <a:cs typeface="IBM Plex Sans" pitchFamily="34" charset="-120"/>
              </a:rPr>
              <a:t>→</a:t>
            </a:r>
            <a:endParaRPr lang="en-US" sz="2700" dirty="0"/>
          </a:p>
        </p:txBody>
      </p:sp>
      <p:sp>
        <p:nvSpPr>
          <p:cNvPr id="11" name="Shape 8"/>
          <p:cNvSpPr/>
          <p:nvPr/>
        </p:nvSpPr>
        <p:spPr>
          <a:xfrm>
            <a:off x="4144566" y="1819275"/>
            <a:ext cx="3187154" cy="6400800"/>
          </a:xfrm>
          <a:prstGeom prst="rect">
            <a:avLst/>
          </a:prstGeom>
          <a:solidFill>
            <a:srgbClr val="FFFFFF"/>
          </a:solidFill>
          <a:ln w="9525">
            <a:solidFill>
              <a:srgbClr val="E0DCD3"/>
            </a:solidFill>
            <a:prstDash val="solid"/>
          </a:ln>
        </p:spPr>
      </p:sp>
      <p:pic>
        <p:nvPicPr>
          <p:cNvPr id="12" name="Image 1" descr="preencoded.png">    </p:cNvPr>
          <p:cNvPicPr>
            <a:picLocks noChangeAspect="1"/>
          </p:cNvPicPr>
          <p:nvPr/>
        </p:nvPicPr>
        <p:blipFill>
          <a:blip r:embed="rId2"/>
          <a:stretch>
            <a:fillRect/>
          </a:stretch>
        </p:blipFill>
        <p:spPr>
          <a:xfrm>
            <a:off x="4363641" y="2209800"/>
            <a:ext cx="381000" cy="381000"/>
          </a:xfrm>
          <a:prstGeom prst="rect">
            <a:avLst/>
          </a:prstGeom>
        </p:spPr>
      </p:pic>
      <p:pic>
        <p:nvPicPr>
          <p:cNvPr id="13" name="Image 2" descr="preencoded.png">    </p:cNvPr>
          <p:cNvPicPr>
            <a:picLocks noChangeAspect="1"/>
          </p:cNvPicPr>
          <p:nvPr/>
        </p:nvPicPr>
        <p:blipFill>
          <a:blip r:embed="rId3"/>
          <a:stretch>
            <a:fillRect/>
          </a:stretch>
        </p:blipFill>
        <p:spPr>
          <a:xfrm>
            <a:off x="4839891" y="2209800"/>
            <a:ext cx="381000" cy="381000"/>
          </a:xfrm>
          <a:prstGeom prst="rect">
            <a:avLst/>
          </a:prstGeom>
        </p:spPr>
      </p:pic>
      <p:pic>
        <p:nvPicPr>
          <p:cNvPr id="14" name="Image 3" descr="preencoded.png">    </p:cNvPr>
          <p:cNvPicPr>
            <a:picLocks noChangeAspect="1"/>
          </p:cNvPicPr>
          <p:nvPr/>
        </p:nvPicPr>
        <p:blipFill>
          <a:blip r:embed="rId4"/>
          <a:stretch>
            <a:fillRect/>
          </a:stretch>
        </p:blipFill>
        <p:spPr>
          <a:xfrm>
            <a:off x="5316141" y="2209800"/>
            <a:ext cx="381000" cy="381000"/>
          </a:xfrm>
          <a:prstGeom prst="rect">
            <a:avLst/>
          </a:prstGeom>
        </p:spPr>
      </p:pic>
      <p:sp>
        <p:nvSpPr>
          <p:cNvPr id="15" name="Text 9"/>
          <p:cNvSpPr/>
          <p:nvPr/>
        </p:nvSpPr>
        <p:spPr>
          <a:xfrm>
            <a:off x="5792391" y="2000250"/>
            <a:ext cx="1396454" cy="838200"/>
          </a:xfrm>
          <a:prstGeom prst="rect">
            <a:avLst/>
          </a:prstGeom>
          <a:noFill/>
          <a:ln/>
        </p:spPr>
        <p:txBody>
          <a:bodyPr wrap="square" lIns="25400" tIns="25400" rIns="25400" bIns="25400" rtlCol="0" anchor="t">
            <a:normAutofit/>
          </a:bodyPr>
          <a:lstStyle/>
          <a:p>
            <a:pPr algn="l" indent="0" marL="0">
              <a:buNone/>
            </a:pPr>
            <a:r>
              <a:rPr lang="en-US" sz="1575" dirty="0">
                <a:solidFill>
                  <a:srgbClr val="4D535B"/>
                </a:solidFill>
                <a:latin typeface="IBM Plex Mono" pitchFamily="34" charset="0"/>
                <a:ea typeface="IBM Plex Mono" pitchFamily="34" charset="-122"/>
                <a:cs typeface="IBM Plex Mono" pitchFamily="34" charset="-120"/>
              </a:rPr>
              <a:t>LAMBDA · EVENTBRIDGE · SQS</a:t>
            </a:r>
            <a:endParaRPr lang="en-US" sz="1575" dirty="0"/>
          </a:p>
        </p:txBody>
      </p:sp>
      <p:sp>
        <p:nvSpPr>
          <p:cNvPr id="16" name="Text 10"/>
          <p:cNvSpPr/>
          <p:nvPr/>
        </p:nvSpPr>
        <p:spPr>
          <a:xfrm>
            <a:off x="4363641" y="2914650"/>
            <a:ext cx="3023905" cy="390525"/>
          </a:xfrm>
          <a:prstGeom prst="rect">
            <a:avLst/>
          </a:prstGeom>
          <a:noFill/>
          <a:ln/>
        </p:spPr>
        <p:txBody>
          <a:bodyPr wrap="square" lIns="25400" tIns="25400" rIns="25400" bIns="25400" rtlCol="0" anchor="t">
            <a:normAutofit/>
          </a:bodyPr>
          <a:lstStyle/>
          <a:p>
            <a:pPr algn="l" indent="0" marL="0">
              <a:buNone/>
            </a:pPr>
            <a:r>
              <a:rPr lang="en-US" sz="2100" b="1" dirty="0">
                <a:solidFill>
                  <a:srgbClr val="191C20"/>
                </a:solidFill>
                <a:latin typeface="IBM Plex Sans" pitchFamily="34" charset="0"/>
                <a:ea typeface="IBM Plex Sans" pitchFamily="34" charset="-122"/>
                <a:cs typeface="IBM Plex Sans" pitchFamily="34" charset="-120"/>
              </a:rPr>
              <a:t>2 · Intake &amp; Routing</a:t>
            </a:r>
            <a:endParaRPr lang="en-US" sz="2100" dirty="0"/>
          </a:p>
        </p:txBody>
      </p:sp>
      <p:sp>
        <p:nvSpPr>
          <p:cNvPr id="17" name="Text 11"/>
          <p:cNvSpPr/>
          <p:nvPr/>
        </p:nvSpPr>
        <p:spPr>
          <a:xfrm>
            <a:off x="4363641" y="3381375"/>
            <a:ext cx="2831474" cy="230505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4D535B"/>
                </a:solidFill>
                <a:latin typeface="IBM Plex Sans" pitchFamily="34" charset="0"/>
                <a:ea typeface="IBM Plex Sans" pitchFamily="34" charset="-122"/>
                <a:cs typeface="IBM Plex Sans" pitchFamily="34" charset="-120"/>
              </a:rPr>
              <a:t>Verify each webhook signature is really GitHub/Jenkins, drop repeat deliveries by event id, normalize to one envelope — then route onto priority queues</a:t>
            </a:r>
            <a:endParaRPr lang="en-US" sz="1800" dirty="0"/>
          </a:p>
        </p:txBody>
      </p:sp>
      <p:sp>
        <p:nvSpPr>
          <p:cNvPr id="18" name="Text 12"/>
          <p:cNvSpPr/>
          <p:nvPr/>
        </p:nvSpPr>
        <p:spPr>
          <a:xfrm>
            <a:off x="4363641" y="7734300"/>
            <a:ext cx="302390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A8551F"/>
                </a:solidFill>
                <a:latin typeface="IBM Plex Mono" pitchFamily="34" charset="0"/>
                <a:ea typeface="IBM Plex Mono" pitchFamily="34" charset="-122"/>
                <a:cs typeface="IBM Plex Mono" pitchFamily="34" charset="-120"/>
              </a:rPr>
              <a:t>NORMALIZED · QUEUED</a:t>
            </a:r>
            <a:endParaRPr lang="en-US" sz="1800" dirty="0"/>
          </a:p>
        </p:txBody>
      </p:sp>
      <p:sp>
        <p:nvSpPr>
          <p:cNvPr id="19" name="Text 13"/>
          <p:cNvSpPr/>
          <p:nvPr/>
        </p:nvSpPr>
        <p:spPr>
          <a:xfrm>
            <a:off x="7293620" y="1819275"/>
            <a:ext cx="533400" cy="6438900"/>
          </a:xfrm>
          <a:prstGeom prst="rect">
            <a:avLst/>
          </a:prstGeom>
          <a:noFill/>
          <a:ln/>
        </p:spPr>
        <p:txBody>
          <a:bodyPr wrap="square" lIns="25400" tIns="25400" rIns="25400" bIns="25400" rtlCol="0" anchor="ctr">
            <a:normAutofit/>
          </a:bodyPr>
          <a:lstStyle/>
          <a:p>
            <a:pPr algn="ctr" indent="0" marL="0">
              <a:buNone/>
            </a:pPr>
            <a:r>
              <a:rPr lang="en-US" sz="2700" dirty="0">
                <a:solidFill>
                  <a:srgbClr val="9AA0A8"/>
                </a:solidFill>
                <a:latin typeface="IBM Plex Sans" pitchFamily="34" charset="0"/>
                <a:ea typeface="IBM Plex Sans" pitchFamily="34" charset="-122"/>
                <a:cs typeface="IBM Plex Sans" pitchFamily="34" charset="-120"/>
              </a:rPr>
              <a:t>→</a:t>
            </a:r>
            <a:endParaRPr lang="en-US" sz="2700" dirty="0"/>
          </a:p>
        </p:txBody>
      </p:sp>
      <p:sp>
        <p:nvSpPr>
          <p:cNvPr id="20" name="Shape 14"/>
          <p:cNvSpPr/>
          <p:nvPr/>
        </p:nvSpPr>
        <p:spPr>
          <a:xfrm>
            <a:off x="7788920" y="1819275"/>
            <a:ext cx="2830116" cy="6400800"/>
          </a:xfrm>
          <a:prstGeom prst="rect">
            <a:avLst/>
          </a:prstGeom>
          <a:solidFill>
            <a:srgbClr val="FFFFFF"/>
          </a:solidFill>
          <a:ln w="9525">
            <a:solidFill>
              <a:srgbClr val="E0DCD3"/>
            </a:solidFill>
            <a:prstDash val="solid"/>
          </a:ln>
        </p:spPr>
      </p:sp>
      <p:pic>
        <p:nvPicPr>
          <p:cNvPr id="21" name="Image 4" descr="preencoded.png">    </p:cNvPr>
          <p:cNvPicPr>
            <a:picLocks noChangeAspect="1"/>
          </p:cNvPicPr>
          <p:nvPr/>
        </p:nvPicPr>
        <p:blipFill>
          <a:blip r:embed="rId5"/>
          <a:stretch>
            <a:fillRect/>
          </a:stretch>
        </p:blipFill>
        <p:spPr>
          <a:xfrm>
            <a:off x="8007995" y="2000250"/>
            <a:ext cx="381000" cy="381000"/>
          </a:xfrm>
          <a:prstGeom prst="rect">
            <a:avLst/>
          </a:prstGeom>
        </p:spPr>
      </p:pic>
      <p:sp>
        <p:nvSpPr>
          <p:cNvPr id="22" name="Text 15"/>
          <p:cNvSpPr/>
          <p:nvPr/>
        </p:nvSpPr>
        <p:spPr>
          <a:xfrm>
            <a:off x="8484245" y="2057400"/>
            <a:ext cx="1848296" cy="304800"/>
          </a:xfrm>
          <a:prstGeom prst="rect">
            <a:avLst/>
          </a:prstGeom>
          <a:noFill/>
          <a:ln/>
        </p:spPr>
        <p:txBody>
          <a:bodyPr wrap="square" lIns="25400" tIns="25400" rIns="25400" bIns="25400" rtlCol="0" anchor="t">
            <a:normAutofit/>
          </a:bodyPr>
          <a:lstStyle/>
          <a:p>
            <a:pPr algn="l" indent="0" marL="0">
              <a:buNone/>
            </a:pPr>
            <a:r>
              <a:rPr lang="en-US" sz="1575" dirty="0">
                <a:solidFill>
                  <a:srgbClr val="4D535B"/>
                </a:solidFill>
                <a:latin typeface="IBM Plex Mono" pitchFamily="34" charset="0"/>
                <a:ea typeface="IBM Plex Mono" pitchFamily="34" charset="-122"/>
                <a:cs typeface="IBM Plex Mono" pitchFamily="34" charset="-120"/>
              </a:rPr>
              <a:t>STEP FUNCTIONS</a:t>
            </a:r>
            <a:endParaRPr lang="en-US" sz="1575" dirty="0"/>
          </a:p>
        </p:txBody>
      </p:sp>
      <p:sp>
        <p:nvSpPr>
          <p:cNvPr id="23" name="Text 16"/>
          <p:cNvSpPr/>
          <p:nvPr/>
        </p:nvSpPr>
        <p:spPr>
          <a:xfrm>
            <a:off x="8007995" y="2495550"/>
            <a:ext cx="2631162" cy="390525"/>
          </a:xfrm>
          <a:prstGeom prst="rect">
            <a:avLst/>
          </a:prstGeom>
          <a:noFill/>
          <a:ln/>
        </p:spPr>
        <p:txBody>
          <a:bodyPr wrap="square" lIns="25400" tIns="25400" rIns="25400" bIns="25400" rtlCol="0" anchor="t">
            <a:normAutofit/>
          </a:bodyPr>
          <a:lstStyle/>
          <a:p>
            <a:pPr algn="l" indent="0" marL="0">
              <a:buNone/>
            </a:pPr>
            <a:r>
              <a:rPr lang="en-US" sz="2100" b="1" dirty="0">
                <a:solidFill>
                  <a:srgbClr val="191C20"/>
                </a:solidFill>
                <a:latin typeface="IBM Plex Sans" pitchFamily="34" charset="0"/>
                <a:ea typeface="IBM Plex Sans" pitchFamily="34" charset="-122"/>
                <a:cs typeface="IBM Plex Sans" pitchFamily="34" charset="-120"/>
              </a:rPr>
              <a:t>3 · Coordination</a:t>
            </a:r>
            <a:endParaRPr lang="en-US" sz="2100" dirty="0"/>
          </a:p>
        </p:txBody>
      </p:sp>
      <p:sp>
        <p:nvSpPr>
          <p:cNvPr id="24" name="Text 17"/>
          <p:cNvSpPr/>
          <p:nvPr/>
        </p:nvSpPr>
        <p:spPr>
          <a:xfrm>
            <a:off x="8007995" y="2962275"/>
            <a:ext cx="2468166" cy="230505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4D535B"/>
                </a:solidFill>
                <a:latin typeface="IBM Plex Sans" pitchFamily="34" charset="0"/>
                <a:ea typeface="IBM Plex Sans" pitchFamily="34" charset="-122"/>
                <a:cs typeface="IBM Plex Sans" pitchFamily="34" charset="-120"/>
              </a:rPr>
              <a:t>Four workflows — MVP: Incremental (owns its fenced publish) · Phase 1: Baseline, PRGate + deploy λ step · Phase 2: NightlyReconciliation</a:t>
            </a:r>
            <a:endParaRPr lang="en-US" sz="1800" dirty="0"/>
          </a:p>
        </p:txBody>
      </p:sp>
      <p:sp>
        <p:nvSpPr>
          <p:cNvPr id="25" name="Text 18"/>
          <p:cNvSpPr/>
          <p:nvPr/>
        </p:nvSpPr>
        <p:spPr>
          <a:xfrm>
            <a:off x="8007995" y="7734300"/>
            <a:ext cx="2631162" cy="342900"/>
          </a:xfrm>
          <a:prstGeom prst="rect">
            <a:avLst/>
          </a:prstGeom>
          <a:noFill/>
          <a:ln/>
        </p:spPr>
        <p:txBody>
          <a:bodyPr wrap="square" lIns="25400" tIns="25400" rIns="25400" bIns="25400" rtlCol="0" anchor="t">
            <a:normAutofit/>
          </a:bodyPr>
          <a:lstStyle/>
          <a:p>
            <a:pPr algn="l" indent="0" marL="0">
              <a:buNone/>
            </a:pPr>
            <a:r>
              <a:rPr lang="en-US" sz="1800" dirty="0">
                <a:solidFill>
                  <a:srgbClr val="A8551F"/>
                </a:solidFill>
                <a:latin typeface="IBM Plex Mono" pitchFamily="34" charset="0"/>
                <a:ea typeface="IBM Plex Mono" pitchFamily="34" charset="-122"/>
                <a:cs typeface="IBM Plex Mono" pitchFamily="34" charset="-120"/>
              </a:rPr>
              <a:t>WORKFLOW RUNS</a:t>
            </a:r>
            <a:endParaRPr lang="en-US" sz="1800" dirty="0"/>
          </a:p>
        </p:txBody>
      </p:sp>
      <p:sp>
        <p:nvSpPr>
          <p:cNvPr id="26" name="Text 19"/>
          <p:cNvSpPr/>
          <p:nvPr/>
        </p:nvSpPr>
        <p:spPr>
          <a:xfrm>
            <a:off x="10580936" y="1819275"/>
            <a:ext cx="533400" cy="6438900"/>
          </a:xfrm>
          <a:prstGeom prst="rect">
            <a:avLst/>
          </a:prstGeom>
          <a:noFill/>
          <a:ln/>
        </p:spPr>
        <p:txBody>
          <a:bodyPr wrap="square" lIns="25400" tIns="25400" rIns="25400" bIns="25400" rtlCol="0" anchor="ctr">
            <a:normAutofit/>
          </a:bodyPr>
          <a:lstStyle/>
          <a:p>
            <a:pPr algn="ctr" indent="0" marL="0">
              <a:buNone/>
            </a:pPr>
            <a:r>
              <a:rPr lang="en-US" sz="2700" dirty="0">
                <a:solidFill>
                  <a:srgbClr val="9AA0A8"/>
                </a:solidFill>
                <a:latin typeface="IBM Plex Sans" pitchFamily="34" charset="0"/>
                <a:ea typeface="IBM Plex Sans" pitchFamily="34" charset="-122"/>
                <a:cs typeface="IBM Plex Sans" pitchFamily="34" charset="-120"/>
              </a:rPr>
              <a:t>→</a:t>
            </a:r>
            <a:endParaRPr lang="en-US" sz="2700" dirty="0"/>
          </a:p>
        </p:txBody>
      </p:sp>
      <p:sp>
        <p:nvSpPr>
          <p:cNvPr id="27" name="Shape 20"/>
          <p:cNvSpPr/>
          <p:nvPr/>
        </p:nvSpPr>
        <p:spPr>
          <a:xfrm>
            <a:off x="11076236" y="1819275"/>
            <a:ext cx="2830116" cy="6400800"/>
          </a:xfrm>
          <a:prstGeom prst="rect">
            <a:avLst/>
          </a:prstGeom>
          <a:solidFill>
            <a:srgbClr val="FFFFFF"/>
          </a:solidFill>
          <a:ln w="9525">
            <a:solidFill>
              <a:srgbClr val="E0DCD3"/>
            </a:solidFill>
            <a:prstDash val="solid"/>
          </a:ln>
        </p:spPr>
      </p:sp>
      <p:pic>
        <p:nvPicPr>
          <p:cNvPr id="28" name="Image 5" descr="preencoded.png">    </p:cNvPr>
          <p:cNvPicPr>
            <a:picLocks noChangeAspect="1"/>
          </p:cNvPicPr>
          <p:nvPr/>
        </p:nvPicPr>
        <p:blipFill>
          <a:blip r:embed="rId6"/>
          <a:stretch>
            <a:fillRect/>
          </a:stretch>
        </p:blipFill>
        <p:spPr>
          <a:xfrm>
            <a:off x="11295311" y="2076450"/>
            <a:ext cx="381000" cy="381000"/>
          </a:xfrm>
          <a:prstGeom prst="rect">
            <a:avLst/>
          </a:prstGeom>
        </p:spPr>
      </p:pic>
      <p:pic>
        <p:nvPicPr>
          <p:cNvPr id="29" name="Image 6" descr="preencoded.png">    </p:cNvPr>
          <p:cNvPicPr>
            <a:picLocks noChangeAspect="1"/>
          </p:cNvPicPr>
          <p:nvPr/>
        </p:nvPicPr>
        <p:blipFill>
          <a:blip r:embed="rId7"/>
          <a:stretch>
            <a:fillRect/>
          </a:stretch>
        </p:blipFill>
        <p:spPr>
          <a:xfrm>
            <a:off x="11771561" y="2076450"/>
            <a:ext cx="381000" cy="381000"/>
          </a:xfrm>
          <a:prstGeom prst="rect">
            <a:avLst/>
          </a:prstGeom>
        </p:spPr>
      </p:pic>
      <p:sp>
        <p:nvSpPr>
          <p:cNvPr id="30" name="Text 21"/>
          <p:cNvSpPr/>
          <p:nvPr/>
        </p:nvSpPr>
        <p:spPr>
          <a:xfrm>
            <a:off x="12247811" y="2000250"/>
            <a:ext cx="1515666" cy="571500"/>
          </a:xfrm>
          <a:prstGeom prst="rect">
            <a:avLst/>
          </a:prstGeom>
          <a:noFill/>
          <a:ln/>
        </p:spPr>
        <p:txBody>
          <a:bodyPr wrap="square" lIns="25400" tIns="25400" rIns="25400" bIns="25400" rtlCol="0" anchor="t">
            <a:normAutofit/>
          </a:bodyPr>
          <a:lstStyle/>
          <a:p>
            <a:pPr algn="l" indent="0" marL="0">
              <a:buNone/>
            </a:pPr>
            <a:r>
              <a:rPr lang="en-US" sz="1575" dirty="0">
                <a:solidFill>
                  <a:srgbClr val="4D535B"/>
                </a:solidFill>
                <a:latin typeface="IBM Plex Mono" pitchFamily="34" charset="0"/>
                <a:ea typeface="IBM Plex Mono" pitchFamily="34" charset="-122"/>
                <a:cs typeface="IBM Plex Mono" pitchFamily="34" charset="-120"/>
              </a:rPr>
              <a:t>FARGATE · LLM GATEWAY</a:t>
            </a:r>
            <a:endParaRPr lang="en-US" sz="1575" dirty="0"/>
          </a:p>
        </p:txBody>
      </p:sp>
      <p:sp>
        <p:nvSpPr>
          <p:cNvPr id="31" name="Text 22"/>
          <p:cNvSpPr/>
          <p:nvPr/>
        </p:nvSpPr>
        <p:spPr>
          <a:xfrm>
            <a:off x="11295311" y="2647950"/>
            <a:ext cx="2631162" cy="390525"/>
          </a:xfrm>
          <a:prstGeom prst="rect">
            <a:avLst/>
          </a:prstGeom>
          <a:noFill/>
          <a:ln/>
        </p:spPr>
        <p:txBody>
          <a:bodyPr wrap="square" lIns="25400" tIns="25400" rIns="25400" bIns="25400" rtlCol="0" anchor="t">
            <a:normAutofit/>
          </a:bodyPr>
          <a:lstStyle/>
          <a:p>
            <a:pPr algn="l" indent="0" marL="0">
              <a:buNone/>
            </a:pPr>
            <a:r>
              <a:rPr lang="en-US" sz="2100" b="1" dirty="0">
                <a:solidFill>
                  <a:srgbClr val="191C20"/>
                </a:solidFill>
                <a:latin typeface="IBM Plex Sans" pitchFamily="34" charset="0"/>
                <a:ea typeface="IBM Plex Sans" pitchFamily="34" charset="-122"/>
                <a:cs typeface="IBM Plex Sans" pitchFamily="34" charset="-120"/>
              </a:rPr>
              <a:t>4 · Analysis</a:t>
            </a:r>
            <a:endParaRPr lang="en-US" sz="2100" dirty="0"/>
          </a:p>
        </p:txBody>
      </p:sp>
      <p:sp>
        <p:nvSpPr>
          <p:cNvPr id="32" name="Text 23"/>
          <p:cNvSpPr/>
          <p:nvPr/>
        </p:nvSpPr>
        <p:spPr>
          <a:xfrm>
            <a:off x="11295311" y="3114675"/>
            <a:ext cx="2468166" cy="165735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4D535B"/>
                </a:solidFill>
                <a:latin typeface="IBM Plex Sans" pitchFamily="34" charset="0"/>
                <a:ea typeface="IBM Plex Sans" pitchFamily="34" charset="-122"/>
                <a:cs typeface="IBM Plex Sans" pitchFamily="34" charset="-120"/>
              </a:rPr>
              <a:t>Parser + AST services on Fargate; separate LLM gateway for residue; runtime evidence layer</a:t>
            </a:r>
            <a:endParaRPr lang="en-US" sz="1800" dirty="0"/>
          </a:p>
        </p:txBody>
      </p:sp>
      <p:sp>
        <p:nvSpPr>
          <p:cNvPr id="33" name="Text 24"/>
          <p:cNvSpPr/>
          <p:nvPr/>
        </p:nvSpPr>
        <p:spPr>
          <a:xfrm>
            <a:off x="11295311" y="7429500"/>
            <a:ext cx="2468166" cy="647700"/>
          </a:xfrm>
          <a:prstGeom prst="rect">
            <a:avLst/>
          </a:prstGeom>
          <a:noFill/>
          <a:ln/>
        </p:spPr>
        <p:txBody>
          <a:bodyPr wrap="square" lIns="25400" tIns="25400" rIns="25400" bIns="25400" rtlCol="0" anchor="t">
            <a:normAutofit/>
          </a:bodyPr>
          <a:lstStyle/>
          <a:p>
            <a:pPr algn="l" indent="0" marL="0">
              <a:buNone/>
            </a:pPr>
            <a:r>
              <a:rPr lang="en-US" sz="1800" dirty="0">
                <a:solidFill>
                  <a:srgbClr val="A8551F"/>
                </a:solidFill>
                <a:latin typeface="IBM Plex Mono" pitchFamily="34" charset="0"/>
                <a:ea typeface="IBM Plex Mono" pitchFamily="34" charset="-122"/>
                <a:cs typeface="IBM Plex Mono" pitchFamily="34" charset="-120"/>
              </a:rPr>
              <a:t>EVIDENCE · CANDIDATES</a:t>
            </a:r>
            <a:endParaRPr lang="en-US" sz="1800" dirty="0"/>
          </a:p>
        </p:txBody>
      </p:sp>
      <p:sp>
        <p:nvSpPr>
          <p:cNvPr id="34" name="Text 25"/>
          <p:cNvSpPr/>
          <p:nvPr/>
        </p:nvSpPr>
        <p:spPr>
          <a:xfrm>
            <a:off x="13868251" y="1819275"/>
            <a:ext cx="533400" cy="6438900"/>
          </a:xfrm>
          <a:prstGeom prst="rect">
            <a:avLst/>
          </a:prstGeom>
          <a:noFill/>
          <a:ln/>
        </p:spPr>
        <p:txBody>
          <a:bodyPr wrap="square" lIns="25400" tIns="25400" rIns="25400" bIns="25400" rtlCol="0" anchor="ctr">
            <a:normAutofit/>
          </a:bodyPr>
          <a:lstStyle/>
          <a:p>
            <a:pPr algn="ctr" indent="0" marL="0">
              <a:buNone/>
            </a:pPr>
            <a:r>
              <a:rPr lang="en-US" sz="2700" dirty="0">
                <a:solidFill>
                  <a:srgbClr val="9AA0A8"/>
                </a:solidFill>
                <a:latin typeface="IBM Plex Sans" pitchFamily="34" charset="0"/>
                <a:ea typeface="IBM Plex Sans" pitchFamily="34" charset="-122"/>
                <a:cs typeface="IBM Plex Sans" pitchFamily="34" charset="-120"/>
              </a:rPr>
              <a:t>→</a:t>
            </a:r>
            <a:endParaRPr lang="en-US" sz="2700" dirty="0"/>
          </a:p>
        </p:txBody>
      </p:sp>
      <p:sp>
        <p:nvSpPr>
          <p:cNvPr id="35" name="Shape 26"/>
          <p:cNvSpPr/>
          <p:nvPr/>
        </p:nvSpPr>
        <p:spPr>
          <a:xfrm>
            <a:off x="14363551" y="1819275"/>
            <a:ext cx="3067050" cy="6400800"/>
          </a:xfrm>
          <a:prstGeom prst="rect">
            <a:avLst/>
          </a:prstGeom>
          <a:solidFill>
            <a:srgbClr val="FFFFFF"/>
          </a:solidFill>
          <a:ln w="9525">
            <a:solidFill>
              <a:srgbClr val="E0DCD3"/>
            </a:solidFill>
            <a:prstDash val="solid"/>
          </a:ln>
        </p:spPr>
      </p:sp>
      <p:pic>
        <p:nvPicPr>
          <p:cNvPr id="36" name="Image 7" descr="preencoded.png">    </p:cNvPr>
          <p:cNvPicPr>
            <a:picLocks noChangeAspect="1"/>
          </p:cNvPicPr>
          <p:nvPr/>
        </p:nvPicPr>
        <p:blipFill>
          <a:blip r:embed="rId8"/>
          <a:stretch>
            <a:fillRect/>
          </a:stretch>
        </p:blipFill>
        <p:spPr>
          <a:xfrm>
            <a:off x="14582626" y="2343150"/>
            <a:ext cx="381000" cy="381000"/>
          </a:xfrm>
          <a:prstGeom prst="rect">
            <a:avLst/>
          </a:prstGeom>
        </p:spPr>
      </p:pic>
      <p:pic>
        <p:nvPicPr>
          <p:cNvPr id="37" name="Image 8" descr="preencoded.png">    </p:cNvPr>
          <p:cNvPicPr>
            <a:picLocks noChangeAspect="1"/>
          </p:cNvPicPr>
          <p:nvPr/>
        </p:nvPicPr>
        <p:blipFill>
          <a:blip r:embed="rId9"/>
          <a:stretch>
            <a:fillRect/>
          </a:stretch>
        </p:blipFill>
        <p:spPr>
          <a:xfrm>
            <a:off x="15058876" y="2343150"/>
            <a:ext cx="381000" cy="381000"/>
          </a:xfrm>
          <a:prstGeom prst="rect">
            <a:avLst/>
          </a:prstGeom>
        </p:spPr>
      </p:pic>
      <p:pic>
        <p:nvPicPr>
          <p:cNvPr id="38" name="Image 9" descr="preencoded.png">    </p:cNvPr>
          <p:cNvPicPr>
            <a:picLocks noChangeAspect="1"/>
          </p:cNvPicPr>
          <p:nvPr/>
        </p:nvPicPr>
        <p:blipFill>
          <a:blip r:embed="rId10"/>
          <a:stretch>
            <a:fillRect/>
          </a:stretch>
        </p:blipFill>
        <p:spPr>
          <a:xfrm>
            <a:off x="15535126" y="2343150"/>
            <a:ext cx="381000" cy="381000"/>
          </a:xfrm>
          <a:prstGeom prst="rect">
            <a:avLst/>
          </a:prstGeom>
        </p:spPr>
      </p:pic>
      <p:sp>
        <p:nvSpPr>
          <p:cNvPr id="39" name="Text 27"/>
          <p:cNvSpPr/>
          <p:nvPr/>
        </p:nvSpPr>
        <p:spPr>
          <a:xfrm>
            <a:off x="16011376" y="2000250"/>
            <a:ext cx="1276350" cy="1104900"/>
          </a:xfrm>
          <a:prstGeom prst="rect">
            <a:avLst/>
          </a:prstGeom>
          <a:noFill/>
          <a:ln/>
        </p:spPr>
        <p:txBody>
          <a:bodyPr wrap="square" lIns="25400" tIns="25400" rIns="25400" bIns="25400" rtlCol="0" anchor="t">
            <a:normAutofit/>
          </a:bodyPr>
          <a:lstStyle/>
          <a:p>
            <a:pPr algn="l" indent="0" marL="0">
              <a:buNone/>
            </a:pPr>
            <a:r>
              <a:rPr lang="en-US" sz="1575" dirty="0">
                <a:solidFill>
                  <a:srgbClr val="4D535B"/>
                </a:solidFill>
                <a:latin typeface="IBM Plex Mono" pitchFamily="34" charset="0"/>
                <a:ea typeface="IBM Plex Mono" pitchFamily="34" charset="-122"/>
                <a:cs typeface="IBM Plex Mono" pitchFamily="34" charset="-120"/>
              </a:rPr>
              <a:t>CLOUDFRONT · NEPTUNE · OPENSEARCH</a:t>
            </a:r>
            <a:endParaRPr lang="en-US" sz="1575" dirty="0"/>
          </a:p>
        </p:txBody>
      </p:sp>
      <p:sp>
        <p:nvSpPr>
          <p:cNvPr id="40" name="Text 28"/>
          <p:cNvSpPr/>
          <p:nvPr/>
        </p:nvSpPr>
        <p:spPr>
          <a:xfrm>
            <a:off x="14582626" y="3181350"/>
            <a:ext cx="2891790" cy="390525"/>
          </a:xfrm>
          <a:prstGeom prst="rect">
            <a:avLst/>
          </a:prstGeom>
          <a:noFill/>
          <a:ln/>
        </p:spPr>
        <p:txBody>
          <a:bodyPr wrap="square" lIns="25400" tIns="25400" rIns="25400" bIns="25400" rtlCol="0" anchor="t">
            <a:normAutofit/>
          </a:bodyPr>
          <a:lstStyle/>
          <a:p>
            <a:pPr algn="l" indent="0" marL="0">
              <a:buNone/>
            </a:pPr>
            <a:r>
              <a:rPr lang="en-US" sz="2100" b="1" dirty="0">
                <a:solidFill>
                  <a:srgbClr val="191C20"/>
                </a:solidFill>
                <a:latin typeface="IBM Plex Sans" pitchFamily="34" charset="0"/>
                <a:ea typeface="IBM Plex Sans" pitchFamily="34" charset="-122"/>
                <a:cs typeface="IBM Plex Sans" pitchFamily="34" charset="-120"/>
              </a:rPr>
              <a:t>5 · Review &amp; Publish</a:t>
            </a:r>
            <a:endParaRPr lang="en-US" sz="2100" dirty="0"/>
          </a:p>
        </p:txBody>
      </p:sp>
      <p:sp>
        <p:nvSpPr>
          <p:cNvPr id="41" name="Text 29"/>
          <p:cNvSpPr/>
          <p:nvPr/>
        </p:nvSpPr>
        <p:spPr>
          <a:xfrm>
            <a:off x="14582626" y="3648075"/>
            <a:ext cx="2707767" cy="165735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4D535B"/>
                </a:solidFill>
                <a:latin typeface="IBM Plex Sans" pitchFamily="34" charset="0"/>
                <a:ea typeface="IBM Plex Sans" pitchFamily="34" charset="-122"/>
                <a:cs typeface="IBM Plex Sans" pitchFamily="34" charset="-120"/>
              </a:rPr>
              <a:t>Verification, human approval, fenced publication to Neptune (OpenSearch joins in Phase 1)</a:t>
            </a:r>
            <a:endParaRPr lang="en-US" sz="1800" dirty="0"/>
          </a:p>
        </p:txBody>
      </p:sp>
      <p:sp>
        <p:nvSpPr>
          <p:cNvPr id="42" name="Text 30"/>
          <p:cNvSpPr/>
          <p:nvPr/>
        </p:nvSpPr>
        <p:spPr>
          <a:xfrm>
            <a:off x="14582626" y="7734300"/>
            <a:ext cx="289179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A8551F"/>
                </a:solidFill>
                <a:latin typeface="IBM Plex Mono" pitchFamily="34" charset="0"/>
                <a:ea typeface="IBM Plex Mono" pitchFamily="34" charset="-122"/>
                <a:cs typeface="IBM Plex Mono" pitchFamily="34" charset="-120"/>
              </a:rPr>
              <a:t>APPROVED GRAPH OUT</a:t>
            </a:r>
            <a:endParaRPr lang="en-US" sz="1800" dirty="0"/>
          </a:p>
        </p:txBody>
      </p:sp>
      <p:sp>
        <p:nvSpPr>
          <p:cNvPr id="43" name="Shape 31"/>
          <p:cNvSpPr/>
          <p:nvPr/>
        </p:nvSpPr>
        <p:spPr>
          <a:xfrm>
            <a:off x="857250" y="8372475"/>
            <a:ext cx="5422850" cy="1571625"/>
          </a:xfrm>
          <a:prstGeom prst="rect">
            <a:avLst/>
          </a:prstGeom>
          <a:solidFill>
            <a:srgbClr val="191C20"/>
          </a:solidFill>
          <a:ln/>
        </p:spPr>
      </p:sp>
      <p:pic>
        <p:nvPicPr>
          <p:cNvPr id="44" name="Image 10" descr="preencoded.png">    </p:cNvPr>
          <p:cNvPicPr>
            <a:picLocks noChangeAspect="1"/>
          </p:cNvPicPr>
          <p:nvPr/>
        </p:nvPicPr>
        <p:blipFill>
          <a:blip r:embed="rId11"/>
          <a:stretch>
            <a:fillRect/>
          </a:stretch>
        </p:blipFill>
        <p:spPr>
          <a:xfrm>
            <a:off x="1085850" y="8505825"/>
            <a:ext cx="323850" cy="323850"/>
          </a:xfrm>
          <a:prstGeom prst="rect">
            <a:avLst/>
          </a:prstGeom>
        </p:spPr>
      </p:pic>
      <p:sp>
        <p:nvSpPr>
          <p:cNvPr id="45" name="Text 32"/>
          <p:cNvSpPr/>
          <p:nvPr/>
        </p:nvSpPr>
        <p:spPr>
          <a:xfrm>
            <a:off x="1463650" y="8505825"/>
            <a:ext cx="3017520" cy="342900"/>
          </a:xfrm>
          <a:prstGeom prst="rect">
            <a:avLst/>
          </a:prstGeom>
          <a:noFill/>
          <a:ln/>
        </p:spPr>
        <p:txBody>
          <a:bodyPr wrap="square" lIns="25400" tIns="25400" rIns="25400" bIns="25400" rtlCol="0" anchor="t">
            <a:normAutofit/>
          </a:bodyPr>
          <a:lstStyle/>
          <a:p>
            <a:pPr algn="l" indent="0" marL="0">
              <a:lnSpc>
                <a:spcPct val="105000"/>
              </a:lnSpc>
              <a:buNone/>
            </a:pPr>
            <a:r>
              <a:rPr lang="en-US" sz="1800" dirty="0">
                <a:solidFill>
                  <a:srgbClr val="8FB3BF"/>
                </a:solidFill>
                <a:latin typeface="IBM Plex Mono" pitchFamily="34" charset="0"/>
                <a:ea typeface="IBM Plex Mono" pitchFamily="34" charset="-122"/>
                <a:cs typeface="IBM Plex Mono" pitchFamily="34" charset="-120"/>
              </a:rPr>
              <a:t>S3 · IMMUTABLE TRUTH</a:t>
            </a:r>
            <a:endParaRPr lang="en-US" sz="1800" dirty="0"/>
          </a:p>
        </p:txBody>
      </p:sp>
      <p:sp>
        <p:nvSpPr>
          <p:cNvPr id="46" name="Text 33"/>
          <p:cNvSpPr/>
          <p:nvPr/>
        </p:nvSpPr>
        <p:spPr>
          <a:xfrm>
            <a:off x="1085850" y="8505825"/>
            <a:ext cx="4589591" cy="666750"/>
          </a:xfrm>
          <a:prstGeom prst="rect">
            <a:avLst/>
          </a:prstGeom>
          <a:noFill/>
          <a:ln/>
        </p:spPr>
        <p:txBody>
          <a:bodyPr wrap="square" lIns="0" tIns="0" rIns="0" bIns="0" rtlCol="0" anchor="t">
            <a:normAutofit/>
          </a:bodyPr>
          <a:lstStyle/>
          <a:p>
            <a:pPr algn="l" indent="0" marL="0">
              <a:lnSpc>
                <a:spcPct val="105000"/>
              </a:lnSpc>
              <a:buNone/>
            </a:pPr>
            <a:r>
              <a:rPr lang="en-US" sz="1800" dirty="0">
                <a:solidFill>
                  <a:srgbClr val="E8E4DC"/>
                </a:solidFill>
                <a:latin typeface="IBM Plex Sans" pitchFamily="34" charset="0"/>
                <a:ea typeface="IBM Plex Sans" pitchFamily="34" charset="-122"/>
                <a:cs typeface="IBM Plex Sans" pitchFamily="34" charset="-120"/>
              </a:rPr>
              <a:t>— evidence · proposals · manifests · Object Lock</a:t>
            </a:r>
            <a:endParaRPr lang="en-US" sz="1800" dirty="0"/>
          </a:p>
        </p:txBody>
      </p:sp>
      <p:sp>
        <p:nvSpPr>
          <p:cNvPr id="47" name="Shape 34"/>
          <p:cNvSpPr/>
          <p:nvPr/>
        </p:nvSpPr>
        <p:spPr>
          <a:xfrm>
            <a:off x="6432500" y="8372475"/>
            <a:ext cx="5422850" cy="1571625"/>
          </a:xfrm>
          <a:prstGeom prst="rect">
            <a:avLst/>
          </a:prstGeom>
          <a:solidFill>
            <a:srgbClr val="191C20"/>
          </a:solidFill>
          <a:ln/>
        </p:spPr>
      </p:sp>
      <p:pic>
        <p:nvPicPr>
          <p:cNvPr id="48" name="Image 11" descr="preencoded.png">    </p:cNvPr>
          <p:cNvPicPr>
            <a:picLocks noChangeAspect="1"/>
          </p:cNvPicPr>
          <p:nvPr/>
        </p:nvPicPr>
        <p:blipFill>
          <a:blip r:embed="rId12"/>
          <a:stretch>
            <a:fillRect/>
          </a:stretch>
        </p:blipFill>
        <p:spPr>
          <a:xfrm>
            <a:off x="6661100" y="8524875"/>
            <a:ext cx="323850" cy="323850"/>
          </a:xfrm>
          <a:prstGeom prst="rect">
            <a:avLst/>
          </a:prstGeom>
        </p:spPr>
      </p:pic>
      <p:sp>
        <p:nvSpPr>
          <p:cNvPr id="49" name="Text 35"/>
          <p:cNvSpPr/>
          <p:nvPr/>
        </p:nvSpPr>
        <p:spPr>
          <a:xfrm>
            <a:off x="7038900" y="8524875"/>
            <a:ext cx="2866644" cy="342900"/>
          </a:xfrm>
          <a:prstGeom prst="rect">
            <a:avLst/>
          </a:prstGeom>
          <a:noFill/>
          <a:ln/>
        </p:spPr>
        <p:txBody>
          <a:bodyPr wrap="square" lIns="25400" tIns="25400" rIns="25400" bIns="25400" rtlCol="0" anchor="t">
            <a:normAutofit/>
          </a:bodyPr>
          <a:lstStyle/>
          <a:p>
            <a:pPr algn="l" indent="0" marL="0">
              <a:lnSpc>
                <a:spcPct val="105000"/>
              </a:lnSpc>
              <a:buNone/>
            </a:pPr>
            <a:r>
              <a:rPr lang="en-US" sz="1800" dirty="0">
                <a:solidFill>
                  <a:srgbClr val="8FB3BF"/>
                </a:solidFill>
                <a:latin typeface="IBM Plex Mono" pitchFamily="34" charset="0"/>
                <a:ea typeface="IBM Plex Mono" pitchFamily="34" charset="-122"/>
                <a:cs typeface="IBM Plex Mono" pitchFamily="34" charset="-120"/>
              </a:rPr>
              <a:t>DDB · CONTROL STATE</a:t>
            </a:r>
            <a:endParaRPr lang="en-US" sz="1800" dirty="0"/>
          </a:p>
        </p:txBody>
      </p:sp>
      <p:sp>
        <p:nvSpPr>
          <p:cNvPr id="50" name="Text 36"/>
          <p:cNvSpPr/>
          <p:nvPr/>
        </p:nvSpPr>
        <p:spPr>
          <a:xfrm>
            <a:off x="6661100" y="8524875"/>
            <a:ext cx="4843291" cy="1295400"/>
          </a:xfrm>
          <a:prstGeom prst="rect">
            <a:avLst/>
          </a:prstGeom>
          <a:noFill/>
          <a:ln/>
        </p:spPr>
        <p:txBody>
          <a:bodyPr wrap="square" lIns="0" tIns="0" rIns="0" bIns="0" rtlCol="0" anchor="t">
            <a:normAutofit/>
          </a:bodyPr>
          <a:lstStyle/>
          <a:p>
            <a:pPr algn="l" indent="0" marL="0">
              <a:lnSpc>
                <a:spcPct val="105000"/>
              </a:lnSpc>
              <a:buNone/>
            </a:pPr>
            <a:r>
              <a:rPr lang="en-US" sz="1800" dirty="0">
                <a:solidFill>
                  <a:srgbClr val="E8E4DC"/>
                </a:solidFill>
                <a:latin typeface="IBM Plex Sans" pitchFamily="34" charset="0"/>
                <a:ea typeface="IBM Plex Sans" pitchFamily="34" charset="-122"/>
                <a:cs typeface="IBM Plex Sans" pitchFamily="34" charset="-120"/>
              </a:rPr>
              <a:t>— the platform's bookkeeping: run ledger · dedupe keys · determinants · publish lock (fencing token) · active-graph pointer — which version is live</a:t>
            </a:r>
            <a:endParaRPr lang="en-US" sz="1800" dirty="0"/>
          </a:p>
        </p:txBody>
      </p:sp>
      <p:sp>
        <p:nvSpPr>
          <p:cNvPr id="51" name="Shape 37"/>
          <p:cNvSpPr/>
          <p:nvPr/>
        </p:nvSpPr>
        <p:spPr>
          <a:xfrm>
            <a:off x="12007751" y="8372475"/>
            <a:ext cx="5422999" cy="1571625"/>
          </a:xfrm>
          <a:prstGeom prst="rect">
            <a:avLst/>
          </a:prstGeom>
          <a:solidFill>
            <a:srgbClr val="191C20"/>
          </a:solidFill>
          <a:ln/>
        </p:spPr>
      </p:sp>
      <p:pic>
        <p:nvPicPr>
          <p:cNvPr id="52" name="Image 12" descr="preencoded.png">    </p:cNvPr>
          <p:cNvPicPr>
            <a:picLocks noChangeAspect="1"/>
          </p:cNvPicPr>
          <p:nvPr/>
        </p:nvPicPr>
        <p:blipFill>
          <a:blip r:embed="rId13"/>
          <a:stretch>
            <a:fillRect/>
          </a:stretch>
        </p:blipFill>
        <p:spPr>
          <a:xfrm>
            <a:off x="12236351" y="8524875"/>
            <a:ext cx="323850" cy="323850"/>
          </a:xfrm>
          <a:prstGeom prst="rect">
            <a:avLst/>
          </a:prstGeom>
        </p:spPr>
      </p:pic>
      <p:pic>
        <p:nvPicPr>
          <p:cNvPr id="53" name="Image 13" descr="preencoded.png">    </p:cNvPr>
          <p:cNvPicPr>
            <a:picLocks noChangeAspect="1"/>
          </p:cNvPicPr>
          <p:nvPr/>
        </p:nvPicPr>
        <p:blipFill>
          <a:blip r:embed="rId14"/>
          <a:stretch>
            <a:fillRect/>
          </a:stretch>
        </p:blipFill>
        <p:spPr>
          <a:xfrm>
            <a:off x="12560201" y="8524875"/>
            <a:ext cx="323850" cy="323850"/>
          </a:xfrm>
          <a:prstGeom prst="rect">
            <a:avLst/>
          </a:prstGeom>
        </p:spPr>
      </p:pic>
      <p:sp>
        <p:nvSpPr>
          <p:cNvPr id="54" name="Text 38"/>
          <p:cNvSpPr/>
          <p:nvPr/>
        </p:nvSpPr>
        <p:spPr>
          <a:xfrm>
            <a:off x="12938001" y="8524875"/>
            <a:ext cx="1659635" cy="342900"/>
          </a:xfrm>
          <a:prstGeom prst="rect">
            <a:avLst/>
          </a:prstGeom>
          <a:noFill/>
          <a:ln/>
        </p:spPr>
        <p:txBody>
          <a:bodyPr wrap="square" lIns="25400" tIns="25400" rIns="25400" bIns="25400" rtlCol="0" anchor="t">
            <a:normAutofit/>
          </a:bodyPr>
          <a:lstStyle/>
          <a:p>
            <a:pPr algn="l" indent="0" marL="0">
              <a:lnSpc>
                <a:spcPct val="105000"/>
              </a:lnSpc>
              <a:buNone/>
            </a:pPr>
            <a:r>
              <a:rPr lang="en-US" sz="1800" dirty="0">
                <a:solidFill>
                  <a:srgbClr val="8FB3BF"/>
                </a:solidFill>
                <a:latin typeface="IBM Plex Mono" pitchFamily="34" charset="0"/>
                <a:ea typeface="IBM Plex Mono" pitchFamily="34" charset="-122"/>
                <a:cs typeface="IBM Plex Mono" pitchFamily="34" charset="-120"/>
              </a:rPr>
              <a:t>PROJECTIONS</a:t>
            </a:r>
            <a:endParaRPr lang="en-US" sz="1800" dirty="0"/>
          </a:p>
        </p:txBody>
      </p:sp>
      <p:sp>
        <p:nvSpPr>
          <p:cNvPr id="55" name="Text 39"/>
          <p:cNvSpPr/>
          <p:nvPr/>
        </p:nvSpPr>
        <p:spPr>
          <a:xfrm>
            <a:off x="12236351" y="8524875"/>
            <a:ext cx="5040920" cy="1295400"/>
          </a:xfrm>
          <a:prstGeom prst="rect">
            <a:avLst/>
          </a:prstGeom>
          <a:noFill/>
          <a:ln/>
        </p:spPr>
        <p:txBody>
          <a:bodyPr wrap="square" lIns="0" tIns="0" rIns="0" bIns="0" rtlCol="0" anchor="t">
            <a:normAutofit/>
          </a:bodyPr>
          <a:lstStyle/>
          <a:p>
            <a:pPr algn="l" indent="0" marL="0">
              <a:lnSpc>
                <a:spcPct val="105000"/>
              </a:lnSpc>
              <a:buNone/>
            </a:pPr>
            <a:r>
              <a:rPr lang="en-US" sz="1800" dirty="0">
                <a:solidFill>
                  <a:srgbClr val="E8E4DC"/>
                </a:solidFill>
                <a:latin typeface="IBM Plex Sans" pitchFamily="34" charset="0"/>
                <a:ea typeface="IBM Plex Sans" pitchFamily="34" charset="-122"/>
                <a:cs typeface="IBM Plex Sans" pitchFamily="34" charset="-120"/>
              </a:rPr>
              <a:t>— approved only · never the record · written by the Fenced Publication flow after human approval · rebuilt from S3 (see Data Ownership &amp; Recovery)</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57250" y="381000"/>
            <a:ext cx="18230850" cy="361950"/>
          </a:xfrm>
          <a:prstGeom prst="rect">
            <a:avLst/>
          </a:prstGeom>
          <a:noFill/>
          <a:ln/>
        </p:spPr>
        <p:txBody>
          <a:bodyPr wrap="square" lIns="25400" tIns="25400" rIns="25400" bIns="25400" rtlCol="0" anchor="t">
            <a:normAutofit/>
          </a:bodyPr>
          <a:lstStyle/>
          <a:p>
            <a:pPr algn="l" indent="0" marL="0">
              <a:buNone/>
            </a:pPr>
            <a:r>
              <a:rPr lang="en-US" sz="1950" spc="312" kern="0" dirty="0">
                <a:solidFill>
                  <a:srgbClr val="4D535B"/>
                </a:solidFill>
                <a:latin typeface="IBM Plex Mono" pitchFamily="34" charset="0"/>
                <a:ea typeface="IBM Plex Mono" pitchFamily="34" charset="-122"/>
                <a:cs typeface="IBM Plex Mono" pitchFamily="34" charset="-120"/>
              </a:rPr>
              <a:t>02A · STAGE 1 OF 4</a:t>
            </a:r>
            <a:endParaRPr lang="en-US" sz="1950" dirty="0"/>
          </a:p>
        </p:txBody>
      </p:sp>
      <p:sp>
        <p:nvSpPr>
          <p:cNvPr id="3" name="Text 1"/>
          <p:cNvSpPr/>
          <p:nvPr/>
        </p:nvSpPr>
        <p:spPr>
          <a:xfrm>
            <a:off x="857250" y="800100"/>
            <a:ext cx="18230850" cy="771525"/>
          </a:xfrm>
          <a:prstGeom prst="rect">
            <a:avLst/>
          </a:prstGeom>
          <a:noFill/>
          <a:ln/>
        </p:spPr>
        <p:txBody>
          <a:bodyPr wrap="square" lIns="25400" tIns="25400" rIns="25400" bIns="25400" rtlCol="0" anchor="t">
            <a:normAutofit/>
          </a:bodyPr>
          <a:lstStyle/>
          <a:p>
            <a:pPr algn="l" indent="0" marL="0">
              <a:buNone/>
            </a:pPr>
            <a:r>
              <a:rPr lang="en-US" sz="4500" b="1" dirty="0">
                <a:solidFill>
                  <a:srgbClr val="191C20"/>
                </a:solidFill>
                <a:latin typeface="IBM Plex Sans" pitchFamily="34" charset="0"/>
                <a:ea typeface="IBM Plex Sans" pitchFamily="34" charset="-122"/>
                <a:cs typeface="IBM Plex Sans" pitchFamily="34" charset="-120"/>
              </a:rPr>
              <a:t>Sources &amp; Intake</a:t>
            </a:r>
            <a:endParaRPr lang="en-US" sz="4500" dirty="0"/>
          </a:p>
        </p:txBody>
      </p:sp>
      <p:sp>
        <p:nvSpPr>
          <p:cNvPr id="4" name="Shape 2"/>
          <p:cNvSpPr/>
          <p:nvPr/>
        </p:nvSpPr>
        <p:spPr>
          <a:xfrm>
            <a:off x="857250" y="1733550"/>
            <a:ext cx="1341239" cy="457200"/>
          </a:xfrm>
          <a:prstGeom prst="rect">
            <a:avLst/>
          </a:prstGeom>
          <a:solidFill>
            <a:srgbClr val="191C20"/>
          </a:solidFill>
          <a:ln/>
        </p:spPr>
      </p:sp>
      <p:sp>
        <p:nvSpPr>
          <p:cNvPr id="5" name="Text 3"/>
          <p:cNvSpPr/>
          <p:nvPr/>
        </p:nvSpPr>
        <p:spPr>
          <a:xfrm>
            <a:off x="1047750" y="1809750"/>
            <a:ext cx="103643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2EFE9"/>
                </a:solidFill>
                <a:latin typeface="IBM Plex Mono" pitchFamily="34" charset="0"/>
                <a:ea typeface="IBM Plex Mono" pitchFamily="34" charset="-122"/>
                <a:cs typeface="IBM Plex Mono" pitchFamily="34" charset="-120"/>
              </a:rPr>
              <a:t>SOURCES</a:t>
            </a:r>
            <a:endParaRPr lang="en-US" sz="1800" dirty="0"/>
          </a:p>
        </p:txBody>
      </p:sp>
      <p:sp>
        <p:nvSpPr>
          <p:cNvPr id="6" name="Text 4"/>
          <p:cNvSpPr/>
          <p:nvPr/>
        </p:nvSpPr>
        <p:spPr>
          <a:xfrm>
            <a:off x="2312789" y="1809750"/>
            <a:ext cx="213866" cy="342900"/>
          </a:xfrm>
          <a:prstGeom prst="rect">
            <a:avLst/>
          </a:prstGeom>
          <a:noFill/>
          <a:ln/>
        </p:spPr>
        <p:txBody>
          <a:bodyPr wrap="square" lIns="25400" tIns="25400" rIns="25400" bIns="25400" rtlCol="0" anchor="t">
            <a:normAutofit/>
          </a:bodyPr>
          <a:lstStyle/>
          <a:p>
            <a:pPr algn="l" indent="0" marL="0">
              <a:buNone/>
            </a:pPr>
            <a:r>
              <a:rPr lang="en-US" sz="1800" dirty="0">
                <a:solidFill>
                  <a:srgbClr val="9AA0A8"/>
                </a:solidFill>
                <a:latin typeface="IBM Plex Mono" pitchFamily="34" charset="0"/>
                <a:ea typeface="IBM Plex Mono" pitchFamily="34" charset="-122"/>
                <a:cs typeface="IBM Plex Mono" pitchFamily="34" charset="-120"/>
              </a:rPr>
              <a:t>→</a:t>
            </a:r>
            <a:endParaRPr lang="en-US" sz="1800" dirty="0"/>
          </a:p>
        </p:txBody>
      </p:sp>
      <p:sp>
        <p:nvSpPr>
          <p:cNvPr id="7" name="Shape 5"/>
          <p:cNvSpPr/>
          <p:nvPr/>
        </p:nvSpPr>
        <p:spPr>
          <a:xfrm>
            <a:off x="2564755" y="1724025"/>
            <a:ext cx="2594670" cy="476250"/>
          </a:xfrm>
          <a:prstGeom prst="rect">
            <a:avLst/>
          </a:prstGeom>
          <a:ln w="9525">
            <a:solidFill>
              <a:srgbClr val="E0DCD3"/>
            </a:solidFill>
            <a:prstDash val="solid"/>
          </a:ln>
        </p:spPr>
      </p:sp>
      <p:sp>
        <p:nvSpPr>
          <p:cNvPr id="8" name="Text 6"/>
          <p:cNvSpPr/>
          <p:nvPr/>
        </p:nvSpPr>
        <p:spPr>
          <a:xfrm>
            <a:off x="2764780" y="1809750"/>
            <a:ext cx="227246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INTAKE &amp; ROUTING</a:t>
            </a:r>
            <a:endParaRPr lang="en-US" sz="1800" dirty="0"/>
          </a:p>
        </p:txBody>
      </p:sp>
      <p:sp>
        <p:nvSpPr>
          <p:cNvPr id="9" name="Text 7"/>
          <p:cNvSpPr/>
          <p:nvPr/>
        </p:nvSpPr>
        <p:spPr>
          <a:xfrm>
            <a:off x="5273725" y="1809750"/>
            <a:ext cx="213866" cy="342900"/>
          </a:xfrm>
          <a:prstGeom prst="rect">
            <a:avLst/>
          </a:prstGeom>
          <a:noFill/>
          <a:ln/>
        </p:spPr>
        <p:txBody>
          <a:bodyPr wrap="square" lIns="25400" tIns="25400" rIns="25400" bIns="25400" rtlCol="0" anchor="t">
            <a:normAutofit/>
          </a:bodyPr>
          <a:lstStyle/>
          <a:p>
            <a:pPr algn="l" indent="0" marL="0">
              <a:buNone/>
            </a:pPr>
            <a:r>
              <a:rPr lang="en-US" sz="1800" dirty="0">
                <a:solidFill>
                  <a:srgbClr val="9AA0A8"/>
                </a:solidFill>
                <a:latin typeface="IBM Plex Mono" pitchFamily="34" charset="0"/>
                <a:ea typeface="IBM Plex Mono" pitchFamily="34" charset="-122"/>
                <a:cs typeface="IBM Plex Mono" pitchFamily="34" charset="-120"/>
              </a:rPr>
              <a:t>→</a:t>
            </a:r>
            <a:endParaRPr lang="en-US" sz="1800" dirty="0"/>
          </a:p>
        </p:txBody>
      </p:sp>
      <p:sp>
        <p:nvSpPr>
          <p:cNvPr id="10" name="Shape 8"/>
          <p:cNvSpPr/>
          <p:nvPr/>
        </p:nvSpPr>
        <p:spPr>
          <a:xfrm>
            <a:off x="5525691" y="1724025"/>
            <a:ext cx="2046089" cy="476250"/>
          </a:xfrm>
          <a:prstGeom prst="rect">
            <a:avLst/>
          </a:prstGeom>
          <a:ln w="9525">
            <a:solidFill>
              <a:srgbClr val="E0DCD3"/>
            </a:solidFill>
            <a:prstDash val="solid"/>
          </a:ln>
        </p:spPr>
      </p:sp>
      <p:sp>
        <p:nvSpPr>
          <p:cNvPr id="11" name="Text 9"/>
          <p:cNvSpPr/>
          <p:nvPr/>
        </p:nvSpPr>
        <p:spPr>
          <a:xfrm>
            <a:off x="5725716" y="1809750"/>
            <a:ext cx="172223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COORDINATION</a:t>
            </a:r>
            <a:endParaRPr lang="en-US" sz="1800" dirty="0"/>
          </a:p>
        </p:txBody>
      </p:sp>
      <p:sp>
        <p:nvSpPr>
          <p:cNvPr id="12" name="Text 10"/>
          <p:cNvSpPr/>
          <p:nvPr/>
        </p:nvSpPr>
        <p:spPr>
          <a:xfrm>
            <a:off x="7686080" y="1809750"/>
            <a:ext cx="213866" cy="342900"/>
          </a:xfrm>
          <a:prstGeom prst="rect">
            <a:avLst/>
          </a:prstGeom>
          <a:noFill/>
          <a:ln/>
        </p:spPr>
        <p:txBody>
          <a:bodyPr wrap="square" lIns="25400" tIns="25400" rIns="25400" bIns="25400" rtlCol="0" anchor="t">
            <a:normAutofit/>
          </a:bodyPr>
          <a:lstStyle/>
          <a:p>
            <a:pPr algn="l" indent="0" marL="0">
              <a:buNone/>
            </a:pPr>
            <a:r>
              <a:rPr lang="en-US" sz="1800" dirty="0">
                <a:solidFill>
                  <a:srgbClr val="9AA0A8"/>
                </a:solidFill>
                <a:latin typeface="IBM Plex Mono" pitchFamily="34" charset="0"/>
                <a:ea typeface="IBM Plex Mono" pitchFamily="34" charset="-122"/>
                <a:cs typeface="IBM Plex Mono" pitchFamily="34" charset="-120"/>
              </a:rPr>
              <a:t>→</a:t>
            </a:r>
            <a:endParaRPr lang="en-US" sz="1800" dirty="0"/>
          </a:p>
        </p:txBody>
      </p:sp>
      <p:sp>
        <p:nvSpPr>
          <p:cNvPr id="13" name="Shape 11"/>
          <p:cNvSpPr/>
          <p:nvPr/>
        </p:nvSpPr>
        <p:spPr>
          <a:xfrm>
            <a:off x="7938046" y="1724025"/>
            <a:ext cx="1497360" cy="476250"/>
          </a:xfrm>
          <a:prstGeom prst="rect">
            <a:avLst/>
          </a:prstGeom>
          <a:ln w="9525">
            <a:solidFill>
              <a:srgbClr val="E0DCD3"/>
            </a:solidFill>
            <a:prstDash val="solid"/>
          </a:ln>
        </p:spPr>
      </p:sp>
      <p:sp>
        <p:nvSpPr>
          <p:cNvPr id="14" name="Text 12"/>
          <p:cNvSpPr/>
          <p:nvPr/>
        </p:nvSpPr>
        <p:spPr>
          <a:xfrm>
            <a:off x="8138071" y="1809750"/>
            <a:ext cx="117351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ANALYSIS</a:t>
            </a:r>
            <a:endParaRPr lang="en-US" sz="1800" dirty="0"/>
          </a:p>
        </p:txBody>
      </p:sp>
      <p:sp>
        <p:nvSpPr>
          <p:cNvPr id="15" name="Text 13"/>
          <p:cNvSpPr/>
          <p:nvPr/>
        </p:nvSpPr>
        <p:spPr>
          <a:xfrm>
            <a:off x="9549705" y="1809750"/>
            <a:ext cx="213866" cy="342900"/>
          </a:xfrm>
          <a:prstGeom prst="rect">
            <a:avLst/>
          </a:prstGeom>
          <a:noFill/>
          <a:ln/>
        </p:spPr>
        <p:txBody>
          <a:bodyPr wrap="square" lIns="25400" tIns="25400" rIns="25400" bIns="25400" rtlCol="0" anchor="t">
            <a:normAutofit/>
          </a:bodyPr>
          <a:lstStyle/>
          <a:p>
            <a:pPr algn="l" indent="0" marL="0">
              <a:buNone/>
            </a:pPr>
            <a:r>
              <a:rPr lang="en-US" sz="1800" dirty="0">
                <a:solidFill>
                  <a:srgbClr val="9AA0A8"/>
                </a:solidFill>
                <a:latin typeface="IBM Plex Mono" pitchFamily="34" charset="0"/>
                <a:ea typeface="IBM Plex Mono" pitchFamily="34" charset="-122"/>
                <a:cs typeface="IBM Plex Mono" pitchFamily="34" charset="-120"/>
              </a:rPr>
              <a:t>→</a:t>
            </a:r>
            <a:endParaRPr lang="en-US" sz="1800" dirty="0"/>
          </a:p>
        </p:txBody>
      </p:sp>
      <p:sp>
        <p:nvSpPr>
          <p:cNvPr id="16" name="Shape 14"/>
          <p:cNvSpPr/>
          <p:nvPr/>
        </p:nvSpPr>
        <p:spPr>
          <a:xfrm>
            <a:off x="9801671" y="1724025"/>
            <a:ext cx="2594670" cy="476250"/>
          </a:xfrm>
          <a:prstGeom prst="rect">
            <a:avLst/>
          </a:prstGeom>
          <a:ln w="9525">
            <a:solidFill>
              <a:srgbClr val="E0DCD3"/>
            </a:solidFill>
            <a:prstDash val="solid"/>
          </a:ln>
        </p:spPr>
      </p:sp>
      <p:sp>
        <p:nvSpPr>
          <p:cNvPr id="17" name="Text 15"/>
          <p:cNvSpPr/>
          <p:nvPr/>
        </p:nvSpPr>
        <p:spPr>
          <a:xfrm>
            <a:off x="10001696" y="1809750"/>
            <a:ext cx="227246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REVIEW &amp; PUBLISH</a:t>
            </a:r>
            <a:endParaRPr lang="en-US" sz="1800" dirty="0"/>
          </a:p>
        </p:txBody>
      </p:sp>
      <p:sp>
        <p:nvSpPr>
          <p:cNvPr id="18" name="Text 16"/>
          <p:cNvSpPr/>
          <p:nvPr/>
        </p:nvSpPr>
        <p:spPr>
          <a:xfrm>
            <a:off x="857250" y="2409825"/>
            <a:ext cx="765299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EVENT SOURCES</a:t>
            </a:r>
            <a:endParaRPr lang="en-US" sz="1800" dirty="0"/>
          </a:p>
        </p:txBody>
      </p:sp>
      <p:sp>
        <p:nvSpPr>
          <p:cNvPr id="19" name="Shape 17"/>
          <p:cNvSpPr/>
          <p:nvPr/>
        </p:nvSpPr>
        <p:spPr>
          <a:xfrm>
            <a:off x="857250" y="2828925"/>
            <a:ext cx="6957268" cy="1371600"/>
          </a:xfrm>
          <a:prstGeom prst="rect">
            <a:avLst/>
          </a:prstGeom>
          <a:solidFill>
            <a:srgbClr val="FFFFFF"/>
          </a:solidFill>
          <a:ln w="9525">
            <a:solidFill>
              <a:srgbClr val="E0DCD3"/>
            </a:solidFill>
            <a:prstDash val="solid"/>
          </a:ln>
        </p:spPr>
      </p:sp>
      <p:sp>
        <p:nvSpPr>
          <p:cNvPr id="20" name="Text 18"/>
          <p:cNvSpPr/>
          <p:nvPr/>
        </p:nvSpPr>
        <p:spPr>
          <a:xfrm>
            <a:off x="1095375" y="3028950"/>
            <a:ext cx="6689736" cy="100965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A8551F"/>
                </a:solidFill>
                <a:latin typeface="IBM Plex Mono" pitchFamily="34" charset="0"/>
                <a:ea typeface="IBM Plex Mono" pitchFamily="34" charset="-122"/>
                <a:cs typeface="IBM Plex Mono" pitchFamily="34" charset="-120"/>
              </a:rPr>
              <a:t>GH </a:t>
            </a:r>
            <a:pPr algn="l" indent="0" marL="0">
              <a:lnSpc>
                <a:spcPct val="108750"/>
              </a:lnSpc>
              <a:buNone/>
            </a:pPr>
            <a:r>
              <a:rPr lang="en-US" sz="1800" b="1" dirty="0">
                <a:solidFill>
                  <a:srgbClr val="191C20"/>
                </a:solidFill>
                <a:latin typeface="IBM Plex Sans" pitchFamily="34" charset="0"/>
                <a:ea typeface="IBM Plex Sans" pitchFamily="34" charset="-122"/>
                <a:cs typeface="IBM Plex Sans" pitchFamily="34" charset="-120"/>
              </a:rPr>
              <a:t>GitHub webhooks for PRs + pushes </a:t>
            </a:r>
            <a:pPr algn="l" indent="0" marL="0">
              <a:lnSpc>
                <a:spcPct val="108750"/>
              </a:lnSpc>
              <a:buNone/>
            </a:pPr>
            <a:r>
              <a:rPr lang="en-US" sz="1800" dirty="0">
                <a:solidFill>
                  <a:srgbClr val="4D535B"/>
                </a:solidFill>
                <a:latin typeface="IBM Plex Sans" pitchFamily="34" charset="0"/>
                <a:ea typeface="IBM Plex Sans" pitchFamily="34" charset="-122"/>
                <a:cs typeface="IBM Plex Sans" pitchFamily="34" charset="-120"/>
              </a:rPr>
              <a:t>each delivery carries a unique id (X-GitHub-Delivery GUID) so repeats are recognized and dropped</a:t>
            </a:r>
            <a:endParaRPr lang="en-US" sz="1800" dirty="0"/>
          </a:p>
        </p:txBody>
      </p:sp>
      <p:sp>
        <p:nvSpPr>
          <p:cNvPr id="21" name="Shape 19"/>
          <p:cNvSpPr/>
          <p:nvPr/>
        </p:nvSpPr>
        <p:spPr>
          <a:xfrm>
            <a:off x="857250" y="4314825"/>
            <a:ext cx="6957268" cy="1381125"/>
          </a:xfrm>
          <a:prstGeom prst="rect">
            <a:avLst/>
          </a:prstGeom>
          <a:solidFill>
            <a:srgbClr val="FFFFFF"/>
          </a:solidFill>
          <a:ln w="9525">
            <a:solidFill>
              <a:srgbClr val="E0DCD3"/>
            </a:solidFill>
            <a:prstDash val="solid"/>
          </a:ln>
        </p:spPr>
      </p:sp>
      <p:sp>
        <p:nvSpPr>
          <p:cNvPr id="22" name="Text 20"/>
          <p:cNvSpPr/>
          <p:nvPr/>
        </p:nvSpPr>
        <p:spPr>
          <a:xfrm>
            <a:off x="1095375" y="4524375"/>
            <a:ext cx="1036320" cy="34290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A8551F"/>
                </a:solidFill>
                <a:latin typeface="IBM Plex Mono" pitchFamily="34" charset="0"/>
                <a:ea typeface="IBM Plex Mono" pitchFamily="34" charset="-122"/>
                <a:cs typeface="IBM Plex Mono" pitchFamily="34" charset="-120"/>
              </a:rPr>
              <a:t>JENKINS</a:t>
            </a:r>
            <a:endParaRPr lang="en-US" sz="1800" dirty="0"/>
          </a:p>
        </p:txBody>
      </p:sp>
      <p:pic>
        <p:nvPicPr>
          <p:cNvPr id="23" name="Image 0" descr="preencoded.png">    </p:cNvPr>
          <p:cNvPicPr>
            <a:picLocks noChangeAspect="1"/>
          </p:cNvPicPr>
          <p:nvPr/>
        </p:nvPicPr>
        <p:blipFill>
          <a:blip r:embed="rId1"/>
          <a:stretch>
            <a:fillRect/>
          </a:stretch>
        </p:blipFill>
        <p:spPr>
          <a:xfrm>
            <a:off x="2109341" y="4524375"/>
            <a:ext cx="323850" cy="323850"/>
          </a:xfrm>
          <a:prstGeom prst="rect">
            <a:avLst/>
          </a:prstGeom>
        </p:spPr>
      </p:pic>
      <p:sp>
        <p:nvSpPr>
          <p:cNvPr id="24" name="Text 21"/>
          <p:cNvSpPr/>
          <p:nvPr/>
        </p:nvSpPr>
        <p:spPr>
          <a:xfrm>
            <a:off x="2487244" y="4524375"/>
            <a:ext cx="4535081" cy="342900"/>
          </a:xfrm>
          <a:prstGeom prst="rect">
            <a:avLst/>
          </a:prstGeom>
          <a:noFill/>
          <a:ln/>
        </p:spPr>
        <p:txBody>
          <a:bodyPr wrap="square" lIns="25400" tIns="25400" rIns="25400" bIns="25400" rtlCol="0" anchor="t">
            <a:normAutofit/>
          </a:bodyPr>
          <a:lstStyle/>
          <a:p>
            <a:pPr algn="l" indent="0" marL="0">
              <a:lnSpc>
                <a:spcPct val="108750"/>
              </a:lnSpc>
              <a:buNone/>
            </a:pPr>
            <a:r>
              <a:rPr lang="en-US" sz="1800" b="1" dirty="0">
                <a:solidFill>
                  <a:srgbClr val="191C20"/>
                </a:solidFill>
                <a:latin typeface="IBM Plex Sans" pitchFamily="34" charset="0"/>
                <a:ea typeface="IBM Plex Sans" pitchFamily="34" charset="-122"/>
                <a:cs typeface="IBM Plex Sans" pitchFamily="34" charset="-120"/>
              </a:rPr>
              <a:t>Deployment events — Jenkins pipeline</a:t>
            </a:r>
            <a:endParaRPr lang="en-US" sz="1800" dirty="0"/>
          </a:p>
        </p:txBody>
      </p:sp>
      <p:sp>
        <p:nvSpPr>
          <p:cNvPr id="25" name="Text 22"/>
          <p:cNvSpPr/>
          <p:nvPr/>
        </p:nvSpPr>
        <p:spPr>
          <a:xfrm>
            <a:off x="1095375" y="4857750"/>
            <a:ext cx="5353137" cy="66675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4D535B"/>
                </a:solidFill>
                <a:latin typeface="IBM Plex Sans" pitchFamily="34" charset="0"/>
                <a:ea typeface="IBM Plex Sans" pitchFamily="34" charset="-122"/>
                <a:cs typeface="IBM Plex Sans" pitchFamily="34" charset="-120"/>
              </a:rPr>
              <a:t>deploy · rollback — what is actually running in each environment</a:t>
            </a:r>
            <a:endParaRPr lang="en-US" sz="1800" dirty="0"/>
          </a:p>
        </p:txBody>
      </p:sp>
      <p:sp>
        <p:nvSpPr>
          <p:cNvPr id="26" name="Shape 23"/>
          <p:cNvSpPr/>
          <p:nvPr/>
        </p:nvSpPr>
        <p:spPr>
          <a:xfrm>
            <a:off x="857250" y="5810250"/>
            <a:ext cx="6957268" cy="1047750"/>
          </a:xfrm>
          <a:prstGeom prst="rect">
            <a:avLst/>
          </a:prstGeom>
          <a:solidFill>
            <a:srgbClr val="FFFFFF"/>
          </a:solidFill>
          <a:ln w="9525">
            <a:solidFill>
              <a:srgbClr val="E0DCD3"/>
            </a:solidFill>
            <a:prstDash val="solid"/>
          </a:ln>
        </p:spPr>
      </p:sp>
      <p:sp>
        <p:nvSpPr>
          <p:cNvPr id="27" name="Text 24"/>
          <p:cNvSpPr/>
          <p:nvPr/>
        </p:nvSpPr>
        <p:spPr>
          <a:xfrm>
            <a:off x="1095375" y="6010275"/>
            <a:ext cx="6689736" cy="68580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A8551F"/>
                </a:solidFill>
                <a:latin typeface="IBM Plex Mono" pitchFamily="34" charset="0"/>
                <a:ea typeface="IBM Plex Mono" pitchFamily="34" charset="-122"/>
                <a:cs typeface="IBM Plex Mono" pitchFamily="34" charset="-120"/>
              </a:rPr>
              <a:t>TAS </a:t>
            </a:r>
            <a:pPr algn="l" indent="0" marL="0">
              <a:lnSpc>
                <a:spcPct val="108750"/>
              </a:lnSpc>
              <a:buNone/>
            </a:pPr>
            <a:r>
              <a:rPr lang="en-US" sz="1800" b="1" dirty="0">
                <a:solidFill>
                  <a:srgbClr val="191C20"/>
                </a:solidFill>
                <a:latin typeface="IBM Plex Sans" pitchFamily="34" charset="0"/>
                <a:ea typeface="IBM Plex Sans" pitchFamily="34" charset="-122"/>
                <a:cs typeface="IBM Plex Sans" pitchFamily="34" charset="-120"/>
              </a:rPr>
              <a:t>Test automation service </a:t>
            </a:r>
            <a:pPr algn="l" indent="0" marL="0">
              <a:lnSpc>
                <a:spcPct val="108750"/>
              </a:lnSpc>
              <a:buNone/>
            </a:pPr>
            <a:r>
              <a:rPr lang="en-US" sz="1800" dirty="0">
                <a:solidFill>
                  <a:srgbClr val="4D535B"/>
                </a:solidFill>
                <a:latin typeface="IBM Plex Sans" pitchFamily="34" charset="0"/>
                <a:ea typeface="IBM Plex Sans" pitchFamily="34" charset="-122"/>
                <a:cs typeface="IBM Plex Sans" pitchFamily="34" charset="-120"/>
              </a:rPr>
              <a:t>active-repo inventory</a:t>
            </a:r>
            <a:endParaRPr lang="en-US" sz="1800" dirty="0"/>
          </a:p>
        </p:txBody>
      </p:sp>
      <p:sp>
        <p:nvSpPr>
          <p:cNvPr id="28" name="Shape 25"/>
          <p:cNvSpPr/>
          <p:nvPr/>
        </p:nvSpPr>
        <p:spPr>
          <a:xfrm>
            <a:off x="857250" y="6972300"/>
            <a:ext cx="6957268" cy="1057275"/>
          </a:xfrm>
          <a:prstGeom prst="rect">
            <a:avLst/>
          </a:prstGeom>
          <a:solidFill>
            <a:srgbClr val="FFFFFF"/>
          </a:solidFill>
          <a:ln w="9525">
            <a:solidFill>
              <a:srgbClr val="E0DCD3"/>
            </a:solidFill>
            <a:prstDash val="solid"/>
          </a:ln>
        </p:spPr>
      </p:sp>
      <p:pic>
        <p:nvPicPr>
          <p:cNvPr id="29" name="Image 1" descr="preencoded.png">    </p:cNvPr>
          <p:cNvPicPr>
            <a:picLocks noChangeAspect="1"/>
          </p:cNvPicPr>
          <p:nvPr/>
        </p:nvPicPr>
        <p:blipFill>
          <a:blip r:embed="rId2"/>
          <a:stretch>
            <a:fillRect/>
          </a:stretch>
        </p:blipFill>
        <p:spPr>
          <a:xfrm>
            <a:off x="1095375" y="7181850"/>
            <a:ext cx="323850" cy="323850"/>
          </a:xfrm>
          <a:prstGeom prst="rect">
            <a:avLst/>
          </a:prstGeom>
        </p:spPr>
      </p:pic>
      <p:sp>
        <p:nvSpPr>
          <p:cNvPr id="30" name="Text 26"/>
          <p:cNvSpPr/>
          <p:nvPr/>
        </p:nvSpPr>
        <p:spPr>
          <a:xfrm>
            <a:off x="1473175" y="7181850"/>
            <a:ext cx="3138724" cy="342900"/>
          </a:xfrm>
          <a:prstGeom prst="rect">
            <a:avLst/>
          </a:prstGeom>
          <a:noFill/>
          <a:ln/>
        </p:spPr>
        <p:txBody>
          <a:bodyPr wrap="square" lIns="25400" tIns="25400" rIns="25400" bIns="25400" rtlCol="0" anchor="t">
            <a:normAutofit/>
          </a:bodyPr>
          <a:lstStyle/>
          <a:p>
            <a:pPr algn="l" indent="0" marL="0">
              <a:lnSpc>
                <a:spcPct val="108750"/>
              </a:lnSpc>
              <a:buNone/>
            </a:pPr>
            <a:r>
              <a:rPr lang="en-US" sz="1800" b="1" dirty="0">
                <a:solidFill>
                  <a:srgbClr val="191C20"/>
                </a:solidFill>
                <a:latin typeface="IBM Plex Sans" pitchFamily="34" charset="0"/>
                <a:ea typeface="IBM Plex Sans" pitchFamily="34" charset="-122"/>
                <a:cs typeface="IBM Plex Sans" pitchFamily="34" charset="-120"/>
              </a:rPr>
              <a:t>Schedules &amp; reconciliation</a:t>
            </a:r>
            <a:endParaRPr lang="en-US" sz="1800" dirty="0"/>
          </a:p>
        </p:txBody>
      </p:sp>
      <p:sp>
        <p:nvSpPr>
          <p:cNvPr id="31" name="Text 27"/>
          <p:cNvSpPr/>
          <p:nvPr/>
        </p:nvSpPr>
        <p:spPr>
          <a:xfrm>
            <a:off x="1095375" y="7515225"/>
            <a:ext cx="3132689" cy="34290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4D535B"/>
                </a:solidFill>
                <a:latin typeface="IBM Plex Sans" pitchFamily="34" charset="0"/>
                <a:ea typeface="IBM Plex Sans" pitchFamily="34" charset="-122"/>
                <a:cs typeface="IBM Plex Sans" pitchFamily="34" charset="-120"/>
              </a:rPr>
              <a:t>nightly · syncs · TTL sweeps</a:t>
            </a:r>
            <a:endParaRPr lang="en-US" sz="1800" dirty="0"/>
          </a:p>
        </p:txBody>
      </p:sp>
      <p:sp>
        <p:nvSpPr>
          <p:cNvPr id="32" name="Text 28"/>
          <p:cNvSpPr/>
          <p:nvPr/>
        </p:nvSpPr>
        <p:spPr>
          <a:xfrm>
            <a:off x="7776418" y="2409825"/>
            <a:ext cx="647700" cy="7572375"/>
          </a:xfrm>
          <a:prstGeom prst="rect">
            <a:avLst/>
          </a:prstGeom>
          <a:noFill/>
          <a:ln/>
        </p:spPr>
        <p:txBody>
          <a:bodyPr wrap="square" lIns="25400" tIns="25400" rIns="25400" bIns="25400" rtlCol="0" anchor="ctr">
            <a:normAutofit/>
          </a:bodyPr>
          <a:lstStyle/>
          <a:p>
            <a:pPr algn="ctr" indent="0" marL="0">
              <a:buNone/>
            </a:pPr>
            <a:r>
              <a:rPr lang="en-US" sz="2700" dirty="0">
                <a:solidFill>
                  <a:srgbClr val="9AA0A8"/>
                </a:solidFill>
                <a:latin typeface="IBM Plex Sans" pitchFamily="34" charset="0"/>
                <a:ea typeface="IBM Plex Sans" pitchFamily="34" charset="-122"/>
                <a:cs typeface="IBM Plex Sans" pitchFamily="34" charset="-120"/>
              </a:rPr>
              <a:t>→</a:t>
            </a:r>
            <a:endParaRPr lang="en-US" sz="2700" dirty="0"/>
          </a:p>
        </p:txBody>
      </p:sp>
      <p:sp>
        <p:nvSpPr>
          <p:cNvPr id="33" name="Text 29"/>
          <p:cNvSpPr/>
          <p:nvPr/>
        </p:nvSpPr>
        <p:spPr>
          <a:xfrm>
            <a:off x="8386018" y="2409825"/>
            <a:ext cx="994920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NORMALIZE &amp; ROUTE</a:t>
            </a:r>
            <a:endParaRPr lang="en-US" sz="1800" dirty="0"/>
          </a:p>
        </p:txBody>
      </p:sp>
      <p:sp>
        <p:nvSpPr>
          <p:cNvPr id="34" name="Shape 30"/>
          <p:cNvSpPr/>
          <p:nvPr/>
        </p:nvSpPr>
        <p:spPr>
          <a:xfrm>
            <a:off x="8386018" y="2809875"/>
            <a:ext cx="9044732" cy="1381125"/>
          </a:xfrm>
          <a:prstGeom prst="rect">
            <a:avLst/>
          </a:prstGeom>
          <a:solidFill>
            <a:srgbClr val="FFFFFF"/>
          </a:solidFill>
          <a:ln w="9525">
            <a:solidFill>
              <a:srgbClr val="E0DCD3"/>
            </a:solidFill>
            <a:prstDash val="solid"/>
          </a:ln>
        </p:spPr>
      </p:sp>
      <p:pic>
        <p:nvPicPr>
          <p:cNvPr id="35" name="Image 2" descr="preencoded.png">    </p:cNvPr>
          <p:cNvPicPr>
            <a:picLocks noChangeAspect="1"/>
          </p:cNvPicPr>
          <p:nvPr/>
        </p:nvPicPr>
        <p:blipFill>
          <a:blip r:embed="rId3"/>
          <a:stretch>
            <a:fillRect/>
          </a:stretch>
        </p:blipFill>
        <p:spPr>
          <a:xfrm>
            <a:off x="8624143" y="3019425"/>
            <a:ext cx="323850" cy="323850"/>
          </a:xfrm>
          <a:prstGeom prst="rect">
            <a:avLst/>
          </a:prstGeom>
        </p:spPr>
      </p:pic>
      <p:pic>
        <p:nvPicPr>
          <p:cNvPr id="36" name="Image 3" descr="preencoded.png">    </p:cNvPr>
          <p:cNvPicPr>
            <a:picLocks noChangeAspect="1"/>
          </p:cNvPicPr>
          <p:nvPr/>
        </p:nvPicPr>
        <p:blipFill>
          <a:blip r:embed="rId4"/>
          <a:stretch>
            <a:fillRect/>
          </a:stretch>
        </p:blipFill>
        <p:spPr>
          <a:xfrm>
            <a:off x="9001869" y="3019425"/>
            <a:ext cx="323850" cy="323850"/>
          </a:xfrm>
          <a:prstGeom prst="rect">
            <a:avLst/>
          </a:prstGeom>
        </p:spPr>
      </p:pic>
      <p:sp>
        <p:nvSpPr>
          <p:cNvPr id="37" name="Text 31"/>
          <p:cNvSpPr/>
          <p:nvPr/>
        </p:nvSpPr>
        <p:spPr>
          <a:xfrm>
            <a:off x="9379743" y="3019425"/>
            <a:ext cx="2538992" cy="342900"/>
          </a:xfrm>
          <a:prstGeom prst="rect">
            <a:avLst/>
          </a:prstGeom>
          <a:noFill/>
          <a:ln/>
        </p:spPr>
        <p:txBody>
          <a:bodyPr wrap="square" lIns="25400" tIns="25400" rIns="25400" bIns="25400" rtlCol="0" anchor="t">
            <a:normAutofit/>
          </a:bodyPr>
          <a:lstStyle/>
          <a:p>
            <a:pPr algn="l" indent="0" marL="0">
              <a:lnSpc>
                <a:spcPct val="108750"/>
              </a:lnSpc>
              <a:buNone/>
            </a:pPr>
            <a:r>
              <a:rPr lang="en-US" sz="1800" b="1" dirty="0">
                <a:solidFill>
                  <a:srgbClr val="191C20"/>
                </a:solidFill>
                <a:latin typeface="IBM Plex Sans" pitchFamily="34" charset="0"/>
                <a:ea typeface="IBM Plex Sans" pitchFamily="34" charset="-122"/>
                <a:cs typeface="IBM Plex Sans" pitchFamily="34" charset="-120"/>
              </a:rPr>
              <a:t>Receiver / normalizer</a:t>
            </a:r>
            <a:endParaRPr lang="en-US" sz="1800" dirty="0"/>
          </a:p>
        </p:txBody>
      </p:sp>
      <p:sp>
        <p:nvSpPr>
          <p:cNvPr id="38" name="Text 32"/>
          <p:cNvSpPr/>
          <p:nvPr/>
        </p:nvSpPr>
        <p:spPr>
          <a:xfrm>
            <a:off x="8624143" y="3352800"/>
            <a:ext cx="8124714" cy="66675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4D535B"/>
                </a:solidFill>
                <a:latin typeface="IBM Plex Sans" pitchFamily="34" charset="0"/>
                <a:ea typeface="IBM Plex Sans" pitchFamily="34" charset="-122"/>
                <a:cs typeface="IBM Plex Sans" pitchFamily="34" charset="-120"/>
              </a:rPr>
              <a:t>auth · identity · idempotency — event id inserted into DynamoDB only-if-new; repeats silently dropped (kept 7 d)</a:t>
            </a:r>
            <a:endParaRPr lang="en-US" sz="1800" dirty="0"/>
          </a:p>
        </p:txBody>
      </p:sp>
      <p:sp>
        <p:nvSpPr>
          <p:cNvPr id="39" name="Text 33"/>
          <p:cNvSpPr/>
          <p:nvPr/>
        </p:nvSpPr>
        <p:spPr>
          <a:xfrm>
            <a:off x="7933782" y="4286250"/>
            <a:ext cx="9949205" cy="323850"/>
          </a:xfrm>
          <a:prstGeom prst="rect">
            <a:avLst/>
          </a:prstGeom>
          <a:noFill/>
          <a:ln/>
        </p:spPr>
        <p:txBody>
          <a:bodyPr wrap="square" lIns="25400" tIns="25400" rIns="25400" bIns="25400" rtlCol="0" anchor="t">
            <a:normAutofit/>
          </a:bodyPr>
          <a:lstStyle/>
          <a:p>
            <a:pPr algn="ctr" indent="0" marL="0">
              <a:lnSpc>
                <a:spcPct val="76923"/>
              </a:lnSpc>
              <a:buNone/>
            </a:pPr>
            <a:r>
              <a:rPr lang="en-US" sz="2250" dirty="0">
                <a:solidFill>
                  <a:srgbClr val="9AA0A8"/>
                </a:solidFill>
                <a:latin typeface="IBM Plex Sans" pitchFamily="34" charset="0"/>
                <a:ea typeface="IBM Plex Sans" pitchFamily="34" charset="-122"/>
                <a:cs typeface="IBM Plex Sans" pitchFamily="34" charset="-120"/>
              </a:rPr>
              <a:t>↓</a:t>
            </a:r>
            <a:endParaRPr lang="en-US" sz="2250" dirty="0"/>
          </a:p>
        </p:txBody>
      </p:sp>
      <p:sp>
        <p:nvSpPr>
          <p:cNvPr id="40" name="Shape 34"/>
          <p:cNvSpPr/>
          <p:nvPr/>
        </p:nvSpPr>
        <p:spPr>
          <a:xfrm>
            <a:off x="8386018" y="4667250"/>
            <a:ext cx="9044732" cy="1057275"/>
          </a:xfrm>
          <a:prstGeom prst="rect">
            <a:avLst/>
          </a:prstGeom>
          <a:solidFill>
            <a:srgbClr val="FFFFFF"/>
          </a:solidFill>
          <a:ln w="9525">
            <a:solidFill>
              <a:srgbClr val="E0DCD3"/>
            </a:solidFill>
            <a:prstDash val="solid"/>
          </a:ln>
        </p:spPr>
      </p:sp>
      <p:pic>
        <p:nvPicPr>
          <p:cNvPr id="41" name="Image 4" descr="preencoded.png">    </p:cNvPr>
          <p:cNvPicPr>
            <a:picLocks noChangeAspect="1"/>
          </p:cNvPicPr>
          <p:nvPr/>
        </p:nvPicPr>
        <p:blipFill>
          <a:blip r:embed="rId5"/>
          <a:stretch>
            <a:fillRect/>
          </a:stretch>
        </p:blipFill>
        <p:spPr>
          <a:xfrm>
            <a:off x="8624143" y="4876800"/>
            <a:ext cx="323850" cy="323850"/>
          </a:xfrm>
          <a:prstGeom prst="rect">
            <a:avLst/>
          </a:prstGeom>
        </p:spPr>
      </p:pic>
      <p:sp>
        <p:nvSpPr>
          <p:cNvPr id="42" name="Text 35"/>
          <p:cNvSpPr/>
          <p:nvPr/>
        </p:nvSpPr>
        <p:spPr>
          <a:xfrm>
            <a:off x="9001943" y="4876800"/>
            <a:ext cx="1934985" cy="342900"/>
          </a:xfrm>
          <a:prstGeom prst="rect">
            <a:avLst/>
          </a:prstGeom>
          <a:noFill/>
          <a:ln/>
        </p:spPr>
        <p:txBody>
          <a:bodyPr wrap="square" lIns="25400" tIns="25400" rIns="25400" bIns="25400" rtlCol="0" anchor="t">
            <a:normAutofit/>
          </a:bodyPr>
          <a:lstStyle/>
          <a:p>
            <a:pPr algn="l" indent="0" marL="0">
              <a:lnSpc>
                <a:spcPct val="108750"/>
              </a:lnSpc>
              <a:buNone/>
            </a:pPr>
            <a:r>
              <a:rPr lang="en-US" sz="1800" b="1" dirty="0">
                <a:solidFill>
                  <a:srgbClr val="191C20"/>
                </a:solidFill>
                <a:latin typeface="IBM Plex Sans" pitchFamily="34" charset="0"/>
                <a:ea typeface="IBM Plex Sans" pitchFamily="34" charset="-122"/>
                <a:cs typeface="IBM Plex Sans" pitchFamily="34" charset="-120"/>
              </a:rPr>
              <a:t>EventBridge bus</a:t>
            </a:r>
            <a:endParaRPr lang="en-US" sz="1800" dirty="0"/>
          </a:p>
        </p:txBody>
      </p:sp>
      <p:sp>
        <p:nvSpPr>
          <p:cNvPr id="43" name="Text 36"/>
          <p:cNvSpPr/>
          <p:nvPr/>
        </p:nvSpPr>
        <p:spPr>
          <a:xfrm>
            <a:off x="8624143" y="5210175"/>
            <a:ext cx="4628121" cy="34290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4D535B"/>
                </a:solidFill>
                <a:latin typeface="IBM Plex Sans" pitchFamily="34" charset="0"/>
                <a:ea typeface="IBM Plex Sans" pitchFamily="34" charset="-122"/>
                <a:cs typeface="IBM Plex Sans" pitchFamily="34" charset="-120"/>
              </a:rPr>
              <a:t>one rule per trigger row · archive + replay</a:t>
            </a:r>
            <a:endParaRPr lang="en-US" sz="1800" dirty="0"/>
          </a:p>
        </p:txBody>
      </p:sp>
      <p:sp>
        <p:nvSpPr>
          <p:cNvPr id="44" name="Text 37"/>
          <p:cNvSpPr/>
          <p:nvPr/>
        </p:nvSpPr>
        <p:spPr>
          <a:xfrm>
            <a:off x="7933782" y="5819775"/>
            <a:ext cx="9949205" cy="323850"/>
          </a:xfrm>
          <a:prstGeom prst="rect">
            <a:avLst/>
          </a:prstGeom>
          <a:noFill/>
          <a:ln/>
        </p:spPr>
        <p:txBody>
          <a:bodyPr wrap="square" lIns="25400" tIns="25400" rIns="25400" bIns="25400" rtlCol="0" anchor="t">
            <a:normAutofit/>
          </a:bodyPr>
          <a:lstStyle/>
          <a:p>
            <a:pPr algn="ctr" indent="0" marL="0">
              <a:lnSpc>
                <a:spcPct val="76923"/>
              </a:lnSpc>
              <a:buNone/>
            </a:pPr>
            <a:r>
              <a:rPr lang="en-US" sz="2250" dirty="0">
                <a:solidFill>
                  <a:srgbClr val="9AA0A8"/>
                </a:solidFill>
                <a:latin typeface="IBM Plex Sans" pitchFamily="34" charset="0"/>
                <a:ea typeface="IBM Plex Sans" pitchFamily="34" charset="-122"/>
                <a:cs typeface="IBM Plex Sans" pitchFamily="34" charset="-120"/>
              </a:rPr>
              <a:t>↓</a:t>
            </a:r>
            <a:endParaRPr lang="en-US" sz="2250" dirty="0"/>
          </a:p>
        </p:txBody>
      </p:sp>
      <p:sp>
        <p:nvSpPr>
          <p:cNvPr id="45" name="Shape 38"/>
          <p:cNvSpPr/>
          <p:nvPr/>
        </p:nvSpPr>
        <p:spPr>
          <a:xfrm>
            <a:off x="8386018" y="6200775"/>
            <a:ext cx="9044732" cy="1704975"/>
          </a:xfrm>
          <a:prstGeom prst="rect">
            <a:avLst/>
          </a:prstGeom>
          <a:solidFill>
            <a:srgbClr val="FFFFFF"/>
          </a:solidFill>
          <a:ln w="9525">
            <a:solidFill>
              <a:srgbClr val="E0DCD3"/>
            </a:solidFill>
            <a:prstDash val="solid"/>
          </a:ln>
        </p:spPr>
      </p:sp>
      <p:pic>
        <p:nvPicPr>
          <p:cNvPr id="46" name="Image 5" descr="preencoded.png">    </p:cNvPr>
          <p:cNvPicPr>
            <a:picLocks noChangeAspect="1"/>
          </p:cNvPicPr>
          <p:nvPr/>
        </p:nvPicPr>
        <p:blipFill>
          <a:blip r:embed="rId6"/>
          <a:stretch>
            <a:fillRect/>
          </a:stretch>
        </p:blipFill>
        <p:spPr>
          <a:xfrm>
            <a:off x="8624143" y="6410325"/>
            <a:ext cx="323850" cy="323850"/>
          </a:xfrm>
          <a:prstGeom prst="rect">
            <a:avLst/>
          </a:prstGeom>
        </p:spPr>
      </p:pic>
      <p:sp>
        <p:nvSpPr>
          <p:cNvPr id="47" name="Text 39"/>
          <p:cNvSpPr/>
          <p:nvPr/>
        </p:nvSpPr>
        <p:spPr>
          <a:xfrm>
            <a:off x="9001943" y="6410325"/>
            <a:ext cx="7503065" cy="342900"/>
          </a:xfrm>
          <a:prstGeom prst="rect">
            <a:avLst/>
          </a:prstGeom>
          <a:noFill/>
          <a:ln/>
        </p:spPr>
        <p:txBody>
          <a:bodyPr wrap="square" lIns="25400" tIns="25400" rIns="25400" bIns="25400" rtlCol="0" anchor="t">
            <a:normAutofit/>
          </a:bodyPr>
          <a:lstStyle/>
          <a:p>
            <a:pPr algn="l" indent="0" marL="0">
              <a:lnSpc>
                <a:spcPct val="108750"/>
              </a:lnSpc>
              <a:buNone/>
            </a:pPr>
            <a:r>
              <a:rPr lang="en-US" sz="1800" b="1" dirty="0">
                <a:solidFill>
                  <a:srgbClr val="191C20"/>
                </a:solidFill>
                <a:latin typeface="IBM Plex Sans" pitchFamily="34" charset="0"/>
                <a:ea typeface="IBM Plex Sans" pitchFamily="34" charset="-122"/>
                <a:cs typeface="IBM Plex Sans" pitchFamily="34" charset="-120"/>
              </a:rPr>
              <a:t>Three priority queues: interactive · events · bulk, each with DLQ</a:t>
            </a:r>
            <a:endParaRPr lang="en-US" sz="1800" dirty="0"/>
          </a:p>
        </p:txBody>
      </p:sp>
      <p:sp>
        <p:nvSpPr>
          <p:cNvPr id="48" name="Text 40"/>
          <p:cNvSpPr/>
          <p:nvPr/>
        </p:nvSpPr>
        <p:spPr>
          <a:xfrm>
            <a:off x="8624143" y="6743700"/>
            <a:ext cx="8650022" cy="99060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4D535B"/>
                </a:solidFill>
                <a:latin typeface="IBM Plex Sans" pitchFamily="34" charset="0"/>
                <a:ea typeface="IBM Plex Sans" pitchFamily="34" charset="-122"/>
                <a:cs typeface="IBM Plex Sans" pitchFamily="34" charset="-120"/>
              </a:rPr>
              <a:t>interactive → PRGate, never starved · events → Incremental + deploy λ step · bulk → baseline, backfill, nightly, LLM batch — sheds first. Runtime evidence rides its own stream · interactive never waits on bulk</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666750" y="342900"/>
            <a:ext cx="18649950" cy="361950"/>
          </a:xfrm>
          <a:prstGeom prst="rect">
            <a:avLst/>
          </a:prstGeom>
          <a:noFill/>
          <a:ln/>
        </p:spPr>
        <p:txBody>
          <a:bodyPr wrap="square" lIns="25400" tIns="25400" rIns="25400" bIns="25400" rtlCol="0" anchor="t">
            <a:normAutofit/>
          </a:bodyPr>
          <a:lstStyle/>
          <a:p>
            <a:pPr algn="l" indent="0" marL="0">
              <a:buNone/>
            </a:pPr>
            <a:r>
              <a:rPr lang="en-US" sz="1950" spc="312" kern="0" dirty="0">
                <a:solidFill>
                  <a:srgbClr val="4D535B"/>
                </a:solidFill>
                <a:latin typeface="IBM Plex Mono" pitchFamily="34" charset="0"/>
                <a:ea typeface="IBM Plex Mono" pitchFamily="34" charset="-122"/>
                <a:cs typeface="IBM Plex Mono" pitchFamily="34" charset="-120"/>
              </a:rPr>
              <a:t>02A-2 · APPENDIX · STAGE 1 · ONE PUSH, ACTUAL VALUES END TO END</a:t>
            </a:r>
            <a:endParaRPr lang="en-US" sz="1950" dirty="0"/>
          </a:p>
        </p:txBody>
      </p:sp>
      <p:sp>
        <p:nvSpPr>
          <p:cNvPr id="3" name="Text 1"/>
          <p:cNvSpPr/>
          <p:nvPr/>
        </p:nvSpPr>
        <p:spPr>
          <a:xfrm>
            <a:off x="666750" y="762000"/>
            <a:ext cx="18649950" cy="771525"/>
          </a:xfrm>
          <a:prstGeom prst="rect">
            <a:avLst/>
          </a:prstGeom>
          <a:noFill/>
          <a:ln/>
        </p:spPr>
        <p:txBody>
          <a:bodyPr wrap="square" lIns="25400" tIns="25400" rIns="25400" bIns="25400" rtlCol="0" anchor="t">
            <a:normAutofit/>
          </a:bodyPr>
          <a:lstStyle/>
          <a:p>
            <a:pPr algn="l" indent="0" marL="0">
              <a:buNone/>
            </a:pPr>
            <a:r>
              <a:rPr lang="en-US" sz="4500" b="1" dirty="0">
                <a:solidFill>
                  <a:srgbClr val="191C20"/>
                </a:solidFill>
                <a:latin typeface="IBM Plex Sans" pitchFamily="34" charset="0"/>
                <a:ea typeface="IBM Plex Sans" pitchFamily="34" charset="-122"/>
                <a:cs typeface="IBM Plex Sans" pitchFamily="34" charset="-120"/>
              </a:rPr>
              <a:t>Intake Appendix — Worked Example</a:t>
            </a:r>
            <a:endParaRPr lang="en-US" sz="4500" dirty="0"/>
          </a:p>
        </p:txBody>
      </p:sp>
      <p:sp>
        <p:nvSpPr>
          <p:cNvPr id="4" name="Shape 2"/>
          <p:cNvSpPr/>
          <p:nvPr/>
        </p:nvSpPr>
        <p:spPr>
          <a:xfrm>
            <a:off x="666750" y="1666875"/>
            <a:ext cx="5575250" cy="2781300"/>
          </a:xfrm>
          <a:prstGeom prst="rect">
            <a:avLst/>
          </a:prstGeom>
          <a:solidFill>
            <a:srgbClr val="FFFFFF"/>
          </a:solidFill>
          <a:ln w="9525">
            <a:solidFill>
              <a:srgbClr val="E0DCD3"/>
            </a:solidFill>
            <a:prstDash val="solid"/>
          </a:ln>
        </p:spPr>
      </p:sp>
      <p:sp>
        <p:nvSpPr>
          <p:cNvPr id="5" name="Text 3"/>
          <p:cNvSpPr/>
          <p:nvPr/>
        </p:nvSpPr>
        <p:spPr>
          <a:xfrm>
            <a:off x="847725" y="1809750"/>
            <a:ext cx="5734630" cy="266700"/>
          </a:xfrm>
          <a:prstGeom prst="rect">
            <a:avLst/>
          </a:prstGeom>
          <a:noFill/>
          <a:ln/>
        </p:spPr>
        <p:txBody>
          <a:bodyPr wrap="square" lIns="25400" tIns="25400" rIns="25400" bIns="25400" rtlCol="0" anchor="t">
            <a:normAutofit/>
          </a:bodyPr>
          <a:lstStyle/>
          <a:p>
            <a:pPr algn="l" indent="0" marL="0">
              <a:buNone/>
            </a:pPr>
            <a:r>
              <a:rPr lang="en-US" sz="1425" dirty="0">
                <a:solidFill>
                  <a:srgbClr val="A8551F"/>
                </a:solidFill>
                <a:latin typeface="IBM Plex Mono" pitchFamily="34" charset="0"/>
                <a:ea typeface="IBM Plex Mono" pitchFamily="34" charset="-122"/>
                <a:cs typeface="IBM Plex Mono" pitchFamily="34" charset="-120"/>
              </a:rPr>
              <a:t>RAW · GITHUB PUSH WEBHOOK</a:t>
            </a:r>
            <a:endParaRPr lang="en-US" sz="1425" dirty="0"/>
          </a:p>
        </p:txBody>
      </p:sp>
      <p:sp>
        <p:nvSpPr>
          <p:cNvPr id="6" name="Text 4"/>
          <p:cNvSpPr/>
          <p:nvPr/>
        </p:nvSpPr>
        <p:spPr>
          <a:xfrm>
            <a:off x="847725" y="2114550"/>
            <a:ext cx="5369699" cy="2228850"/>
          </a:xfrm>
          <a:prstGeom prst="rect">
            <a:avLst/>
          </a:prstGeom>
          <a:noFill/>
          <a:ln/>
        </p:spPr>
        <p:txBody>
          <a:bodyPr wrap="square" lIns="25400" tIns="25400" rIns="25400" bIns="25400" rtlCol="0" anchor="t">
            <a:normAutofit/>
          </a:bodyPr>
          <a:lstStyle/>
          <a:p>
            <a:pPr algn="l" indent="0" marL="0">
              <a:lnSpc>
                <a:spcPct val="106636"/>
              </a:lnSpc>
              <a:buNone/>
            </a:pPr>
            <a:r>
              <a:rPr lang="en-US" sz="1275" dirty="0">
                <a:solidFill>
                  <a:srgbClr val="4D535B"/>
                </a:solidFill>
                <a:latin typeface="IBM Plex Mono" pitchFamily="34" charset="0"/>
                <a:ea typeface="IBM Plex Mono" pitchFamily="34" charset="-122"/>
                <a:cs typeface="IBM Plex Mono" pitchFamily="34" charset="-120"/>
              </a:rPr>
              <a:t>POST /webhooks/github</a:t>
            </a:r>
            <a:endParaRPr lang="en-US" sz="1275" dirty="0"/>
          </a:p>
          <a:p>
            <a:pPr algn="l" indent="0" marL="0">
              <a:lnSpc>
                <a:spcPct val="106636"/>
              </a:lnSpc>
              <a:buNone/>
            </a:pPr>
            <a:r>
              <a:rPr lang="en-US" sz="1275" dirty="0">
                <a:solidFill>
                  <a:srgbClr val="4D535B"/>
                </a:solidFill>
                <a:latin typeface="IBM Plex Mono" pitchFamily="34" charset="0"/>
                <a:ea typeface="IBM Plex Mono" pitchFamily="34" charset="-122"/>
                <a:cs typeface="IBM Plex Mono" pitchFamily="34" charset="-120"/>
              </a:rPr>
              <a:t>X-GitHub-Delivery: 72d3162e-cc78-11e3-81ab</a:t>
            </a:r>
            <a:endParaRPr lang="en-US" sz="1275" dirty="0"/>
          </a:p>
          <a:p>
            <a:pPr algn="l" indent="0" marL="0">
              <a:lnSpc>
                <a:spcPct val="106636"/>
              </a:lnSpc>
              <a:buNone/>
            </a:pPr>
            <a:r>
              <a:rPr lang="en-US" sz="1275" dirty="0">
                <a:solidFill>
                  <a:srgbClr val="4D535B"/>
                </a:solidFill>
                <a:latin typeface="IBM Plex Mono" pitchFamily="34" charset="0"/>
                <a:ea typeface="IBM Plex Mono" pitchFamily="34" charset="-122"/>
                <a:cs typeface="IBM Plex Mono" pitchFamily="34" charset="-120"/>
              </a:rPr>
              <a:t>X-Hub-Signature-256: sha256=756f1902…</a:t>
            </a:r>
            <a:endParaRPr lang="en-US" sz="1275" dirty="0"/>
          </a:p>
          <a:p>
            <a:pPr algn="l" indent="0" marL="0">
              <a:lnSpc>
                <a:spcPct val="106636"/>
              </a:lnSpc>
              <a:buNone/>
            </a:pPr>
            <a:r>
              <a:rPr lang="en-US" sz="1275" dirty="0">
                <a:solidFill>
                  <a:srgbClr val="4D535B"/>
                </a:solidFill>
                <a:latin typeface="IBM Plex Mono" pitchFamily="34" charset="0"/>
                <a:ea typeface="IBM Plex Mono" pitchFamily="34" charset="-122"/>
                <a:cs typeface="IBM Plex Mono" pitchFamily="34" charset="-120"/>
              </a:rPr>
              <a:t>{ "ref": "refs/heads/main",</a:t>
            </a:r>
            <a:endParaRPr lang="en-US" sz="1275" dirty="0"/>
          </a:p>
          <a:p>
            <a:pPr algn="l" indent="0" marL="0">
              <a:lnSpc>
                <a:spcPct val="106636"/>
              </a:lnSpc>
              <a:buNone/>
            </a:pPr>
            <a:r>
              <a:rPr lang="en-US" sz="1275" dirty="0">
                <a:solidFill>
                  <a:srgbClr val="4D535B"/>
                </a:solidFill>
                <a:latin typeface="IBM Plex Mono" pitchFamily="34" charset="0"/>
                <a:ea typeface="IBM Plex Mono" pitchFamily="34" charset="-122"/>
                <a:cs typeface="IBM Plex Mono" pitchFamily="34" charset="-120"/>
              </a:rPr>
              <a:t>  "after": "9c2f4d1e8b7a3c55",</a:t>
            </a:r>
            <a:endParaRPr lang="en-US" sz="1275" dirty="0"/>
          </a:p>
          <a:p>
            <a:pPr algn="l" indent="0" marL="0">
              <a:lnSpc>
                <a:spcPct val="106636"/>
              </a:lnSpc>
              <a:buNone/>
            </a:pPr>
            <a:r>
              <a:rPr lang="en-US" sz="1275" dirty="0">
                <a:solidFill>
                  <a:srgbClr val="4D535B"/>
                </a:solidFill>
                <a:latin typeface="IBM Plex Mono" pitchFamily="34" charset="0"/>
                <a:ea typeface="IBM Plex Mono" pitchFamily="34" charset="-122"/>
                <a:cs typeface="IBM Plex Mono" pitchFamily="34" charset="-120"/>
              </a:rPr>
              <a:t>  "repository": { "full_name":</a:t>
            </a:r>
            <a:endParaRPr lang="en-US" sz="1275" dirty="0"/>
          </a:p>
          <a:p>
            <a:pPr algn="l" indent="0" marL="0">
              <a:lnSpc>
                <a:spcPct val="106636"/>
              </a:lnSpc>
              <a:buNone/>
            </a:pPr>
            <a:r>
              <a:rPr lang="en-US" sz="1275" dirty="0">
                <a:solidFill>
                  <a:srgbClr val="4D535B"/>
                </a:solidFill>
                <a:latin typeface="IBM Plex Mono" pitchFamily="34" charset="0"/>
                <a:ea typeface="IBM Plex Mono" pitchFamily="34" charset="-122"/>
                <a:cs typeface="IBM Plex Mono" pitchFamily="34" charset="-120"/>
              </a:rPr>
              <a:t>    "payments/orders-service" },</a:t>
            </a:r>
            <a:endParaRPr lang="en-US" sz="1275" dirty="0"/>
          </a:p>
          <a:p>
            <a:pPr algn="l" indent="0" marL="0">
              <a:lnSpc>
                <a:spcPct val="106636"/>
              </a:lnSpc>
              <a:buNone/>
            </a:pPr>
            <a:r>
              <a:rPr lang="en-US" sz="1275" dirty="0">
                <a:solidFill>
                  <a:srgbClr val="4D535B"/>
                </a:solidFill>
                <a:latin typeface="IBM Plex Mono" pitchFamily="34" charset="0"/>
                <a:ea typeface="IBM Plex Mono" pitchFamily="34" charset="-122"/>
                <a:cs typeface="IBM Plex Mono" pitchFamily="34" charset="-120"/>
              </a:rPr>
              <a:t>  "commits": [ { "id": "9c2f4d1e",</a:t>
            </a:r>
            <a:endParaRPr lang="en-US" sz="1275" dirty="0"/>
          </a:p>
          <a:p>
            <a:pPr algn="l" indent="0" marL="0">
              <a:lnSpc>
                <a:spcPct val="106636"/>
              </a:lnSpc>
              <a:buNone/>
            </a:pPr>
            <a:r>
              <a:rPr lang="en-US" sz="1275" dirty="0">
                <a:solidFill>
                  <a:srgbClr val="4D535B"/>
                </a:solidFill>
                <a:latin typeface="IBM Plex Mono" pitchFamily="34" charset="0"/>
                <a:ea typeface="IBM Plex Mono" pitchFamily="34" charset="-122"/>
                <a:cs typeface="IBM Plex Mono" pitchFamily="34" charset="-120"/>
              </a:rPr>
              <a:t>    "modified": [ "sql/orders.sql",</a:t>
            </a:r>
            <a:endParaRPr lang="en-US" sz="1275" dirty="0"/>
          </a:p>
          <a:p>
            <a:pPr algn="l" indent="0" marL="0">
              <a:lnSpc>
                <a:spcPct val="106636"/>
              </a:lnSpc>
              <a:buNone/>
            </a:pPr>
            <a:r>
              <a:rPr lang="en-US" sz="1275" dirty="0">
                <a:solidFill>
                  <a:srgbClr val="4D535B"/>
                </a:solidFill>
                <a:latin typeface="IBM Plex Mono" pitchFamily="34" charset="0"/>
                <a:ea typeface="IBM Plex Mono" pitchFamily="34" charset="-122"/>
                <a:cs typeface="IBM Plex Mono" pitchFamily="34" charset="-120"/>
              </a:rPr>
              <a:t>      "dbt/models/orders.yml" ] } ] }</a:t>
            </a:r>
            <a:endParaRPr lang="en-US" sz="1275" dirty="0"/>
          </a:p>
        </p:txBody>
      </p:sp>
      <p:sp>
        <p:nvSpPr>
          <p:cNvPr id="7" name="Shape 5"/>
          <p:cNvSpPr/>
          <p:nvPr/>
        </p:nvSpPr>
        <p:spPr>
          <a:xfrm>
            <a:off x="6356300" y="1666875"/>
            <a:ext cx="5575250" cy="2781300"/>
          </a:xfrm>
          <a:prstGeom prst="rect">
            <a:avLst/>
          </a:prstGeom>
          <a:solidFill>
            <a:srgbClr val="FFFFFF"/>
          </a:solidFill>
          <a:ln w="9525">
            <a:solidFill>
              <a:srgbClr val="E0DCD3"/>
            </a:solidFill>
            <a:prstDash val="solid"/>
          </a:ln>
        </p:spPr>
      </p:sp>
      <p:sp>
        <p:nvSpPr>
          <p:cNvPr id="8" name="Text 6"/>
          <p:cNvSpPr/>
          <p:nvPr/>
        </p:nvSpPr>
        <p:spPr>
          <a:xfrm>
            <a:off x="6537275" y="1809750"/>
            <a:ext cx="5734630" cy="266700"/>
          </a:xfrm>
          <a:prstGeom prst="rect">
            <a:avLst/>
          </a:prstGeom>
          <a:noFill/>
          <a:ln/>
        </p:spPr>
        <p:txBody>
          <a:bodyPr wrap="square" lIns="25400" tIns="25400" rIns="25400" bIns="25400" rtlCol="0" anchor="t">
            <a:normAutofit/>
          </a:bodyPr>
          <a:lstStyle/>
          <a:p>
            <a:pPr algn="l" indent="0" marL="0">
              <a:buNone/>
            </a:pPr>
            <a:r>
              <a:rPr lang="en-US" sz="1425" dirty="0">
                <a:solidFill>
                  <a:srgbClr val="A8551F"/>
                </a:solidFill>
                <a:latin typeface="IBM Plex Mono" pitchFamily="34" charset="0"/>
                <a:ea typeface="IBM Plex Mono" pitchFamily="34" charset="-122"/>
                <a:cs typeface="IBM Plex Mono" pitchFamily="34" charset="-120"/>
              </a:rPr>
              <a:t>RAW · JENKINS DEPLOY EVENT</a:t>
            </a:r>
            <a:endParaRPr lang="en-US" sz="1425" dirty="0"/>
          </a:p>
        </p:txBody>
      </p:sp>
      <p:sp>
        <p:nvSpPr>
          <p:cNvPr id="9" name="Text 7"/>
          <p:cNvSpPr/>
          <p:nvPr/>
        </p:nvSpPr>
        <p:spPr>
          <a:xfrm>
            <a:off x="6537275" y="2114550"/>
            <a:ext cx="5369699" cy="2009775"/>
          </a:xfrm>
          <a:prstGeom prst="rect">
            <a:avLst/>
          </a:prstGeom>
          <a:noFill/>
          <a:ln/>
        </p:spPr>
        <p:txBody>
          <a:bodyPr wrap="square" lIns="25400" tIns="25400" rIns="25400" bIns="25400" rtlCol="0" anchor="t">
            <a:normAutofit/>
          </a:bodyPr>
          <a:lstStyle/>
          <a:p>
            <a:pPr algn="l" indent="0" marL="0">
              <a:lnSpc>
                <a:spcPct val="106636"/>
              </a:lnSpc>
              <a:buNone/>
            </a:pPr>
            <a:r>
              <a:rPr lang="en-US" sz="1275" dirty="0">
                <a:solidFill>
                  <a:srgbClr val="4D535B"/>
                </a:solidFill>
                <a:latin typeface="IBM Plex Mono" pitchFamily="34" charset="0"/>
                <a:ea typeface="IBM Plex Mono" pitchFamily="34" charset="-122"/>
                <a:cs typeface="IBM Plex Mono" pitchFamily="34" charset="-120"/>
              </a:rPr>
              <a:t>POST /webhooks/jenkins</a:t>
            </a:r>
            <a:endParaRPr lang="en-US" sz="1275" dirty="0"/>
          </a:p>
          <a:p>
            <a:pPr algn="l" indent="0" marL="0">
              <a:lnSpc>
                <a:spcPct val="106636"/>
              </a:lnSpc>
              <a:buNone/>
            </a:pPr>
            <a:r>
              <a:rPr lang="en-US" sz="1275" dirty="0">
                <a:solidFill>
                  <a:srgbClr val="4D535B"/>
                </a:solidFill>
                <a:latin typeface="IBM Plex Mono" pitchFamily="34" charset="0"/>
                <a:ea typeface="IBM Plex Mono" pitchFamily="34" charset="-122"/>
                <a:cs typeface="IBM Plex Mono" pitchFamily="34" charset="-120"/>
              </a:rPr>
              <a:t>X-Jenkins-Signature: hmac-sha256=91ac…</a:t>
            </a:r>
            <a:endParaRPr lang="en-US" sz="1275" dirty="0"/>
          </a:p>
          <a:p>
            <a:pPr algn="l" indent="0" marL="0">
              <a:lnSpc>
                <a:spcPct val="106636"/>
              </a:lnSpc>
              <a:buNone/>
            </a:pPr>
            <a:r>
              <a:rPr lang="en-US" sz="1275" dirty="0">
                <a:solidFill>
                  <a:srgbClr val="4D535B"/>
                </a:solidFill>
                <a:latin typeface="IBM Plex Mono" pitchFamily="34" charset="0"/>
                <a:ea typeface="IBM Plex Mono" pitchFamily="34" charset="-122"/>
                <a:cs typeface="IBM Plex Mono" pitchFamily="34" charset="-120"/>
              </a:rPr>
              <a:t>{ "job": "orders-service-deploy",</a:t>
            </a:r>
            <a:endParaRPr lang="en-US" sz="1275" dirty="0"/>
          </a:p>
          <a:p>
            <a:pPr algn="l" indent="0" marL="0">
              <a:lnSpc>
                <a:spcPct val="106636"/>
              </a:lnSpc>
              <a:buNone/>
            </a:pPr>
            <a:r>
              <a:rPr lang="en-US" sz="1275" dirty="0">
                <a:solidFill>
                  <a:srgbClr val="4D535B"/>
                </a:solidFill>
                <a:latin typeface="IBM Plex Mono" pitchFamily="34" charset="0"/>
                <a:ea typeface="IBM Plex Mono" pitchFamily="34" charset="-122"/>
                <a:cs typeface="IBM Plex Mono" pitchFamily="34" charset="-120"/>
              </a:rPr>
              <a:t>  "build": 512,</a:t>
            </a:r>
            <a:endParaRPr lang="en-US" sz="1275" dirty="0"/>
          </a:p>
          <a:p>
            <a:pPr algn="l" indent="0" marL="0">
              <a:lnSpc>
                <a:spcPct val="106636"/>
              </a:lnSpc>
              <a:buNone/>
            </a:pPr>
            <a:r>
              <a:rPr lang="en-US" sz="1275" dirty="0">
                <a:solidFill>
                  <a:srgbClr val="4D535B"/>
                </a:solidFill>
                <a:latin typeface="IBM Plex Mono" pitchFamily="34" charset="0"/>
                <a:ea typeface="IBM Plex Mono" pitchFamily="34" charset="-122"/>
                <a:cs typeface="IBM Plex Mono" pitchFamily="34" charset="-120"/>
              </a:rPr>
              <a:t>  "status": "SUCCESS",</a:t>
            </a:r>
            <a:endParaRPr lang="en-US" sz="1275" dirty="0"/>
          </a:p>
          <a:p>
            <a:pPr algn="l" indent="0" marL="0">
              <a:lnSpc>
                <a:spcPct val="106636"/>
              </a:lnSpc>
              <a:buNone/>
            </a:pPr>
            <a:r>
              <a:rPr lang="en-US" sz="1275" dirty="0">
                <a:solidFill>
                  <a:srgbClr val="4D535B"/>
                </a:solidFill>
                <a:latin typeface="IBM Plex Mono" pitchFamily="34" charset="0"/>
                <a:ea typeface="IBM Plex Mono" pitchFamily="34" charset="-122"/>
                <a:cs typeface="IBM Plex Mono" pitchFamily="34" charset="-120"/>
              </a:rPr>
              <a:t>  "artifactDigest": "sha256:ab12cd34ef56",</a:t>
            </a:r>
            <a:endParaRPr lang="en-US" sz="1275" dirty="0"/>
          </a:p>
          <a:p>
            <a:pPr algn="l" indent="0" marL="0">
              <a:lnSpc>
                <a:spcPct val="106636"/>
              </a:lnSpc>
              <a:buNone/>
            </a:pPr>
            <a:r>
              <a:rPr lang="en-US" sz="1275" dirty="0">
                <a:solidFill>
                  <a:srgbClr val="4D535B"/>
                </a:solidFill>
                <a:latin typeface="IBM Plex Mono" pitchFamily="34" charset="0"/>
                <a:ea typeface="IBM Plex Mono" pitchFamily="34" charset="-122"/>
                <a:cs typeface="IBM Plex Mono" pitchFamily="34" charset="-120"/>
              </a:rPr>
              <a:t>  "environment": "prod",</a:t>
            </a:r>
            <a:endParaRPr lang="en-US" sz="1275" dirty="0"/>
          </a:p>
          <a:p>
            <a:pPr algn="l" indent="0" marL="0">
              <a:lnSpc>
                <a:spcPct val="106636"/>
              </a:lnSpc>
              <a:buNone/>
            </a:pPr>
            <a:r>
              <a:rPr lang="en-US" sz="1275" dirty="0">
                <a:solidFill>
                  <a:srgbClr val="4D535B"/>
                </a:solidFill>
                <a:latin typeface="IBM Plex Mono" pitchFamily="34" charset="0"/>
                <a:ea typeface="IBM Plex Mono" pitchFamily="34" charset="-122"/>
                <a:cs typeface="IBM Plex Mono" pitchFamily="34" charset="-120"/>
              </a:rPr>
              <a:t>  "commitSha": "9c2f4d1e",</a:t>
            </a:r>
            <a:endParaRPr lang="en-US" sz="1275" dirty="0"/>
          </a:p>
          <a:p>
            <a:pPr algn="l" indent="0" marL="0">
              <a:lnSpc>
                <a:spcPct val="106636"/>
              </a:lnSpc>
              <a:buNone/>
            </a:pPr>
            <a:r>
              <a:rPr lang="en-US" sz="1275" dirty="0">
                <a:solidFill>
                  <a:srgbClr val="4D535B"/>
                </a:solidFill>
                <a:latin typeface="IBM Plex Mono" pitchFamily="34" charset="0"/>
                <a:ea typeface="IBM Plex Mono" pitchFamily="34" charset="-122"/>
                <a:cs typeface="IBM Plex Mono" pitchFamily="34" charset="-120"/>
              </a:rPr>
              <a:t>  "finishedAt": "2026-08-03T14:52:07Z" }</a:t>
            </a:r>
            <a:endParaRPr lang="en-US" sz="1275" dirty="0"/>
          </a:p>
        </p:txBody>
      </p:sp>
      <p:sp>
        <p:nvSpPr>
          <p:cNvPr id="10" name="Shape 8"/>
          <p:cNvSpPr/>
          <p:nvPr/>
        </p:nvSpPr>
        <p:spPr>
          <a:xfrm>
            <a:off x="12045851" y="1666875"/>
            <a:ext cx="5575399" cy="2781300"/>
          </a:xfrm>
          <a:prstGeom prst="rect">
            <a:avLst/>
          </a:prstGeom>
          <a:solidFill>
            <a:srgbClr val="FFFFFF"/>
          </a:solidFill>
          <a:ln w="9525">
            <a:solidFill>
              <a:srgbClr val="E0DCD3"/>
            </a:solidFill>
            <a:prstDash val="solid"/>
          </a:ln>
        </p:spPr>
      </p:sp>
      <p:sp>
        <p:nvSpPr>
          <p:cNvPr id="11" name="Text 9"/>
          <p:cNvSpPr/>
          <p:nvPr/>
        </p:nvSpPr>
        <p:spPr>
          <a:xfrm>
            <a:off x="12226826" y="1809750"/>
            <a:ext cx="5734794" cy="266700"/>
          </a:xfrm>
          <a:prstGeom prst="rect">
            <a:avLst/>
          </a:prstGeom>
          <a:noFill/>
          <a:ln/>
        </p:spPr>
        <p:txBody>
          <a:bodyPr wrap="square" lIns="25400" tIns="25400" rIns="25400" bIns="25400" rtlCol="0" anchor="t">
            <a:normAutofit/>
          </a:bodyPr>
          <a:lstStyle/>
          <a:p>
            <a:pPr algn="l" indent="0" marL="0">
              <a:buNone/>
            </a:pPr>
            <a:r>
              <a:rPr lang="en-US" sz="1425" dirty="0">
                <a:solidFill>
                  <a:srgbClr val="A8551F"/>
                </a:solidFill>
                <a:latin typeface="IBM Plex Mono" pitchFamily="34" charset="0"/>
                <a:ea typeface="IBM Plex Mono" pitchFamily="34" charset="-122"/>
                <a:cs typeface="IBM Plex Mono" pitchFamily="34" charset="-120"/>
              </a:rPr>
              <a:t>RAW · TAS INVENTORY + SCHEDULE</a:t>
            </a:r>
            <a:endParaRPr lang="en-US" sz="1425" dirty="0"/>
          </a:p>
        </p:txBody>
      </p:sp>
      <p:sp>
        <p:nvSpPr>
          <p:cNvPr id="12" name="Text 10"/>
          <p:cNvSpPr/>
          <p:nvPr/>
        </p:nvSpPr>
        <p:spPr>
          <a:xfrm>
            <a:off x="12226826" y="2114550"/>
            <a:ext cx="5369853" cy="2228850"/>
          </a:xfrm>
          <a:prstGeom prst="rect">
            <a:avLst/>
          </a:prstGeom>
          <a:noFill/>
          <a:ln/>
        </p:spPr>
        <p:txBody>
          <a:bodyPr wrap="square" lIns="25400" tIns="25400" rIns="25400" bIns="25400" rtlCol="0" anchor="t">
            <a:normAutofit/>
          </a:bodyPr>
          <a:lstStyle/>
          <a:p>
            <a:pPr algn="l" indent="0" marL="0">
              <a:lnSpc>
                <a:spcPct val="106636"/>
              </a:lnSpc>
              <a:buNone/>
            </a:pPr>
            <a:r>
              <a:rPr lang="en-US" sz="1275" dirty="0">
                <a:solidFill>
                  <a:srgbClr val="4D535B"/>
                </a:solidFill>
                <a:latin typeface="IBM Plex Mono" pitchFamily="34" charset="0"/>
                <a:ea typeface="IBM Plex Mono" pitchFamily="34" charset="-122"/>
                <a:cs typeface="IBM Plex Mono" pitchFamily="34" charset="-120"/>
              </a:rPr>
              <a:t>{ "application": "payments",</a:t>
            </a:r>
            <a:endParaRPr lang="en-US" sz="1275" dirty="0"/>
          </a:p>
          <a:p>
            <a:pPr algn="l" indent="0" marL="0">
              <a:lnSpc>
                <a:spcPct val="106636"/>
              </a:lnSpc>
              <a:buNone/>
            </a:pPr>
            <a:r>
              <a:rPr lang="en-US" sz="1275" dirty="0">
                <a:solidFill>
                  <a:srgbClr val="4D535B"/>
                </a:solidFill>
                <a:latin typeface="IBM Plex Mono" pitchFamily="34" charset="0"/>
                <a:ea typeface="IBM Plex Mono" pitchFamily="34" charset="-122"/>
                <a:cs typeface="IBM Plex Mono" pitchFamily="34" charset="-120"/>
              </a:rPr>
              <a:t>  "added": [ "payments/refunds-api" ],</a:t>
            </a:r>
            <a:endParaRPr lang="en-US" sz="1275" dirty="0"/>
          </a:p>
          <a:p>
            <a:pPr algn="l" indent="0" marL="0">
              <a:lnSpc>
                <a:spcPct val="106636"/>
              </a:lnSpc>
              <a:buNone/>
            </a:pPr>
            <a:r>
              <a:rPr lang="en-US" sz="1275" dirty="0">
                <a:solidFill>
                  <a:srgbClr val="4D535B"/>
                </a:solidFill>
                <a:latin typeface="IBM Plex Mono" pitchFamily="34" charset="0"/>
                <a:ea typeface="IBM Plex Mono" pitchFamily="34" charset="-122"/>
                <a:cs typeface="IBM Plex Mono" pitchFamily="34" charset="-120"/>
              </a:rPr>
              <a:t>  "archived": [ ],</a:t>
            </a:r>
            <a:endParaRPr lang="en-US" sz="1275" dirty="0"/>
          </a:p>
          <a:p>
            <a:pPr algn="l" indent="0" marL="0">
              <a:lnSpc>
                <a:spcPct val="106636"/>
              </a:lnSpc>
              <a:buNone/>
            </a:pPr>
            <a:r>
              <a:rPr lang="en-US" sz="1275" dirty="0">
                <a:solidFill>
                  <a:srgbClr val="4D535B"/>
                </a:solidFill>
                <a:latin typeface="IBM Plex Mono" pitchFamily="34" charset="0"/>
                <a:ea typeface="IBM Plex Mono" pitchFamily="34" charset="-122"/>
                <a:cs typeface="IBM Plex Mono" pitchFamily="34" charset="-120"/>
              </a:rPr>
              <a:t>  "activeRepos": 14 }</a:t>
            </a:r>
            <a:endParaRPr lang="en-US" sz="1275" dirty="0"/>
          </a:p>
          <a:p>
            <a:pPr algn="l" indent="0" marL="0">
              <a:lnSpc>
                <a:spcPct val="106636"/>
              </a:lnSpc>
              <a:buNone/>
            </a:pPr>
            <a:endParaRPr lang="en-US" sz="1275" dirty="0"/>
          </a:p>
          <a:p>
            <a:pPr algn="l" indent="0" marL="0">
              <a:lnSpc>
                <a:spcPct val="106636"/>
              </a:lnSpc>
              <a:buNone/>
            </a:pPr>
            <a:r>
              <a:rPr lang="en-US" sz="1275" dirty="0">
                <a:solidFill>
                  <a:srgbClr val="4D535B"/>
                </a:solidFill>
                <a:latin typeface="IBM Plex Mono" pitchFamily="34" charset="0"/>
                <a:ea typeface="IBM Plex Mono" pitchFamily="34" charset="-122"/>
                <a:cs typeface="IBM Plex Mono" pitchFamily="34" charset="-120"/>
              </a:rPr>
              <a:t>EventBridge schedule tick</a:t>
            </a:r>
            <a:endParaRPr lang="en-US" sz="1275" dirty="0"/>
          </a:p>
          <a:p>
            <a:pPr algn="l" indent="0" marL="0">
              <a:lnSpc>
                <a:spcPct val="106636"/>
              </a:lnSpc>
              <a:buNone/>
            </a:pPr>
            <a:r>
              <a:rPr lang="en-US" sz="1275" dirty="0">
                <a:solidFill>
                  <a:srgbClr val="4D535B"/>
                </a:solidFill>
                <a:latin typeface="IBM Plex Mono" pitchFamily="34" charset="0"/>
                <a:ea typeface="IBM Plex Mono" pitchFamily="34" charset="-122"/>
                <a:cs typeface="IBM Plex Mono" pitchFamily="34" charset="-120"/>
              </a:rPr>
              <a:t>{ "source": "aws.events",</a:t>
            </a:r>
            <a:endParaRPr lang="en-US" sz="1275" dirty="0"/>
          </a:p>
          <a:p>
            <a:pPr algn="l" indent="0" marL="0">
              <a:lnSpc>
                <a:spcPct val="106636"/>
              </a:lnSpc>
              <a:buNone/>
            </a:pPr>
            <a:r>
              <a:rPr lang="en-US" sz="1275" dirty="0">
                <a:solidFill>
                  <a:srgbClr val="4D535B"/>
                </a:solidFill>
                <a:latin typeface="IBM Plex Mono" pitchFamily="34" charset="0"/>
                <a:ea typeface="IBM Plex Mono" pitchFamily="34" charset="-122"/>
                <a:cs typeface="IBM Plex Mono" pitchFamily="34" charset="-120"/>
              </a:rPr>
              <a:t>  "detail-type": "Scheduled Event",</a:t>
            </a:r>
            <a:endParaRPr lang="en-US" sz="1275" dirty="0"/>
          </a:p>
          <a:p>
            <a:pPr algn="l" indent="0" marL="0">
              <a:lnSpc>
                <a:spcPct val="106636"/>
              </a:lnSpc>
              <a:buNone/>
            </a:pPr>
            <a:r>
              <a:rPr lang="en-US" sz="1275" dirty="0">
                <a:solidFill>
                  <a:srgbClr val="4D535B"/>
                </a:solidFill>
                <a:latin typeface="IBM Plex Mono" pitchFamily="34" charset="0"/>
                <a:ea typeface="IBM Plex Mono" pitchFamily="34" charset="-122"/>
                <a:cs typeface="IBM Plex Mono" pitchFamily="34" charset="-120"/>
              </a:rPr>
              <a:t>  "resources":</a:t>
            </a:r>
            <a:endParaRPr lang="en-US" sz="1275" dirty="0"/>
          </a:p>
          <a:p>
            <a:pPr algn="l" indent="0" marL="0">
              <a:lnSpc>
                <a:spcPct val="106636"/>
              </a:lnSpc>
              <a:buNone/>
            </a:pPr>
            <a:r>
              <a:rPr lang="en-US" sz="1275" dirty="0">
                <a:solidFill>
                  <a:srgbClr val="4D535B"/>
                </a:solidFill>
                <a:latin typeface="IBM Plex Mono" pitchFamily="34" charset="0"/>
                <a:ea typeface="IBM Plex Mono" pitchFamily="34" charset="-122"/>
                <a:cs typeface="IBM Plex Mono" pitchFamily="34" charset="-120"/>
              </a:rPr>
              <a:t>    [ "…rule/nightly-recon" ] }</a:t>
            </a:r>
            <a:endParaRPr lang="en-US" sz="1275" dirty="0"/>
          </a:p>
        </p:txBody>
      </p:sp>
      <p:sp>
        <p:nvSpPr>
          <p:cNvPr id="13" name="Shape 11"/>
          <p:cNvSpPr/>
          <p:nvPr/>
        </p:nvSpPr>
        <p:spPr>
          <a:xfrm>
            <a:off x="666750" y="4562475"/>
            <a:ext cx="5575250" cy="3638550"/>
          </a:xfrm>
          <a:prstGeom prst="rect">
            <a:avLst/>
          </a:prstGeom>
          <a:solidFill>
            <a:srgbClr val="191C20"/>
          </a:solidFill>
          <a:ln/>
        </p:spPr>
      </p:sp>
      <p:sp>
        <p:nvSpPr>
          <p:cNvPr id="14" name="Text 12"/>
          <p:cNvSpPr/>
          <p:nvPr/>
        </p:nvSpPr>
        <p:spPr>
          <a:xfrm>
            <a:off x="838200" y="4695825"/>
            <a:ext cx="5755585" cy="266700"/>
          </a:xfrm>
          <a:prstGeom prst="rect">
            <a:avLst/>
          </a:prstGeom>
          <a:noFill/>
          <a:ln/>
        </p:spPr>
        <p:txBody>
          <a:bodyPr wrap="square" lIns="25400" tIns="25400" rIns="25400" bIns="25400" rtlCol="0" anchor="t">
            <a:normAutofit/>
          </a:bodyPr>
          <a:lstStyle/>
          <a:p>
            <a:pPr algn="l" indent="0" marL="0">
              <a:buNone/>
            </a:pPr>
            <a:r>
              <a:rPr lang="en-US" sz="1425" dirty="0">
                <a:solidFill>
                  <a:srgbClr val="8FB3BF"/>
                </a:solidFill>
                <a:latin typeface="IBM Plex Mono" pitchFamily="34" charset="0"/>
                <a:ea typeface="IBM Plex Mono" pitchFamily="34" charset="-122"/>
                <a:cs typeface="IBM Plex Mono" pitchFamily="34" charset="-120"/>
              </a:rPr>
              <a:t>NORMALIZED ENVELOPE (v1.0)</a:t>
            </a:r>
            <a:endParaRPr lang="en-US" sz="1425" dirty="0"/>
          </a:p>
        </p:txBody>
      </p:sp>
      <p:sp>
        <p:nvSpPr>
          <p:cNvPr id="15" name="Text 13"/>
          <p:cNvSpPr/>
          <p:nvPr/>
        </p:nvSpPr>
        <p:spPr>
          <a:xfrm>
            <a:off x="838200" y="5000625"/>
            <a:ext cx="5389321" cy="3105150"/>
          </a:xfrm>
          <a:prstGeom prst="rect">
            <a:avLst/>
          </a:prstGeom>
          <a:noFill/>
          <a:ln/>
        </p:spPr>
        <p:txBody>
          <a:bodyPr wrap="square" lIns="25400" tIns="25400" rIns="25400" bIns="25400" rtlCol="0" anchor="t">
            <a:normAutofit/>
          </a:bodyPr>
          <a:lstStyle/>
          <a:p>
            <a:pPr algn="l" indent="0" marL="0">
              <a:lnSpc>
                <a:spcPct val="106636"/>
              </a:lnSpc>
              <a:buNone/>
            </a:pPr>
            <a:r>
              <a:rPr lang="en-US" sz="1275" dirty="0">
                <a:solidFill>
                  <a:srgbClr val="B8BDC4"/>
                </a:solidFill>
                <a:latin typeface="IBM Plex Mono" pitchFamily="34" charset="0"/>
                <a:ea typeface="IBM Plex Mono" pitchFamily="34" charset="-122"/>
                <a:cs typeface="IBM Plex Mono" pitchFamily="34" charset="-120"/>
              </a:rPr>
              <a:t>{ "eventId":</a:t>
            </a:r>
            <a:endParaRPr lang="en-US" sz="1275" dirty="0"/>
          </a:p>
          <a:p>
            <a:pPr algn="l" indent="0" marL="0">
              <a:lnSpc>
                <a:spcPct val="106636"/>
              </a:lnSpc>
              <a:buNone/>
            </a:pPr>
            <a:r>
              <a:rPr lang="en-US" sz="1275" dirty="0">
                <a:solidFill>
                  <a:srgbClr val="B8BDC4"/>
                </a:solidFill>
                <a:latin typeface="IBM Plex Mono" pitchFamily="34" charset="0"/>
                <a:ea typeface="IBM Plex Mono" pitchFamily="34" charset="-122"/>
                <a:cs typeface="IBM Plex Mono" pitchFamily="34" charset="-120"/>
              </a:rPr>
              <a:t>    "72d3162e-cc78-11e3-81ab",</a:t>
            </a:r>
            <a:endParaRPr lang="en-US" sz="1275" dirty="0"/>
          </a:p>
          <a:p>
            <a:pPr algn="l" indent="0" marL="0">
              <a:lnSpc>
                <a:spcPct val="106636"/>
              </a:lnSpc>
              <a:buNone/>
            </a:pPr>
            <a:r>
              <a:rPr lang="en-US" sz="1275" dirty="0">
                <a:solidFill>
                  <a:srgbClr val="B8BDC4"/>
                </a:solidFill>
                <a:latin typeface="IBM Plex Mono" pitchFamily="34" charset="0"/>
                <a:ea typeface="IBM Plex Mono" pitchFamily="34" charset="-122"/>
                <a:cs typeface="IBM Plex Mono" pitchFamily="34" charset="-120"/>
              </a:rPr>
              <a:t>  "correlationId": "corr-01J9ZK7Q2M",</a:t>
            </a:r>
            <a:endParaRPr lang="en-US" sz="1275" dirty="0"/>
          </a:p>
          <a:p>
            <a:pPr algn="l" indent="0" marL="0">
              <a:lnSpc>
                <a:spcPct val="106636"/>
              </a:lnSpc>
              <a:buNone/>
            </a:pPr>
            <a:r>
              <a:rPr lang="en-US" sz="1275" dirty="0">
                <a:solidFill>
                  <a:srgbClr val="B8BDC4"/>
                </a:solidFill>
                <a:latin typeface="IBM Plex Mono" pitchFamily="34" charset="0"/>
                <a:ea typeface="IBM Plex Mono" pitchFamily="34" charset="-122"/>
                <a:cs typeface="IBM Plex Mono" pitchFamily="34" charset="-120"/>
              </a:rPr>
              <a:t>  "eventType": "repo.push",</a:t>
            </a:r>
            <a:endParaRPr lang="en-US" sz="1275" dirty="0"/>
          </a:p>
          <a:p>
            <a:pPr algn="l" indent="0" marL="0">
              <a:lnSpc>
                <a:spcPct val="106636"/>
              </a:lnSpc>
              <a:buNone/>
            </a:pPr>
            <a:r>
              <a:rPr lang="en-US" sz="1275" dirty="0">
                <a:solidFill>
                  <a:srgbClr val="B8BDC4"/>
                </a:solidFill>
                <a:latin typeface="IBM Plex Mono" pitchFamily="34" charset="0"/>
                <a:ea typeface="IBM Plex Mono" pitchFamily="34" charset="-122"/>
                <a:cs typeface="IBM Plex Mono" pitchFamily="34" charset="-120"/>
              </a:rPr>
              <a:t>  "source": "github",</a:t>
            </a:r>
            <a:endParaRPr lang="en-US" sz="1275" dirty="0"/>
          </a:p>
          <a:p>
            <a:pPr algn="l" indent="0" marL="0">
              <a:lnSpc>
                <a:spcPct val="106636"/>
              </a:lnSpc>
              <a:buNone/>
            </a:pPr>
            <a:r>
              <a:rPr lang="en-US" sz="1275" dirty="0">
                <a:solidFill>
                  <a:srgbClr val="B8BDC4"/>
                </a:solidFill>
                <a:latin typeface="IBM Plex Mono" pitchFamily="34" charset="0"/>
                <a:ea typeface="IBM Plex Mono" pitchFamily="34" charset="-122"/>
                <a:cs typeface="IBM Plex Mono" pitchFamily="34" charset="-120"/>
              </a:rPr>
              <a:t>  "occurredAt": "2026-08-03T14:21:55Z",</a:t>
            </a:r>
            <a:endParaRPr lang="en-US" sz="1275" dirty="0"/>
          </a:p>
          <a:p>
            <a:pPr algn="l" indent="0" marL="0">
              <a:lnSpc>
                <a:spcPct val="106636"/>
              </a:lnSpc>
              <a:buNone/>
            </a:pPr>
            <a:r>
              <a:rPr lang="en-US" sz="1275" dirty="0">
                <a:solidFill>
                  <a:srgbClr val="B8BDC4"/>
                </a:solidFill>
                <a:latin typeface="IBM Plex Mono" pitchFamily="34" charset="0"/>
                <a:ea typeface="IBM Plex Mono" pitchFamily="34" charset="-122"/>
                <a:cs typeface="IBM Plex Mono" pitchFamily="34" charset="-120"/>
              </a:rPr>
              <a:t>  "subject": {</a:t>
            </a:r>
            <a:endParaRPr lang="en-US" sz="1275" dirty="0"/>
          </a:p>
          <a:p>
            <a:pPr algn="l" indent="0" marL="0">
              <a:lnSpc>
                <a:spcPct val="106636"/>
              </a:lnSpc>
              <a:buNone/>
            </a:pPr>
            <a:r>
              <a:rPr lang="en-US" sz="1275" dirty="0">
                <a:solidFill>
                  <a:srgbClr val="B8BDC4"/>
                </a:solidFill>
                <a:latin typeface="IBM Plex Mono" pitchFamily="34" charset="0"/>
                <a:ea typeface="IBM Plex Mono" pitchFamily="34" charset="-122"/>
                <a:cs typeface="IBM Plex Mono" pitchFamily="34" charset="-120"/>
              </a:rPr>
              <a:t>    "org": "payments",</a:t>
            </a:r>
            <a:endParaRPr lang="en-US" sz="1275" dirty="0"/>
          </a:p>
          <a:p>
            <a:pPr algn="l" indent="0" marL="0">
              <a:lnSpc>
                <a:spcPct val="106636"/>
              </a:lnSpc>
              <a:buNone/>
            </a:pPr>
            <a:r>
              <a:rPr lang="en-US" sz="1275" dirty="0">
                <a:solidFill>
                  <a:srgbClr val="B8BDC4"/>
                </a:solidFill>
                <a:latin typeface="IBM Plex Mono" pitchFamily="34" charset="0"/>
                <a:ea typeface="IBM Plex Mono" pitchFamily="34" charset="-122"/>
                <a:cs typeface="IBM Plex Mono" pitchFamily="34" charset="-120"/>
              </a:rPr>
              <a:t>    "repo": "orders-service",</a:t>
            </a:r>
            <a:endParaRPr lang="en-US" sz="1275" dirty="0"/>
          </a:p>
          <a:p>
            <a:pPr algn="l" indent="0" marL="0">
              <a:lnSpc>
                <a:spcPct val="106636"/>
              </a:lnSpc>
              <a:buNone/>
            </a:pPr>
            <a:r>
              <a:rPr lang="en-US" sz="1275" dirty="0">
                <a:solidFill>
                  <a:srgbClr val="B8BDC4"/>
                </a:solidFill>
                <a:latin typeface="IBM Plex Mono" pitchFamily="34" charset="0"/>
                <a:ea typeface="IBM Plex Mono" pitchFamily="34" charset="-122"/>
                <a:cs typeface="IBM Plex Mono" pitchFamily="34" charset="-120"/>
              </a:rPr>
              <a:t>    "commitSha": "9c2f4d1e",</a:t>
            </a:r>
            <a:endParaRPr lang="en-US" sz="1275" dirty="0"/>
          </a:p>
          <a:p>
            <a:pPr algn="l" indent="0" marL="0">
              <a:lnSpc>
                <a:spcPct val="106636"/>
              </a:lnSpc>
              <a:buNone/>
            </a:pPr>
            <a:r>
              <a:rPr lang="en-US" sz="1275" dirty="0">
                <a:solidFill>
                  <a:srgbClr val="B8BDC4"/>
                </a:solidFill>
                <a:latin typeface="IBM Plex Mono" pitchFamily="34" charset="0"/>
                <a:ea typeface="IBM Plex Mono" pitchFamily="34" charset="-122"/>
                <a:cs typeface="IBM Plex Mono" pitchFamily="34" charset="-120"/>
              </a:rPr>
              <a:t>    "changedFiles": [ "sql/orders.sql",</a:t>
            </a:r>
            <a:endParaRPr lang="en-US" sz="1275" dirty="0"/>
          </a:p>
          <a:p>
            <a:pPr algn="l" indent="0" marL="0">
              <a:lnSpc>
                <a:spcPct val="106636"/>
              </a:lnSpc>
              <a:buNone/>
            </a:pPr>
            <a:r>
              <a:rPr lang="en-US" sz="1275" dirty="0">
                <a:solidFill>
                  <a:srgbClr val="B8BDC4"/>
                </a:solidFill>
                <a:latin typeface="IBM Plex Mono" pitchFamily="34" charset="0"/>
                <a:ea typeface="IBM Plex Mono" pitchFamily="34" charset="-122"/>
                <a:cs typeface="IBM Plex Mono" pitchFamily="34" charset="-120"/>
              </a:rPr>
              <a:t>      "dbt/models/orders.yml" ] },</a:t>
            </a:r>
            <a:endParaRPr lang="en-US" sz="1275" dirty="0"/>
          </a:p>
          <a:p>
            <a:pPr algn="l" indent="0" marL="0">
              <a:lnSpc>
                <a:spcPct val="106636"/>
              </a:lnSpc>
              <a:buNone/>
            </a:pPr>
            <a:r>
              <a:rPr lang="en-US" sz="1275" dirty="0">
                <a:solidFill>
                  <a:srgbClr val="B8BDC4"/>
                </a:solidFill>
                <a:latin typeface="IBM Plex Mono" pitchFamily="34" charset="0"/>
                <a:ea typeface="IBM Plex Mono" pitchFamily="34" charset="-122"/>
                <a:cs typeface="IBM Plex Mono" pitchFamily="34" charset="-120"/>
              </a:rPr>
              <a:t>  "payloadRef": "s3://lineage-raw/</a:t>
            </a:r>
            <a:endParaRPr lang="en-US" sz="1275" dirty="0"/>
          </a:p>
          <a:p>
            <a:pPr algn="l" indent="0" marL="0">
              <a:lnSpc>
                <a:spcPct val="106636"/>
              </a:lnSpc>
              <a:buNone/>
            </a:pPr>
            <a:r>
              <a:rPr lang="en-US" sz="1275" dirty="0">
                <a:solidFill>
                  <a:srgbClr val="B8BDC4"/>
                </a:solidFill>
                <a:latin typeface="IBM Plex Mono" pitchFamily="34" charset="0"/>
                <a:ea typeface="IBM Plex Mono" pitchFamily="34" charset="-122"/>
                <a:cs typeface="IBM Plex Mono" pitchFamily="34" charset="-120"/>
              </a:rPr>
              <a:t>    72d3162e.json#sha256=b7e2…" }</a:t>
            </a:r>
            <a:endParaRPr lang="en-US" sz="1275" dirty="0"/>
          </a:p>
        </p:txBody>
      </p:sp>
      <p:sp>
        <p:nvSpPr>
          <p:cNvPr id="16" name="Shape 14"/>
          <p:cNvSpPr/>
          <p:nvPr/>
        </p:nvSpPr>
        <p:spPr>
          <a:xfrm>
            <a:off x="6356300" y="4562475"/>
            <a:ext cx="5575250" cy="3638550"/>
          </a:xfrm>
          <a:prstGeom prst="rect">
            <a:avLst/>
          </a:prstGeom>
          <a:solidFill>
            <a:srgbClr val="191C20"/>
          </a:solidFill>
          <a:ln/>
        </p:spPr>
      </p:sp>
      <p:sp>
        <p:nvSpPr>
          <p:cNvPr id="17" name="Text 15"/>
          <p:cNvSpPr/>
          <p:nvPr/>
        </p:nvSpPr>
        <p:spPr>
          <a:xfrm>
            <a:off x="6527750" y="4695825"/>
            <a:ext cx="5755585" cy="266700"/>
          </a:xfrm>
          <a:prstGeom prst="rect">
            <a:avLst/>
          </a:prstGeom>
          <a:noFill/>
          <a:ln/>
        </p:spPr>
        <p:txBody>
          <a:bodyPr wrap="square" lIns="25400" tIns="25400" rIns="25400" bIns="25400" rtlCol="0" anchor="t">
            <a:normAutofit/>
          </a:bodyPr>
          <a:lstStyle/>
          <a:p>
            <a:pPr algn="l" indent="0" marL="0">
              <a:buNone/>
            </a:pPr>
            <a:r>
              <a:rPr lang="en-US" sz="1425" dirty="0">
                <a:solidFill>
                  <a:srgbClr val="8FB3BF"/>
                </a:solidFill>
                <a:latin typeface="IBM Plex Mono" pitchFamily="34" charset="0"/>
                <a:ea typeface="IBM Plex Mono" pitchFamily="34" charset="-122"/>
                <a:cs typeface="IBM Plex Mono" pitchFamily="34" charset="-120"/>
              </a:rPr>
              <a:t>DYNAMODB · lineage-control</a:t>
            </a:r>
            <a:endParaRPr lang="en-US" sz="1425" dirty="0"/>
          </a:p>
        </p:txBody>
      </p:sp>
      <p:sp>
        <p:nvSpPr>
          <p:cNvPr id="18" name="Text 16"/>
          <p:cNvSpPr/>
          <p:nvPr/>
        </p:nvSpPr>
        <p:spPr>
          <a:xfrm>
            <a:off x="6527750" y="5000625"/>
            <a:ext cx="5389321" cy="2447925"/>
          </a:xfrm>
          <a:prstGeom prst="rect">
            <a:avLst/>
          </a:prstGeom>
          <a:noFill/>
          <a:ln/>
        </p:spPr>
        <p:txBody>
          <a:bodyPr wrap="square" lIns="25400" tIns="25400" rIns="25400" bIns="25400" rtlCol="0" anchor="t">
            <a:normAutofit/>
          </a:bodyPr>
          <a:lstStyle/>
          <a:p>
            <a:pPr algn="l" indent="0" marL="0">
              <a:lnSpc>
                <a:spcPct val="106636"/>
              </a:lnSpc>
              <a:buNone/>
            </a:pPr>
            <a:r>
              <a:rPr lang="en-US" sz="1275" dirty="0">
                <a:solidFill>
                  <a:srgbClr val="B8BDC4"/>
                </a:solidFill>
                <a:latin typeface="IBM Plex Mono" pitchFamily="34" charset="0"/>
                <a:ea typeface="IBM Plex Mono" pitchFamily="34" charset="-122"/>
                <a:cs typeface="IBM Plex Mono" pitchFamily="34" charset="-120"/>
              </a:rPr>
              <a:t>DEDUPE  PK EVENT#github#72d3162e</a:t>
            </a:r>
            <a:endParaRPr lang="en-US" sz="1275" dirty="0"/>
          </a:p>
          <a:p>
            <a:pPr algn="l" indent="0" marL="0">
              <a:lnSpc>
                <a:spcPct val="106636"/>
              </a:lnSpc>
              <a:buNone/>
            </a:pPr>
            <a:r>
              <a:rPr lang="en-US" sz="1275" dirty="0">
                <a:solidFill>
                  <a:srgbClr val="B8BDC4"/>
                </a:solidFill>
                <a:latin typeface="IBM Plex Mono" pitchFamily="34" charset="0"/>
                <a:ea typeface="IBM Plex Mono" pitchFamily="34" charset="-122"/>
                <a:cs typeface="IBM Plex Mono" pitchFamily="34" charset="-120"/>
              </a:rPr>
              <a:t>        firstSeenAt 14:21:56 · ttl +7d</a:t>
            </a:r>
            <a:endParaRPr lang="en-US" sz="1275" dirty="0"/>
          </a:p>
          <a:p>
            <a:pPr algn="l" indent="0" marL="0">
              <a:lnSpc>
                <a:spcPct val="106636"/>
              </a:lnSpc>
              <a:buNone/>
            </a:pPr>
            <a:r>
              <a:rPr lang="en-US" sz="1275" dirty="0">
                <a:solidFill>
                  <a:srgbClr val="B8BDC4"/>
                </a:solidFill>
                <a:latin typeface="IBM Plex Mono" pitchFamily="34" charset="0"/>
                <a:ea typeface="IBM Plex Mono" pitchFamily="34" charset="-122"/>
                <a:cs typeface="IBM Plex Mono" pitchFamily="34" charset="-120"/>
              </a:rPr>
              <a:t>        put if attribute_not_exists(PK)</a:t>
            </a:r>
            <a:endParaRPr lang="en-US" sz="1275" dirty="0"/>
          </a:p>
          <a:p>
            <a:pPr algn="l" indent="0" marL="0">
              <a:lnSpc>
                <a:spcPct val="106636"/>
              </a:lnSpc>
              <a:buNone/>
            </a:pPr>
            <a:r>
              <a:rPr lang="en-US" sz="1275" dirty="0">
                <a:solidFill>
                  <a:srgbClr val="B8BDC4"/>
                </a:solidFill>
                <a:latin typeface="IBM Plex Mono" pitchFamily="34" charset="0"/>
                <a:ea typeface="IBM Plex Mono" pitchFamily="34" charset="-122"/>
                <a:cs typeface="IBM Plex Mono" pitchFamily="34" charset="-120"/>
              </a:rPr>
              <a:t>RUN     PK RUN#corr-01J9ZK7Q2M</a:t>
            </a:r>
            <a:endParaRPr lang="en-US" sz="1275" dirty="0"/>
          </a:p>
          <a:p>
            <a:pPr algn="l" indent="0" marL="0">
              <a:lnSpc>
                <a:spcPct val="106636"/>
              </a:lnSpc>
              <a:buNone/>
            </a:pPr>
            <a:r>
              <a:rPr lang="en-US" sz="1275" dirty="0">
                <a:solidFill>
                  <a:srgbClr val="B8BDC4"/>
                </a:solidFill>
                <a:latin typeface="IBM Plex Mono" pitchFamily="34" charset="0"/>
                <a:ea typeface="IBM Plex Mono" pitchFamily="34" charset="-122"/>
                <a:cs typeface="IBM Plex Mono" pitchFamily="34" charset="-120"/>
              </a:rPr>
              <a:t>        SK STAGE#classify</a:t>
            </a:r>
            <a:endParaRPr lang="en-US" sz="1275" dirty="0"/>
          </a:p>
          <a:p>
            <a:pPr algn="l" indent="0" marL="0">
              <a:lnSpc>
                <a:spcPct val="106636"/>
              </a:lnSpc>
              <a:buNone/>
            </a:pPr>
            <a:r>
              <a:rPr lang="en-US" sz="1275" dirty="0">
                <a:solidFill>
                  <a:srgbClr val="B8BDC4"/>
                </a:solidFill>
                <a:latin typeface="IBM Plex Mono" pitchFamily="34" charset="0"/>
                <a:ea typeface="IBM Plex Mono" pitchFamily="34" charset="-122"/>
                <a:cs typeface="IBM Plex Mono" pitchFamily="34" charset="-120"/>
              </a:rPr>
              <a:t>        status COMPLETE · verdict ANALYZE</a:t>
            </a:r>
            <a:endParaRPr lang="en-US" sz="1275" dirty="0"/>
          </a:p>
          <a:p>
            <a:pPr algn="l" indent="0" marL="0">
              <a:lnSpc>
                <a:spcPct val="106636"/>
              </a:lnSpc>
              <a:buNone/>
            </a:pPr>
            <a:r>
              <a:rPr lang="en-US" sz="1275" dirty="0">
                <a:solidFill>
                  <a:srgbClr val="B8BDC4"/>
                </a:solidFill>
                <a:latin typeface="IBM Plex Mono" pitchFamily="34" charset="0"/>
                <a:ea typeface="IBM Plex Mono" pitchFamily="34" charset="-122"/>
                <a:cs typeface="IBM Plex Mono" pitchFamily="34" charset="-120"/>
              </a:rPr>
              <a:t>POINTER PK APP#payments</a:t>
            </a:r>
            <a:endParaRPr lang="en-US" sz="1275" dirty="0"/>
          </a:p>
          <a:p>
            <a:pPr algn="l" indent="0" marL="0">
              <a:lnSpc>
                <a:spcPct val="106636"/>
              </a:lnSpc>
              <a:buNone/>
            </a:pPr>
            <a:r>
              <a:rPr lang="en-US" sz="1275" dirty="0">
                <a:solidFill>
                  <a:srgbClr val="B8BDC4"/>
                </a:solidFill>
                <a:latin typeface="IBM Plex Mono" pitchFamily="34" charset="0"/>
                <a:ea typeface="IBM Plex Mono" pitchFamily="34" charset="-122"/>
                <a:cs typeface="IBM Plex Mono" pitchFamily="34" charset="-120"/>
              </a:rPr>
              <a:t>        SK GRAPH#active</a:t>
            </a:r>
            <a:endParaRPr lang="en-US" sz="1275" dirty="0"/>
          </a:p>
          <a:p>
            <a:pPr algn="l" indent="0" marL="0">
              <a:lnSpc>
                <a:spcPct val="106636"/>
              </a:lnSpc>
              <a:buNone/>
            </a:pPr>
            <a:r>
              <a:rPr lang="en-US" sz="1275" dirty="0">
                <a:solidFill>
                  <a:srgbClr val="B8BDC4"/>
                </a:solidFill>
                <a:latin typeface="IBM Plex Mono" pitchFamily="34" charset="0"/>
                <a:ea typeface="IBM Plex Mono" pitchFamily="34" charset="-122"/>
                <a:cs typeface="IBM Plex Mono" pitchFamily="34" charset="-120"/>
              </a:rPr>
              <a:t>        version v41 · fencingToken 17</a:t>
            </a:r>
            <a:endParaRPr lang="en-US" sz="1275" dirty="0"/>
          </a:p>
          <a:p>
            <a:pPr algn="l" indent="0" marL="0">
              <a:lnSpc>
                <a:spcPct val="106636"/>
              </a:lnSpc>
              <a:buNone/>
            </a:pPr>
            <a:r>
              <a:rPr lang="en-US" sz="1275" dirty="0">
                <a:solidFill>
                  <a:srgbClr val="B8BDC4"/>
                </a:solidFill>
                <a:latin typeface="IBM Plex Mono" pitchFamily="34" charset="0"/>
                <a:ea typeface="IBM Plex Mono" pitchFamily="34" charset="-122"/>
                <a:cs typeface="IBM Plex Mono" pitchFamily="34" charset="-120"/>
              </a:rPr>
              <a:t>DETERM  PK URN#element:orders.total</a:t>
            </a:r>
            <a:endParaRPr lang="en-US" sz="1275" dirty="0"/>
          </a:p>
          <a:p>
            <a:pPr algn="l" indent="0" marL="0">
              <a:lnSpc>
                <a:spcPct val="106636"/>
              </a:lnSpc>
              <a:buNone/>
            </a:pPr>
            <a:r>
              <a:rPr lang="en-US" sz="1275" dirty="0">
                <a:solidFill>
                  <a:srgbClr val="B8BDC4"/>
                </a:solidFill>
                <a:latin typeface="IBM Plex Mono" pitchFamily="34" charset="0"/>
                <a:ea typeface="IBM Plex Mono" pitchFamily="34" charset="-122"/>
                <a:cs typeface="IBM Plex Mono" pitchFamily="34" charset="-120"/>
              </a:rPr>
              <a:t>        files [ sql/orders.sql ]</a:t>
            </a:r>
            <a:endParaRPr lang="en-US" sz="1275" dirty="0"/>
          </a:p>
        </p:txBody>
      </p:sp>
      <p:sp>
        <p:nvSpPr>
          <p:cNvPr id="19" name="Shape 17"/>
          <p:cNvSpPr/>
          <p:nvPr/>
        </p:nvSpPr>
        <p:spPr>
          <a:xfrm>
            <a:off x="12045851" y="4562475"/>
            <a:ext cx="5575399" cy="3638550"/>
          </a:xfrm>
          <a:prstGeom prst="rect">
            <a:avLst/>
          </a:prstGeom>
          <a:solidFill>
            <a:srgbClr val="191C20"/>
          </a:solidFill>
          <a:ln/>
        </p:spPr>
      </p:sp>
      <p:sp>
        <p:nvSpPr>
          <p:cNvPr id="20" name="Text 18"/>
          <p:cNvSpPr/>
          <p:nvPr/>
        </p:nvSpPr>
        <p:spPr>
          <a:xfrm>
            <a:off x="12217301" y="4695825"/>
            <a:ext cx="5755749" cy="266700"/>
          </a:xfrm>
          <a:prstGeom prst="rect">
            <a:avLst/>
          </a:prstGeom>
          <a:noFill/>
          <a:ln/>
        </p:spPr>
        <p:txBody>
          <a:bodyPr wrap="square" lIns="25400" tIns="25400" rIns="25400" bIns="25400" rtlCol="0" anchor="t">
            <a:normAutofit/>
          </a:bodyPr>
          <a:lstStyle/>
          <a:p>
            <a:pPr algn="l" indent="0" marL="0">
              <a:buNone/>
            </a:pPr>
            <a:r>
              <a:rPr lang="en-US" sz="1425" dirty="0">
                <a:solidFill>
                  <a:srgbClr val="8FB3BF"/>
                </a:solidFill>
                <a:latin typeface="IBM Plex Mono" pitchFamily="34" charset="0"/>
                <a:ea typeface="IBM Plex Mono" pitchFamily="34" charset="-122"/>
                <a:cs typeface="IBM Plex Mono" pitchFamily="34" charset="-120"/>
              </a:rPr>
              <a:t>EVENTBRIDGE RULE · repo-push</a:t>
            </a:r>
            <a:endParaRPr lang="en-US" sz="1425" dirty="0"/>
          </a:p>
        </p:txBody>
      </p:sp>
      <p:sp>
        <p:nvSpPr>
          <p:cNvPr id="21" name="Text 19"/>
          <p:cNvSpPr/>
          <p:nvPr/>
        </p:nvSpPr>
        <p:spPr>
          <a:xfrm>
            <a:off x="12217301" y="5000625"/>
            <a:ext cx="5389474" cy="2228850"/>
          </a:xfrm>
          <a:prstGeom prst="rect">
            <a:avLst/>
          </a:prstGeom>
          <a:noFill/>
          <a:ln/>
        </p:spPr>
        <p:txBody>
          <a:bodyPr wrap="square" lIns="25400" tIns="25400" rIns="25400" bIns="25400" rtlCol="0" anchor="t">
            <a:normAutofit/>
          </a:bodyPr>
          <a:lstStyle/>
          <a:p>
            <a:pPr algn="l" indent="0" marL="0">
              <a:lnSpc>
                <a:spcPct val="106636"/>
              </a:lnSpc>
              <a:buNone/>
            </a:pPr>
            <a:r>
              <a:rPr lang="en-US" sz="1275" dirty="0">
                <a:solidFill>
                  <a:srgbClr val="B8BDC4"/>
                </a:solidFill>
                <a:latin typeface="IBM Plex Mono" pitchFamily="34" charset="0"/>
                <a:ea typeface="IBM Plex Mono" pitchFamily="34" charset="-122"/>
                <a:cs typeface="IBM Plex Mono" pitchFamily="34" charset="-120"/>
              </a:rPr>
              <a:t>bus lineage-events</a:t>
            </a:r>
            <a:endParaRPr lang="en-US" sz="1275" dirty="0"/>
          </a:p>
          <a:p>
            <a:pPr algn="l" indent="0" marL="0">
              <a:lnSpc>
                <a:spcPct val="106636"/>
              </a:lnSpc>
              <a:buNone/>
            </a:pPr>
            <a:r>
              <a:rPr lang="en-US" sz="1275" dirty="0">
                <a:solidFill>
                  <a:srgbClr val="B8BDC4"/>
                </a:solidFill>
                <a:latin typeface="IBM Plex Mono" pitchFamily="34" charset="0"/>
                <a:ea typeface="IBM Plex Mono" pitchFamily="34" charset="-122"/>
                <a:cs typeface="IBM Plex Mono" pitchFamily="34" charset="-120"/>
              </a:rPr>
              <a:t>archive + replay ON</a:t>
            </a:r>
            <a:endParaRPr lang="en-US" sz="1275" dirty="0"/>
          </a:p>
          <a:p>
            <a:pPr algn="l" indent="0" marL="0">
              <a:lnSpc>
                <a:spcPct val="106636"/>
              </a:lnSpc>
              <a:buNone/>
            </a:pPr>
            <a:r>
              <a:rPr lang="en-US" sz="1275" dirty="0">
                <a:solidFill>
                  <a:srgbClr val="B8BDC4"/>
                </a:solidFill>
                <a:latin typeface="IBM Plex Mono" pitchFamily="34" charset="0"/>
                <a:ea typeface="IBM Plex Mono" pitchFamily="34" charset="-122"/>
                <a:cs typeface="IBM Plex Mono" pitchFamily="34" charset="-120"/>
              </a:rPr>
              <a:t>pattern</a:t>
            </a:r>
            <a:endParaRPr lang="en-US" sz="1275" dirty="0"/>
          </a:p>
          <a:p>
            <a:pPr algn="l" indent="0" marL="0">
              <a:lnSpc>
                <a:spcPct val="106636"/>
              </a:lnSpc>
              <a:buNone/>
            </a:pPr>
            <a:r>
              <a:rPr lang="en-US" sz="1275" dirty="0">
                <a:solidFill>
                  <a:srgbClr val="B8BDC4"/>
                </a:solidFill>
                <a:latin typeface="IBM Plex Mono" pitchFamily="34" charset="0"/>
                <a:ea typeface="IBM Plex Mono" pitchFamily="34" charset="-122"/>
                <a:cs typeface="IBM Plex Mono" pitchFamily="34" charset="-120"/>
              </a:rPr>
              <a:t>{ "source": [ "lineage.receiver" ],</a:t>
            </a:r>
            <a:endParaRPr lang="en-US" sz="1275" dirty="0"/>
          </a:p>
          <a:p>
            <a:pPr algn="l" indent="0" marL="0">
              <a:lnSpc>
                <a:spcPct val="106636"/>
              </a:lnSpc>
              <a:buNone/>
            </a:pPr>
            <a:r>
              <a:rPr lang="en-US" sz="1275" dirty="0">
                <a:solidFill>
                  <a:srgbClr val="B8BDC4"/>
                </a:solidFill>
                <a:latin typeface="IBM Plex Mono" pitchFamily="34" charset="0"/>
                <a:ea typeface="IBM Plex Mono" pitchFamily="34" charset="-122"/>
                <a:cs typeface="IBM Plex Mono" pitchFamily="34" charset="-120"/>
              </a:rPr>
              <a:t>  "detail-type": [ "repo.push" ],</a:t>
            </a:r>
            <a:endParaRPr lang="en-US" sz="1275" dirty="0"/>
          </a:p>
          <a:p>
            <a:pPr algn="l" indent="0" marL="0">
              <a:lnSpc>
                <a:spcPct val="106636"/>
              </a:lnSpc>
              <a:buNone/>
            </a:pPr>
            <a:r>
              <a:rPr lang="en-US" sz="1275" dirty="0">
                <a:solidFill>
                  <a:srgbClr val="B8BDC4"/>
                </a:solidFill>
                <a:latin typeface="IBM Plex Mono" pitchFamily="34" charset="0"/>
                <a:ea typeface="IBM Plex Mono" pitchFamily="34" charset="-122"/>
                <a:cs typeface="IBM Plex Mono" pitchFamily="34" charset="-120"/>
              </a:rPr>
              <a:t>  "detail": { "subject": {</a:t>
            </a:r>
            <a:endParaRPr lang="en-US" sz="1275" dirty="0"/>
          </a:p>
          <a:p>
            <a:pPr algn="l" indent="0" marL="0">
              <a:lnSpc>
                <a:spcPct val="106636"/>
              </a:lnSpc>
              <a:buNone/>
            </a:pPr>
            <a:r>
              <a:rPr lang="en-US" sz="1275" dirty="0">
                <a:solidFill>
                  <a:srgbClr val="B8BDC4"/>
                </a:solidFill>
                <a:latin typeface="IBM Plex Mono" pitchFamily="34" charset="0"/>
                <a:ea typeface="IBM Plex Mono" pitchFamily="34" charset="-122"/>
                <a:cs typeface="IBM Plex Mono" pitchFamily="34" charset="-120"/>
              </a:rPr>
              <a:t>    "org": [ { "exists": true } ] } } }</a:t>
            </a:r>
            <a:endParaRPr lang="en-US" sz="1275" dirty="0"/>
          </a:p>
          <a:p>
            <a:pPr algn="l" indent="0" marL="0">
              <a:lnSpc>
                <a:spcPct val="106636"/>
              </a:lnSpc>
              <a:buNone/>
            </a:pPr>
            <a:r>
              <a:rPr lang="en-US" sz="1275" dirty="0">
                <a:solidFill>
                  <a:srgbClr val="B8BDC4"/>
                </a:solidFill>
                <a:latin typeface="IBM Plex Mono" pitchFamily="34" charset="0"/>
                <a:ea typeface="IBM Plex Mono" pitchFamily="34" charset="-122"/>
                <a:cs typeface="IBM Plex Mono" pitchFamily="34" charset="-120"/>
              </a:rPr>
              <a:t>target SQS events lane</a:t>
            </a:r>
            <a:endParaRPr lang="en-US" sz="1275" dirty="0"/>
          </a:p>
          <a:p>
            <a:pPr algn="l" indent="0" marL="0">
              <a:lnSpc>
                <a:spcPct val="106636"/>
              </a:lnSpc>
              <a:buNone/>
            </a:pPr>
            <a:r>
              <a:rPr lang="en-US" sz="1275" dirty="0">
                <a:solidFill>
                  <a:srgbClr val="B8BDC4"/>
                </a:solidFill>
                <a:latin typeface="IBM Plex Mono" pitchFamily="34" charset="0"/>
                <a:ea typeface="IBM Plex Mono" pitchFamily="34" charset="-122"/>
                <a:cs typeface="IBM Plex Mono" pitchFamily="34" charset="-120"/>
              </a:rPr>
              <a:t>     → starts IncrementalCollection</a:t>
            </a:r>
            <a:endParaRPr lang="en-US" sz="1275" dirty="0"/>
          </a:p>
          <a:p>
            <a:pPr algn="l" indent="0" marL="0">
              <a:lnSpc>
                <a:spcPct val="106636"/>
              </a:lnSpc>
              <a:buNone/>
            </a:pPr>
            <a:r>
              <a:rPr lang="en-US" sz="1275" dirty="0">
                <a:solidFill>
                  <a:srgbClr val="B8BDC4"/>
                </a:solidFill>
                <a:latin typeface="IBM Plex Mono" pitchFamily="34" charset="0"/>
                <a:ea typeface="IBM Plex Mono" pitchFamily="34" charset="-122"/>
                <a:cs typeface="IBM Plex Mono" pitchFamily="34" charset="-120"/>
              </a:rPr>
              <a:t>dlq lineage-events-dlq · maxReceive 5</a:t>
            </a:r>
            <a:endParaRPr lang="en-US" sz="1275" dirty="0"/>
          </a:p>
        </p:txBody>
      </p:sp>
      <p:sp>
        <p:nvSpPr>
          <p:cNvPr id="22" name="Text 20"/>
          <p:cNvSpPr/>
          <p:nvPr/>
        </p:nvSpPr>
        <p:spPr>
          <a:xfrm>
            <a:off x="666750" y="9563100"/>
            <a:ext cx="17463135" cy="4953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Mono" pitchFamily="34" charset="0"/>
                <a:ea typeface="IBM Plex Mono" pitchFamily="34" charset="-122"/>
                <a:cs typeface="IBM Plex Mono" pitchFamily="34" charset="-120"/>
              </a:rPr>
              <a:t>THREAD · X-GitHub-Delivery 72d3162e… → envelope eventId → DDB dedupe PK EVENT#github#72d3162e… → EB rule repo.push → SQS events → IncrementalCollection corr-01J9ZK7Q2M</a:t>
            </a:r>
            <a:endParaRPr lang="en-US" sz="14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57250" y="533400"/>
            <a:ext cx="18230850" cy="361950"/>
          </a:xfrm>
          <a:prstGeom prst="rect">
            <a:avLst/>
          </a:prstGeom>
          <a:noFill/>
          <a:ln/>
        </p:spPr>
        <p:txBody>
          <a:bodyPr wrap="square" lIns="25400" tIns="25400" rIns="25400" bIns="25400" rtlCol="0" anchor="t">
            <a:normAutofit/>
          </a:bodyPr>
          <a:lstStyle/>
          <a:p>
            <a:pPr algn="l" indent="0" marL="0">
              <a:buNone/>
            </a:pPr>
            <a:r>
              <a:rPr lang="en-US" sz="1950" spc="312" kern="0" dirty="0">
                <a:solidFill>
                  <a:srgbClr val="4D535B"/>
                </a:solidFill>
                <a:latin typeface="IBM Plex Mono" pitchFamily="34" charset="0"/>
                <a:ea typeface="IBM Plex Mono" pitchFamily="34" charset="-122"/>
                <a:cs typeface="IBM Plex Mono" pitchFamily="34" charset="-120"/>
              </a:rPr>
              <a:t>02B · STAGE 2 OF 4 · SIMPLIFIED: 7 → 4 STATE MACHINES</a:t>
            </a:r>
            <a:endParaRPr lang="en-US" sz="1950" dirty="0"/>
          </a:p>
        </p:txBody>
      </p:sp>
      <p:sp>
        <p:nvSpPr>
          <p:cNvPr id="3" name="Text 1"/>
          <p:cNvSpPr/>
          <p:nvPr/>
        </p:nvSpPr>
        <p:spPr>
          <a:xfrm>
            <a:off x="857250" y="971550"/>
            <a:ext cx="18230850" cy="771525"/>
          </a:xfrm>
          <a:prstGeom prst="rect">
            <a:avLst/>
          </a:prstGeom>
          <a:noFill/>
          <a:ln/>
        </p:spPr>
        <p:txBody>
          <a:bodyPr wrap="square" lIns="25400" tIns="25400" rIns="25400" bIns="25400" rtlCol="0" anchor="t">
            <a:normAutofit/>
          </a:bodyPr>
          <a:lstStyle/>
          <a:p>
            <a:pPr algn="l" indent="0" marL="0">
              <a:buNone/>
            </a:pPr>
            <a:r>
              <a:rPr lang="en-US" sz="4500" b="1" dirty="0">
                <a:solidFill>
                  <a:srgbClr val="191C20"/>
                </a:solidFill>
                <a:latin typeface="IBM Plex Sans" pitchFamily="34" charset="0"/>
                <a:ea typeface="IBM Plex Sans" pitchFamily="34" charset="-122"/>
                <a:cs typeface="IBM Plex Sans" pitchFamily="34" charset="-120"/>
              </a:rPr>
              <a:t>Coordination — Four Workflows</a:t>
            </a:r>
            <a:endParaRPr lang="en-US" sz="4500" dirty="0"/>
          </a:p>
        </p:txBody>
      </p:sp>
      <p:sp>
        <p:nvSpPr>
          <p:cNvPr id="4" name="Shape 2"/>
          <p:cNvSpPr/>
          <p:nvPr/>
        </p:nvSpPr>
        <p:spPr>
          <a:xfrm>
            <a:off x="857250" y="1914525"/>
            <a:ext cx="1360289" cy="476250"/>
          </a:xfrm>
          <a:prstGeom prst="rect">
            <a:avLst/>
          </a:prstGeom>
          <a:ln w="9525">
            <a:solidFill>
              <a:srgbClr val="E0DCD3"/>
            </a:solidFill>
            <a:prstDash val="solid"/>
          </a:ln>
        </p:spPr>
      </p:sp>
      <p:sp>
        <p:nvSpPr>
          <p:cNvPr id="5" name="Text 3"/>
          <p:cNvSpPr/>
          <p:nvPr/>
        </p:nvSpPr>
        <p:spPr>
          <a:xfrm>
            <a:off x="1057275" y="2000250"/>
            <a:ext cx="103643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SOURCES</a:t>
            </a:r>
            <a:endParaRPr lang="en-US" sz="1800" dirty="0"/>
          </a:p>
        </p:txBody>
      </p:sp>
      <p:sp>
        <p:nvSpPr>
          <p:cNvPr id="6" name="Text 4"/>
          <p:cNvSpPr/>
          <p:nvPr/>
        </p:nvSpPr>
        <p:spPr>
          <a:xfrm>
            <a:off x="2331839" y="2000250"/>
            <a:ext cx="213866" cy="342900"/>
          </a:xfrm>
          <a:prstGeom prst="rect">
            <a:avLst/>
          </a:prstGeom>
          <a:noFill/>
          <a:ln/>
        </p:spPr>
        <p:txBody>
          <a:bodyPr wrap="square" lIns="25400" tIns="25400" rIns="25400" bIns="25400" rtlCol="0" anchor="t">
            <a:normAutofit/>
          </a:bodyPr>
          <a:lstStyle/>
          <a:p>
            <a:pPr algn="l" indent="0" marL="0">
              <a:buNone/>
            </a:pPr>
            <a:r>
              <a:rPr lang="en-US" sz="1800" dirty="0">
                <a:solidFill>
                  <a:srgbClr val="9AA0A8"/>
                </a:solidFill>
                <a:latin typeface="IBM Plex Mono" pitchFamily="34" charset="0"/>
                <a:ea typeface="IBM Plex Mono" pitchFamily="34" charset="-122"/>
                <a:cs typeface="IBM Plex Mono" pitchFamily="34" charset="-120"/>
              </a:rPr>
              <a:t>→</a:t>
            </a:r>
            <a:endParaRPr lang="en-US" sz="1800" dirty="0"/>
          </a:p>
        </p:txBody>
      </p:sp>
      <p:sp>
        <p:nvSpPr>
          <p:cNvPr id="7" name="Shape 5"/>
          <p:cNvSpPr/>
          <p:nvPr/>
        </p:nvSpPr>
        <p:spPr>
          <a:xfrm>
            <a:off x="2583805" y="1914525"/>
            <a:ext cx="2594670" cy="476250"/>
          </a:xfrm>
          <a:prstGeom prst="rect">
            <a:avLst/>
          </a:prstGeom>
          <a:ln w="9525">
            <a:solidFill>
              <a:srgbClr val="E0DCD3"/>
            </a:solidFill>
            <a:prstDash val="solid"/>
          </a:ln>
        </p:spPr>
      </p:sp>
      <p:sp>
        <p:nvSpPr>
          <p:cNvPr id="8" name="Text 6"/>
          <p:cNvSpPr/>
          <p:nvPr/>
        </p:nvSpPr>
        <p:spPr>
          <a:xfrm>
            <a:off x="2783830" y="2000250"/>
            <a:ext cx="227246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INTAKE &amp; ROUTING</a:t>
            </a:r>
            <a:endParaRPr lang="en-US" sz="1800" dirty="0"/>
          </a:p>
        </p:txBody>
      </p:sp>
      <p:sp>
        <p:nvSpPr>
          <p:cNvPr id="9" name="Text 7"/>
          <p:cNvSpPr/>
          <p:nvPr/>
        </p:nvSpPr>
        <p:spPr>
          <a:xfrm>
            <a:off x="5292775" y="2000250"/>
            <a:ext cx="213866" cy="342900"/>
          </a:xfrm>
          <a:prstGeom prst="rect">
            <a:avLst/>
          </a:prstGeom>
          <a:noFill/>
          <a:ln/>
        </p:spPr>
        <p:txBody>
          <a:bodyPr wrap="square" lIns="25400" tIns="25400" rIns="25400" bIns="25400" rtlCol="0" anchor="t">
            <a:normAutofit/>
          </a:bodyPr>
          <a:lstStyle/>
          <a:p>
            <a:pPr algn="l" indent="0" marL="0">
              <a:buNone/>
            </a:pPr>
            <a:r>
              <a:rPr lang="en-US" sz="1800" dirty="0">
                <a:solidFill>
                  <a:srgbClr val="9AA0A8"/>
                </a:solidFill>
                <a:latin typeface="IBM Plex Mono" pitchFamily="34" charset="0"/>
                <a:ea typeface="IBM Plex Mono" pitchFamily="34" charset="-122"/>
                <a:cs typeface="IBM Plex Mono" pitchFamily="34" charset="-120"/>
              </a:rPr>
              <a:t>→</a:t>
            </a:r>
            <a:endParaRPr lang="en-US" sz="1800" dirty="0"/>
          </a:p>
        </p:txBody>
      </p:sp>
      <p:sp>
        <p:nvSpPr>
          <p:cNvPr id="10" name="Shape 8"/>
          <p:cNvSpPr/>
          <p:nvPr/>
        </p:nvSpPr>
        <p:spPr>
          <a:xfrm>
            <a:off x="5544741" y="1924050"/>
            <a:ext cx="2027039" cy="457200"/>
          </a:xfrm>
          <a:prstGeom prst="rect">
            <a:avLst/>
          </a:prstGeom>
          <a:solidFill>
            <a:srgbClr val="191C20"/>
          </a:solidFill>
          <a:ln/>
        </p:spPr>
      </p:sp>
      <p:sp>
        <p:nvSpPr>
          <p:cNvPr id="11" name="Text 9"/>
          <p:cNvSpPr/>
          <p:nvPr/>
        </p:nvSpPr>
        <p:spPr>
          <a:xfrm>
            <a:off x="5735241" y="2000250"/>
            <a:ext cx="172223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2EFE9"/>
                </a:solidFill>
                <a:latin typeface="IBM Plex Mono" pitchFamily="34" charset="0"/>
                <a:ea typeface="IBM Plex Mono" pitchFamily="34" charset="-122"/>
                <a:cs typeface="IBM Plex Mono" pitchFamily="34" charset="-120"/>
              </a:rPr>
              <a:t>COORDINATION</a:t>
            </a:r>
            <a:endParaRPr lang="en-US" sz="1800" dirty="0"/>
          </a:p>
        </p:txBody>
      </p:sp>
      <p:sp>
        <p:nvSpPr>
          <p:cNvPr id="12" name="Text 10"/>
          <p:cNvSpPr/>
          <p:nvPr/>
        </p:nvSpPr>
        <p:spPr>
          <a:xfrm>
            <a:off x="7686080" y="2000250"/>
            <a:ext cx="213866" cy="342900"/>
          </a:xfrm>
          <a:prstGeom prst="rect">
            <a:avLst/>
          </a:prstGeom>
          <a:noFill/>
          <a:ln/>
        </p:spPr>
        <p:txBody>
          <a:bodyPr wrap="square" lIns="25400" tIns="25400" rIns="25400" bIns="25400" rtlCol="0" anchor="t">
            <a:normAutofit/>
          </a:bodyPr>
          <a:lstStyle/>
          <a:p>
            <a:pPr algn="l" indent="0" marL="0">
              <a:buNone/>
            </a:pPr>
            <a:r>
              <a:rPr lang="en-US" sz="1800" dirty="0">
                <a:solidFill>
                  <a:srgbClr val="9AA0A8"/>
                </a:solidFill>
                <a:latin typeface="IBM Plex Mono" pitchFamily="34" charset="0"/>
                <a:ea typeface="IBM Plex Mono" pitchFamily="34" charset="-122"/>
                <a:cs typeface="IBM Plex Mono" pitchFamily="34" charset="-120"/>
              </a:rPr>
              <a:t>→</a:t>
            </a:r>
            <a:endParaRPr lang="en-US" sz="1800" dirty="0"/>
          </a:p>
        </p:txBody>
      </p:sp>
      <p:sp>
        <p:nvSpPr>
          <p:cNvPr id="13" name="Shape 11"/>
          <p:cNvSpPr/>
          <p:nvPr/>
        </p:nvSpPr>
        <p:spPr>
          <a:xfrm>
            <a:off x="7938046" y="1914525"/>
            <a:ext cx="1497360" cy="476250"/>
          </a:xfrm>
          <a:prstGeom prst="rect">
            <a:avLst/>
          </a:prstGeom>
          <a:ln w="9525">
            <a:solidFill>
              <a:srgbClr val="E0DCD3"/>
            </a:solidFill>
            <a:prstDash val="solid"/>
          </a:ln>
        </p:spPr>
      </p:sp>
      <p:sp>
        <p:nvSpPr>
          <p:cNvPr id="14" name="Text 12"/>
          <p:cNvSpPr/>
          <p:nvPr/>
        </p:nvSpPr>
        <p:spPr>
          <a:xfrm>
            <a:off x="8138071" y="2000250"/>
            <a:ext cx="117351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ANALYSIS</a:t>
            </a:r>
            <a:endParaRPr lang="en-US" sz="1800" dirty="0"/>
          </a:p>
        </p:txBody>
      </p:sp>
      <p:sp>
        <p:nvSpPr>
          <p:cNvPr id="15" name="Text 13"/>
          <p:cNvSpPr/>
          <p:nvPr/>
        </p:nvSpPr>
        <p:spPr>
          <a:xfrm>
            <a:off x="9549705" y="2000250"/>
            <a:ext cx="213866" cy="342900"/>
          </a:xfrm>
          <a:prstGeom prst="rect">
            <a:avLst/>
          </a:prstGeom>
          <a:noFill/>
          <a:ln/>
        </p:spPr>
        <p:txBody>
          <a:bodyPr wrap="square" lIns="25400" tIns="25400" rIns="25400" bIns="25400" rtlCol="0" anchor="t">
            <a:normAutofit/>
          </a:bodyPr>
          <a:lstStyle/>
          <a:p>
            <a:pPr algn="l" indent="0" marL="0">
              <a:buNone/>
            </a:pPr>
            <a:r>
              <a:rPr lang="en-US" sz="1800" dirty="0">
                <a:solidFill>
                  <a:srgbClr val="9AA0A8"/>
                </a:solidFill>
                <a:latin typeface="IBM Plex Mono" pitchFamily="34" charset="0"/>
                <a:ea typeface="IBM Plex Mono" pitchFamily="34" charset="-122"/>
                <a:cs typeface="IBM Plex Mono" pitchFamily="34" charset="-120"/>
              </a:rPr>
              <a:t>→</a:t>
            </a:r>
            <a:endParaRPr lang="en-US" sz="1800" dirty="0"/>
          </a:p>
        </p:txBody>
      </p:sp>
      <p:sp>
        <p:nvSpPr>
          <p:cNvPr id="16" name="Shape 14"/>
          <p:cNvSpPr/>
          <p:nvPr/>
        </p:nvSpPr>
        <p:spPr>
          <a:xfrm>
            <a:off x="9801671" y="1914525"/>
            <a:ext cx="2594670" cy="476250"/>
          </a:xfrm>
          <a:prstGeom prst="rect">
            <a:avLst/>
          </a:prstGeom>
          <a:ln w="9525">
            <a:solidFill>
              <a:srgbClr val="E0DCD3"/>
            </a:solidFill>
            <a:prstDash val="solid"/>
          </a:ln>
        </p:spPr>
      </p:sp>
      <p:sp>
        <p:nvSpPr>
          <p:cNvPr id="17" name="Text 15"/>
          <p:cNvSpPr/>
          <p:nvPr/>
        </p:nvSpPr>
        <p:spPr>
          <a:xfrm>
            <a:off x="10001696" y="2000250"/>
            <a:ext cx="227246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REVIEW &amp; PUBLISH</a:t>
            </a:r>
            <a:endParaRPr lang="en-US" sz="1800" dirty="0"/>
          </a:p>
        </p:txBody>
      </p:sp>
      <p:sp>
        <p:nvSpPr>
          <p:cNvPr id="18" name="Shape 16"/>
          <p:cNvSpPr/>
          <p:nvPr/>
        </p:nvSpPr>
        <p:spPr>
          <a:xfrm>
            <a:off x="857250" y="2619375"/>
            <a:ext cx="8220075" cy="1666875"/>
          </a:xfrm>
          <a:prstGeom prst="rect">
            <a:avLst/>
          </a:prstGeom>
          <a:solidFill>
            <a:srgbClr val="FFFFFF"/>
          </a:solidFill>
          <a:ln w="9525">
            <a:solidFill>
              <a:srgbClr val="E0DCD3"/>
            </a:solidFill>
            <a:prstDash val="solid"/>
          </a:ln>
        </p:spPr>
      </p:sp>
      <p:pic>
        <p:nvPicPr>
          <p:cNvPr id="19" name="Image 0" descr="preencoded.png">    </p:cNvPr>
          <p:cNvPicPr>
            <a:picLocks noChangeAspect="1"/>
          </p:cNvPicPr>
          <p:nvPr/>
        </p:nvPicPr>
        <p:blipFill>
          <a:blip r:embed="rId1"/>
          <a:stretch>
            <a:fillRect/>
          </a:stretch>
        </p:blipFill>
        <p:spPr>
          <a:xfrm>
            <a:off x="1076325" y="2809875"/>
            <a:ext cx="323850" cy="323850"/>
          </a:xfrm>
          <a:prstGeom prst="rect">
            <a:avLst/>
          </a:prstGeom>
        </p:spPr>
      </p:pic>
      <p:sp>
        <p:nvSpPr>
          <p:cNvPr id="20" name="Text 17"/>
          <p:cNvSpPr/>
          <p:nvPr/>
        </p:nvSpPr>
        <p:spPr>
          <a:xfrm>
            <a:off x="1454125" y="2809875"/>
            <a:ext cx="886130" cy="342900"/>
          </a:xfrm>
          <a:prstGeom prst="rect">
            <a:avLst/>
          </a:prstGeom>
          <a:noFill/>
          <a:ln/>
        </p:spPr>
        <p:txBody>
          <a:bodyPr wrap="square" lIns="25400" tIns="25400" rIns="25400" bIns="25400" rtlCol="0" anchor="t">
            <a:normAutofit/>
          </a:bodyPr>
          <a:lstStyle/>
          <a:p>
            <a:pPr algn="l" indent="0" marL="0">
              <a:lnSpc>
                <a:spcPct val="108750"/>
              </a:lnSpc>
              <a:buNone/>
            </a:pPr>
            <a:r>
              <a:rPr lang="en-US" sz="1800" b="1" dirty="0">
                <a:solidFill>
                  <a:srgbClr val="191C20"/>
                </a:solidFill>
                <a:latin typeface="IBM Plex Sans" pitchFamily="34" charset="0"/>
                <a:ea typeface="IBM Plex Sans" pitchFamily="34" charset="-122"/>
                <a:cs typeface="IBM Plex Sans" pitchFamily="34" charset="-120"/>
              </a:rPr>
              <a:t>PRGate</a:t>
            </a:r>
            <a:endParaRPr lang="en-US" sz="1800" dirty="0"/>
          </a:p>
        </p:txBody>
      </p:sp>
      <p:sp>
        <p:nvSpPr>
          <p:cNvPr id="21" name="Text 18"/>
          <p:cNvSpPr/>
          <p:nvPr/>
        </p:nvSpPr>
        <p:spPr>
          <a:xfrm>
            <a:off x="2318004" y="2809875"/>
            <a:ext cx="2715768" cy="34290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A8551F"/>
                </a:solidFill>
                <a:latin typeface="IBM Plex Mono" pitchFamily="34" charset="0"/>
                <a:ea typeface="IBM Plex Mono" pitchFamily="34" charset="-122"/>
                <a:cs typeface="IBM Plex Mono" pitchFamily="34" charset="-120"/>
              </a:rPr>
              <a:t>queue: interactive</a:t>
            </a:r>
            <a:endParaRPr lang="en-US" sz="1800" dirty="0"/>
          </a:p>
        </p:txBody>
      </p:sp>
      <p:sp>
        <p:nvSpPr>
          <p:cNvPr id="22" name="Text 19"/>
          <p:cNvSpPr/>
          <p:nvPr/>
        </p:nvSpPr>
        <p:spPr>
          <a:xfrm>
            <a:off x="1076325" y="3143250"/>
            <a:ext cx="7571623" cy="99060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4D535B"/>
                </a:solidFill>
                <a:latin typeface="IBM Plex Sans" pitchFamily="34" charset="0"/>
                <a:ea typeface="IBM Plex Sans" pitchFamily="34" charset="-122"/>
                <a:cs typeface="IBM Plex Sans" pitchFamily="34" charset="-120"/>
              </a:rPr>
              <a:t>diff the PR against what is DEPLOYED → bounded impact walk → OPA (policy rules engine) decides pass / warn / block · p95 &lt; 30 s, fail-open · read-only, never writes the graph</a:t>
            </a:r>
            <a:endParaRPr lang="en-US" sz="1800" dirty="0"/>
          </a:p>
        </p:txBody>
      </p:sp>
      <p:sp>
        <p:nvSpPr>
          <p:cNvPr id="23" name="Shape 20"/>
          <p:cNvSpPr/>
          <p:nvPr/>
        </p:nvSpPr>
        <p:spPr>
          <a:xfrm>
            <a:off x="9210675" y="2619375"/>
            <a:ext cx="8220075" cy="1666875"/>
          </a:xfrm>
          <a:prstGeom prst="rect">
            <a:avLst/>
          </a:prstGeom>
          <a:solidFill>
            <a:srgbClr val="FFFFFF"/>
          </a:solidFill>
          <a:ln w="9525">
            <a:solidFill>
              <a:srgbClr val="E0DCD3"/>
            </a:solidFill>
            <a:prstDash val="solid"/>
          </a:ln>
        </p:spPr>
      </p:sp>
      <p:pic>
        <p:nvPicPr>
          <p:cNvPr id="24" name="Image 1" descr="preencoded.png">    </p:cNvPr>
          <p:cNvPicPr>
            <a:picLocks noChangeAspect="1"/>
          </p:cNvPicPr>
          <p:nvPr/>
        </p:nvPicPr>
        <p:blipFill>
          <a:blip r:embed="rId2"/>
          <a:stretch>
            <a:fillRect/>
          </a:stretch>
        </p:blipFill>
        <p:spPr>
          <a:xfrm>
            <a:off x="9429750" y="2809875"/>
            <a:ext cx="323850" cy="323850"/>
          </a:xfrm>
          <a:prstGeom prst="rect">
            <a:avLst/>
          </a:prstGeom>
        </p:spPr>
      </p:pic>
      <p:sp>
        <p:nvSpPr>
          <p:cNvPr id="25" name="Text 21"/>
          <p:cNvSpPr/>
          <p:nvPr/>
        </p:nvSpPr>
        <p:spPr>
          <a:xfrm>
            <a:off x="9807550" y="2809875"/>
            <a:ext cx="2648879" cy="342900"/>
          </a:xfrm>
          <a:prstGeom prst="rect">
            <a:avLst/>
          </a:prstGeom>
          <a:noFill/>
          <a:ln/>
        </p:spPr>
        <p:txBody>
          <a:bodyPr wrap="square" lIns="25400" tIns="25400" rIns="25400" bIns="25400" rtlCol="0" anchor="t">
            <a:normAutofit/>
          </a:bodyPr>
          <a:lstStyle/>
          <a:p>
            <a:pPr algn="l" indent="0" marL="0">
              <a:lnSpc>
                <a:spcPct val="108750"/>
              </a:lnSpc>
              <a:buNone/>
            </a:pPr>
            <a:r>
              <a:rPr lang="en-US" sz="1800" b="1" dirty="0">
                <a:solidFill>
                  <a:srgbClr val="191C20"/>
                </a:solidFill>
                <a:latin typeface="IBM Plex Sans" pitchFamily="34" charset="0"/>
                <a:ea typeface="IBM Plex Sans" pitchFamily="34" charset="-122"/>
                <a:cs typeface="IBM Plex Sans" pitchFamily="34" charset="-120"/>
              </a:rPr>
              <a:t>IncrementalCollection</a:t>
            </a:r>
            <a:endParaRPr lang="en-US" sz="1800" dirty="0"/>
          </a:p>
        </p:txBody>
      </p:sp>
      <p:sp>
        <p:nvSpPr>
          <p:cNvPr id="26" name="Text 22"/>
          <p:cNvSpPr/>
          <p:nvPr/>
        </p:nvSpPr>
        <p:spPr>
          <a:xfrm>
            <a:off x="12269572" y="2809875"/>
            <a:ext cx="1961387" cy="34290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A8551F"/>
                </a:solidFill>
                <a:latin typeface="IBM Plex Mono" pitchFamily="34" charset="0"/>
                <a:ea typeface="IBM Plex Mono" pitchFamily="34" charset="-122"/>
                <a:cs typeface="IBM Plex Mono" pitchFamily="34" charset="-120"/>
              </a:rPr>
              <a:t>queue: events</a:t>
            </a:r>
            <a:endParaRPr lang="en-US" sz="1800" dirty="0"/>
          </a:p>
        </p:txBody>
      </p:sp>
      <p:sp>
        <p:nvSpPr>
          <p:cNvPr id="27" name="Text 23"/>
          <p:cNvSpPr/>
          <p:nvPr/>
        </p:nvSpPr>
        <p:spPr>
          <a:xfrm>
            <a:off x="9429750" y="3143250"/>
            <a:ext cx="7887608" cy="99060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4D535B"/>
                </a:solidFill>
                <a:latin typeface="IBM Plex Sans" pitchFamily="34" charset="0"/>
                <a:ea typeface="IBM Plex Sans" pitchFamily="34" charset="-122"/>
                <a:cs typeface="IBM Plex Sans" pitchFamily="34" charset="-120"/>
              </a:rPr>
              <a:t>class gate → classify the change in ms → re-derive only edges whose determinants changed → URN merge → proposal · after approval it runs its own fenced publish</a:t>
            </a:r>
            <a:endParaRPr lang="en-US" sz="1800" dirty="0"/>
          </a:p>
        </p:txBody>
      </p:sp>
      <p:sp>
        <p:nvSpPr>
          <p:cNvPr id="28" name="Shape 24"/>
          <p:cNvSpPr/>
          <p:nvPr/>
        </p:nvSpPr>
        <p:spPr>
          <a:xfrm>
            <a:off x="857250" y="4419600"/>
            <a:ext cx="8220075" cy="1666875"/>
          </a:xfrm>
          <a:prstGeom prst="rect">
            <a:avLst/>
          </a:prstGeom>
          <a:solidFill>
            <a:srgbClr val="FFFFFF"/>
          </a:solidFill>
          <a:ln w="9525">
            <a:solidFill>
              <a:srgbClr val="E0DCD3"/>
            </a:solidFill>
            <a:prstDash val="solid"/>
          </a:ln>
        </p:spPr>
      </p:sp>
      <p:pic>
        <p:nvPicPr>
          <p:cNvPr id="29" name="Image 2" descr="preencoded.png">    </p:cNvPr>
          <p:cNvPicPr>
            <a:picLocks noChangeAspect="1"/>
          </p:cNvPicPr>
          <p:nvPr/>
        </p:nvPicPr>
        <p:blipFill>
          <a:blip r:embed="rId3"/>
          <a:stretch>
            <a:fillRect/>
          </a:stretch>
        </p:blipFill>
        <p:spPr>
          <a:xfrm>
            <a:off x="1076325" y="4610100"/>
            <a:ext cx="323850" cy="323850"/>
          </a:xfrm>
          <a:prstGeom prst="rect">
            <a:avLst/>
          </a:prstGeom>
        </p:spPr>
      </p:pic>
      <p:sp>
        <p:nvSpPr>
          <p:cNvPr id="30" name="Text 25"/>
          <p:cNvSpPr/>
          <p:nvPr/>
        </p:nvSpPr>
        <p:spPr>
          <a:xfrm>
            <a:off x="1454125" y="4610100"/>
            <a:ext cx="2205304" cy="342900"/>
          </a:xfrm>
          <a:prstGeom prst="rect">
            <a:avLst/>
          </a:prstGeom>
          <a:noFill/>
          <a:ln/>
        </p:spPr>
        <p:txBody>
          <a:bodyPr wrap="square" lIns="25400" tIns="25400" rIns="25400" bIns="25400" rtlCol="0" anchor="t">
            <a:normAutofit/>
          </a:bodyPr>
          <a:lstStyle/>
          <a:p>
            <a:pPr algn="l" indent="0" marL="0">
              <a:lnSpc>
                <a:spcPct val="108750"/>
              </a:lnSpc>
              <a:buNone/>
            </a:pPr>
            <a:r>
              <a:rPr lang="en-US" sz="1800" b="1" dirty="0">
                <a:solidFill>
                  <a:srgbClr val="191C20"/>
                </a:solidFill>
                <a:latin typeface="IBM Plex Sans" pitchFamily="34" charset="0"/>
                <a:ea typeface="IBM Plex Sans" pitchFamily="34" charset="-122"/>
                <a:cs typeface="IBM Plex Sans" pitchFamily="34" charset="-120"/>
              </a:rPr>
              <a:t>BaselineCollection</a:t>
            </a:r>
            <a:endParaRPr lang="en-US" sz="1800" dirty="0"/>
          </a:p>
        </p:txBody>
      </p:sp>
      <p:sp>
        <p:nvSpPr>
          <p:cNvPr id="31" name="Text 26"/>
          <p:cNvSpPr/>
          <p:nvPr/>
        </p:nvSpPr>
        <p:spPr>
          <a:xfrm>
            <a:off x="3512896" y="4610100"/>
            <a:ext cx="1659636" cy="34290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A8551F"/>
                </a:solidFill>
                <a:latin typeface="IBM Plex Mono" pitchFamily="34" charset="0"/>
                <a:ea typeface="IBM Plex Mono" pitchFamily="34" charset="-122"/>
                <a:cs typeface="IBM Plex Mono" pitchFamily="34" charset="-120"/>
              </a:rPr>
              <a:t>queue: bulk</a:t>
            </a:r>
            <a:endParaRPr lang="en-US" sz="1800" dirty="0"/>
          </a:p>
        </p:txBody>
      </p:sp>
      <p:sp>
        <p:nvSpPr>
          <p:cNvPr id="32" name="Text 27"/>
          <p:cNvSpPr/>
          <p:nvPr/>
        </p:nvSpPr>
        <p:spPr>
          <a:xfrm>
            <a:off x="1076325" y="4943475"/>
            <a:ext cx="7704421" cy="99060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4D535B"/>
                </a:solidFill>
                <a:latin typeface="IBM Plex Sans" pitchFamily="34" charset="0"/>
                <a:ea typeface="IBM Plex Sans" pitchFamily="34" charset="-122"/>
                <a:cs typeface="IBM Plex Sans" pitchFamily="34" charset="-120"/>
              </a:rPr>
              <a:t>Distributed Map, one branch per repo, capped parallelism · classification before any checkout → URN merge + app reconcile → proposal → fenced publish after approval</a:t>
            </a:r>
            <a:endParaRPr lang="en-US" sz="1800" dirty="0"/>
          </a:p>
        </p:txBody>
      </p:sp>
      <p:sp>
        <p:nvSpPr>
          <p:cNvPr id="33" name="Shape 28"/>
          <p:cNvSpPr/>
          <p:nvPr/>
        </p:nvSpPr>
        <p:spPr>
          <a:xfrm>
            <a:off x="9210675" y="4419600"/>
            <a:ext cx="8220075" cy="1666875"/>
          </a:xfrm>
          <a:prstGeom prst="rect">
            <a:avLst/>
          </a:prstGeom>
          <a:solidFill>
            <a:srgbClr val="FFFFFF"/>
          </a:solidFill>
          <a:ln w="9525">
            <a:solidFill>
              <a:srgbClr val="E0DCD3"/>
            </a:solidFill>
            <a:prstDash val="solid"/>
          </a:ln>
        </p:spPr>
      </p:sp>
      <p:pic>
        <p:nvPicPr>
          <p:cNvPr id="34" name="Image 3" descr="preencoded.png">    </p:cNvPr>
          <p:cNvPicPr>
            <a:picLocks noChangeAspect="1"/>
          </p:cNvPicPr>
          <p:nvPr/>
        </p:nvPicPr>
        <p:blipFill>
          <a:blip r:embed="rId4"/>
          <a:stretch>
            <a:fillRect/>
          </a:stretch>
        </p:blipFill>
        <p:spPr>
          <a:xfrm>
            <a:off x="9429750" y="4610100"/>
            <a:ext cx="323850" cy="323850"/>
          </a:xfrm>
          <a:prstGeom prst="rect">
            <a:avLst/>
          </a:prstGeom>
        </p:spPr>
      </p:pic>
      <p:sp>
        <p:nvSpPr>
          <p:cNvPr id="35" name="Text 29"/>
          <p:cNvSpPr/>
          <p:nvPr/>
        </p:nvSpPr>
        <p:spPr>
          <a:xfrm>
            <a:off x="9807550" y="4610100"/>
            <a:ext cx="2526921" cy="342900"/>
          </a:xfrm>
          <a:prstGeom prst="rect">
            <a:avLst/>
          </a:prstGeom>
          <a:noFill/>
          <a:ln/>
        </p:spPr>
        <p:txBody>
          <a:bodyPr wrap="square" lIns="25400" tIns="25400" rIns="25400" bIns="25400" rtlCol="0" anchor="t">
            <a:normAutofit/>
          </a:bodyPr>
          <a:lstStyle/>
          <a:p>
            <a:pPr algn="l" indent="0" marL="0">
              <a:lnSpc>
                <a:spcPct val="108750"/>
              </a:lnSpc>
              <a:buNone/>
            </a:pPr>
            <a:r>
              <a:rPr lang="en-US" sz="1800" b="1" dirty="0">
                <a:solidFill>
                  <a:srgbClr val="191C20"/>
                </a:solidFill>
                <a:latin typeface="IBM Plex Sans" pitchFamily="34" charset="0"/>
                <a:ea typeface="IBM Plex Sans" pitchFamily="34" charset="-122"/>
                <a:cs typeface="IBM Plex Sans" pitchFamily="34" charset="-120"/>
              </a:rPr>
              <a:t>NightlyReconciliation</a:t>
            </a:r>
            <a:endParaRPr lang="en-US" sz="1800" dirty="0"/>
          </a:p>
        </p:txBody>
      </p:sp>
      <p:sp>
        <p:nvSpPr>
          <p:cNvPr id="36" name="Text 30"/>
          <p:cNvSpPr/>
          <p:nvPr/>
        </p:nvSpPr>
        <p:spPr>
          <a:xfrm>
            <a:off x="12158701" y="4610100"/>
            <a:ext cx="1659636" cy="34290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A8551F"/>
                </a:solidFill>
                <a:latin typeface="IBM Plex Mono" pitchFamily="34" charset="0"/>
                <a:ea typeface="IBM Plex Mono" pitchFamily="34" charset="-122"/>
                <a:cs typeface="IBM Plex Mono" pitchFamily="34" charset="-120"/>
              </a:rPr>
              <a:t>queue: bulk</a:t>
            </a:r>
            <a:endParaRPr lang="en-US" sz="1800" dirty="0"/>
          </a:p>
        </p:txBody>
      </p:sp>
      <p:sp>
        <p:nvSpPr>
          <p:cNvPr id="37" name="Text 31"/>
          <p:cNvSpPr/>
          <p:nvPr/>
        </p:nvSpPr>
        <p:spPr>
          <a:xfrm>
            <a:off x="9429750" y="4943475"/>
            <a:ext cx="6899861" cy="99060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4D535B"/>
                </a:solidFill>
                <a:latin typeface="IBM Plex Sans" pitchFamily="34" charset="0"/>
                <a:ea typeface="IBM Plex Sans" pitchFamily="34" charset="-122"/>
                <a:cs typeface="IBM Plex Sans" pitchFamily="34" charset="-120"/>
              </a:rPr>
              <a:t>full rescan on Fargate Spot, compared with incremental results → divergence metric — the safety net that keeps determinant-based invalidation honest</a:t>
            </a:r>
            <a:endParaRPr lang="en-US" sz="1800" dirty="0"/>
          </a:p>
        </p:txBody>
      </p:sp>
      <p:sp>
        <p:nvSpPr>
          <p:cNvPr id="38" name="Shape 32"/>
          <p:cNvSpPr/>
          <p:nvPr/>
        </p:nvSpPr>
        <p:spPr>
          <a:xfrm>
            <a:off x="857250" y="6219825"/>
            <a:ext cx="16573500" cy="1371600"/>
          </a:xfrm>
          <a:prstGeom prst="rect">
            <a:avLst/>
          </a:prstGeom>
          <a:solidFill>
            <a:srgbClr val="191C20"/>
          </a:solidFill>
          <a:ln/>
        </p:spPr>
      </p:sp>
      <p:sp>
        <p:nvSpPr>
          <p:cNvPr id="39" name="Text 33"/>
          <p:cNvSpPr/>
          <p:nvPr/>
        </p:nvSpPr>
        <p:spPr>
          <a:xfrm>
            <a:off x="1085850" y="6391275"/>
            <a:ext cx="16613505" cy="1066800"/>
          </a:xfrm>
          <a:prstGeom prst="rect">
            <a:avLst/>
          </a:prstGeom>
          <a:noFill/>
          <a:ln/>
        </p:spPr>
        <p:txBody>
          <a:bodyPr wrap="square" lIns="25400" tIns="25400" rIns="25400" bIns="25400" rtlCol="0" anchor="t">
            <a:normAutofit/>
          </a:bodyPr>
          <a:lstStyle/>
          <a:p>
            <a:pPr algn="l" indent="0" marL="0">
              <a:lnSpc>
                <a:spcPct val="112500"/>
              </a:lnSpc>
              <a:buNone/>
            </a:pPr>
            <a:r>
              <a:rPr lang="en-US" sz="1800" dirty="0">
                <a:solidFill>
                  <a:srgbClr val="8FB3BF"/>
                </a:solidFill>
                <a:latin typeface="IBM Plex Mono" pitchFamily="34" charset="0"/>
                <a:ea typeface="IBM Plex Mono" pitchFamily="34" charset="-122"/>
                <a:cs typeface="IBM Plex Mono" pitchFamily="34" charset="-120"/>
              </a:rPr>
              <a:t>FOLDED AWAY (DE REVIEW) </a:t>
            </a:r>
            <a:pPr algn="l" indent="0" marL="0">
              <a:lnSpc>
                <a:spcPct val="112500"/>
              </a:lnSpc>
              <a:buNone/>
            </a:pPr>
            <a:r>
              <a:rPr lang="en-US" sz="1800" dirty="0">
                <a:solidFill>
                  <a:srgbClr val="E8E4DC"/>
                </a:solidFill>
                <a:highlight>
                  <a:srgbClr val="191C20"/>
                </a:highlight>
                <a:latin typeface="IBM Plex Sans" pitchFamily="34" charset="0"/>
                <a:ea typeface="IBM Plex Sans" pitchFamily="34" charset="-122"/>
                <a:cs typeface="IBM Plex Sans" pitchFamily="34" charset="-120"/>
              </a:rPr>
              <a:t>— </a:t>
            </a:r>
            <a:pPr algn="l" indent="0" marL="0">
              <a:lnSpc>
                <a:spcPct val="112500"/>
              </a:lnSpc>
              <a:buNone/>
            </a:pPr>
            <a:r>
              <a:rPr lang="en-US" sz="1800" b="1" dirty="0">
                <a:solidFill>
                  <a:srgbClr val="E8E4DC"/>
                </a:solidFill>
                <a:latin typeface="IBM Plex Sans" pitchFamily="34" charset="0"/>
                <a:ea typeface="IBM Plex Sans" pitchFamily="34" charset="-122"/>
                <a:cs typeface="IBM Plex Sans" pitchFamily="34" charset="-120"/>
              </a:rPr>
              <a:t>DeploymentPromotion </a:t>
            </a:r>
            <a:pPr algn="l" indent="0" marL="0">
              <a:lnSpc>
                <a:spcPct val="112500"/>
              </a:lnSpc>
              <a:buNone/>
            </a:pPr>
            <a:r>
              <a:rPr lang="en-US" sz="1800" dirty="0">
                <a:solidFill>
                  <a:srgbClr val="E8E4DC"/>
                </a:solidFill>
                <a:highlight>
                  <a:srgbClr val="191C20"/>
                </a:highlight>
                <a:latin typeface="IBM Plex Sans" pitchFamily="34" charset="0"/>
                <a:ea typeface="IBM Plex Sans" pitchFamily="34" charset="-122"/>
                <a:cs typeface="IBM Plex Sans" pitchFamily="34" charset="-120"/>
              </a:rPr>
              <a:t>is now a 3-step Lambda pointer update on the events lane (merged ≠ running still holds; digest without a package → alert + start Incremental) · </a:t>
            </a:r>
            <a:pPr algn="l" indent="0" marL="0">
              <a:lnSpc>
                <a:spcPct val="112500"/>
              </a:lnSpc>
              <a:buNone/>
            </a:pPr>
            <a:r>
              <a:rPr lang="en-US" sz="1800" b="1" dirty="0">
                <a:solidFill>
                  <a:srgbClr val="E8E4DC"/>
                </a:solidFill>
                <a:latin typeface="IBM Plex Sans" pitchFamily="34" charset="0"/>
                <a:ea typeface="IBM Plex Sans" pitchFamily="34" charset="-122"/>
                <a:cs typeface="IBM Plex Sans" pitchFamily="34" charset="-120"/>
              </a:rPr>
              <a:t>Publication </a:t>
            </a:r>
            <a:pPr algn="l" indent="0" marL="0">
              <a:lnSpc>
                <a:spcPct val="112500"/>
              </a:lnSpc>
              <a:buNone/>
            </a:pPr>
            <a:r>
              <a:rPr lang="en-US" sz="1800" dirty="0">
                <a:solidFill>
                  <a:srgbClr val="E8E4DC"/>
                </a:solidFill>
                <a:latin typeface="IBM Plex Sans" pitchFamily="34" charset="0"/>
                <a:ea typeface="IBM Plex Sans" pitchFamily="34" charset="-122"/>
                <a:cs typeface="IBM Plex Sans" pitchFamily="34" charset="-120"/>
              </a:rPr>
              <a:t>is the fenced final stage of Baseline/Incremental — still single-writer with a fencing token · </a:t>
            </a:r>
            <a:pPr algn="l" indent="0" marL="0">
              <a:lnSpc>
                <a:spcPct val="112500"/>
              </a:lnSpc>
              <a:buNone/>
            </a:pPr>
            <a:r>
              <a:rPr lang="en-US" sz="1800" b="1" dirty="0">
                <a:solidFill>
                  <a:srgbClr val="E8E4DC"/>
                </a:solidFill>
                <a:latin typeface="IBM Plex Sans" pitchFamily="34" charset="0"/>
                <a:ea typeface="IBM Plex Sans" pitchFamily="34" charset="-122"/>
                <a:cs typeface="IBM Plex Sans" pitchFamily="34" charset="-120"/>
              </a:rPr>
              <a:t>RuntimeSession </a:t>
            </a:r>
            <a:pPr algn="l" indent="0" marL="0">
              <a:lnSpc>
                <a:spcPct val="112500"/>
              </a:lnSpc>
              <a:buNone/>
            </a:pPr>
            <a:r>
              <a:rPr lang="en-US" sz="1800" dirty="0">
                <a:solidFill>
                  <a:srgbClr val="E8E4DC"/>
                </a:solidFill>
                <a:latin typeface="IBM Plex Sans" pitchFamily="34" charset="0"/>
                <a:ea typeface="IBM Plex Sans" pitchFamily="34" charset="-122"/>
                <a:cs typeface="IBM Plex Sans" pitchFamily="34" charset="-120"/>
              </a:rPr>
              <a:t>is a session controller on the evidence stream, not a state machine</a:t>
            </a:r>
            <a:endParaRPr lang="en-US" sz="1800" dirty="0"/>
          </a:p>
        </p:txBody>
      </p:sp>
      <p:sp>
        <p:nvSpPr>
          <p:cNvPr id="40" name="Shape 34"/>
          <p:cNvSpPr/>
          <p:nvPr/>
        </p:nvSpPr>
        <p:spPr>
          <a:xfrm>
            <a:off x="857250" y="8820150"/>
            <a:ext cx="16573500" cy="1009650"/>
          </a:xfrm>
          <a:prstGeom prst="rect">
            <a:avLst/>
          </a:prstGeom>
          <a:solidFill>
            <a:srgbClr val="FFFFFF"/>
          </a:solidFill>
          <a:ln w="9525">
            <a:solidFill>
              <a:srgbClr val="E0DCD3"/>
            </a:solidFill>
            <a:prstDash val="solid"/>
          </a:ln>
        </p:spPr>
      </p:sp>
      <p:sp>
        <p:nvSpPr>
          <p:cNvPr id="41" name="Text 35"/>
          <p:cNvSpPr/>
          <p:nvPr/>
        </p:nvSpPr>
        <p:spPr>
          <a:xfrm>
            <a:off x="1095375" y="8982075"/>
            <a:ext cx="16594455" cy="723900"/>
          </a:xfrm>
          <a:prstGeom prst="rect">
            <a:avLst/>
          </a:prstGeom>
          <a:noFill/>
          <a:ln/>
        </p:spPr>
        <p:txBody>
          <a:bodyPr wrap="square" lIns="25400" tIns="25400" rIns="25400" bIns="25400" rtlCol="0" anchor="t">
            <a:normAutofit/>
          </a:bodyPr>
          <a:lstStyle/>
          <a:p>
            <a:pPr algn="l" indent="0" marL="0">
              <a:lnSpc>
                <a:spcPct val="112500"/>
              </a:lnSpc>
              <a:buNone/>
            </a:pPr>
            <a:r>
              <a:rPr lang="en-US" sz="1800" dirty="0">
                <a:solidFill>
                  <a:srgbClr val="3D5A48"/>
                </a:solidFill>
                <a:latin typeface="IBM Plex Mono" pitchFamily="34" charset="0"/>
                <a:ea typeface="IBM Plex Mono" pitchFamily="34" charset="-122"/>
                <a:cs typeface="IBM Plex Mono" pitchFamily="34" charset="-120"/>
              </a:rPr>
              <a:t>EXECUTION CONTRACT </a:t>
            </a:r>
            <a:pPr algn="l" indent="0" marL="0">
              <a:lnSpc>
                <a:spcPct val="112500"/>
              </a:lnSpc>
              <a:buNone/>
            </a:pPr>
            <a:r>
              <a:rPr lang="en-US" sz="1800" dirty="0">
                <a:solidFill>
                  <a:srgbClr val="4D535B"/>
                </a:solidFill>
                <a:highlight>
                  <a:srgbClr val="FFFFFF"/>
                </a:highlight>
                <a:latin typeface="IBM Plex Sans" pitchFamily="34" charset="0"/>
                <a:ea typeface="IBM Plex Sans" pitchFamily="34" charset="-122"/>
                <a:cs typeface="IBM Plex Sans" pitchFamily="34" charset="-120"/>
              </a:rPr>
              <a:t>— next slide walks each workflow step by step · redrive resumes failed stages, never restarts · payloads pass by S3 URI + checksum · correlationId stamped per hop · no workflow is manually invokable</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57250" y="400050"/>
            <a:ext cx="18230850" cy="361950"/>
          </a:xfrm>
          <a:prstGeom prst="rect">
            <a:avLst/>
          </a:prstGeom>
          <a:noFill/>
          <a:ln/>
        </p:spPr>
        <p:txBody>
          <a:bodyPr wrap="square" lIns="25400" tIns="25400" rIns="25400" bIns="25400" rtlCol="0" anchor="t">
            <a:normAutofit/>
          </a:bodyPr>
          <a:lstStyle/>
          <a:p>
            <a:pPr algn="l" indent="0" marL="0">
              <a:buNone/>
            </a:pPr>
            <a:r>
              <a:rPr lang="en-US" sz="1950" spc="312" kern="0" dirty="0">
                <a:solidFill>
                  <a:srgbClr val="4D535B"/>
                </a:solidFill>
                <a:latin typeface="IBM Plex Mono" pitchFamily="34" charset="0"/>
                <a:ea typeface="IBM Plex Mono" pitchFamily="34" charset="-122"/>
                <a:cs typeface="IBM Plex Mono" pitchFamily="34" charset="-120"/>
              </a:rPr>
              <a:t>02B-2 · STAGE 2 DETAIL · QUEUE → WORKFLOW → EXTRACTION → OUTPUT</a:t>
            </a:r>
            <a:endParaRPr lang="en-US" sz="1950" dirty="0"/>
          </a:p>
        </p:txBody>
      </p:sp>
      <p:sp>
        <p:nvSpPr>
          <p:cNvPr id="3" name="Text 1"/>
          <p:cNvSpPr/>
          <p:nvPr/>
        </p:nvSpPr>
        <p:spPr>
          <a:xfrm>
            <a:off x="857250" y="838200"/>
            <a:ext cx="18230850" cy="771525"/>
          </a:xfrm>
          <a:prstGeom prst="rect">
            <a:avLst/>
          </a:prstGeom>
          <a:noFill/>
          <a:ln/>
        </p:spPr>
        <p:txBody>
          <a:bodyPr wrap="square" lIns="25400" tIns="25400" rIns="25400" bIns="25400" rtlCol="0" anchor="t">
            <a:normAutofit/>
          </a:bodyPr>
          <a:lstStyle/>
          <a:p>
            <a:pPr algn="l" indent="0" marL="0">
              <a:buNone/>
            </a:pPr>
            <a:r>
              <a:rPr lang="en-US" sz="4500" b="1" dirty="0">
                <a:solidFill>
                  <a:srgbClr val="191C20"/>
                </a:solidFill>
                <a:latin typeface="IBM Plex Sans" pitchFamily="34" charset="0"/>
                <a:ea typeface="IBM Plex Sans" pitchFamily="34" charset="-122"/>
                <a:cs typeface="IBM Plex Sans" pitchFamily="34" charset="-120"/>
              </a:rPr>
              <a:t>Inside Each Workflow</a:t>
            </a:r>
            <a:endParaRPr lang="en-US" sz="4500" dirty="0"/>
          </a:p>
        </p:txBody>
      </p:sp>
      <p:sp>
        <p:nvSpPr>
          <p:cNvPr id="4" name="Shape 2"/>
          <p:cNvSpPr/>
          <p:nvPr/>
        </p:nvSpPr>
        <p:spPr>
          <a:xfrm>
            <a:off x="857250" y="1857375"/>
            <a:ext cx="16573500" cy="19050"/>
          </a:xfrm>
          <a:prstGeom prst="rect">
            <a:avLst/>
          </a:prstGeom>
          <a:solidFill>
            <a:srgbClr val="191C20"/>
          </a:solidFill>
          <a:ln/>
        </p:spPr>
      </p:sp>
      <p:sp>
        <p:nvSpPr>
          <p:cNvPr id="5" name="Shape 3"/>
          <p:cNvSpPr/>
          <p:nvPr/>
        </p:nvSpPr>
        <p:spPr>
          <a:xfrm>
            <a:off x="857250" y="2409825"/>
            <a:ext cx="2857500" cy="9525"/>
          </a:xfrm>
          <a:prstGeom prst="rect">
            <a:avLst/>
          </a:prstGeom>
          <a:solidFill>
            <a:srgbClr val="E0DCD3"/>
          </a:solidFill>
          <a:ln/>
        </p:spPr>
      </p:sp>
      <p:sp>
        <p:nvSpPr>
          <p:cNvPr id="6" name="Text 4"/>
          <p:cNvSpPr/>
          <p:nvPr/>
        </p:nvSpPr>
        <p:spPr>
          <a:xfrm>
            <a:off x="933450" y="1990725"/>
            <a:ext cx="279082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WORKFLOW</a:t>
            </a:r>
            <a:endParaRPr lang="en-US" sz="1800" dirty="0"/>
          </a:p>
        </p:txBody>
      </p:sp>
      <p:sp>
        <p:nvSpPr>
          <p:cNvPr id="7" name="Shape 5"/>
          <p:cNvSpPr/>
          <p:nvPr/>
        </p:nvSpPr>
        <p:spPr>
          <a:xfrm>
            <a:off x="3714750" y="2409825"/>
            <a:ext cx="1619250" cy="9525"/>
          </a:xfrm>
          <a:prstGeom prst="rect">
            <a:avLst/>
          </a:prstGeom>
          <a:solidFill>
            <a:srgbClr val="E0DCD3"/>
          </a:solidFill>
          <a:ln/>
        </p:spPr>
      </p:sp>
      <p:sp>
        <p:nvSpPr>
          <p:cNvPr id="8" name="Text 6"/>
          <p:cNvSpPr/>
          <p:nvPr/>
        </p:nvSpPr>
        <p:spPr>
          <a:xfrm>
            <a:off x="3790950" y="1990725"/>
            <a:ext cx="154305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QUEUE</a:t>
            </a:r>
            <a:endParaRPr lang="en-US" sz="1800" dirty="0"/>
          </a:p>
        </p:txBody>
      </p:sp>
      <p:sp>
        <p:nvSpPr>
          <p:cNvPr id="9" name="Shape 7"/>
          <p:cNvSpPr/>
          <p:nvPr/>
        </p:nvSpPr>
        <p:spPr>
          <a:xfrm>
            <a:off x="5334000" y="2409825"/>
            <a:ext cx="6953250" cy="9525"/>
          </a:xfrm>
          <a:prstGeom prst="rect">
            <a:avLst/>
          </a:prstGeom>
          <a:solidFill>
            <a:srgbClr val="E0DCD3"/>
          </a:solidFill>
          <a:ln/>
        </p:spPr>
      </p:sp>
      <p:sp>
        <p:nvSpPr>
          <p:cNvPr id="10" name="Text 8"/>
          <p:cNvSpPr/>
          <p:nvPr/>
        </p:nvSpPr>
        <p:spPr>
          <a:xfrm>
            <a:off x="5410200" y="1990725"/>
            <a:ext cx="7009448"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STEP BY STEP</a:t>
            </a:r>
            <a:endParaRPr lang="en-US" sz="1800" dirty="0"/>
          </a:p>
        </p:txBody>
      </p:sp>
      <p:sp>
        <p:nvSpPr>
          <p:cNvPr id="11" name="Shape 9"/>
          <p:cNvSpPr/>
          <p:nvPr/>
        </p:nvSpPr>
        <p:spPr>
          <a:xfrm>
            <a:off x="12287250" y="2409825"/>
            <a:ext cx="2381250" cy="9525"/>
          </a:xfrm>
          <a:prstGeom prst="rect">
            <a:avLst/>
          </a:prstGeom>
          <a:solidFill>
            <a:srgbClr val="E0DCD3"/>
          </a:solidFill>
          <a:ln/>
        </p:spPr>
      </p:sp>
      <p:sp>
        <p:nvSpPr>
          <p:cNvPr id="12" name="Text 10"/>
          <p:cNvSpPr/>
          <p:nvPr/>
        </p:nvSpPr>
        <p:spPr>
          <a:xfrm>
            <a:off x="12363450" y="1990725"/>
            <a:ext cx="230505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EXTRACTION</a:t>
            </a:r>
            <a:endParaRPr lang="en-US" sz="1800" dirty="0"/>
          </a:p>
        </p:txBody>
      </p:sp>
      <p:sp>
        <p:nvSpPr>
          <p:cNvPr id="13" name="Shape 11"/>
          <p:cNvSpPr/>
          <p:nvPr/>
        </p:nvSpPr>
        <p:spPr>
          <a:xfrm>
            <a:off x="14668500" y="2409825"/>
            <a:ext cx="2762250" cy="9525"/>
          </a:xfrm>
          <a:prstGeom prst="rect">
            <a:avLst/>
          </a:prstGeom>
          <a:solidFill>
            <a:srgbClr val="E0DCD3"/>
          </a:solidFill>
          <a:ln/>
        </p:spPr>
      </p:sp>
      <p:sp>
        <p:nvSpPr>
          <p:cNvPr id="14" name="Text 12"/>
          <p:cNvSpPr/>
          <p:nvPr/>
        </p:nvSpPr>
        <p:spPr>
          <a:xfrm>
            <a:off x="14744700" y="1990725"/>
            <a:ext cx="2692718"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OUTPUT</a:t>
            </a:r>
            <a:endParaRPr lang="en-US" sz="1800" dirty="0"/>
          </a:p>
        </p:txBody>
      </p:sp>
      <p:sp>
        <p:nvSpPr>
          <p:cNvPr id="15" name="Shape 13"/>
          <p:cNvSpPr/>
          <p:nvPr/>
        </p:nvSpPr>
        <p:spPr>
          <a:xfrm>
            <a:off x="857250" y="3543300"/>
            <a:ext cx="2857500" cy="9525"/>
          </a:xfrm>
          <a:prstGeom prst="rect">
            <a:avLst/>
          </a:prstGeom>
          <a:solidFill>
            <a:srgbClr val="E0DCD3"/>
          </a:solidFill>
          <a:ln/>
        </p:spPr>
      </p:sp>
      <p:sp>
        <p:nvSpPr>
          <p:cNvPr id="16" name="Text 14"/>
          <p:cNvSpPr/>
          <p:nvPr/>
        </p:nvSpPr>
        <p:spPr>
          <a:xfrm>
            <a:off x="933450" y="2524125"/>
            <a:ext cx="2790825" cy="952500"/>
          </a:xfrm>
          <a:prstGeom prst="rect">
            <a:avLst/>
          </a:prstGeom>
          <a:noFill/>
          <a:ln/>
        </p:spPr>
        <p:txBody>
          <a:bodyPr wrap="square" lIns="25400" tIns="25400" rIns="25400" bIns="25400" rtlCol="0" anchor="t">
            <a:normAutofit/>
          </a:bodyPr>
          <a:lstStyle/>
          <a:p>
            <a:pPr algn="l" indent="0" marL="0">
              <a:buNone/>
            </a:pPr>
            <a:r>
              <a:rPr lang="en-US" sz="1800" b="1" dirty="0">
                <a:solidFill>
                  <a:srgbClr val="191C20"/>
                </a:solidFill>
                <a:latin typeface="IBM Plex Sans" pitchFamily="34" charset="0"/>
                <a:ea typeface="IBM Plex Sans" pitchFamily="34" charset="-122"/>
                <a:cs typeface="IBM Plex Sans" pitchFamily="34" charset="-120"/>
              </a:rPr>
              <a:t>PRGate</a:t>
            </a:r>
            <a:endParaRPr lang="en-US" sz="1800" dirty="0"/>
          </a:p>
        </p:txBody>
      </p:sp>
      <p:sp>
        <p:nvSpPr>
          <p:cNvPr id="17" name="Shape 15"/>
          <p:cNvSpPr/>
          <p:nvPr/>
        </p:nvSpPr>
        <p:spPr>
          <a:xfrm>
            <a:off x="3714750" y="3543300"/>
            <a:ext cx="1619250" cy="9525"/>
          </a:xfrm>
          <a:prstGeom prst="rect">
            <a:avLst/>
          </a:prstGeom>
          <a:solidFill>
            <a:srgbClr val="E0DCD3"/>
          </a:solidFill>
          <a:ln/>
        </p:spPr>
      </p:sp>
      <p:sp>
        <p:nvSpPr>
          <p:cNvPr id="18" name="Text 16"/>
          <p:cNvSpPr/>
          <p:nvPr/>
        </p:nvSpPr>
        <p:spPr>
          <a:xfrm>
            <a:off x="3790950" y="2524125"/>
            <a:ext cx="1543050" cy="952500"/>
          </a:xfrm>
          <a:prstGeom prst="rect">
            <a:avLst/>
          </a:prstGeom>
          <a:noFill/>
          <a:ln/>
        </p:spPr>
        <p:txBody>
          <a:bodyPr wrap="square" lIns="25400" tIns="25400" rIns="25400" bIns="25400" rtlCol="0" anchor="t">
            <a:normAutofit/>
          </a:bodyPr>
          <a:lstStyle/>
          <a:p>
            <a:pPr algn="l" indent="0" marL="0">
              <a:buNone/>
            </a:pPr>
            <a:r>
              <a:rPr lang="en-US" sz="1800" dirty="0">
                <a:solidFill>
                  <a:srgbClr val="A8551F"/>
                </a:solidFill>
                <a:latin typeface="IBM Plex Mono" pitchFamily="34" charset="0"/>
                <a:ea typeface="IBM Plex Mono" pitchFamily="34" charset="-122"/>
                <a:cs typeface="IBM Plex Mono" pitchFamily="34" charset="-120"/>
              </a:rPr>
              <a:t>interactive</a:t>
            </a:r>
            <a:endParaRPr lang="en-US" sz="1800" dirty="0"/>
          </a:p>
        </p:txBody>
      </p:sp>
      <p:sp>
        <p:nvSpPr>
          <p:cNvPr id="19" name="Shape 17"/>
          <p:cNvSpPr/>
          <p:nvPr/>
        </p:nvSpPr>
        <p:spPr>
          <a:xfrm>
            <a:off x="5334000" y="3543300"/>
            <a:ext cx="6953250" cy="9525"/>
          </a:xfrm>
          <a:prstGeom prst="rect">
            <a:avLst/>
          </a:prstGeom>
          <a:solidFill>
            <a:srgbClr val="E0DCD3"/>
          </a:solidFill>
          <a:ln/>
        </p:spPr>
      </p:sp>
      <p:sp>
        <p:nvSpPr>
          <p:cNvPr id="20" name="Text 18"/>
          <p:cNvSpPr/>
          <p:nvPr/>
        </p:nvSpPr>
        <p:spPr>
          <a:xfrm>
            <a:off x="5410200" y="2524125"/>
            <a:ext cx="7009448" cy="9525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Sans" pitchFamily="34" charset="0"/>
                <a:ea typeface="IBM Plex Sans" pitchFamily="34" charset="-122"/>
                <a:cs typeface="IBM Plex Sans" pitchFamily="34" charset="-120"/>
              </a:rPr>
              <a:t>1 fetch head candidate → 2 look up deployed env baseline → 3 diff → 4 pinned impact walk → 5 OPA verdict → 6 PR check + comment</a:t>
            </a:r>
            <a:endParaRPr lang="en-US" sz="1800" dirty="0"/>
          </a:p>
        </p:txBody>
      </p:sp>
      <p:sp>
        <p:nvSpPr>
          <p:cNvPr id="21" name="Shape 19"/>
          <p:cNvSpPr/>
          <p:nvPr/>
        </p:nvSpPr>
        <p:spPr>
          <a:xfrm>
            <a:off x="12287250" y="3543300"/>
            <a:ext cx="2381250" cy="9525"/>
          </a:xfrm>
          <a:prstGeom prst="rect">
            <a:avLst/>
          </a:prstGeom>
          <a:solidFill>
            <a:srgbClr val="E0DCD3"/>
          </a:solidFill>
          <a:ln/>
        </p:spPr>
      </p:sp>
      <p:sp>
        <p:nvSpPr>
          <p:cNvPr id="22" name="Text 20"/>
          <p:cNvSpPr/>
          <p:nvPr/>
        </p:nvSpPr>
        <p:spPr>
          <a:xfrm>
            <a:off x="12363450" y="2524125"/>
            <a:ext cx="2305050" cy="9525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Sans" pitchFamily="34" charset="0"/>
                <a:ea typeface="IBM Plex Sans" pitchFamily="34" charset="-122"/>
                <a:cs typeface="IBM Plex Sans" pitchFamily="34" charset="-120"/>
              </a:rPr>
              <a:t>parsers + cache only — never the LLM</a:t>
            </a:r>
            <a:endParaRPr lang="en-US" sz="1800" dirty="0"/>
          </a:p>
        </p:txBody>
      </p:sp>
      <p:sp>
        <p:nvSpPr>
          <p:cNvPr id="23" name="Shape 21"/>
          <p:cNvSpPr/>
          <p:nvPr/>
        </p:nvSpPr>
        <p:spPr>
          <a:xfrm>
            <a:off x="14668500" y="3543300"/>
            <a:ext cx="2762250" cy="9525"/>
          </a:xfrm>
          <a:prstGeom prst="rect">
            <a:avLst/>
          </a:prstGeom>
          <a:solidFill>
            <a:srgbClr val="E0DCD3"/>
          </a:solidFill>
          <a:ln/>
        </p:spPr>
      </p:sp>
      <p:sp>
        <p:nvSpPr>
          <p:cNvPr id="24" name="Text 22"/>
          <p:cNvSpPr/>
          <p:nvPr/>
        </p:nvSpPr>
        <p:spPr>
          <a:xfrm>
            <a:off x="14744700" y="2524125"/>
            <a:ext cx="2692718" cy="9525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Sans" pitchFamily="34" charset="0"/>
                <a:ea typeface="IBM Plex Sans" pitchFamily="34" charset="-122"/>
                <a:cs typeface="IBM Plex Sans" pitchFamily="34" charset="-120"/>
              </a:rPr>
              <a:t>pass / warn / block (read-only)</a:t>
            </a:r>
            <a:endParaRPr lang="en-US" sz="1800" dirty="0"/>
          </a:p>
        </p:txBody>
      </p:sp>
      <p:sp>
        <p:nvSpPr>
          <p:cNvPr id="25" name="Shape 23"/>
          <p:cNvSpPr/>
          <p:nvPr/>
        </p:nvSpPr>
        <p:spPr>
          <a:xfrm>
            <a:off x="857250" y="4981575"/>
            <a:ext cx="2857500" cy="9525"/>
          </a:xfrm>
          <a:prstGeom prst="rect">
            <a:avLst/>
          </a:prstGeom>
          <a:solidFill>
            <a:srgbClr val="E0DCD3"/>
          </a:solidFill>
          <a:ln/>
        </p:spPr>
      </p:sp>
      <p:sp>
        <p:nvSpPr>
          <p:cNvPr id="26" name="Text 24"/>
          <p:cNvSpPr/>
          <p:nvPr/>
        </p:nvSpPr>
        <p:spPr>
          <a:xfrm>
            <a:off x="933450" y="3657600"/>
            <a:ext cx="2790825" cy="1257300"/>
          </a:xfrm>
          <a:prstGeom prst="rect">
            <a:avLst/>
          </a:prstGeom>
          <a:noFill/>
          <a:ln/>
        </p:spPr>
        <p:txBody>
          <a:bodyPr wrap="square" lIns="25400" tIns="25400" rIns="25400" bIns="25400" rtlCol="0" anchor="t">
            <a:normAutofit/>
          </a:bodyPr>
          <a:lstStyle/>
          <a:p>
            <a:pPr algn="l" indent="0" marL="0">
              <a:buNone/>
            </a:pPr>
            <a:r>
              <a:rPr lang="en-US" sz="1800" b="1" dirty="0">
                <a:solidFill>
                  <a:srgbClr val="191C20"/>
                </a:solidFill>
                <a:latin typeface="IBM Plex Sans" pitchFamily="34" charset="0"/>
                <a:ea typeface="IBM Plex Sans" pitchFamily="34" charset="-122"/>
                <a:cs typeface="IBM Plex Sans" pitchFamily="34" charset="-120"/>
              </a:rPr>
              <a:t>IncrementalCollection</a:t>
            </a:r>
            <a:endParaRPr lang="en-US" sz="1800" dirty="0"/>
          </a:p>
        </p:txBody>
      </p:sp>
      <p:sp>
        <p:nvSpPr>
          <p:cNvPr id="27" name="Shape 25"/>
          <p:cNvSpPr/>
          <p:nvPr/>
        </p:nvSpPr>
        <p:spPr>
          <a:xfrm>
            <a:off x="3714750" y="4981575"/>
            <a:ext cx="1619250" cy="9525"/>
          </a:xfrm>
          <a:prstGeom prst="rect">
            <a:avLst/>
          </a:prstGeom>
          <a:solidFill>
            <a:srgbClr val="E0DCD3"/>
          </a:solidFill>
          <a:ln/>
        </p:spPr>
      </p:sp>
      <p:sp>
        <p:nvSpPr>
          <p:cNvPr id="28" name="Text 26"/>
          <p:cNvSpPr/>
          <p:nvPr/>
        </p:nvSpPr>
        <p:spPr>
          <a:xfrm>
            <a:off x="3790950" y="3657600"/>
            <a:ext cx="1543050" cy="1257300"/>
          </a:xfrm>
          <a:prstGeom prst="rect">
            <a:avLst/>
          </a:prstGeom>
          <a:noFill/>
          <a:ln/>
        </p:spPr>
        <p:txBody>
          <a:bodyPr wrap="square" lIns="25400" tIns="25400" rIns="25400" bIns="25400" rtlCol="0" anchor="t">
            <a:normAutofit/>
          </a:bodyPr>
          <a:lstStyle/>
          <a:p>
            <a:pPr algn="l" indent="0" marL="0">
              <a:buNone/>
            </a:pPr>
            <a:r>
              <a:rPr lang="en-US" sz="1800" dirty="0">
                <a:solidFill>
                  <a:srgbClr val="A8551F"/>
                </a:solidFill>
                <a:latin typeface="IBM Plex Mono" pitchFamily="34" charset="0"/>
                <a:ea typeface="IBM Plex Mono" pitchFamily="34" charset="-122"/>
                <a:cs typeface="IBM Plex Mono" pitchFamily="34" charset="-120"/>
              </a:rPr>
              <a:t>events</a:t>
            </a:r>
            <a:endParaRPr lang="en-US" sz="1800" dirty="0"/>
          </a:p>
        </p:txBody>
      </p:sp>
      <p:sp>
        <p:nvSpPr>
          <p:cNvPr id="29" name="Shape 27"/>
          <p:cNvSpPr/>
          <p:nvPr/>
        </p:nvSpPr>
        <p:spPr>
          <a:xfrm>
            <a:off x="5334000" y="4981575"/>
            <a:ext cx="6953250" cy="9525"/>
          </a:xfrm>
          <a:prstGeom prst="rect">
            <a:avLst/>
          </a:prstGeom>
          <a:solidFill>
            <a:srgbClr val="E0DCD3"/>
          </a:solidFill>
          <a:ln/>
        </p:spPr>
      </p:sp>
      <p:sp>
        <p:nvSpPr>
          <p:cNvPr id="30" name="Text 28"/>
          <p:cNvSpPr/>
          <p:nvPr/>
        </p:nvSpPr>
        <p:spPr>
          <a:xfrm>
            <a:off x="5410200" y="3657600"/>
            <a:ext cx="7009448" cy="12573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Sans" pitchFamily="34" charset="0"/>
                <a:ea typeface="IBM Plex Sans" pitchFamily="34" charset="-122"/>
                <a:cs typeface="IBM Plex Sans" pitchFamily="34" charset="-120"/>
              </a:rPr>
              <a:t>1 class gate → 2 classify change (ms) → 3 extract affected edges → 4 merge by URN → 5 diff vs baseline → 6 proposal → 7 after approval: fenced publish</a:t>
            </a:r>
            <a:endParaRPr lang="en-US" sz="1800" dirty="0"/>
          </a:p>
        </p:txBody>
      </p:sp>
      <p:sp>
        <p:nvSpPr>
          <p:cNvPr id="31" name="Shape 29"/>
          <p:cNvSpPr/>
          <p:nvPr/>
        </p:nvSpPr>
        <p:spPr>
          <a:xfrm>
            <a:off x="12287250" y="4981575"/>
            <a:ext cx="2381250" cy="9525"/>
          </a:xfrm>
          <a:prstGeom prst="rect">
            <a:avLst/>
          </a:prstGeom>
          <a:solidFill>
            <a:srgbClr val="E0DCD3"/>
          </a:solidFill>
          <a:ln/>
        </p:spPr>
      </p:sp>
      <p:sp>
        <p:nvSpPr>
          <p:cNvPr id="32" name="Text 30"/>
          <p:cNvSpPr/>
          <p:nvPr/>
        </p:nvSpPr>
        <p:spPr>
          <a:xfrm>
            <a:off x="12363450" y="3657600"/>
            <a:ext cx="2305050" cy="12573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Sans" pitchFamily="34" charset="0"/>
                <a:ea typeface="IBM Plex Sans" pitchFamily="34" charset="-122"/>
                <a:cs typeface="IBM Plex Sans" pitchFamily="34" charset="-120"/>
              </a:rPr>
              <a:t>parsers → AST service · LLM gateway on cache miss</a:t>
            </a:r>
            <a:endParaRPr lang="en-US" sz="1800" dirty="0"/>
          </a:p>
        </p:txBody>
      </p:sp>
      <p:sp>
        <p:nvSpPr>
          <p:cNvPr id="33" name="Shape 31"/>
          <p:cNvSpPr/>
          <p:nvPr/>
        </p:nvSpPr>
        <p:spPr>
          <a:xfrm>
            <a:off x="14668500" y="4981575"/>
            <a:ext cx="2762250" cy="9525"/>
          </a:xfrm>
          <a:prstGeom prst="rect">
            <a:avLst/>
          </a:prstGeom>
          <a:solidFill>
            <a:srgbClr val="E0DCD3"/>
          </a:solidFill>
          <a:ln/>
        </p:spPr>
      </p:sp>
      <p:sp>
        <p:nvSpPr>
          <p:cNvPr id="34" name="Text 32"/>
          <p:cNvSpPr/>
          <p:nvPr/>
        </p:nvSpPr>
        <p:spPr>
          <a:xfrm>
            <a:off x="14744700" y="3657600"/>
            <a:ext cx="2692718" cy="12573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Sans" pitchFamily="34" charset="0"/>
                <a:ea typeface="IBM Plex Sans" pitchFamily="34" charset="-122"/>
                <a:cs typeface="IBM Plex Sans" pitchFamily="34" charset="-120"/>
              </a:rPr>
              <a:t>new active graph version</a:t>
            </a:r>
            <a:endParaRPr lang="en-US" sz="1800" dirty="0"/>
          </a:p>
        </p:txBody>
      </p:sp>
      <p:sp>
        <p:nvSpPr>
          <p:cNvPr id="35" name="Shape 33"/>
          <p:cNvSpPr/>
          <p:nvPr/>
        </p:nvSpPr>
        <p:spPr>
          <a:xfrm>
            <a:off x="857250" y="6115050"/>
            <a:ext cx="2857500" cy="9525"/>
          </a:xfrm>
          <a:prstGeom prst="rect">
            <a:avLst/>
          </a:prstGeom>
          <a:solidFill>
            <a:srgbClr val="E0DCD3"/>
          </a:solidFill>
          <a:ln/>
        </p:spPr>
      </p:sp>
      <p:sp>
        <p:nvSpPr>
          <p:cNvPr id="36" name="Text 34"/>
          <p:cNvSpPr/>
          <p:nvPr/>
        </p:nvSpPr>
        <p:spPr>
          <a:xfrm>
            <a:off x="933450" y="5095875"/>
            <a:ext cx="2790825" cy="952500"/>
          </a:xfrm>
          <a:prstGeom prst="rect">
            <a:avLst/>
          </a:prstGeom>
          <a:noFill/>
          <a:ln/>
        </p:spPr>
        <p:txBody>
          <a:bodyPr wrap="square" lIns="25400" tIns="25400" rIns="25400" bIns="25400" rtlCol="0" anchor="t">
            <a:normAutofit/>
          </a:bodyPr>
          <a:lstStyle/>
          <a:p>
            <a:pPr algn="l" indent="0" marL="0">
              <a:buNone/>
            </a:pPr>
            <a:r>
              <a:rPr lang="en-US" sz="1800" b="1" dirty="0">
                <a:solidFill>
                  <a:srgbClr val="191C20"/>
                </a:solidFill>
                <a:latin typeface="IBM Plex Sans" pitchFamily="34" charset="0"/>
                <a:ea typeface="IBM Plex Sans" pitchFamily="34" charset="-122"/>
                <a:cs typeface="IBM Plex Sans" pitchFamily="34" charset="-120"/>
              </a:rPr>
              <a:t>BaselineCollection</a:t>
            </a:r>
            <a:endParaRPr lang="en-US" sz="1800" dirty="0"/>
          </a:p>
        </p:txBody>
      </p:sp>
      <p:sp>
        <p:nvSpPr>
          <p:cNvPr id="37" name="Shape 35"/>
          <p:cNvSpPr/>
          <p:nvPr/>
        </p:nvSpPr>
        <p:spPr>
          <a:xfrm>
            <a:off x="3714750" y="6115050"/>
            <a:ext cx="1619250" cy="9525"/>
          </a:xfrm>
          <a:prstGeom prst="rect">
            <a:avLst/>
          </a:prstGeom>
          <a:solidFill>
            <a:srgbClr val="E0DCD3"/>
          </a:solidFill>
          <a:ln/>
        </p:spPr>
      </p:sp>
      <p:sp>
        <p:nvSpPr>
          <p:cNvPr id="38" name="Text 36"/>
          <p:cNvSpPr/>
          <p:nvPr/>
        </p:nvSpPr>
        <p:spPr>
          <a:xfrm>
            <a:off x="3790950" y="5095875"/>
            <a:ext cx="1543050" cy="952500"/>
          </a:xfrm>
          <a:prstGeom prst="rect">
            <a:avLst/>
          </a:prstGeom>
          <a:noFill/>
          <a:ln/>
        </p:spPr>
        <p:txBody>
          <a:bodyPr wrap="square" lIns="25400" tIns="25400" rIns="25400" bIns="25400" rtlCol="0" anchor="t">
            <a:normAutofit/>
          </a:bodyPr>
          <a:lstStyle/>
          <a:p>
            <a:pPr algn="l" indent="0" marL="0">
              <a:buNone/>
            </a:pPr>
            <a:r>
              <a:rPr lang="en-US" sz="1800" dirty="0">
                <a:solidFill>
                  <a:srgbClr val="A8551F"/>
                </a:solidFill>
                <a:latin typeface="IBM Plex Mono" pitchFamily="34" charset="0"/>
                <a:ea typeface="IBM Plex Mono" pitchFamily="34" charset="-122"/>
                <a:cs typeface="IBM Plex Mono" pitchFamily="34" charset="-120"/>
              </a:rPr>
              <a:t>bulk</a:t>
            </a:r>
            <a:endParaRPr lang="en-US" sz="1800" dirty="0"/>
          </a:p>
        </p:txBody>
      </p:sp>
      <p:sp>
        <p:nvSpPr>
          <p:cNvPr id="39" name="Shape 37"/>
          <p:cNvSpPr/>
          <p:nvPr/>
        </p:nvSpPr>
        <p:spPr>
          <a:xfrm>
            <a:off x="5334000" y="6115050"/>
            <a:ext cx="6953250" cy="9525"/>
          </a:xfrm>
          <a:prstGeom prst="rect">
            <a:avLst/>
          </a:prstGeom>
          <a:solidFill>
            <a:srgbClr val="E0DCD3"/>
          </a:solidFill>
          <a:ln/>
        </p:spPr>
      </p:sp>
      <p:sp>
        <p:nvSpPr>
          <p:cNvPr id="40" name="Text 38"/>
          <p:cNvSpPr/>
          <p:nvPr/>
        </p:nvSpPr>
        <p:spPr>
          <a:xfrm>
            <a:off x="5410200" y="5095875"/>
            <a:ext cx="7009448" cy="9525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Sans" pitchFamily="34" charset="0"/>
                <a:ea typeface="IBM Plex Sans" pitchFamily="34" charset="-122"/>
                <a:cs typeface="IBM Plex Sans" pitchFamily="34" charset="-120"/>
              </a:rPr>
              <a:t>1 resolve member repos → 2 classify each → 3 Distributed Map extraction per repo → 4 URN merge + app reconcile → 5 proposal → 6 after approval: fenced publish</a:t>
            </a:r>
            <a:endParaRPr lang="en-US" sz="1800" dirty="0"/>
          </a:p>
        </p:txBody>
      </p:sp>
      <p:sp>
        <p:nvSpPr>
          <p:cNvPr id="41" name="Shape 39"/>
          <p:cNvSpPr/>
          <p:nvPr/>
        </p:nvSpPr>
        <p:spPr>
          <a:xfrm>
            <a:off x="12287250" y="6115050"/>
            <a:ext cx="2381250" cy="9525"/>
          </a:xfrm>
          <a:prstGeom prst="rect">
            <a:avLst/>
          </a:prstGeom>
          <a:solidFill>
            <a:srgbClr val="E0DCD3"/>
          </a:solidFill>
          <a:ln/>
        </p:spPr>
      </p:sp>
      <p:sp>
        <p:nvSpPr>
          <p:cNvPr id="42" name="Text 40"/>
          <p:cNvSpPr/>
          <p:nvPr/>
        </p:nvSpPr>
        <p:spPr>
          <a:xfrm>
            <a:off x="12363450" y="5095875"/>
            <a:ext cx="2305050" cy="9525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Sans" pitchFamily="34" charset="0"/>
                <a:ea typeface="IBM Plex Sans" pitchFamily="34" charset="-122"/>
                <a:cs typeface="IBM Plex Sans" pitchFamily="34" charset="-120"/>
              </a:rPr>
              <a:t>all services: parsers + AST + LLM gateway</a:t>
            </a:r>
            <a:endParaRPr lang="en-US" sz="1800" dirty="0"/>
          </a:p>
        </p:txBody>
      </p:sp>
      <p:sp>
        <p:nvSpPr>
          <p:cNvPr id="43" name="Shape 41"/>
          <p:cNvSpPr/>
          <p:nvPr/>
        </p:nvSpPr>
        <p:spPr>
          <a:xfrm>
            <a:off x="14668500" y="6115050"/>
            <a:ext cx="2762250" cy="9525"/>
          </a:xfrm>
          <a:prstGeom prst="rect">
            <a:avLst/>
          </a:prstGeom>
          <a:solidFill>
            <a:srgbClr val="E0DCD3"/>
          </a:solidFill>
          <a:ln/>
        </p:spPr>
      </p:sp>
      <p:sp>
        <p:nvSpPr>
          <p:cNvPr id="44" name="Text 42"/>
          <p:cNvSpPr/>
          <p:nvPr/>
        </p:nvSpPr>
        <p:spPr>
          <a:xfrm>
            <a:off x="14744700" y="5095875"/>
            <a:ext cx="2692718" cy="9525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Sans" pitchFamily="34" charset="0"/>
                <a:ea typeface="IBM Plex Sans" pitchFamily="34" charset="-122"/>
                <a:cs typeface="IBM Plex Sans" pitchFamily="34" charset="-120"/>
              </a:rPr>
              <a:t>approved canonical baseline</a:t>
            </a:r>
            <a:endParaRPr lang="en-US" sz="1800" dirty="0"/>
          </a:p>
        </p:txBody>
      </p:sp>
      <p:sp>
        <p:nvSpPr>
          <p:cNvPr id="45" name="Shape 43"/>
          <p:cNvSpPr/>
          <p:nvPr/>
        </p:nvSpPr>
        <p:spPr>
          <a:xfrm>
            <a:off x="857250" y="7248525"/>
            <a:ext cx="2857500" cy="9525"/>
          </a:xfrm>
          <a:prstGeom prst="rect">
            <a:avLst/>
          </a:prstGeom>
          <a:solidFill>
            <a:srgbClr val="E0DCD3"/>
          </a:solidFill>
          <a:ln/>
        </p:spPr>
      </p:sp>
      <p:sp>
        <p:nvSpPr>
          <p:cNvPr id="46" name="Text 44"/>
          <p:cNvSpPr/>
          <p:nvPr/>
        </p:nvSpPr>
        <p:spPr>
          <a:xfrm>
            <a:off x="933450" y="6229350"/>
            <a:ext cx="2790825" cy="952500"/>
          </a:xfrm>
          <a:prstGeom prst="rect">
            <a:avLst/>
          </a:prstGeom>
          <a:noFill/>
          <a:ln/>
        </p:spPr>
        <p:txBody>
          <a:bodyPr wrap="square" lIns="25400" tIns="25400" rIns="25400" bIns="25400" rtlCol="0" anchor="t">
            <a:normAutofit/>
          </a:bodyPr>
          <a:lstStyle/>
          <a:p>
            <a:pPr algn="l" indent="0" marL="0">
              <a:buNone/>
            </a:pPr>
            <a:r>
              <a:rPr lang="en-US" sz="1800" b="1" dirty="0">
                <a:solidFill>
                  <a:srgbClr val="191C20"/>
                </a:solidFill>
                <a:latin typeface="IBM Plex Sans" pitchFamily="34" charset="0"/>
                <a:ea typeface="IBM Plex Sans" pitchFamily="34" charset="-122"/>
                <a:cs typeface="IBM Plex Sans" pitchFamily="34" charset="-120"/>
              </a:rPr>
              <a:t>NightlyReconciliation</a:t>
            </a:r>
            <a:endParaRPr lang="en-US" sz="1800" dirty="0"/>
          </a:p>
        </p:txBody>
      </p:sp>
      <p:sp>
        <p:nvSpPr>
          <p:cNvPr id="47" name="Shape 45"/>
          <p:cNvSpPr/>
          <p:nvPr/>
        </p:nvSpPr>
        <p:spPr>
          <a:xfrm>
            <a:off x="3714750" y="7248525"/>
            <a:ext cx="1619250" cy="9525"/>
          </a:xfrm>
          <a:prstGeom prst="rect">
            <a:avLst/>
          </a:prstGeom>
          <a:solidFill>
            <a:srgbClr val="E0DCD3"/>
          </a:solidFill>
          <a:ln/>
        </p:spPr>
      </p:sp>
      <p:sp>
        <p:nvSpPr>
          <p:cNvPr id="48" name="Text 46"/>
          <p:cNvSpPr/>
          <p:nvPr/>
        </p:nvSpPr>
        <p:spPr>
          <a:xfrm>
            <a:off x="3790950" y="6229350"/>
            <a:ext cx="1543050" cy="952500"/>
          </a:xfrm>
          <a:prstGeom prst="rect">
            <a:avLst/>
          </a:prstGeom>
          <a:noFill/>
          <a:ln/>
        </p:spPr>
        <p:txBody>
          <a:bodyPr wrap="square" lIns="25400" tIns="25400" rIns="25400" bIns="25400" rtlCol="0" anchor="t">
            <a:normAutofit/>
          </a:bodyPr>
          <a:lstStyle/>
          <a:p>
            <a:pPr algn="l" indent="0" marL="0">
              <a:buNone/>
            </a:pPr>
            <a:r>
              <a:rPr lang="en-US" sz="1800" dirty="0">
                <a:solidFill>
                  <a:srgbClr val="A8551F"/>
                </a:solidFill>
                <a:latin typeface="IBM Plex Mono" pitchFamily="34" charset="0"/>
                <a:ea typeface="IBM Plex Mono" pitchFamily="34" charset="-122"/>
                <a:cs typeface="IBM Plex Mono" pitchFamily="34" charset="-120"/>
              </a:rPr>
              <a:t>bulk</a:t>
            </a:r>
            <a:endParaRPr lang="en-US" sz="1800" dirty="0"/>
          </a:p>
        </p:txBody>
      </p:sp>
      <p:sp>
        <p:nvSpPr>
          <p:cNvPr id="49" name="Shape 47"/>
          <p:cNvSpPr/>
          <p:nvPr/>
        </p:nvSpPr>
        <p:spPr>
          <a:xfrm>
            <a:off x="5334000" y="7248525"/>
            <a:ext cx="6953250" cy="9525"/>
          </a:xfrm>
          <a:prstGeom prst="rect">
            <a:avLst/>
          </a:prstGeom>
          <a:solidFill>
            <a:srgbClr val="E0DCD3"/>
          </a:solidFill>
          <a:ln/>
        </p:spPr>
      </p:sp>
      <p:sp>
        <p:nvSpPr>
          <p:cNvPr id="50" name="Text 48"/>
          <p:cNvSpPr/>
          <p:nvPr/>
        </p:nvSpPr>
        <p:spPr>
          <a:xfrm>
            <a:off x="5410200" y="6229350"/>
            <a:ext cx="7009448" cy="9525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Sans" pitchFamily="34" charset="0"/>
                <a:ea typeface="IBM Plex Sans" pitchFamily="34" charset="-122"/>
                <a:cs typeface="IBM Plex Sans" pitchFamily="34" charset="-120"/>
              </a:rPr>
              <a:t>1 full rescan on Fargate Spot → 2 compare with incremental results → 3 publish drift</a:t>
            </a:r>
            <a:endParaRPr lang="en-US" sz="1800" dirty="0"/>
          </a:p>
        </p:txBody>
      </p:sp>
      <p:sp>
        <p:nvSpPr>
          <p:cNvPr id="51" name="Shape 49"/>
          <p:cNvSpPr/>
          <p:nvPr/>
        </p:nvSpPr>
        <p:spPr>
          <a:xfrm>
            <a:off x="12287250" y="7248525"/>
            <a:ext cx="2381250" cy="9525"/>
          </a:xfrm>
          <a:prstGeom prst="rect">
            <a:avLst/>
          </a:prstGeom>
          <a:solidFill>
            <a:srgbClr val="E0DCD3"/>
          </a:solidFill>
          <a:ln/>
        </p:spPr>
      </p:sp>
      <p:sp>
        <p:nvSpPr>
          <p:cNvPr id="52" name="Text 50"/>
          <p:cNvSpPr/>
          <p:nvPr/>
        </p:nvSpPr>
        <p:spPr>
          <a:xfrm>
            <a:off x="12363450" y="6229350"/>
            <a:ext cx="2305050" cy="9525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Sans" pitchFamily="34" charset="0"/>
                <a:ea typeface="IBM Plex Sans" pitchFamily="34" charset="-122"/>
                <a:cs typeface="IBM Plex Sans" pitchFamily="34" charset="-120"/>
              </a:rPr>
              <a:t>all services · LLM gateway in batch waves</a:t>
            </a:r>
            <a:endParaRPr lang="en-US" sz="1800" dirty="0"/>
          </a:p>
        </p:txBody>
      </p:sp>
      <p:sp>
        <p:nvSpPr>
          <p:cNvPr id="53" name="Shape 51"/>
          <p:cNvSpPr/>
          <p:nvPr/>
        </p:nvSpPr>
        <p:spPr>
          <a:xfrm>
            <a:off x="14668500" y="7248525"/>
            <a:ext cx="2762250" cy="9525"/>
          </a:xfrm>
          <a:prstGeom prst="rect">
            <a:avLst/>
          </a:prstGeom>
          <a:solidFill>
            <a:srgbClr val="E0DCD3"/>
          </a:solidFill>
          <a:ln/>
        </p:spPr>
      </p:sp>
      <p:sp>
        <p:nvSpPr>
          <p:cNvPr id="54" name="Text 52"/>
          <p:cNvSpPr/>
          <p:nvPr/>
        </p:nvSpPr>
        <p:spPr>
          <a:xfrm>
            <a:off x="14744700" y="6229350"/>
            <a:ext cx="2692718" cy="9525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Sans" pitchFamily="34" charset="0"/>
                <a:ea typeface="IBM Plex Sans" pitchFamily="34" charset="-122"/>
                <a:cs typeface="IBM Plex Sans" pitchFamily="34" charset="-120"/>
              </a:rPr>
              <a:t>divergence metric (safety net)</a:t>
            </a:r>
            <a:endParaRPr lang="en-US" sz="1800" dirty="0"/>
          </a:p>
        </p:txBody>
      </p:sp>
      <p:sp>
        <p:nvSpPr>
          <p:cNvPr id="55" name="Shape 53"/>
          <p:cNvSpPr/>
          <p:nvPr/>
        </p:nvSpPr>
        <p:spPr>
          <a:xfrm>
            <a:off x="857250" y="8382000"/>
            <a:ext cx="2857500" cy="9525"/>
          </a:xfrm>
          <a:prstGeom prst="rect">
            <a:avLst/>
          </a:prstGeom>
          <a:solidFill>
            <a:srgbClr val="E0DCD3"/>
          </a:solidFill>
          <a:ln/>
        </p:spPr>
      </p:sp>
      <p:sp>
        <p:nvSpPr>
          <p:cNvPr id="56" name="Text 54"/>
          <p:cNvSpPr/>
          <p:nvPr/>
        </p:nvSpPr>
        <p:spPr>
          <a:xfrm>
            <a:off x="933450" y="7362825"/>
            <a:ext cx="2790825" cy="952500"/>
          </a:xfrm>
          <a:prstGeom prst="rect">
            <a:avLst/>
          </a:prstGeom>
          <a:noFill/>
          <a:ln/>
        </p:spPr>
        <p:txBody>
          <a:bodyPr wrap="square" lIns="25400" tIns="25400" rIns="25400" bIns="25400" rtlCol="0" anchor="t">
            <a:normAutofit/>
          </a:bodyPr>
          <a:lstStyle/>
          <a:p>
            <a:pPr algn="l" indent="0" marL="0">
              <a:buNone/>
            </a:pPr>
            <a:r>
              <a:rPr lang="en-US" sz="1800" b="1" dirty="0">
                <a:solidFill>
                  <a:srgbClr val="191C20"/>
                </a:solidFill>
                <a:latin typeface="IBM Plex Sans" pitchFamily="34" charset="0"/>
                <a:ea typeface="IBM Plex Sans" pitchFamily="34" charset="-122"/>
                <a:cs typeface="IBM Plex Sans" pitchFamily="34" charset="-120"/>
              </a:rPr>
              <a:t>Deploy pointer update </a:t>
            </a:r>
            <a:pPr algn="l" indent="0" marL="0">
              <a:buNone/>
            </a:pPr>
            <a:r>
              <a:rPr lang="en-US" sz="1800" b="1" dirty="0">
                <a:solidFill>
                  <a:srgbClr val="4D535B"/>
                </a:solidFill>
                <a:latin typeface="IBM Plex Mono" pitchFamily="34" charset="0"/>
                <a:ea typeface="IBM Plex Mono" pitchFamily="34" charset="-122"/>
                <a:cs typeface="IBM Plex Mono" pitchFamily="34" charset="-120"/>
              </a:rPr>
              <a:t>(λ step — not a workflow)</a:t>
            </a:r>
            <a:endParaRPr lang="en-US" sz="1800" dirty="0"/>
          </a:p>
        </p:txBody>
      </p:sp>
      <p:sp>
        <p:nvSpPr>
          <p:cNvPr id="57" name="Shape 55"/>
          <p:cNvSpPr/>
          <p:nvPr/>
        </p:nvSpPr>
        <p:spPr>
          <a:xfrm>
            <a:off x="3714750" y="8382000"/>
            <a:ext cx="1619250" cy="9525"/>
          </a:xfrm>
          <a:prstGeom prst="rect">
            <a:avLst/>
          </a:prstGeom>
          <a:solidFill>
            <a:srgbClr val="E0DCD3"/>
          </a:solidFill>
          <a:ln/>
        </p:spPr>
      </p:sp>
      <p:sp>
        <p:nvSpPr>
          <p:cNvPr id="58" name="Text 56"/>
          <p:cNvSpPr/>
          <p:nvPr/>
        </p:nvSpPr>
        <p:spPr>
          <a:xfrm>
            <a:off x="3790950" y="7362825"/>
            <a:ext cx="1543050" cy="952500"/>
          </a:xfrm>
          <a:prstGeom prst="rect">
            <a:avLst/>
          </a:prstGeom>
          <a:noFill/>
          <a:ln/>
        </p:spPr>
        <p:txBody>
          <a:bodyPr wrap="square" lIns="25400" tIns="25400" rIns="25400" bIns="25400" rtlCol="0" anchor="t">
            <a:normAutofit/>
          </a:bodyPr>
          <a:lstStyle/>
          <a:p>
            <a:pPr algn="l" indent="0" marL="0">
              <a:buNone/>
            </a:pPr>
            <a:r>
              <a:rPr lang="en-US" sz="1800" dirty="0">
                <a:solidFill>
                  <a:srgbClr val="A8551F"/>
                </a:solidFill>
                <a:latin typeface="IBM Plex Mono" pitchFamily="34" charset="0"/>
                <a:ea typeface="IBM Plex Mono" pitchFamily="34" charset="-122"/>
                <a:cs typeface="IBM Plex Mono" pitchFamily="34" charset="-120"/>
              </a:rPr>
              <a:t>events</a:t>
            </a:r>
            <a:endParaRPr lang="en-US" sz="1800" dirty="0"/>
          </a:p>
        </p:txBody>
      </p:sp>
      <p:sp>
        <p:nvSpPr>
          <p:cNvPr id="59" name="Shape 57"/>
          <p:cNvSpPr/>
          <p:nvPr/>
        </p:nvSpPr>
        <p:spPr>
          <a:xfrm>
            <a:off x="5334000" y="8382000"/>
            <a:ext cx="6953250" cy="9525"/>
          </a:xfrm>
          <a:prstGeom prst="rect">
            <a:avLst/>
          </a:prstGeom>
          <a:solidFill>
            <a:srgbClr val="E0DCD3"/>
          </a:solidFill>
          <a:ln/>
        </p:spPr>
      </p:sp>
      <p:sp>
        <p:nvSpPr>
          <p:cNvPr id="60" name="Text 58"/>
          <p:cNvSpPr/>
          <p:nvPr/>
        </p:nvSpPr>
        <p:spPr>
          <a:xfrm>
            <a:off x="5410200" y="7362825"/>
            <a:ext cx="7009448" cy="9525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Sans" pitchFamily="34" charset="0"/>
                <a:ea typeface="IBM Plex Sans" pitchFamily="34" charset="-122"/>
                <a:cs typeface="IBM Plex Sans" pitchFamily="34" charset="-120"/>
              </a:rPr>
              <a:t>1 match deployed digest to merged candidate → 2 promote / reactivate prior → 3 no package? alert + start Incremental</a:t>
            </a:r>
            <a:endParaRPr lang="en-US" sz="1800" dirty="0"/>
          </a:p>
        </p:txBody>
      </p:sp>
      <p:sp>
        <p:nvSpPr>
          <p:cNvPr id="61" name="Shape 59"/>
          <p:cNvSpPr/>
          <p:nvPr/>
        </p:nvSpPr>
        <p:spPr>
          <a:xfrm>
            <a:off x="12287250" y="8382000"/>
            <a:ext cx="2381250" cy="9525"/>
          </a:xfrm>
          <a:prstGeom prst="rect">
            <a:avLst/>
          </a:prstGeom>
          <a:solidFill>
            <a:srgbClr val="E0DCD3"/>
          </a:solidFill>
          <a:ln/>
        </p:spPr>
      </p:sp>
      <p:sp>
        <p:nvSpPr>
          <p:cNvPr id="62" name="Text 60"/>
          <p:cNvSpPr/>
          <p:nvPr/>
        </p:nvSpPr>
        <p:spPr>
          <a:xfrm>
            <a:off x="12363450" y="7362825"/>
            <a:ext cx="2305050" cy="9525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Sans" pitchFamily="34" charset="0"/>
                <a:ea typeface="IBM Plex Sans" pitchFamily="34" charset="-122"/>
                <a:cs typeface="IBM Plex Sans" pitchFamily="34" charset="-120"/>
              </a:rPr>
              <a:t>none — pointer update only</a:t>
            </a:r>
            <a:endParaRPr lang="en-US" sz="1800" dirty="0"/>
          </a:p>
        </p:txBody>
      </p:sp>
      <p:sp>
        <p:nvSpPr>
          <p:cNvPr id="63" name="Shape 61"/>
          <p:cNvSpPr/>
          <p:nvPr/>
        </p:nvSpPr>
        <p:spPr>
          <a:xfrm>
            <a:off x="14668500" y="8382000"/>
            <a:ext cx="2762250" cy="9525"/>
          </a:xfrm>
          <a:prstGeom prst="rect">
            <a:avLst/>
          </a:prstGeom>
          <a:solidFill>
            <a:srgbClr val="E0DCD3"/>
          </a:solidFill>
          <a:ln/>
        </p:spPr>
      </p:sp>
      <p:sp>
        <p:nvSpPr>
          <p:cNvPr id="64" name="Text 62"/>
          <p:cNvSpPr/>
          <p:nvPr/>
        </p:nvSpPr>
        <p:spPr>
          <a:xfrm>
            <a:off x="14744700" y="7362825"/>
            <a:ext cx="2692718" cy="9525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Sans" pitchFamily="34" charset="0"/>
                <a:ea typeface="IBM Plex Sans" pitchFamily="34" charset="-122"/>
                <a:cs typeface="IBM Plex Sans" pitchFamily="34" charset="-120"/>
              </a:rPr>
              <a:t>environment-authoritative version</a:t>
            </a:r>
            <a:endParaRPr lang="en-US" sz="1800" dirty="0"/>
          </a:p>
        </p:txBody>
      </p:sp>
      <p:sp>
        <p:nvSpPr>
          <p:cNvPr id="65" name="Shape 63"/>
          <p:cNvSpPr/>
          <p:nvPr/>
        </p:nvSpPr>
        <p:spPr>
          <a:xfrm>
            <a:off x="857250" y="9515475"/>
            <a:ext cx="2857500" cy="9525"/>
          </a:xfrm>
          <a:prstGeom prst="rect">
            <a:avLst/>
          </a:prstGeom>
          <a:solidFill>
            <a:srgbClr val="E0DCD3"/>
          </a:solidFill>
          <a:ln/>
        </p:spPr>
      </p:sp>
      <p:sp>
        <p:nvSpPr>
          <p:cNvPr id="66" name="Text 64"/>
          <p:cNvSpPr/>
          <p:nvPr/>
        </p:nvSpPr>
        <p:spPr>
          <a:xfrm>
            <a:off x="933450" y="8496300"/>
            <a:ext cx="2790825" cy="952500"/>
          </a:xfrm>
          <a:prstGeom prst="rect">
            <a:avLst/>
          </a:prstGeom>
          <a:noFill/>
          <a:ln/>
        </p:spPr>
        <p:txBody>
          <a:bodyPr wrap="square" lIns="25400" tIns="25400" rIns="25400" bIns="25400" rtlCol="0" anchor="t">
            <a:normAutofit/>
          </a:bodyPr>
          <a:lstStyle/>
          <a:p>
            <a:pPr algn="l" indent="0" marL="0">
              <a:buNone/>
            </a:pPr>
            <a:r>
              <a:rPr lang="en-US" sz="1800" b="1" dirty="0">
                <a:solidFill>
                  <a:srgbClr val="191C20"/>
                </a:solidFill>
                <a:latin typeface="IBM Plex Sans" pitchFamily="34" charset="0"/>
                <a:ea typeface="IBM Plex Sans" pitchFamily="34" charset="-122"/>
                <a:cs typeface="IBM Plex Sans" pitchFamily="34" charset="-120"/>
              </a:rPr>
              <a:t>RuntimeSession </a:t>
            </a:r>
            <a:pPr algn="l" indent="0" marL="0">
              <a:buNone/>
            </a:pPr>
            <a:r>
              <a:rPr lang="en-US" sz="1800" b="1" dirty="0">
                <a:solidFill>
                  <a:srgbClr val="4D535B"/>
                </a:solidFill>
                <a:latin typeface="IBM Plex Mono" pitchFamily="34" charset="0"/>
                <a:ea typeface="IBM Plex Mono" pitchFamily="34" charset="-122"/>
                <a:cs typeface="IBM Plex Mono" pitchFamily="34" charset="-120"/>
              </a:rPr>
              <a:t>(controller)</a:t>
            </a:r>
            <a:endParaRPr lang="en-US" sz="1800" dirty="0"/>
          </a:p>
        </p:txBody>
      </p:sp>
      <p:sp>
        <p:nvSpPr>
          <p:cNvPr id="67" name="Shape 65"/>
          <p:cNvSpPr/>
          <p:nvPr/>
        </p:nvSpPr>
        <p:spPr>
          <a:xfrm>
            <a:off x="3714750" y="9515475"/>
            <a:ext cx="1619250" cy="9525"/>
          </a:xfrm>
          <a:prstGeom prst="rect">
            <a:avLst/>
          </a:prstGeom>
          <a:solidFill>
            <a:srgbClr val="E0DCD3"/>
          </a:solidFill>
          <a:ln/>
        </p:spPr>
      </p:sp>
      <p:sp>
        <p:nvSpPr>
          <p:cNvPr id="68" name="Text 66"/>
          <p:cNvSpPr/>
          <p:nvPr/>
        </p:nvSpPr>
        <p:spPr>
          <a:xfrm>
            <a:off x="3790950" y="8496300"/>
            <a:ext cx="1543050" cy="952500"/>
          </a:xfrm>
          <a:prstGeom prst="rect">
            <a:avLst/>
          </a:prstGeom>
          <a:noFill/>
          <a:ln/>
        </p:spPr>
        <p:txBody>
          <a:bodyPr wrap="square" lIns="25400" tIns="25400" rIns="25400" bIns="25400" rtlCol="0" anchor="t">
            <a:normAutofit/>
          </a:bodyPr>
          <a:lstStyle/>
          <a:p>
            <a:pPr algn="l" indent="0" marL="0">
              <a:buNone/>
            </a:pPr>
            <a:r>
              <a:rPr lang="en-US" sz="1800" dirty="0">
                <a:solidFill>
                  <a:srgbClr val="A8551F"/>
                </a:solidFill>
                <a:latin typeface="IBM Plex Mono" pitchFamily="34" charset="0"/>
                <a:ea typeface="IBM Plex Mono" pitchFamily="34" charset="-122"/>
                <a:cs typeface="IBM Plex Mono" pitchFamily="34" charset="-120"/>
              </a:rPr>
              <a:t>evidence stream</a:t>
            </a:r>
            <a:endParaRPr lang="en-US" sz="1800" dirty="0"/>
          </a:p>
        </p:txBody>
      </p:sp>
      <p:sp>
        <p:nvSpPr>
          <p:cNvPr id="69" name="Shape 67"/>
          <p:cNvSpPr/>
          <p:nvPr/>
        </p:nvSpPr>
        <p:spPr>
          <a:xfrm>
            <a:off x="5334000" y="9515475"/>
            <a:ext cx="6953250" cy="9525"/>
          </a:xfrm>
          <a:prstGeom prst="rect">
            <a:avLst/>
          </a:prstGeom>
          <a:solidFill>
            <a:srgbClr val="E0DCD3"/>
          </a:solidFill>
          <a:ln/>
        </p:spPr>
      </p:sp>
      <p:sp>
        <p:nvSpPr>
          <p:cNvPr id="70" name="Text 68"/>
          <p:cNvSpPr/>
          <p:nvPr/>
        </p:nvSpPr>
        <p:spPr>
          <a:xfrm>
            <a:off x="5410200" y="8496300"/>
            <a:ext cx="7009448" cy="9525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Sans" pitchFamily="34" charset="0"/>
                <a:ea typeface="IBM Plex Sans" pitchFamily="34" charset="-122"/>
                <a:cs typeface="IBM Plex Sans" pitchFamily="34" charset="-120"/>
              </a:rPr>
              <a:t>1 create signed, expiring session → 2 enable flag → 3 OTel sidecars / SDKs + Spark &amp; Dask emit metadata → 4 reconcile closing manifests</a:t>
            </a:r>
            <a:endParaRPr lang="en-US" sz="1800" dirty="0"/>
          </a:p>
        </p:txBody>
      </p:sp>
      <p:sp>
        <p:nvSpPr>
          <p:cNvPr id="71" name="Shape 69"/>
          <p:cNvSpPr/>
          <p:nvPr/>
        </p:nvSpPr>
        <p:spPr>
          <a:xfrm>
            <a:off x="12287250" y="9515475"/>
            <a:ext cx="2381250" cy="9525"/>
          </a:xfrm>
          <a:prstGeom prst="rect">
            <a:avLst/>
          </a:prstGeom>
          <a:solidFill>
            <a:srgbClr val="E0DCD3"/>
          </a:solidFill>
          <a:ln/>
        </p:spPr>
      </p:sp>
      <p:sp>
        <p:nvSpPr>
          <p:cNvPr id="72" name="Text 70"/>
          <p:cNvSpPr/>
          <p:nvPr/>
        </p:nvSpPr>
        <p:spPr>
          <a:xfrm>
            <a:off x="12363450" y="8496300"/>
            <a:ext cx="2305050" cy="9525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Sans" pitchFamily="34" charset="0"/>
                <a:ea typeface="IBM Plex Sans" pitchFamily="34" charset="-122"/>
                <a:cs typeface="IBM Plex Sans" pitchFamily="34" charset="-120"/>
              </a:rPr>
              <a:t>runtime evidence lane only</a:t>
            </a:r>
            <a:endParaRPr lang="en-US" sz="1800" dirty="0"/>
          </a:p>
        </p:txBody>
      </p:sp>
      <p:sp>
        <p:nvSpPr>
          <p:cNvPr id="73" name="Shape 71"/>
          <p:cNvSpPr/>
          <p:nvPr/>
        </p:nvSpPr>
        <p:spPr>
          <a:xfrm>
            <a:off x="14668500" y="9515475"/>
            <a:ext cx="2762250" cy="9525"/>
          </a:xfrm>
          <a:prstGeom prst="rect">
            <a:avLst/>
          </a:prstGeom>
          <a:solidFill>
            <a:srgbClr val="E0DCD3"/>
          </a:solidFill>
          <a:ln/>
        </p:spPr>
      </p:sp>
      <p:sp>
        <p:nvSpPr>
          <p:cNvPr id="74" name="Text 72"/>
          <p:cNvSpPr/>
          <p:nvPr/>
        </p:nvSpPr>
        <p:spPr>
          <a:xfrm>
            <a:off x="14744700" y="8496300"/>
            <a:ext cx="2692718" cy="9525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Sans" pitchFamily="34" charset="0"/>
                <a:ea typeface="IBM Plex Sans" pitchFamily="34" charset="-122"/>
                <a:cs typeface="IBM Plex Sans" pitchFamily="34" charset="-120"/>
              </a:rPr>
              <a:t>corroboration — raises confidence</a:t>
            </a:r>
            <a:endParaRPr lang="en-US" sz="1800" dirty="0"/>
          </a:p>
        </p:txBody>
      </p:sp>
      <p:sp>
        <p:nvSpPr>
          <p:cNvPr id="75" name="Text 73"/>
          <p:cNvSpPr/>
          <p:nvPr/>
        </p:nvSpPr>
        <p:spPr>
          <a:xfrm>
            <a:off x="857250" y="9658350"/>
            <a:ext cx="17070705" cy="6477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THREE QUEUES ONLY — interactive · events · bulk · PUBLICATION IS THE FENCED TAIL OF THE PROPOSING WORKFLOWS, NOT A SEPARATE MACHINE</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57250" y="342900"/>
            <a:ext cx="18230850" cy="361950"/>
          </a:xfrm>
          <a:prstGeom prst="rect">
            <a:avLst/>
          </a:prstGeom>
          <a:noFill/>
          <a:ln/>
        </p:spPr>
        <p:txBody>
          <a:bodyPr wrap="square" lIns="25400" tIns="25400" rIns="25400" bIns="25400" rtlCol="0" anchor="t">
            <a:normAutofit/>
          </a:bodyPr>
          <a:lstStyle/>
          <a:p>
            <a:pPr algn="l" indent="0" marL="0">
              <a:buNone/>
            </a:pPr>
            <a:r>
              <a:rPr lang="en-US" sz="1950" spc="312" kern="0" dirty="0">
                <a:solidFill>
                  <a:srgbClr val="4D535B"/>
                </a:solidFill>
                <a:latin typeface="IBM Plex Mono" pitchFamily="34" charset="0"/>
                <a:ea typeface="IBM Plex Mono" pitchFamily="34" charset="-122"/>
                <a:cs typeface="IBM Plex Mono" pitchFamily="34" charset="-120"/>
              </a:rPr>
              <a:t>02C · STAGE 3 OF 4 · FOCUSED EXTRACTION SERVICES + RUNTIME LAYER · ONE URN SCHEMA</a:t>
            </a:r>
            <a:endParaRPr lang="en-US" sz="1950" dirty="0"/>
          </a:p>
        </p:txBody>
      </p:sp>
      <p:sp>
        <p:nvSpPr>
          <p:cNvPr id="3" name="Text 1"/>
          <p:cNvSpPr/>
          <p:nvPr/>
        </p:nvSpPr>
        <p:spPr>
          <a:xfrm>
            <a:off x="857250" y="762000"/>
            <a:ext cx="18230850" cy="771525"/>
          </a:xfrm>
          <a:prstGeom prst="rect">
            <a:avLst/>
          </a:prstGeom>
          <a:noFill/>
          <a:ln/>
        </p:spPr>
        <p:txBody>
          <a:bodyPr wrap="square" lIns="25400" tIns="25400" rIns="25400" bIns="25400" rtlCol="0" anchor="t">
            <a:normAutofit/>
          </a:bodyPr>
          <a:lstStyle/>
          <a:p>
            <a:pPr algn="l" indent="0" marL="0">
              <a:buNone/>
            </a:pPr>
            <a:r>
              <a:rPr lang="en-US" sz="4500" b="1" dirty="0">
                <a:solidFill>
                  <a:srgbClr val="191C20"/>
                </a:solidFill>
                <a:latin typeface="IBM Plex Sans" pitchFamily="34" charset="0"/>
                <a:ea typeface="IBM Plex Sans" pitchFamily="34" charset="-122"/>
                <a:cs typeface="IBM Plex Sans" pitchFamily="34" charset="-120"/>
              </a:rPr>
              <a:t>Analysis — Extraction Services &amp; Runtime Layer</a:t>
            </a:r>
            <a:endParaRPr lang="en-US" sz="4500" dirty="0"/>
          </a:p>
        </p:txBody>
      </p:sp>
      <p:sp>
        <p:nvSpPr>
          <p:cNvPr id="4" name="Shape 2"/>
          <p:cNvSpPr/>
          <p:nvPr/>
        </p:nvSpPr>
        <p:spPr>
          <a:xfrm>
            <a:off x="857250" y="1628775"/>
            <a:ext cx="1360289" cy="438150"/>
          </a:xfrm>
          <a:prstGeom prst="rect">
            <a:avLst/>
          </a:prstGeom>
          <a:ln w="9525">
            <a:solidFill>
              <a:srgbClr val="E0DCD3"/>
            </a:solidFill>
            <a:prstDash val="solid"/>
          </a:ln>
        </p:spPr>
      </p:sp>
      <p:sp>
        <p:nvSpPr>
          <p:cNvPr id="5" name="Text 3"/>
          <p:cNvSpPr/>
          <p:nvPr/>
        </p:nvSpPr>
        <p:spPr>
          <a:xfrm>
            <a:off x="1057275" y="1695450"/>
            <a:ext cx="103643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SOURCES</a:t>
            </a:r>
            <a:endParaRPr lang="en-US" sz="1800" dirty="0"/>
          </a:p>
        </p:txBody>
      </p:sp>
      <p:sp>
        <p:nvSpPr>
          <p:cNvPr id="6" name="Text 4"/>
          <p:cNvSpPr/>
          <p:nvPr/>
        </p:nvSpPr>
        <p:spPr>
          <a:xfrm>
            <a:off x="2331839" y="1695450"/>
            <a:ext cx="213866" cy="342900"/>
          </a:xfrm>
          <a:prstGeom prst="rect">
            <a:avLst/>
          </a:prstGeom>
          <a:noFill/>
          <a:ln/>
        </p:spPr>
        <p:txBody>
          <a:bodyPr wrap="square" lIns="25400" tIns="25400" rIns="25400" bIns="25400" rtlCol="0" anchor="t">
            <a:normAutofit/>
          </a:bodyPr>
          <a:lstStyle/>
          <a:p>
            <a:pPr algn="l" indent="0" marL="0">
              <a:buNone/>
            </a:pPr>
            <a:r>
              <a:rPr lang="en-US" sz="1800" dirty="0">
                <a:solidFill>
                  <a:srgbClr val="9AA0A8"/>
                </a:solidFill>
                <a:latin typeface="IBM Plex Mono" pitchFamily="34" charset="0"/>
                <a:ea typeface="IBM Plex Mono" pitchFamily="34" charset="-122"/>
                <a:cs typeface="IBM Plex Mono" pitchFamily="34" charset="-120"/>
              </a:rPr>
              <a:t>→</a:t>
            </a:r>
            <a:endParaRPr lang="en-US" sz="1800" dirty="0"/>
          </a:p>
        </p:txBody>
      </p:sp>
      <p:sp>
        <p:nvSpPr>
          <p:cNvPr id="7" name="Shape 5"/>
          <p:cNvSpPr/>
          <p:nvPr/>
        </p:nvSpPr>
        <p:spPr>
          <a:xfrm>
            <a:off x="2583805" y="1628775"/>
            <a:ext cx="2594670" cy="438150"/>
          </a:xfrm>
          <a:prstGeom prst="rect">
            <a:avLst/>
          </a:prstGeom>
          <a:ln w="9525">
            <a:solidFill>
              <a:srgbClr val="E0DCD3"/>
            </a:solidFill>
            <a:prstDash val="solid"/>
          </a:ln>
        </p:spPr>
      </p:sp>
      <p:sp>
        <p:nvSpPr>
          <p:cNvPr id="8" name="Text 6"/>
          <p:cNvSpPr/>
          <p:nvPr/>
        </p:nvSpPr>
        <p:spPr>
          <a:xfrm>
            <a:off x="2783830" y="1695450"/>
            <a:ext cx="227246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INTAKE &amp; ROUTING</a:t>
            </a:r>
            <a:endParaRPr lang="en-US" sz="1800" dirty="0"/>
          </a:p>
        </p:txBody>
      </p:sp>
      <p:sp>
        <p:nvSpPr>
          <p:cNvPr id="9" name="Text 7"/>
          <p:cNvSpPr/>
          <p:nvPr/>
        </p:nvSpPr>
        <p:spPr>
          <a:xfrm>
            <a:off x="5292775" y="1695450"/>
            <a:ext cx="213866" cy="342900"/>
          </a:xfrm>
          <a:prstGeom prst="rect">
            <a:avLst/>
          </a:prstGeom>
          <a:noFill/>
          <a:ln/>
        </p:spPr>
        <p:txBody>
          <a:bodyPr wrap="square" lIns="25400" tIns="25400" rIns="25400" bIns="25400" rtlCol="0" anchor="t">
            <a:normAutofit/>
          </a:bodyPr>
          <a:lstStyle/>
          <a:p>
            <a:pPr algn="l" indent="0" marL="0">
              <a:buNone/>
            </a:pPr>
            <a:r>
              <a:rPr lang="en-US" sz="1800" dirty="0">
                <a:solidFill>
                  <a:srgbClr val="9AA0A8"/>
                </a:solidFill>
                <a:latin typeface="IBM Plex Mono" pitchFamily="34" charset="0"/>
                <a:ea typeface="IBM Plex Mono" pitchFamily="34" charset="-122"/>
                <a:cs typeface="IBM Plex Mono" pitchFamily="34" charset="-120"/>
              </a:rPr>
              <a:t>→</a:t>
            </a:r>
            <a:endParaRPr lang="en-US" sz="1800" dirty="0"/>
          </a:p>
        </p:txBody>
      </p:sp>
      <p:sp>
        <p:nvSpPr>
          <p:cNvPr id="10" name="Shape 8"/>
          <p:cNvSpPr/>
          <p:nvPr/>
        </p:nvSpPr>
        <p:spPr>
          <a:xfrm>
            <a:off x="5544741" y="1628775"/>
            <a:ext cx="2046089" cy="438150"/>
          </a:xfrm>
          <a:prstGeom prst="rect">
            <a:avLst/>
          </a:prstGeom>
          <a:ln w="9525">
            <a:solidFill>
              <a:srgbClr val="E0DCD3"/>
            </a:solidFill>
            <a:prstDash val="solid"/>
          </a:ln>
        </p:spPr>
      </p:sp>
      <p:sp>
        <p:nvSpPr>
          <p:cNvPr id="11" name="Text 9"/>
          <p:cNvSpPr/>
          <p:nvPr/>
        </p:nvSpPr>
        <p:spPr>
          <a:xfrm>
            <a:off x="5744766" y="1695450"/>
            <a:ext cx="172223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COORDINATION</a:t>
            </a:r>
            <a:endParaRPr lang="en-US" sz="1800" dirty="0"/>
          </a:p>
        </p:txBody>
      </p:sp>
      <p:sp>
        <p:nvSpPr>
          <p:cNvPr id="12" name="Text 10"/>
          <p:cNvSpPr/>
          <p:nvPr/>
        </p:nvSpPr>
        <p:spPr>
          <a:xfrm>
            <a:off x="7705130" y="1695450"/>
            <a:ext cx="213866" cy="342900"/>
          </a:xfrm>
          <a:prstGeom prst="rect">
            <a:avLst/>
          </a:prstGeom>
          <a:noFill/>
          <a:ln/>
        </p:spPr>
        <p:txBody>
          <a:bodyPr wrap="square" lIns="25400" tIns="25400" rIns="25400" bIns="25400" rtlCol="0" anchor="t">
            <a:normAutofit/>
          </a:bodyPr>
          <a:lstStyle/>
          <a:p>
            <a:pPr algn="l" indent="0" marL="0">
              <a:buNone/>
            </a:pPr>
            <a:r>
              <a:rPr lang="en-US" sz="1800" dirty="0">
                <a:solidFill>
                  <a:srgbClr val="9AA0A8"/>
                </a:solidFill>
                <a:latin typeface="IBM Plex Mono" pitchFamily="34" charset="0"/>
                <a:ea typeface="IBM Plex Mono" pitchFamily="34" charset="-122"/>
                <a:cs typeface="IBM Plex Mono" pitchFamily="34" charset="-120"/>
              </a:rPr>
              <a:t>→</a:t>
            </a:r>
            <a:endParaRPr lang="en-US" sz="1800" dirty="0"/>
          </a:p>
        </p:txBody>
      </p:sp>
      <p:sp>
        <p:nvSpPr>
          <p:cNvPr id="13" name="Shape 11"/>
          <p:cNvSpPr/>
          <p:nvPr/>
        </p:nvSpPr>
        <p:spPr>
          <a:xfrm>
            <a:off x="7957096" y="1638300"/>
            <a:ext cx="1478310" cy="419100"/>
          </a:xfrm>
          <a:prstGeom prst="rect">
            <a:avLst/>
          </a:prstGeom>
          <a:solidFill>
            <a:srgbClr val="191C20"/>
          </a:solidFill>
          <a:ln/>
        </p:spPr>
      </p:sp>
      <p:sp>
        <p:nvSpPr>
          <p:cNvPr id="14" name="Text 12"/>
          <p:cNvSpPr/>
          <p:nvPr/>
        </p:nvSpPr>
        <p:spPr>
          <a:xfrm>
            <a:off x="8147596" y="1695450"/>
            <a:ext cx="117351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2EFE9"/>
                </a:solidFill>
                <a:latin typeface="IBM Plex Mono" pitchFamily="34" charset="0"/>
                <a:ea typeface="IBM Plex Mono" pitchFamily="34" charset="-122"/>
                <a:cs typeface="IBM Plex Mono" pitchFamily="34" charset="-120"/>
              </a:rPr>
              <a:t>ANALYSIS</a:t>
            </a:r>
            <a:endParaRPr lang="en-US" sz="1800" dirty="0"/>
          </a:p>
        </p:txBody>
      </p:sp>
      <p:sp>
        <p:nvSpPr>
          <p:cNvPr id="15" name="Text 13"/>
          <p:cNvSpPr/>
          <p:nvPr/>
        </p:nvSpPr>
        <p:spPr>
          <a:xfrm>
            <a:off x="9549705" y="1695450"/>
            <a:ext cx="213866" cy="342900"/>
          </a:xfrm>
          <a:prstGeom prst="rect">
            <a:avLst/>
          </a:prstGeom>
          <a:noFill/>
          <a:ln/>
        </p:spPr>
        <p:txBody>
          <a:bodyPr wrap="square" lIns="25400" tIns="25400" rIns="25400" bIns="25400" rtlCol="0" anchor="t">
            <a:normAutofit/>
          </a:bodyPr>
          <a:lstStyle/>
          <a:p>
            <a:pPr algn="l" indent="0" marL="0">
              <a:buNone/>
            </a:pPr>
            <a:r>
              <a:rPr lang="en-US" sz="1800" dirty="0">
                <a:solidFill>
                  <a:srgbClr val="9AA0A8"/>
                </a:solidFill>
                <a:latin typeface="IBM Plex Mono" pitchFamily="34" charset="0"/>
                <a:ea typeface="IBM Plex Mono" pitchFamily="34" charset="-122"/>
                <a:cs typeface="IBM Plex Mono" pitchFamily="34" charset="-120"/>
              </a:rPr>
              <a:t>→</a:t>
            </a:r>
            <a:endParaRPr lang="en-US" sz="1800" dirty="0"/>
          </a:p>
        </p:txBody>
      </p:sp>
      <p:sp>
        <p:nvSpPr>
          <p:cNvPr id="16" name="Shape 14"/>
          <p:cNvSpPr/>
          <p:nvPr/>
        </p:nvSpPr>
        <p:spPr>
          <a:xfrm>
            <a:off x="9801671" y="1628775"/>
            <a:ext cx="2594670" cy="438150"/>
          </a:xfrm>
          <a:prstGeom prst="rect">
            <a:avLst/>
          </a:prstGeom>
          <a:ln w="9525">
            <a:solidFill>
              <a:srgbClr val="E0DCD3"/>
            </a:solidFill>
            <a:prstDash val="solid"/>
          </a:ln>
        </p:spPr>
      </p:sp>
      <p:sp>
        <p:nvSpPr>
          <p:cNvPr id="17" name="Text 15"/>
          <p:cNvSpPr/>
          <p:nvPr/>
        </p:nvSpPr>
        <p:spPr>
          <a:xfrm>
            <a:off x="10001696" y="1695450"/>
            <a:ext cx="227246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REVIEW &amp; PUBLISH</a:t>
            </a:r>
            <a:endParaRPr lang="en-US" sz="1800" dirty="0"/>
          </a:p>
        </p:txBody>
      </p:sp>
      <p:sp>
        <p:nvSpPr>
          <p:cNvPr id="18" name="Shape 16"/>
          <p:cNvSpPr/>
          <p:nvPr/>
        </p:nvSpPr>
        <p:spPr>
          <a:xfrm>
            <a:off x="857250" y="2200275"/>
            <a:ext cx="4067175" cy="3209925"/>
          </a:xfrm>
          <a:prstGeom prst="rect">
            <a:avLst/>
          </a:prstGeom>
          <a:solidFill>
            <a:srgbClr val="FFFFFF"/>
          </a:solidFill>
          <a:ln w="19050">
            <a:solidFill>
              <a:srgbClr val="3D5A48"/>
            </a:solidFill>
            <a:prstDash val="solid"/>
          </a:ln>
        </p:spPr>
      </p:sp>
      <p:pic>
        <p:nvPicPr>
          <p:cNvPr id="19" name="Image 0" descr="preencoded.png">    </p:cNvPr>
          <p:cNvPicPr>
            <a:picLocks noChangeAspect="1"/>
          </p:cNvPicPr>
          <p:nvPr/>
        </p:nvPicPr>
        <p:blipFill>
          <a:blip r:embed="rId1"/>
          <a:stretch>
            <a:fillRect/>
          </a:stretch>
        </p:blipFill>
        <p:spPr>
          <a:xfrm>
            <a:off x="1047750" y="2362200"/>
            <a:ext cx="323850" cy="323850"/>
          </a:xfrm>
          <a:prstGeom prst="rect">
            <a:avLst/>
          </a:prstGeom>
        </p:spPr>
      </p:pic>
      <p:sp>
        <p:nvSpPr>
          <p:cNvPr id="20" name="Text 17"/>
          <p:cNvSpPr/>
          <p:nvPr/>
        </p:nvSpPr>
        <p:spPr>
          <a:xfrm>
            <a:off x="1047750" y="2362200"/>
            <a:ext cx="3015668" cy="676275"/>
          </a:xfrm>
          <a:prstGeom prst="rect">
            <a:avLst/>
          </a:prstGeom>
          <a:noFill/>
          <a:ln/>
        </p:spPr>
        <p:txBody>
          <a:bodyPr wrap="square" lIns="25400" tIns="25400" rIns="25400" bIns="25400" rtlCol="0" anchor="t">
            <a:normAutofit/>
          </a:bodyPr>
          <a:lstStyle/>
          <a:p>
            <a:pPr algn="l" indent="0" marL="0">
              <a:lnSpc>
                <a:spcPct val="108750"/>
              </a:lnSpc>
              <a:buNone/>
            </a:pPr>
            <a:r>
              <a:rPr lang="en-US" sz="1800" b="1" dirty="0">
                <a:solidFill>
                  <a:srgbClr val="191C20"/>
                </a:solidFill>
                <a:latin typeface="IBM Plex Sans" pitchFamily="34" charset="0"/>
                <a:ea typeface="IBM Plex Sans" pitchFamily="34" charset="-122"/>
                <a:cs typeface="IBM Plex Sans" pitchFamily="34" charset="-120"/>
              </a:rPr>
              <a:t>Deterministic parsers — Fargate extractor</a:t>
            </a:r>
            <a:endParaRPr lang="en-US" sz="1800" dirty="0"/>
          </a:p>
        </p:txBody>
      </p:sp>
      <p:sp>
        <p:nvSpPr>
          <p:cNvPr id="21" name="Text 18"/>
          <p:cNvSpPr/>
          <p:nvPr/>
        </p:nvSpPr>
        <p:spPr>
          <a:xfrm>
            <a:off x="1047750" y="3019425"/>
            <a:ext cx="3629114" cy="131445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4D535B"/>
                </a:solidFill>
                <a:latin typeface="IBM Plex Sans" pitchFamily="34" charset="0"/>
                <a:ea typeface="IBM Plex Sans" pitchFamily="34" charset="-122"/>
                <a:cs typeface="IBM Plex Sans" pitchFamily="34" charset="-120"/>
              </a:rPr>
              <a:t>sqlglot · dbt · OpenAPI · manifests — exact edges from declared structure · per-run creds · each digest analyzed once</a:t>
            </a:r>
            <a:endParaRPr lang="en-US" sz="1800" dirty="0"/>
          </a:p>
        </p:txBody>
      </p:sp>
      <p:sp>
        <p:nvSpPr>
          <p:cNvPr id="22" name="Shape 19"/>
          <p:cNvSpPr/>
          <p:nvPr/>
        </p:nvSpPr>
        <p:spPr>
          <a:xfrm>
            <a:off x="5038725" y="2200275"/>
            <a:ext cx="4067175" cy="3209925"/>
          </a:xfrm>
          <a:prstGeom prst="rect">
            <a:avLst/>
          </a:prstGeom>
          <a:solidFill>
            <a:srgbClr val="FFFFFF"/>
          </a:solidFill>
          <a:ln w="19050">
            <a:solidFill>
              <a:srgbClr val="3D5A48"/>
            </a:solidFill>
            <a:prstDash val="solid"/>
          </a:ln>
        </p:spPr>
      </p:sp>
      <p:pic>
        <p:nvPicPr>
          <p:cNvPr id="23" name="Image 1" descr="preencoded.png">    </p:cNvPr>
          <p:cNvPicPr>
            <a:picLocks noChangeAspect="1"/>
          </p:cNvPicPr>
          <p:nvPr/>
        </p:nvPicPr>
        <p:blipFill>
          <a:blip r:embed="rId2"/>
          <a:stretch>
            <a:fillRect/>
          </a:stretch>
        </p:blipFill>
        <p:spPr>
          <a:xfrm>
            <a:off x="5229225" y="2362200"/>
            <a:ext cx="323850" cy="323850"/>
          </a:xfrm>
          <a:prstGeom prst="rect">
            <a:avLst/>
          </a:prstGeom>
        </p:spPr>
      </p:pic>
      <p:sp>
        <p:nvSpPr>
          <p:cNvPr id="24" name="Text 20"/>
          <p:cNvSpPr/>
          <p:nvPr/>
        </p:nvSpPr>
        <p:spPr>
          <a:xfrm>
            <a:off x="5229225" y="2362200"/>
            <a:ext cx="3309048" cy="676275"/>
          </a:xfrm>
          <a:prstGeom prst="rect">
            <a:avLst/>
          </a:prstGeom>
          <a:noFill/>
          <a:ln/>
        </p:spPr>
        <p:txBody>
          <a:bodyPr wrap="square" lIns="25400" tIns="25400" rIns="25400" bIns="25400" rtlCol="0" anchor="t">
            <a:normAutofit/>
          </a:bodyPr>
          <a:lstStyle/>
          <a:p>
            <a:pPr algn="l" indent="0" marL="0">
              <a:lnSpc>
                <a:spcPct val="108750"/>
              </a:lnSpc>
              <a:buNone/>
            </a:pPr>
            <a:r>
              <a:rPr lang="en-US" sz="1800" b="1" dirty="0">
                <a:solidFill>
                  <a:srgbClr val="191C20"/>
                </a:solidFill>
                <a:latin typeface="IBM Plex Sans" pitchFamily="34" charset="0"/>
                <a:ea typeface="IBM Plex Sans" pitchFamily="34" charset="-122"/>
                <a:cs typeface="IBM Plex Sans" pitchFamily="34" charset="-120"/>
              </a:rPr>
              <a:t>AST service — tree-sitter + SCA + rule packs</a:t>
            </a:r>
            <a:endParaRPr lang="en-US" sz="1800" dirty="0"/>
          </a:p>
        </p:txBody>
      </p:sp>
      <p:sp>
        <p:nvSpPr>
          <p:cNvPr id="25" name="Text 21"/>
          <p:cNvSpPr/>
          <p:nvPr/>
        </p:nvSpPr>
        <p:spPr>
          <a:xfrm>
            <a:off x="5229225" y="3019425"/>
            <a:ext cx="3734599" cy="131445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4D535B"/>
                </a:solidFill>
                <a:latin typeface="IBM Plex Sans" pitchFamily="34" charset="0"/>
                <a:ea typeface="IBM Plex Sans" pitchFamily="34" charset="-122"/>
                <a:cs typeface="IBM Plex Sans" pitchFamily="34" charset="-120"/>
              </a:rPr>
              <a:t>provable reachability from code walks · its own service, so language &amp; rule-pack scaling is independent of the parser task</a:t>
            </a:r>
            <a:endParaRPr lang="en-US" sz="1800" dirty="0"/>
          </a:p>
        </p:txBody>
      </p:sp>
      <p:sp>
        <p:nvSpPr>
          <p:cNvPr id="26" name="Shape 22"/>
          <p:cNvSpPr/>
          <p:nvPr/>
        </p:nvSpPr>
        <p:spPr>
          <a:xfrm>
            <a:off x="9220200" y="2200275"/>
            <a:ext cx="4048125" cy="3209925"/>
          </a:xfrm>
          <a:prstGeom prst="rect">
            <a:avLst/>
          </a:prstGeom>
          <a:solidFill>
            <a:srgbClr val="FFFFFF"/>
          </a:solidFill>
          <a:ln w="9525">
            <a:solidFill>
              <a:srgbClr val="E0DCD3"/>
            </a:solidFill>
            <a:prstDash val="solid"/>
          </a:ln>
        </p:spPr>
      </p:sp>
      <p:pic>
        <p:nvPicPr>
          <p:cNvPr id="27" name="Image 2" descr="preencoded.png">    </p:cNvPr>
          <p:cNvPicPr>
            <a:picLocks noChangeAspect="1"/>
          </p:cNvPicPr>
          <p:nvPr/>
        </p:nvPicPr>
        <p:blipFill>
          <a:blip r:embed="rId3"/>
          <a:stretch>
            <a:fillRect/>
          </a:stretch>
        </p:blipFill>
        <p:spPr>
          <a:xfrm>
            <a:off x="9401175" y="2352675"/>
            <a:ext cx="323850" cy="323850"/>
          </a:xfrm>
          <a:prstGeom prst="rect">
            <a:avLst/>
          </a:prstGeom>
        </p:spPr>
      </p:pic>
      <p:sp>
        <p:nvSpPr>
          <p:cNvPr id="28" name="Text 23"/>
          <p:cNvSpPr/>
          <p:nvPr/>
        </p:nvSpPr>
        <p:spPr>
          <a:xfrm>
            <a:off x="9401175" y="2352675"/>
            <a:ext cx="3090779" cy="676275"/>
          </a:xfrm>
          <a:prstGeom prst="rect">
            <a:avLst/>
          </a:prstGeom>
          <a:noFill/>
          <a:ln/>
        </p:spPr>
        <p:txBody>
          <a:bodyPr wrap="square" lIns="25400" tIns="25400" rIns="25400" bIns="25400" rtlCol="0" anchor="t">
            <a:normAutofit/>
          </a:bodyPr>
          <a:lstStyle/>
          <a:p>
            <a:pPr algn="l" indent="0" marL="0">
              <a:lnSpc>
                <a:spcPct val="108750"/>
              </a:lnSpc>
              <a:buNone/>
            </a:pPr>
            <a:r>
              <a:rPr lang="en-US" sz="1800" b="1" dirty="0">
                <a:solidFill>
                  <a:srgbClr val="191C20"/>
                </a:solidFill>
                <a:latin typeface="IBM Plex Sans" pitchFamily="34" charset="0"/>
                <a:ea typeface="IBM Plex Sans" pitchFamily="34" charset="-122"/>
                <a:cs typeface="IBM Plex Sans" pitchFamily="34" charset="-120"/>
              </a:rPr>
              <a:t>LLM gateway — separate service</a:t>
            </a:r>
            <a:endParaRPr lang="en-US" sz="1800" dirty="0"/>
          </a:p>
        </p:txBody>
      </p:sp>
      <p:sp>
        <p:nvSpPr>
          <p:cNvPr id="29" name="Text 24"/>
          <p:cNvSpPr/>
          <p:nvPr/>
        </p:nvSpPr>
        <p:spPr>
          <a:xfrm>
            <a:off x="9401175" y="3009900"/>
            <a:ext cx="3713172" cy="228600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4D535B"/>
                </a:solidFill>
                <a:latin typeface="IBM Plex Sans" pitchFamily="34" charset="0"/>
                <a:ea typeface="IBM Plex Sans" pitchFamily="34" charset="-122"/>
                <a:cs typeface="IBM Plex Sans" pitchFamily="34" charset="-120"/>
              </a:rPr>
              <a:t>chunks source before the call · cached, keyed by (code digest, prompt version) — unchanged code never re-billed · cited &amp; capped · separately rate-limited · shared cache across all workflows · never the PR path</a:t>
            </a:r>
            <a:endParaRPr lang="en-US" sz="1800" dirty="0"/>
          </a:p>
        </p:txBody>
      </p:sp>
      <p:sp>
        <p:nvSpPr>
          <p:cNvPr id="30" name="Shape 25"/>
          <p:cNvSpPr/>
          <p:nvPr/>
        </p:nvSpPr>
        <p:spPr>
          <a:xfrm>
            <a:off x="13382625" y="2200275"/>
            <a:ext cx="4048125" cy="3209925"/>
          </a:xfrm>
          <a:prstGeom prst="rect">
            <a:avLst/>
          </a:prstGeom>
          <a:solidFill>
            <a:srgbClr val="FFFFFF"/>
          </a:solidFill>
          <a:ln w="9525">
            <a:solidFill>
              <a:srgbClr val="E0DCD3"/>
            </a:solidFill>
            <a:prstDash val="solid"/>
          </a:ln>
        </p:spPr>
      </p:sp>
      <p:pic>
        <p:nvPicPr>
          <p:cNvPr id="31" name="Image 3" descr="preencoded.png">    </p:cNvPr>
          <p:cNvPicPr>
            <a:picLocks noChangeAspect="1"/>
          </p:cNvPicPr>
          <p:nvPr/>
        </p:nvPicPr>
        <p:blipFill>
          <a:blip r:embed="rId4"/>
          <a:stretch>
            <a:fillRect/>
          </a:stretch>
        </p:blipFill>
        <p:spPr>
          <a:xfrm>
            <a:off x="13563600" y="2352675"/>
            <a:ext cx="323850" cy="323850"/>
          </a:xfrm>
          <a:prstGeom prst="rect">
            <a:avLst/>
          </a:prstGeom>
        </p:spPr>
      </p:pic>
      <p:sp>
        <p:nvSpPr>
          <p:cNvPr id="32" name="Text 26"/>
          <p:cNvSpPr/>
          <p:nvPr/>
        </p:nvSpPr>
        <p:spPr>
          <a:xfrm>
            <a:off x="13941400" y="2352675"/>
            <a:ext cx="1655109" cy="342900"/>
          </a:xfrm>
          <a:prstGeom prst="rect">
            <a:avLst/>
          </a:prstGeom>
          <a:noFill/>
          <a:ln/>
        </p:spPr>
        <p:txBody>
          <a:bodyPr wrap="square" lIns="25400" tIns="25400" rIns="25400" bIns="25400" rtlCol="0" anchor="t">
            <a:normAutofit/>
          </a:bodyPr>
          <a:lstStyle/>
          <a:p>
            <a:pPr algn="l" indent="0" marL="0">
              <a:lnSpc>
                <a:spcPct val="108750"/>
              </a:lnSpc>
              <a:buNone/>
            </a:pPr>
            <a:r>
              <a:rPr lang="en-US" sz="1800" b="1" dirty="0">
                <a:solidFill>
                  <a:srgbClr val="191C20"/>
                </a:solidFill>
                <a:latin typeface="IBM Plex Sans" pitchFamily="34" charset="0"/>
                <a:ea typeface="IBM Plex Sans" pitchFamily="34" charset="-122"/>
                <a:cs typeface="IBM Plex Sans" pitchFamily="34" charset="-120"/>
              </a:rPr>
              <a:t>Runtime layer</a:t>
            </a:r>
            <a:endParaRPr lang="en-US" sz="1800" dirty="0"/>
          </a:p>
        </p:txBody>
      </p:sp>
      <p:sp>
        <p:nvSpPr>
          <p:cNvPr id="33" name="Text 27"/>
          <p:cNvSpPr/>
          <p:nvPr/>
        </p:nvSpPr>
        <p:spPr>
          <a:xfrm>
            <a:off x="13563600" y="2686050"/>
            <a:ext cx="3727536" cy="163830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4D535B"/>
                </a:solidFill>
                <a:latin typeface="IBM Plex Sans" pitchFamily="34" charset="0"/>
                <a:ea typeface="IBM Plex Sans" pitchFamily="34" charset="-122"/>
                <a:cs typeface="IBM Plex Sans" pitchFamily="34" charset="-120"/>
              </a:rPr>
              <a:t>OTel element-attribute sidecars · custom-config SDKs · Spark &amp; Dask jobs emit native lineage — observation of executed paths, no analysis</a:t>
            </a:r>
            <a:endParaRPr lang="en-US" sz="1800" dirty="0"/>
          </a:p>
        </p:txBody>
      </p:sp>
      <p:sp>
        <p:nvSpPr>
          <p:cNvPr id="34" name="Shape 28"/>
          <p:cNvSpPr/>
          <p:nvPr/>
        </p:nvSpPr>
        <p:spPr>
          <a:xfrm>
            <a:off x="857250" y="5524500"/>
            <a:ext cx="16573500" cy="952500"/>
          </a:xfrm>
          <a:prstGeom prst="rect">
            <a:avLst/>
          </a:prstGeom>
          <a:solidFill>
            <a:srgbClr val="191C20"/>
          </a:solidFill>
          <a:ln/>
        </p:spPr>
      </p:sp>
      <p:sp>
        <p:nvSpPr>
          <p:cNvPr id="35" name="Text 29"/>
          <p:cNvSpPr/>
          <p:nvPr/>
        </p:nvSpPr>
        <p:spPr>
          <a:xfrm>
            <a:off x="1104900" y="5657850"/>
            <a:ext cx="16575405" cy="723900"/>
          </a:xfrm>
          <a:prstGeom prst="rect">
            <a:avLst/>
          </a:prstGeom>
          <a:noFill/>
          <a:ln/>
        </p:spPr>
        <p:txBody>
          <a:bodyPr wrap="square" lIns="25400" tIns="25400" rIns="25400" bIns="25400" rtlCol="0" anchor="t">
            <a:normAutofit/>
          </a:bodyPr>
          <a:lstStyle/>
          <a:p>
            <a:pPr algn="l" indent="0" marL="0">
              <a:lnSpc>
                <a:spcPct val="112500"/>
              </a:lnSpc>
              <a:buNone/>
            </a:pPr>
            <a:r>
              <a:rPr lang="en-US" sz="1800" dirty="0">
                <a:solidFill>
                  <a:srgbClr val="8FB3BF"/>
                </a:solidFill>
                <a:latin typeface="IBM Plex Mono" pitchFamily="34" charset="0"/>
                <a:ea typeface="IBM Plex Mono" pitchFamily="34" charset="-122"/>
                <a:cs typeface="IBM Plex Mono" pitchFamily="34" charset="-120"/>
              </a:rPr>
              <a:t>MERGE BY URN — THE ARCHITECTURAL SEAM </a:t>
            </a:r>
            <a:pPr algn="l" indent="0" marL="0">
              <a:lnSpc>
                <a:spcPct val="112500"/>
              </a:lnSpc>
              <a:buNone/>
            </a:pPr>
            <a:r>
              <a:rPr lang="en-US" sz="1800" dirty="0">
                <a:solidFill>
                  <a:srgbClr val="E8E4DC"/>
                </a:solidFill>
                <a:highlight>
                  <a:srgbClr val="191C20"/>
                </a:highlight>
                <a:latin typeface="IBM Plex Sans" pitchFamily="34" charset="0"/>
                <a:ea typeface="IBM Plex Sans" pitchFamily="34" charset="-122"/>
                <a:cs typeface="IBM Plex Sans" pitchFamily="34" charset="-120"/>
              </a:rPr>
              <a:t>— every mechanism emits edges in ONE OpenLineage-style schema, named by common URNs for dataset and element. One or more matching mechanisms yield a consolidated edge; agreement across independent mechanisms sets its confidence band.</a:t>
            </a:r>
            <a:endParaRPr lang="en-US" sz="1800" dirty="0"/>
          </a:p>
        </p:txBody>
      </p:sp>
      <p:sp>
        <p:nvSpPr>
          <p:cNvPr id="36" name="Shape 30"/>
          <p:cNvSpPr/>
          <p:nvPr/>
        </p:nvSpPr>
        <p:spPr>
          <a:xfrm>
            <a:off x="857250" y="6591300"/>
            <a:ext cx="3238500" cy="1066800"/>
          </a:xfrm>
          <a:prstGeom prst="rect">
            <a:avLst/>
          </a:prstGeom>
          <a:solidFill>
            <a:srgbClr val="FFFFFF"/>
          </a:solidFill>
          <a:ln/>
        </p:spPr>
      </p:sp>
      <p:sp>
        <p:nvSpPr>
          <p:cNvPr id="37" name="Shape 31"/>
          <p:cNvSpPr/>
          <p:nvPr/>
        </p:nvSpPr>
        <p:spPr>
          <a:xfrm>
            <a:off x="857250" y="7648575"/>
            <a:ext cx="3238500" cy="9525"/>
          </a:xfrm>
          <a:prstGeom prst="rect">
            <a:avLst/>
          </a:prstGeom>
          <a:solidFill>
            <a:srgbClr val="E0DCD3"/>
          </a:solidFill>
          <a:ln/>
        </p:spPr>
      </p:sp>
      <p:sp>
        <p:nvSpPr>
          <p:cNvPr id="38" name="Shape 32"/>
          <p:cNvSpPr/>
          <p:nvPr/>
        </p:nvSpPr>
        <p:spPr>
          <a:xfrm>
            <a:off x="857250" y="6591300"/>
            <a:ext cx="3238500" cy="38100"/>
          </a:xfrm>
          <a:prstGeom prst="rect">
            <a:avLst/>
          </a:prstGeom>
          <a:solidFill>
            <a:srgbClr val="3D5A48"/>
          </a:solidFill>
          <a:ln/>
        </p:spPr>
      </p:sp>
      <p:sp>
        <p:nvSpPr>
          <p:cNvPr id="39" name="Shape 33"/>
          <p:cNvSpPr/>
          <p:nvPr/>
        </p:nvSpPr>
        <p:spPr>
          <a:xfrm>
            <a:off x="857250" y="6591300"/>
            <a:ext cx="9525" cy="1066800"/>
          </a:xfrm>
          <a:prstGeom prst="rect">
            <a:avLst/>
          </a:prstGeom>
          <a:solidFill>
            <a:srgbClr val="E0DCD3"/>
          </a:solidFill>
          <a:ln/>
        </p:spPr>
      </p:sp>
      <p:sp>
        <p:nvSpPr>
          <p:cNvPr id="40" name="Shape 34"/>
          <p:cNvSpPr/>
          <p:nvPr/>
        </p:nvSpPr>
        <p:spPr>
          <a:xfrm>
            <a:off x="4086225" y="6591300"/>
            <a:ext cx="9525" cy="1066800"/>
          </a:xfrm>
          <a:prstGeom prst="rect">
            <a:avLst/>
          </a:prstGeom>
          <a:solidFill>
            <a:srgbClr val="E0DCD3"/>
          </a:solidFill>
          <a:ln/>
        </p:spPr>
      </p:sp>
      <p:sp>
        <p:nvSpPr>
          <p:cNvPr id="41" name="Text 35"/>
          <p:cNvSpPr/>
          <p:nvPr/>
        </p:nvSpPr>
        <p:spPr>
          <a:xfrm>
            <a:off x="981075" y="6696075"/>
            <a:ext cx="3088005" cy="92392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3D5A48"/>
                </a:solidFill>
                <a:latin typeface="IBM Plex Mono" pitchFamily="34" charset="0"/>
                <a:ea typeface="IBM Plex Mono" pitchFamily="34" charset="-122"/>
                <a:cs typeface="IBM Plex Mono" pitchFamily="34" charset="-120"/>
              </a:rPr>
              <a:t>HIGHEST </a:t>
            </a:r>
            <a:pPr algn="l" indent="0" marL="0">
              <a:lnSpc>
                <a:spcPct val="97500"/>
              </a:lnSpc>
              <a:buNone/>
            </a:pPr>
            <a:r>
              <a:rPr lang="en-US" sz="1800" dirty="0">
                <a:solidFill>
                  <a:srgbClr val="4D535B"/>
                </a:solidFill>
                <a:latin typeface="IBM Plex Sans" pitchFamily="34" charset="0"/>
                <a:ea typeface="IBM Plex Sans" pitchFamily="34" charset="-122"/>
                <a:cs typeface="IBM Plex Sans" pitchFamily="34" charset="-120"/>
              </a:rPr>
              <a:t>SCA + LLM + runtime all map the edge</a:t>
            </a:r>
            <a:endParaRPr lang="en-US" sz="1800" dirty="0"/>
          </a:p>
        </p:txBody>
      </p:sp>
      <p:sp>
        <p:nvSpPr>
          <p:cNvPr id="42" name="Shape 36"/>
          <p:cNvSpPr/>
          <p:nvPr/>
        </p:nvSpPr>
        <p:spPr>
          <a:xfrm>
            <a:off x="4191000" y="6591300"/>
            <a:ext cx="3238500" cy="1066800"/>
          </a:xfrm>
          <a:prstGeom prst="rect">
            <a:avLst/>
          </a:prstGeom>
          <a:solidFill>
            <a:srgbClr val="FFFFFF"/>
          </a:solidFill>
          <a:ln/>
        </p:spPr>
      </p:sp>
      <p:sp>
        <p:nvSpPr>
          <p:cNvPr id="43" name="Shape 37"/>
          <p:cNvSpPr/>
          <p:nvPr/>
        </p:nvSpPr>
        <p:spPr>
          <a:xfrm>
            <a:off x="4191000" y="7648575"/>
            <a:ext cx="3238500" cy="9525"/>
          </a:xfrm>
          <a:prstGeom prst="rect">
            <a:avLst/>
          </a:prstGeom>
          <a:solidFill>
            <a:srgbClr val="E0DCD3"/>
          </a:solidFill>
          <a:ln/>
        </p:spPr>
      </p:sp>
      <p:sp>
        <p:nvSpPr>
          <p:cNvPr id="44" name="Shape 38"/>
          <p:cNvSpPr/>
          <p:nvPr/>
        </p:nvSpPr>
        <p:spPr>
          <a:xfrm>
            <a:off x="4191000" y="6591300"/>
            <a:ext cx="3238500" cy="38100"/>
          </a:xfrm>
          <a:prstGeom prst="rect">
            <a:avLst/>
          </a:prstGeom>
          <a:solidFill>
            <a:srgbClr val="2F6B80"/>
          </a:solidFill>
          <a:ln/>
        </p:spPr>
      </p:sp>
      <p:sp>
        <p:nvSpPr>
          <p:cNvPr id="45" name="Shape 39"/>
          <p:cNvSpPr/>
          <p:nvPr/>
        </p:nvSpPr>
        <p:spPr>
          <a:xfrm>
            <a:off x="4191000" y="6591300"/>
            <a:ext cx="9525" cy="1066800"/>
          </a:xfrm>
          <a:prstGeom prst="rect">
            <a:avLst/>
          </a:prstGeom>
          <a:solidFill>
            <a:srgbClr val="E0DCD3"/>
          </a:solidFill>
          <a:ln/>
        </p:spPr>
      </p:sp>
      <p:sp>
        <p:nvSpPr>
          <p:cNvPr id="46" name="Shape 40"/>
          <p:cNvSpPr/>
          <p:nvPr/>
        </p:nvSpPr>
        <p:spPr>
          <a:xfrm>
            <a:off x="7419975" y="6591300"/>
            <a:ext cx="9525" cy="1066800"/>
          </a:xfrm>
          <a:prstGeom prst="rect">
            <a:avLst/>
          </a:prstGeom>
          <a:solidFill>
            <a:srgbClr val="E0DCD3"/>
          </a:solidFill>
          <a:ln/>
        </p:spPr>
      </p:sp>
      <p:sp>
        <p:nvSpPr>
          <p:cNvPr id="47" name="Text 41"/>
          <p:cNvSpPr/>
          <p:nvPr/>
        </p:nvSpPr>
        <p:spPr>
          <a:xfrm>
            <a:off x="4314825" y="6696075"/>
            <a:ext cx="3088005" cy="92392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2F6B80"/>
                </a:solidFill>
                <a:latin typeface="IBM Plex Mono" pitchFamily="34" charset="0"/>
                <a:ea typeface="IBM Plex Mono" pitchFamily="34" charset="-122"/>
                <a:cs typeface="IBM Plex Mono" pitchFamily="34" charset="-120"/>
              </a:rPr>
              <a:t>HIGH </a:t>
            </a:r>
            <a:pPr algn="l" indent="0" marL="0">
              <a:lnSpc>
                <a:spcPct val="97500"/>
              </a:lnSpc>
              <a:buNone/>
            </a:pPr>
            <a:r>
              <a:rPr lang="en-US" sz="1800" dirty="0">
                <a:solidFill>
                  <a:srgbClr val="4D535B"/>
                </a:solidFill>
                <a:latin typeface="IBM Plex Sans" pitchFamily="34" charset="0"/>
                <a:ea typeface="IBM Plex Sans" pitchFamily="34" charset="-122"/>
                <a:cs typeface="IBM Plex Sans" pitchFamily="34" charset="-120"/>
              </a:rPr>
              <a:t>SCA + runtime agree</a:t>
            </a:r>
            <a:endParaRPr lang="en-US" sz="1800" dirty="0"/>
          </a:p>
        </p:txBody>
      </p:sp>
      <p:sp>
        <p:nvSpPr>
          <p:cNvPr id="48" name="Shape 42"/>
          <p:cNvSpPr/>
          <p:nvPr/>
        </p:nvSpPr>
        <p:spPr>
          <a:xfrm>
            <a:off x="7524750" y="6591300"/>
            <a:ext cx="3238500" cy="1066800"/>
          </a:xfrm>
          <a:prstGeom prst="rect">
            <a:avLst/>
          </a:prstGeom>
          <a:solidFill>
            <a:srgbClr val="FFFFFF"/>
          </a:solidFill>
          <a:ln/>
        </p:spPr>
      </p:sp>
      <p:sp>
        <p:nvSpPr>
          <p:cNvPr id="49" name="Shape 43"/>
          <p:cNvSpPr/>
          <p:nvPr/>
        </p:nvSpPr>
        <p:spPr>
          <a:xfrm>
            <a:off x="7524750" y="7648575"/>
            <a:ext cx="3238500" cy="9525"/>
          </a:xfrm>
          <a:prstGeom prst="rect">
            <a:avLst/>
          </a:prstGeom>
          <a:solidFill>
            <a:srgbClr val="E0DCD3"/>
          </a:solidFill>
          <a:ln/>
        </p:spPr>
      </p:sp>
      <p:sp>
        <p:nvSpPr>
          <p:cNvPr id="50" name="Shape 44"/>
          <p:cNvSpPr/>
          <p:nvPr/>
        </p:nvSpPr>
        <p:spPr>
          <a:xfrm>
            <a:off x="7524750" y="6591300"/>
            <a:ext cx="3238500" cy="38100"/>
          </a:xfrm>
          <a:prstGeom prst="rect">
            <a:avLst/>
          </a:prstGeom>
          <a:solidFill>
            <a:srgbClr val="2F6B80"/>
          </a:solidFill>
          <a:ln/>
        </p:spPr>
      </p:sp>
      <p:sp>
        <p:nvSpPr>
          <p:cNvPr id="51" name="Shape 45"/>
          <p:cNvSpPr/>
          <p:nvPr/>
        </p:nvSpPr>
        <p:spPr>
          <a:xfrm>
            <a:off x="7524750" y="6591300"/>
            <a:ext cx="9525" cy="1066800"/>
          </a:xfrm>
          <a:prstGeom prst="rect">
            <a:avLst/>
          </a:prstGeom>
          <a:solidFill>
            <a:srgbClr val="E0DCD3"/>
          </a:solidFill>
          <a:ln/>
        </p:spPr>
      </p:sp>
      <p:sp>
        <p:nvSpPr>
          <p:cNvPr id="52" name="Shape 46"/>
          <p:cNvSpPr/>
          <p:nvPr/>
        </p:nvSpPr>
        <p:spPr>
          <a:xfrm>
            <a:off x="10753725" y="6591300"/>
            <a:ext cx="9525" cy="1066800"/>
          </a:xfrm>
          <a:prstGeom prst="rect">
            <a:avLst/>
          </a:prstGeom>
          <a:solidFill>
            <a:srgbClr val="E0DCD3"/>
          </a:solidFill>
          <a:ln/>
        </p:spPr>
      </p:sp>
      <p:sp>
        <p:nvSpPr>
          <p:cNvPr id="53" name="Text 47"/>
          <p:cNvSpPr/>
          <p:nvPr/>
        </p:nvSpPr>
        <p:spPr>
          <a:xfrm>
            <a:off x="7648575" y="6696075"/>
            <a:ext cx="3088005" cy="92392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2F6B80"/>
                </a:solidFill>
                <a:latin typeface="IBM Plex Mono" pitchFamily="34" charset="0"/>
                <a:ea typeface="IBM Plex Mono" pitchFamily="34" charset="-122"/>
                <a:cs typeface="IBM Plex Mono" pitchFamily="34" charset="-120"/>
              </a:rPr>
              <a:t>MEDIUM </a:t>
            </a:r>
            <a:pPr algn="l" indent="0" marL="0">
              <a:lnSpc>
                <a:spcPct val="97500"/>
              </a:lnSpc>
              <a:buNone/>
            </a:pPr>
            <a:r>
              <a:rPr lang="en-US" sz="1800" dirty="0">
                <a:solidFill>
                  <a:srgbClr val="4D535B"/>
                </a:solidFill>
                <a:latin typeface="IBM Plex Sans" pitchFamily="34" charset="0"/>
                <a:ea typeface="IBM Plex Sans" pitchFamily="34" charset="-122"/>
                <a:cs typeface="IBM Plex Sans" pitchFamily="34" charset="-120"/>
              </a:rPr>
              <a:t>SCA + LLM · runtime + LLM</a:t>
            </a:r>
            <a:endParaRPr lang="en-US" sz="1800" dirty="0"/>
          </a:p>
        </p:txBody>
      </p:sp>
      <p:sp>
        <p:nvSpPr>
          <p:cNvPr id="54" name="Shape 48"/>
          <p:cNvSpPr/>
          <p:nvPr/>
        </p:nvSpPr>
        <p:spPr>
          <a:xfrm>
            <a:off x="10858500" y="6591300"/>
            <a:ext cx="3238500" cy="1066800"/>
          </a:xfrm>
          <a:prstGeom prst="rect">
            <a:avLst/>
          </a:prstGeom>
          <a:solidFill>
            <a:srgbClr val="FFFFFF"/>
          </a:solidFill>
          <a:ln/>
        </p:spPr>
      </p:sp>
      <p:sp>
        <p:nvSpPr>
          <p:cNvPr id="55" name="Shape 49"/>
          <p:cNvSpPr/>
          <p:nvPr/>
        </p:nvSpPr>
        <p:spPr>
          <a:xfrm>
            <a:off x="10858500" y="7648575"/>
            <a:ext cx="3238500" cy="9525"/>
          </a:xfrm>
          <a:prstGeom prst="rect">
            <a:avLst/>
          </a:prstGeom>
          <a:solidFill>
            <a:srgbClr val="E0DCD3"/>
          </a:solidFill>
          <a:ln/>
        </p:spPr>
      </p:sp>
      <p:sp>
        <p:nvSpPr>
          <p:cNvPr id="56" name="Shape 50"/>
          <p:cNvSpPr/>
          <p:nvPr/>
        </p:nvSpPr>
        <p:spPr>
          <a:xfrm>
            <a:off x="10858500" y="6591300"/>
            <a:ext cx="3238500" cy="38100"/>
          </a:xfrm>
          <a:prstGeom prst="rect">
            <a:avLst/>
          </a:prstGeom>
          <a:solidFill>
            <a:srgbClr val="E0DCD3"/>
          </a:solidFill>
          <a:ln/>
        </p:spPr>
      </p:sp>
      <p:sp>
        <p:nvSpPr>
          <p:cNvPr id="57" name="Shape 51"/>
          <p:cNvSpPr/>
          <p:nvPr/>
        </p:nvSpPr>
        <p:spPr>
          <a:xfrm>
            <a:off x="10858500" y="6591300"/>
            <a:ext cx="9525" cy="1066800"/>
          </a:xfrm>
          <a:prstGeom prst="rect">
            <a:avLst/>
          </a:prstGeom>
          <a:solidFill>
            <a:srgbClr val="E0DCD3"/>
          </a:solidFill>
          <a:ln/>
        </p:spPr>
      </p:sp>
      <p:sp>
        <p:nvSpPr>
          <p:cNvPr id="58" name="Shape 52"/>
          <p:cNvSpPr/>
          <p:nvPr/>
        </p:nvSpPr>
        <p:spPr>
          <a:xfrm>
            <a:off x="14087475" y="6591300"/>
            <a:ext cx="9525" cy="1066800"/>
          </a:xfrm>
          <a:prstGeom prst="rect">
            <a:avLst/>
          </a:prstGeom>
          <a:solidFill>
            <a:srgbClr val="E0DCD3"/>
          </a:solidFill>
          <a:ln/>
        </p:spPr>
      </p:sp>
      <p:sp>
        <p:nvSpPr>
          <p:cNvPr id="59" name="Text 53"/>
          <p:cNvSpPr/>
          <p:nvPr/>
        </p:nvSpPr>
        <p:spPr>
          <a:xfrm>
            <a:off x="10982325" y="6696075"/>
            <a:ext cx="3088005" cy="92392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4D535B"/>
                </a:solidFill>
                <a:latin typeface="IBM Plex Mono" pitchFamily="34" charset="0"/>
                <a:ea typeface="IBM Plex Mono" pitchFamily="34" charset="-122"/>
                <a:cs typeface="IBM Plex Mono" pitchFamily="34" charset="-120"/>
              </a:rPr>
              <a:t>SINGLE </a:t>
            </a:r>
            <a:pPr algn="l" indent="0" marL="0">
              <a:lnSpc>
                <a:spcPct val="97500"/>
              </a:lnSpc>
              <a:buNone/>
            </a:pPr>
            <a:r>
              <a:rPr lang="en-US" sz="1800" dirty="0">
                <a:solidFill>
                  <a:srgbClr val="4D535B"/>
                </a:solidFill>
                <a:latin typeface="IBM Plex Sans" pitchFamily="34" charset="0"/>
                <a:ea typeface="IBM Plex Sans" pitchFamily="34" charset="-122"/>
                <a:cs typeface="IBM Plex Sans" pitchFamily="34" charset="-120"/>
              </a:rPr>
              <a:t>SCA or runtime alone — informs, never gates</a:t>
            </a:r>
            <a:endParaRPr lang="en-US" sz="1800" dirty="0"/>
          </a:p>
        </p:txBody>
      </p:sp>
      <p:sp>
        <p:nvSpPr>
          <p:cNvPr id="60" name="Shape 54"/>
          <p:cNvSpPr/>
          <p:nvPr/>
        </p:nvSpPr>
        <p:spPr>
          <a:xfrm>
            <a:off x="14192250" y="6591300"/>
            <a:ext cx="3238500" cy="1066800"/>
          </a:xfrm>
          <a:prstGeom prst="rect">
            <a:avLst/>
          </a:prstGeom>
          <a:solidFill>
            <a:srgbClr val="FFFFFF"/>
          </a:solidFill>
          <a:ln/>
        </p:spPr>
      </p:sp>
      <p:sp>
        <p:nvSpPr>
          <p:cNvPr id="61" name="Shape 55"/>
          <p:cNvSpPr/>
          <p:nvPr/>
        </p:nvSpPr>
        <p:spPr>
          <a:xfrm>
            <a:off x="14192250" y="7648575"/>
            <a:ext cx="3238500" cy="9525"/>
          </a:xfrm>
          <a:prstGeom prst="rect">
            <a:avLst/>
          </a:prstGeom>
          <a:solidFill>
            <a:srgbClr val="E0DCD3"/>
          </a:solidFill>
          <a:ln/>
        </p:spPr>
      </p:sp>
      <p:sp>
        <p:nvSpPr>
          <p:cNvPr id="62" name="Shape 56"/>
          <p:cNvSpPr/>
          <p:nvPr/>
        </p:nvSpPr>
        <p:spPr>
          <a:xfrm>
            <a:off x="14192250" y="6591300"/>
            <a:ext cx="3238500" cy="38100"/>
          </a:xfrm>
          <a:prstGeom prst="rect">
            <a:avLst/>
          </a:prstGeom>
          <a:solidFill>
            <a:srgbClr val="A8551F"/>
          </a:solidFill>
          <a:ln/>
        </p:spPr>
      </p:sp>
      <p:sp>
        <p:nvSpPr>
          <p:cNvPr id="63" name="Shape 57"/>
          <p:cNvSpPr/>
          <p:nvPr/>
        </p:nvSpPr>
        <p:spPr>
          <a:xfrm>
            <a:off x="14192250" y="6591300"/>
            <a:ext cx="9525" cy="1066800"/>
          </a:xfrm>
          <a:prstGeom prst="rect">
            <a:avLst/>
          </a:prstGeom>
          <a:solidFill>
            <a:srgbClr val="E0DCD3"/>
          </a:solidFill>
          <a:ln/>
        </p:spPr>
      </p:sp>
      <p:sp>
        <p:nvSpPr>
          <p:cNvPr id="64" name="Shape 58"/>
          <p:cNvSpPr/>
          <p:nvPr/>
        </p:nvSpPr>
        <p:spPr>
          <a:xfrm>
            <a:off x="17421225" y="6591300"/>
            <a:ext cx="9525" cy="1066800"/>
          </a:xfrm>
          <a:prstGeom prst="rect">
            <a:avLst/>
          </a:prstGeom>
          <a:solidFill>
            <a:srgbClr val="E0DCD3"/>
          </a:solidFill>
          <a:ln/>
        </p:spPr>
      </p:sp>
      <p:sp>
        <p:nvSpPr>
          <p:cNvPr id="65" name="Text 59"/>
          <p:cNvSpPr/>
          <p:nvPr/>
        </p:nvSpPr>
        <p:spPr>
          <a:xfrm>
            <a:off x="14316075" y="6696075"/>
            <a:ext cx="3088005" cy="92392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A8551F"/>
                </a:solidFill>
                <a:latin typeface="IBM Plex Mono" pitchFamily="34" charset="0"/>
                <a:ea typeface="IBM Plex Mono" pitchFamily="34" charset="-122"/>
                <a:cs typeface="IBM Plex Mono" pitchFamily="34" charset="-120"/>
              </a:rPr>
              <a:t>LOWEST </a:t>
            </a:r>
            <a:pPr algn="l" indent="0" marL="0">
              <a:lnSpc>
                <a:spcPct val="97500"/>
              </a:lnSpc>
              <a:buNone/>
            </a:pPr>
            <a:r>
              <a:rPr lang="en-US" sz="1800" dirty="0">
                <a:solidFill>
                  <a:srgbClr val="4D535B"/>
                </a:solidFill>
                <a:latin typeface="IBM Plex Sans" pitchFamily="34" charset="0"/>
                <a:ea typeface="IBM Plex Sans" pitchFamily="34" charset="-122"/>
                <a:cs typeface="IBM Plex Sans" pitchFamily="34" charset="-120"/>
              </a:rPr>
              <a:t>LLM only, no SCA or runtime match — never gates</a:t>
            </a:r>
            <a:endParaRPr lang="en-US" sz="1800" dirty="0"/>
          </a:p>
        </p:txBody>
      </p:sp>
      <p:sp>
        <p:nvSpPr>
          <p:cNvPr id="66" name="Text 60"/>
          <p:cNvSpPr/>
          <p:nvPr/>
        </p:nvSpPr>
        <p:spPr>
          <a:xfrm>
            <a:off x="857250" y="7772400"/>
            <a:ext cx="4073783" cy="342900"/>
          </a:xfrm>
          <a:prstGeom prst="rect">
            <a:avLst/>
          </a:prstGeom>
          <a:noFill/>
          <a:ln/>
        </p:spPr>
        <p:txBody>
          <a:bodyPr wrap="none" lIns="25400" tIns="25400" rIns="25400" bIns="25400" rtlCol="0" anchor="t">
            <a:normAutofit/>
          </a:bodyPr>
          <a:lstStyle/>
          <a:p>
            <a:pPr algn="l" indent="0" marL="0">
              <a:buNone/>
            </a:pPr>
            <a:r>
              <a:rPr lang="en-US" sz="1800" b="1" dirty="0">
                <a:solidFill>
                  <a:srgbClr val="191C20"/>
                </a:solidFill>
                <a:latin typeface="IBM Plex Mono" pitchFamily="34" charset="0"/>
                <a:ea typeface="IBM Plex Mono" pitchFamily="34" charset="-122"/>
                <a:cs typeface="IBM Plex Mono" pitchFamily="34" charset="-120"/>
              </a:rPr>
              <a:t>PRGATE </a:t>
            </a:r>
            <a:pPr algn="l" indent="0" marL="0">
              <a:buNone/>
            </a:pPr>
            <a:r>
              <a:rPr lang="en-US" sz="1800" dirty="0">
                <a:solidFill>
                  <a:srgbClr val="4D535B"/>
                </a:solidFill>
                <a:latin typeface="IBM Plex Mono" pitchFamily="34" charset="0"/>
                <a:ea typeface="IBM Plex Mono" pitchFamily="34" charset="-122"/>
                <a:cs typeface="IBM Plex Mono" pitchFamily="34" charset="-120"/>
              </a:rPr>
              <a:t>parsers + cache only</a:t>
            </a:r>
            <a:endParaRPr lang="en-US" sz="1800" dirty="0"/>
          </a:p>
        </p:txBody>
      </p:sp>
      <p:sp>
        <p:nvSpPr>
          <p:cNvPr id="67" name="Text 61"/>
          <p:cNvSpPr/>
          <p:nvPr/>
        </p:nvSpPr>
        <p:spPr>
          <a:xfrm>
            <a:off x="4713089" y="7772400"/>
            <a:ext cx="2134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a:t>
            </a:r>
            <a:endParaRPr lang="en-US" sz="1800" dirty="0"/>
          </a:p>
        </p:txBody>
      </p:sp>
      <p:sp>
        <p:nvSpPr>
          <p:cNvPr id="68" name="Text 62"/>
          <p:cNvSpPr/>
          <p:nvPr/>
        </p:nvSpPr>
        <p:spPr>
          <a:xfrm>
            <a:off x="5002709" y="7772400"/>
            <a:ext cx="6790075" cy="342900"/>
          </a:xfrm>
          <a:prstGeom prst="rect">
            <a:avLst/>
          </a:prstGeom>
          <a:noFill/>
          <a:ln/>
        </p:spPr>
        <p:txBody>
          <a:bodyPr wrap="none" lIns="25400" tIns="25400" rIns="25400" bIns="25400" rtlCol="0" anchor="t">
            <a:normAutofit/>
          </a:bodyPr>
          <a:lstStyle/>
          <a:p>
            <a:pPr algn="l" indent="0" marL="0">
              <a:buNone/>
            </a:pPr>
            <a:r>
              <a:rPr lang="en-US" sz="1800" b="1" dirty="0">
                <a:solidFill>
                  <a:srgbClr val="191C20"/>
                </a:solidFill>
                <a:latin typeface="IBM Plex Mono" pitchFamily="34" charset="0"/>
                <a:ea typeface="IBM Plex Mono" pitchFamily="34" charset="-122"/>
                <a:cs typeface="IBM Plex Mono" pitchFamily="34" charset="-120"/>
              </a:rPr>
              <a:t>INCREMENTAL </a:t>
            </a:r>
            <a:pPr algn="l" indent="0" marL="0">
              <a:buNone/>
            </a:pPr>
            <a:r>
              <a:rPr lang="en-US" sz="1800" dirty="0">
                <a:solidFill>
                  <a:srgbClr val="4D535B"/>
                </a:solidFill>
                <a:latin typeface="IBM Plex Mono" pitchFamily="34" charset="0"/>
                <a:ea typeface="IBM Plex Mono" pitchFamily="34" charset="-122"/>
                <a:cs typeface="IBM Plex Mono" pitchFamily="34" charset="-120"/>
              </a:rPr>
              <a:t>parsers → AST · LLM on cache miss</a:t>
            </a:r>
            <a:endParaRPr lang="en-US" sz="1800" dirty="0"/>
          </a:p>
        </p:txBody>
      </p:sp>
      <p:sp>
        <p:nvSpPr>
          <p:cNvPr id="69" name="Text 63"/>
          <p:cNvSpPr/>
          <p:nvPr/>
        </p:nvSpPr>
        <p:spPr>
          <a:xfrm>
            <a:off x="11327904" y="7772400"/>
            <a:ext cx="2134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a:t>
            </a:r>
            <a:endParaRPr lang="en-US" sz="1800" dirty="0"/>
          </a:p>
        </p:txBody>
      </p:sp>
      <p:sp>
        <p:nvSpPr>
          <p:cNvPr id="70" name="Text 64"/>
          <p:cNvSpPr/>
          <p:nvPr/>
        </p:nvSpPr>
        <p:spPr>
          <a:xfrm>
            <a:off x="11617523" y="7772400"/>
            <a:ext cx="3168461" cy="342900"/>
          </a:xfrm>
          <a:prstGeom prst="rect">
            <a:avLst/>
          </a:prstGeom>
          <a:noFill/>
          <a:ln/>
        </p:spPr>
        <p:txBody>
          <a:bodyPr wrap="none" lIns="25400" tIns="25400" rIns="25400" bIns="25400" rtlCol="0" anchor="t">
            <a:normAutofit/>
          </a:bodyPr>
          <a:lstStyle/>
          <a:p>
            <a:pPr algn="l" indent="0" marL="0">
              <a:buNone/>
            </a:pPr>
            <a:r>
              <a:rPr lang="en-US" sz="1800" b="1" dirty="0">
                <a:solidFill>
                  <a:srgbClr val="191C20"/>
                </a:solidFill>
                <a:latin typeface="IBM Plex Mono" pitchFamily="34" charset="0"/>
                <a:ea typeface="IBM Plex Mono" pitchFamily="34" charset="-122"/>
                <a:cs typeface="IBM Plex Mono" pitchFamily="34" charset="-120"/>
              </a:rPr>
              <a:t>BASELINE </a:t>
            </a:r>
            <a:pPr algn="l" indent="0" marL="0">
              <a:buNone/>
            </a:pPr>
            <a:r>
              <a:rPr lang="en-US" sz="1800" dirty="0">
                <a:solidFill>
                  <a:srgbClr val="4D535B"/>
                </a:solidFill>
                <a:latin typeface="IBM Plex Mono" pitchFamily="34" charset="0"/>
                <a:ea typeface="IBM Plex Mono" pitchFamily="34" charset="-122"/>
                <a:cs typeface="IBM Plex Mono" pitchFamily="34" charset="-120"/>
              </a:rPr>
              <a:t>all services</a:t>
            </a:r>
            <a:endParaRPr lang="en-US" sz="1800" dirty="0"/>
          </a:p>
        </p:txBody>
      </p:sp>
      <p:sp>
        <p:nvSpPr>
          <p:cNvPr id="71" name="Text 65"/>
          <p:cNvSpPr/>
          <p:nvPr/>
        </p:nvSpPr>
        <p:spPr>
          <a:xfrm>
            <a:off x="14650343" y="7772400"/>
            <a:ext cx="2134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a:t>
            </a:r>
            <a:endParaRPr lang="en-US" sz="1800" dirty="0"/>
          </a:p>
        </p:txBody>
      </p:sp>
      <p:sp>
        <p:nvSpPr>
          <p:cNvPr id="72" name="Text 66"/>
          <p:cNvSpPr/>
          <p:nvPr/>
        </p:nvSpPr>
        <p:spPr>
          <a:xfrm>
            <a:off x="857250" y="8153400"/>
            <a:ext cx="4828163" cy="342900"/>
          </a:xfrm>
          <a:prstGeom prst="rect">
            <a:avLst/>
          </a:prstGeom>
          <a:noFill/>
          <a:ln/>
        </p:spPr>
        <p:txBody>
          <a:bodyPr wrap="none" lIns="25400" tIns="25400" rIns="25400" bIns="25400" rtlCol="0" anchor="t">
            <a:normAutofit/>
          </a:bodyPr>
          <a:lstStyle/>
          <a:p>
            <a:pPr algn="l" indent="0" marL="0">
              <a:buNone/>
            </a:pPr>
            <a:r>
              <a:rPr lang="en-US" sz="1800" b="1" dirty="0">
                <a:solidFill>
                  <a:srgbClr val="191C20"/>
                </a:solidFill>
                <a:latin typeface="IBM Plex Mono" pitchFamily="34" charset="0"/>
                <a:ea typeface="IBM Plex Mono" pitchFamily="34" charset="-122"/>
                <a:cs typeface="IBM Plex Mono" pitchFamily="34" charset="-120"/>
              </a:rPr>
              <a:t>NIGHTLY </a:t>
            </a:r>
            <a:pPr algn="l" indent="0" marL="0">
              <a:buNone/>
            </a:pPr>
            <a:r>
              <a:rPr lang="en-US" sz="1800" dirty="0">
                <a:solidFill>
                  <a:srgbClr val="4D535B"/>
                </a:solidFill>
                <a:latin typeface="IBM Plex Mono" pitchFamily="34" charset="0"/>
                <a:ea typeface="IBM Plex Mono" pitchFamily="34" charset="-122"/>
                <a:cs typeface="IBM Plex Mono" pitchFamily="34" charset="-120"/>
              </a:rPr>
              <a:t>all services · LLM batch</a:t>
            </a:r>
            <a:endParaRPr lang="en-US" sz="1800" dirty="0"/>
          </a:p>
        </p:txBody>
      </p:sp>
      <p:sp>
        <p:nvSpPr>
          <p:cNvPr id="73" name="Text 67"/>
          <p:cNvSpPr/>
          <p:nvPr/>
        </p:nvSpPr>
        <p:spPr>
          <a:xfrm>
            <a:off x="5398889" y="8153400"/>
            <a:ext cx="2134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a:t>
            </a:r>
            <a:endParaRPr lang="en-US" sz="1800" dirty="0"/>
          </a:p>
        </p:txBody>
      </p:sp>
      <p:sp>
        <p:nvSpPr>
          <p:cNvPr id="74" name="Text 68"/>
          <p:cNvSpPr/>
          <p:nvPr/>
        </p:nvSpPr>
        <p:spPr>
          <a:xfrm>
            <a:off x="5688509" y="8153400"/>
            <a:ext cx="5129882" cy="342900"/>
          </a:xfrm>
          <a:prstGeom prst="rect">
            <a:avLst/>
          </a:prstGeom>
          <a:noFill/>
          <a:ln/>
        </p:spPr>
        <p:txBody>
          <a:bodyPr wrap="none" lIns="25400" tIns="25400" rIns="25400" bIns="25400" rtlCol="0" anchor="t">
            <a:normAutofit/>
          </a:bodyPr>
          <a:lstStyle/>
          <a:p>
            <a:pPr algn="l" indent="0" marL="0">
              <a:buNone/>
            </a:pPr>
            <a:r>
              <a:rPr lang="en-US" sz="1800" b="1" dirty="0">
                <a:solidFill>
                  <a:srgbClr val="191C20"/>
                </a:solidFill>
                <a:latin typeface="IBM Plex Mono" pitchFamily="34" charset="0"/>
                <a:ea typeface="IBM Plex Mono" pitchFamily="34" charset="-122"/>
                <a:cs typeface="IBM Plex Mono" pitchFamily="34" charset="-120"/>
              </a:rPr>
              <a:t>RUNTIME </a:t>
            </a:r>
            <a:pPr algn="l" indent="0" marL="0">
              <a:buNone/>
            </a:pPr>
            <a:r>
              <a:rPr lang="en-US" sz="1800" dirty="0">
                <a:solidFill>
                  <a:srgbClr val="4D535B"/>
                </a:solidFill>
                <a:latin typeface="IBM Plex Mono" pitchFamily="34" charset="0"/>
                <a:ea typeface="IBM Plex Mono" pitchFamily="34" charset="-122"/>
                <a:cs typeface="IBM Plex Mono" pitchFamily="34" charset="-120"/>
              </a:rPr>
              <a:t>evidence lane corroborates</a:t>
            </a:r>
            <a:endParaRPr lang="en-US" sz="1800" dirty="0"/>
          </a:p>
        </p:txBody>
      </p:sp>
      <p:sp>
        <p:nvSpPr>
          <p:cNvPr id="75" name="Shape 69"/>
          <p:cNvSpPr/>
          <p:nvPr/>
        </p:nvSpPr>
        <p:spPr>
          <a:xfrm>
            <a:off x="857250" y="8572500"/>
            <a:ext cx="9281368" cy="1733550"/>
          </a:xfrm>
          <a:prstGeom prst="rect">
            <a:avLst/>
          </a:prstGeom>
          <a:solidFill>
            <a:srgbClr val="FFFFFF"/>
          </a:solidFill>
          <a:ln w="9525">
            <a:solidFill>
              <a:srgbClr val="E0DCD3"/>
            </a:solidFill>
            <a:prstDash val="solid"/>
          </a:ln>
        </p:spPr>
      </p:sp>
      <p:sp>
        <p:nvSpPr>
          <p:cNvPr id="76" name="Text 70"/>
          <p:cNvSpPr/>
          <p:nvPr/>
        </p:nvSpPr>
        <p:spPr>
          <a:xfrm>
            <a:off x="1095375" y="8772525"/>
            <a:ext cx="2692885" cy="342900"/>
          </a:xfrm>
          <a:prstGeom prst="rect">
            <a:avLst/>
          </a:prstGeom>
          <a:noFill/>
          <a:ln/>
        </p:spPr>
        <p:txBody>
          <a:bodyPr wrap="square" lIns="25400" tIns="25400" rIns="25400" bIns="25400" rtlCol="0" anchor="t">
            <a:normAutofit/>
          </a:bodyPr>
          <a:lstStyle/>
          <a:p>
            <a:pPr algn="l" indent="0" marL="0">
              <a:lnSpc>
                <a:spcPct val="112500"/>
              </a:lnSpc>
              <a:buNone/>
            </a:pPr>
            <a:r>
              <a:rPr lang="en-US" sz="1800" b="1" dirty="0">
                <a:solidFill>
                  <a:srgbClr val="191C20"/>
                </a:solidFill>
                <a:latin typeface="IBM Plex Sans" pitchFamily="34" charset="0"/>
                <a:ea typeface="IBM Plex Sans" pitchFamily="34" charset="-122"/>
                <a:cs typeface="IBM Plex Sans" pitchFamily="34" charset="-120"/>
              </a:rPr>
              <a:t>Runtime evidence lane</a:t>
            </a:r>
            <a:endParaRPr lang="en-US" sz="1800" dirty="0"/>
          </a:p>
        </p:txBody>
      </p:sp>
      <p:sp>
        <p:nvSpPr>
          <p:cNvPr id="77" name="Text 71"/>
          <p:cNvSpPr/>
          <p:nvPr/>
        </p:nvSpPr>
        <p:spPr>
          <a:xfrm>
            <a:off x="3597402" y="8772525"/>
            <a:ext cx="2543015" cy="342900"/>
          </a:xfrm>
          <a:prstGeom prst="rect">
            <a:avLst/>
          </a:prstGeom>
          <a:noFill/>
          <a:ln/>
        </p:spPr>
        <p:txBody>
          <a:bodyPr wrap="square" lIns="25400" tIns="25400" rIns="25400" bIns="25400" rtlCol="0" anchor="t">
            <a:normAutofit/>
          </a:bodyPr>
          <a:lstStyle/>
          <a:p>
            <a:pPr algn="l" indent="0" marL="0">
              <a:lnSpc>
                <a:spcPct val="112500"/>
              </a:lnSpc>
              <a:buNone/>
            </a:pPr>
            <a:r>
              <a:rPr lang="en-US" sz="1800" dirty="0">
                <a:solidFill>
                  <a:srgbClr val="4D535B"/>
                </a:solidFill>
                <a:latin typeface="IBM Plex Sans" pitchFamily="34" charset="0"/>
                <a:ea typeface="IBM Plex Sans" pitchFamily="34" charset="-122"/>
                <a:cs typeface="IBM Plex Sans" pitchFamily="34" charset="-120"/>
              </a:rPr>
              <a:t>(integration tests only)</a:t>
            </a:r>
            <a:endParaRPr lang="en-US" sz="1800" dirty="0"/>
          </a:p>
        </p:txBody>
      </p:sp>
      <p:pic>
        <p:nvPicPr>
          <p:cNvPr id="78" name="Image 4" descr="preencoded.png">    </p:cNvPr>
          <p:cNvPicPr>
            <a:picLocks noChangeAspect="1"/>
          </p:cNvPicPr>
          <p:nvPr/>
        </p:nvPicPr>
        <p:blipFill>
          <a:blip r:embed="rId5"/>
          <a:stretch>
            <a:fillRect/>
          </a:stretch>
        </p:blipFill>
        <p:spPr>
          <a:xfrm>
            <a:off x="1095375" y="9115425"/>
            <a:ext cx="323850" cy="323850"/>
          </a:xfrm>
          <a:prstGeom prst="rect">
            <a:avLst/>
          </a:prstGeom>
        </p:spPr>
      </p:pic>
      <p:sp>
        <p:nvSpPr>
          <p:cNvPr id="79" name="Text 72"/>
          <p:cNvSpPr/>
          <p:nvPr/>
        </p:nvSpPr>
        <p:spPr>
          <a:xfrm>
            <a:off x="1095375" y="9115425"/>
            <a:ext cx="8561259" cy="685800"/>
          </a:xfrm>
          <a:prstGeom prst="rect">
            <a:avLst/>
          </a:prstGeom>
          <a:noFill/>
          <a:ln/>
        </p:spPr>
        <p:txBody>
          <a:bodyPr wrap="square" lIns="0" tIns="0" rIns="0" bIns="0" rtlCol="0" anchor="t">
            <a:normAutofit/>
          </a:bodyPr>
          <a:lstStyle/>
          <a:p>
            <a:pPr algn="l" indent="0" marL="0">
              <a:lnSpc>
                <a:spcPct val="112500"/>
              </a:lnSpc>
              <a:buNone/>
            </a:pPr>
            <a:r>
              <a:rPr lang="en-US" sz="1800" dirty="0">
                <a:solidFill>
                  <a:srgbClr val="4D535B"/>
                </a:solidFill>
                <a:latin typeface="IBM Plex Sans" pitchFamily="34" charset="0"/>
                <a:ea typeface="IBM Plex Sans" pitchFamily="34" charset="-122"/>
                <a:cs typeface="IBM Plex Sans" pitchFamily="34" charset="-120"/>
              </a:rPr>
              <a:t>AppConfig session → OTel element-attribute sidecars / custom-config SDKs + Spark &amp; Dask native emitters →</a:t>
            </a:r>
            <a:endParaRPr lang="en-US" sz="1800" dirty="0"/>
          </a:p>
        </p:txBody>
      </p:sp>
      <p:pic>
        <p:nvPicPr>
          <p:cNvPr id="80" name="Image 5" descr="preencoded.png">    </p:cNvPr>
          <p:cNvPicPr>
            <a:picLocks noChangeAspect="1"/>
          </p:cNvPicPr>
          <p:nvPr/>
        </p:nvPicPr>
        <p:blipFill>
          <a:blip r:embed="rId6"/>
          <a:stretch>
            <a:fillRect/>
          </a:stretch>
        </p:blipFill>
        <p:spPr>
          <a:xfrm>
            <a:off x="4391323" y="9458325"/>
            <a:ext cx="323850" cy="323850"/>
          </a:xfrm>
          <a:prstGeom prst="rect">
            <a:avLst/>
          </a:prstGeom>
        </p:spPr>
      </p:pic>
      <p:sp>
        <p:nvSpPr>
          <p:cNvPr id="81" name="Text 73"/>
          <p:cNvSpPr/>
          <p:nvPr/>
        </p:nvSpPr>
        <p:spPr>
          <a:xfrm>
            <a:off x="4762500" y="9458325"/>
            <a:ext cx="1609725" cy="342900"/>
          </a:xfrm>
          <a:prstGeom prst="rect">
            <a:avLst/>
          </a:prstGeom>
          <a:noFill/>
          <a:ln/>
        </p:spPr>
        <p:txBody>
          <a:bodyPr wrap="square" lIns="0" tIns="0" rIns="0" bIns="0" rtlCol="0" anchor="t">
            <a:normAutofit/>
          </a:bodyPr>
          <a:lstStyle/>
          <a:p>
            <a:pPr algn="l" indent="0" marL="0">
              <a:lnSpc>
                <a:spcPct val="112500"/>
              </a:lnSpc>
              <a:buNone/>
            </a:pPr>
            <a:r>
              <a:rPr lang="en-US" sz="1800" dirty="0">
                <a:solidFill>
                  <a:srgbClr val="4D535B"/>
                </a:solidFill>
                <a:latin typeface="IBM Plex Sans" pitchFamily="34" charset="0"/>
                <a:ea typeface="IBM Plex Sans" pitchFamily="34" charset="-122"/>
                <a:cs typeface="IBM Plex Sans" pitchFamily="34" charset="-120"/>
              </a:rPr>
              <a:t>CloudWatch →</a:t>
            </a:r>
            <a:endParaRPr lang="en-US" sz="1800" dirty="0"/>
          </a:p>
        </p:txBody>
      </p:sp>
      <p:pic>
        <p:nvPicPr>
          <p:cNvPr id="82" name="Image 6" descr="preencoded.png">    </p:cNvPr>
          <p:cNvPicPr>
            <a:picLocks noChangeAspect="1"/>
          </p:cNvPicPr>
          <p:nvPr/>
        </p:nvPicPr>
        <p:blipFill>
          <a:blip r:embed="rId7"/>
          <a:stretch>
            <a:fillRect/>
          </a:stretch>
        </p:blipFill>
        <p:spPr>
          <a:xfrm>
            <a:off x="6347817" y="9458325"/>
            <a:ext cx="323850" cy="323850"/>
          </a:xfrm>
          <a:prstGeom prst="rect">
            <a:avLst/>
          </a:prstGeom>
        </p:spPr>
      </p:pic>
      <p:sp>
        <p:nvSpPr>
          <p:cNvPr id="83" name="Text 74"/>
          <p:cNvSpPr/>
          <p:nvPr/>
        </p:nvSpPr>
        <p:spPr>
          <a:xfrm>
            <a:off x="1095375" y="9458325"/>
            <a:ext cx="8990786" cy="685800"/>
          </a:xfrm>
          <a:prstGeom prst="rect">
            <a:avLst/>
          </a:prstGeom>
          <a:noFill/>
          <a:ln/>
        </p:spPr>
        <p:txBody>
          <a:bodyPr wrap="square" lIns="0" tIns="0" rIns="0" bIns="0" rtlCol="0" anchor="t">
            <a:normAutofit/>
          </a:bodyPr>
          <a:lstStyle/>
          <a:p>
            <a:pPr algn="l" indent="0" marL="0">
              <a:lnSpc>
                <a:spcPct val="112500"/>
              </a:lnSpc>
              <a:buNone/>
            </a:pPr>
            <a:r>
              <a:rPr lang="en-US" sz="1800" dirty="0">
                <a:solidFill>
                  <a:srgbClr val="4D535B"/>
                </a:solidFill>
                <a:latin typeface="IBM Plex Sans" pitchFamily="34" charset="0"/>
                <a:ea typeface="IBM Plex Sans" pitchFamily="34" charset="-122"/>
                <a:cs typeface="IBM Plex Sans" pitchFamily="34" charset="-120"/>
              </a:rPr>
              <a:t>validator λ → evidence stream → immutable S3 evidence</a:t>
            </a:r>
            <a:endParaRPr lang="en-US" sz="1800" dirty="0"/>
          </a:p>
        </p:txBody>
      </p:sp>
      <p:sp>
        <p:nvSpPr>
          <p:cNvPr id="84" name="Shape 75"/>
          <p:cNvSpPr/>
          <p:nvPr/>
        </p:nvSpPr>
        <p:spPr>
          <a:xfrm>
            <a:off x="10291018" y="8572500"/>
            <a:ext cx="7139732" cy="1733550"/>
          </a:xfrm>
          <a:prstGeom prst="rect">
            <a:avLst/>
          </a:prstGeom>
          <a:solidFill>
            <a:srgbClr val="FFFFFF"/>
          </a:solidFill>
          <a:ln w="9525">
            <a:solidFill>
              <a:srgbClr val="E0DCD3"/>
            </a:solidFill>
            <a:prstDash val="dash"/>
          </a:ln>
        </p:spPr>
      </p:sp>
      <p:sp>
        <p:nvSpPr>
          <p:cNvPr id="85" name="Text 76"/>
          <p:cNvSpPr/>
          <p:nvPr/>
        </p:nvSpPr>
        <p:spPr>
          <a:xfrm>
            <a:off x="10529143" y="8753475"/>
            <a:ext cx="6877674" cy="1409700"/>
          </a:xfrm>
          <a:prstGeom prst="rect">
            <a:avLst/>
          </a:prstGeom>
          <a:noFill/>
          <a:ln/>
        </p:spPr>
        <p:txBody>
          <a:bodyPr wrap="square" lIns="25400" tIns="25400" rIns="25400" bIns="25400" rtlCol="0" anchor="t">
            <a:normAutofit/>
          </a:bodyPr>
          <a:lstStyle/>
          <a:p>
            <a:pPr algn="l" indent="0" marL="0">
              <a:lnSpc>
                <a:spcPct val="112500"/>
              </a:lnSpc>
              <a:buNone/>
            </a:pPr>
            <a:r>
              <a:rPr lang="en-US" sz="1800" dirty="0">
                <a:solidFill>
                  <a:srgbClr val="A8551F"/>
                </a:solidFill>
                <a:latin typeface="IBM Plex Mono" pitchFamily="34" charset="0"/>
                <a:ea typeface="IBM Plex Mono" pitchFamily="34" charset="-122"/>
                <a:cs typeface="IBM Plex Mono" pitchFamily="34" charset="-120"/>
              </a:rPr>
              <a:t>DEFERRED · PHASE 2 </a:t>
            </a:r>
            <a:pPr algn="l" indent="0" marL="0">
              <a:lnSpc>
                <a:spcPct val="112500"/>
              </a:lnSpc>
              <a:buNone/>
            </a:pPr>
            <a:r>
              <a:rPr lang="en-US" sz="1800" dirty="0">
                <a:solidFill>
                  <a:srgbClr val="4D535B"/>
                </a:solidFill>
                <a:highlight>
                  <a:srgbClr val="FFFFFF"/>
                </a:highlight>
                <a:latin typeface="IBM Plex Sans" pitchFamily="34" charset="0"/>
                <a:ea typeface="IBM Plex Sans" pitchFamily="34" charset="-122"/>
                <a:cs typeface="IBM Plex Sans" pitchFamily="34" charset="-120"/>
              </a:rPr>
              <a:t>— </a:t>
            </a:r>
            <a:pPr algn="l" indent="0" marL="0">
              <a:lnSpc>
                <a:spcPct val="112500"/>
              </a:lnSpc>
              <a:buNone/>
            </a:pPr>
            <a:r>
              <a:rPr lang="en-US" sz="1800" dirty="0">
                <a:solidFill>
                  <a:srgbClr val="4D535B"/>
                </a:solidFill>
                <a:latin typeface="IBM Plex Sans" pitchFamily="34" charset="0"/>
                <a:ea typeface="IBM Plex Sans" pitchFamily="34" charset="-122"/>
                <a:cs typeface="IBM Plex Sans" pitchFamily="34" charset="-120"/>
              </a:rPr>
              <a:t>interaction context (Glue + Athena recency hints) </a:t>
            </a:r>
            <a:pPr algn="l" indent="0" marL="0">
              <a:lnSpc>
                <a:spcPct val="112500"/>
              </a:lnSpc>
              <a:buNone/>
            </a:pPr>
            <a:r>
              <a:rPr lang="en-US" sz="1800" dirty="0">
                <a:solidFill>
                  <a:srgbClr val="4D535B"/>
                </a:solidFill>
                <a:highlight>
                  <a:srgbClr val="FFFFFF"/>
                </a:highlight>
                <a:latin typeface="IBM Plex Sans" pitchFamily="34" charset="0"/>
                <a:ea typeface="IBM Plex Sans" pitchFamily="34" charset="-122"/>
                <a:cs typeface="IBM Plex Sans" pitchFamily="34" charset="-120"/>
              </a:rPr>
              <a:t>removed from the target state: two services for the weakest evidence class</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57250" y="666750"/>
            <a:ext cx="18230850" cy="361950"/>
          </a:xfrm>
          <a:prstGeom prst="rect">
            <a:avLst/>
          </a:prstGeom>
          <a:noFill/>
          <a:ln/>
        </p:spPr>
        <p:txBody>
          <a:bodyPr wrap="square" lIns="25400" tIns="25400" rIns="25400" bIns="25400" rtlCol="0" anchor="t">
            <a:normAutofit/>
          </a:bodyPr>
          <a:lstStyle/>
          <a:p>
            <a:pPr algn="l" indent="0" marL="0">
              <a:buNone/>
            </a:pPr>
            <a:r>
              <a:rPr lang="en-US" sz="1950" spc="312" kern="0" dirty="0">
                <a:solidFill>
                  <a:srgbClr val="4D535B"/>
                </a:solidFill>
                <a:latin typeface="IBM Plex Mono" pitchFamily="34" charset="0"/>
                <a:ea typeface="IBM Plex Mono" pitchFamily="34" charset="-122"/>
                <a:cs typeface="IBM Plex Mono" pitchFamily="34" charset="-120"/>
              </a:rPr>
              <a:t>03 · ZERO-TOUCH TRIGGERS · SIMPLIFIED: 17 → 8 CANONICAL ROWS</a:t>
            </a:r>
            <a:endParaRPr lang="en-US" sz="1950" dirty="0"/>
          </a:p>
        </p:txBody>
      </p:sp>
      <p:sp>
        <p:nvSpPr>
          <p:cNvPr id="3" name="Text 1"/>
          <p:cNvSpPr/>
          <p:nvPr/>
        </p:nvSpPr>
        <p:spPr>
          <a:xfrm>
            <a:off x="857250" y="1123950"/>
            <a:ext cx="18230850" cy="771525"/>
          </a:xfrm>
          <a:prstGeom prst="rect">
            <a:avLst/>
          </a:prstGeom>
          <a:noFill/>
          <a:ln/>
        </p:spPr>
        <p:txBody>
          <a:bodyPr wrap="square" lIns="25400" tIns="25400" rIns="25400" bIns="25400" rtlCol="0" anchor="t">
            <a:normAutofit/>
          </a:bodyPr>
          <a:lstStyle/>
          <a:p>
            <a:pPr algn="l" indent="0" marL="0">
              <a:buNone/>
            </a:pPr>
            <a:r>
              <a:rPr lang="en-US" sz="4500" b="1" dirty="0">
                <a:solidFill>
                  <a:srgbClr val="191C20"/>
                </a:solidFill>
                <a:latin typeface="IBM Plex Sans" pitchFamily="34" charset="0"/>
                <a:ea typeface="IBM Plex Sans" pitchFamily="34" charset="-122"/>
                <a:cs typeface="IBM Plex Sans" pitchFamily="34" charset="-120"/>
              </a:rPr>
              <a:t>Eight Canonical Triggers</a:t>
            </a:r>
            <a:endParaRPr lang="en-US" sz="4500" dirty="0"/>
          </a:p>
        </p:txBody>
      </p:sp>
      <p:sp>
        <p:nvSpPr>
          <p:cNvPr id="4" name="Shape 2"/>
          <p:cNvSpPr/>
          <p:nvPr/>
        </p:nvSpPr>
        <p:spPr>
          <a:xfrm>
            <a:off x="857250" y="2162175"/>
            <a:ext cx="16573500" cy="19050"/>
          </a:xfrm>
          <a:prstGeom prst="rect">
            <a:avLst/>
          </a:prstGeom>
          <a:solidFill>
            <a:srgbClr val="191C20"/>
          </a:solidFill>
          <a:ln/>
        </p:spPr>
      </p:sp>
      <p:sp>
        <p:nvSpPr>
          <p:cNvPr id="5" name="Shape 3"/>
          <p:cNvSpPr/>
          <p:nvPr/>
        </p:nvSpPr>
        <p:spPr>
          <a:xfrm>
            <a:off x="857250" y="2714625"/>
            <a:ext cx="571500" cy="9525"/>
          </a:xfrm>
          <a:prstGeom prst="rect">
            <a:avLst/>
          </a:prstGeom>
          <a:solidFill>
            <a:srgbClr val="E0DCD3"/>
          </a:solidFill>
          <a:ln/>
        </p:spPr>
      </p:sp>
      <p:sp>
        <p:nvSpPr>
          <p:cNvPr id="6" name="Text 4"/>
          <p:cNvSpPr/>
          <p:nvPr/>
        </p:nvSpPr>
        <p:spPr>
          <a:xfrm>
            <a:off x="933450" y="2295525"/>
            <a:ext cx="4953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a:t>
            </a:r>
            <a:endParaRPr lang="en-US" sz="1800" dirty="0"/>
          </a:p>
        </p:txBody>
      </p:sp>
      <p:sp>
        <p:nvSpPr>
          <p:cNvPr id="7" name="Shape 5"/>
          <p:cNvSpPr/>
          <p:nvPr/>
        </p:nvSpPr>
        <p:spPr>
          <a:xfrm>
            <a:off x="1428750" y="2714625"/>
            <a:ext cx="4095750" cy="9525"/>
          </a:xfrm>
          <a:prstGeom prst="rect">
            <a:avLst/>
          </a:prstGeom>
          <a:solidFill>
            <a:srgbClr val="E0DCD3"/>
          </a:solidFill>
          <a:ln/>
        </p:spPr>
      </p:sp>
      <p:sp>
        <p:nvSpPr>
          <p:cNvPr id="8" name="Text 6"/>
          <p:cNvSpPr/>
          <p:nvPr/>
        </p:nvSpPr>
        <p:spPr>
          <a:xfrm>
            <a:off x="1504950" y="2295525"/>
            <a:ext cx="406622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TRIGGER</a:t>
            </a:r>
            <a:endParaRPr lang="en-US" sz="1800" dirty="0"/>
          </a:p>
        </p:txBody>
      </p:sp>
      <p:sp>
        <p:nvSpPr>
          <p:cNvPr id="9" name="Shape 7"/>
          <p:cNvSpPr/>
          <p:nvPr/>
        </p:nvSpPr>
        <p:spPr>
          <a:xfrm>
            <a:off x="5524500" y="2714625"/>
            <a:ext cx="10287000" cy="9525"/>
          </a:xfrm>
          <a:prstGeom prst="rect">
            <a:avLst/>
          </a:prstGeom>
          <a:solidFill>
            <a:srgbClr val="E0DCD3"/>
          </a:solidFill>
          <a:ln/>
        </p:spPr>
      </p:sp>
      <p:sp>
        <p:nvSpPr>
          <p:cNvPr id="10" name="Text 8"/>
          <p:cNvSpPr/>
          <p:nvPr/>
        </p:nvSpPr>
        <p:spPr>
          <a:xfrm>
            <a:off x="5600700" y="2295525"/>
            <a:ext cx="1044321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WORKFLOW · BEHAVIOR</a:t>
            </a:r>
            <a:endParaRPr lang="en-US" sz="1800" dirty="0"/>
          </a:p>
        </p:txBody>
      </p:sp>
      <p:sp>
        <p:nvSpPr>
          <p:cNvPr id="11" name="Shape 9"/>
          <p:cNvSpPr/>
          <p:nvPr/>
        </p:nvSpPr>
        <p:spPr>
          <a:xfrm>
            <a:off x="15811500" y="2714625"/>
            <a:ext cx="1619250" cy="9525"/>
          </a:xfrm>
          <a:prstGeom prst="rect">
            <a:avLst/>
          </a:prstGeom>
          <a:solidFill>
            <a:srgbClr val="E0DCD3"/>
          </a:solidFill>
          <a:ln/>
        </p:spPr>
      </p:sp>
      <p:sp>
        <p:nvSpPr>
          <p:cNvPr id="12" name="Text 10"/>
          <p:cNvSpPr/>
          <p:nvPr/>
        </p:nvSpPr>
        <p:spPr>
          <a:xfrm>
            <a:off x="15887700" y="2295525"/>
            <a:ext cx="154305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LANE</a:t>
            </a:r>
            <a:endParaRPr lang="en-US" sz="1800" dirty="0"/>
          </a:p>
        </p:txBody>
      </p:sp>
      <p:sp>
        <p:nvSpPr>
          <p:cNvPr id="13" name="Shape 11"/>
          <p:cNvSpPr/>
          <p:nvPr/>
        </p:nvSpPr>
        <p:spPr>
          <a:xfrm>
            <a:off x="857250" y="3562350"/>
            <a:ext cx="571500" cy="9525"/>
          </a:xfrm>
          <a:prstGeom prst="rect">
            <a:avLst/>
          </a:prstGeom>
          <a:solidFill>
            <a:srgbClr val="E0DCD3"/>
          </a:solidFill>
          <a:ln/>
        </p:spPr>
      </p:sp>
      <p:sp>
        <p:nvSpPr>
          <p:cNvPr id="14" name="Text 12"/>
          <p:cNvSpPr/>
          <p:nvPr/>
        </p:nvSpPr>
        <p:spPr>
          <a:xfrm>
            <a:off x="933450" y="2838450"/>
            <a:ext cx="495300" cy="6477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1</a:t>
            </a:r>
            <a:endParaRPr lang="en-US" sz="1800" dirty="0"/>
          </a:p>
        </p:txBody>
      </p:sp>
      <p:sp>
        <p:nvSpPr>
          <p:cNvPr id="15" name="Shape 13"/>
          <p:cNvSpPr/>
          <p:nvPr/>
        </p:nvSpPr>
        <p:spPr>
          <a:xfrm>
            <a:off x="1428750" y="3562350"/>
            <a:ext cx="4095750" cy="9525"/>
          </a:xfrm>
          <a:prstGeom prst="rect">
            <a:avLst/>
          </a:prstGeom>
          <a:solidFill>
            <a:srgbClr val="E0DCD3"/>
          </a:solidFill>
          <a:ln/>
        </p:spPr>
      </p:sp>
      <p:sp>
        <p:nvSpPr>
          <p:cNvPr id="16" name="Text 14"/>
          <p:cNvSpPr/>
          <p:nvPr/>
        </p:nvSpPr>
        <p:spPr>
          <a:xfrm>
            <a:off x="1504950" y="2838450"/>
            <a:ext cx="4066223" cy="647700"/>
          </a:xfrm>
          <a:prstGeom prst="rect">
            <a:avLst/>
          </a:prstGeom>
          <a:noFill/>
          <a:ln/>
        </p:spPr>
        <p:txBody>
          <a:bodyPr wrap="square" lIns="25400" tIns="25400" rIns="25400" bIns="25400" rtlCol="0" anchor="t">
            <a:normAutofit/>
          </a:bodyPr>
          <a:lstStyle/>
          <a:p>
            <a:pPr algn="l" indent="0" marL="0">
              <a:buNone/>
            </a:pPr>
            <a:r>
              <a:rPr lang="en-US" sz="1800" dirty="0">
                <a:solidFill>
                  <a:srgbClr val="191C20"/>
                </a:solidFill>
                <a:latin typeface="IBM Plex Mono" pitchFamily="34" charset="0"/>
                <a:ea typeface="IBM Plex Mono" pitchFamily="34" charset="-122"/>
                <a:cs typeface="IBM Plex Mono" pitchFamily="34" charset="-120"/>
              </a:rPr>
              <a:t>onboarding · inventory delta</a:t>
            </a:r>
            <a:endParaRPr lang="en-US" sz="1800" dirty="0"/>
          </a:p>
        </p:txBody>
      </p:sp>
      <p:sp>
        <p:nvSpPr>
          <p:cNvPr id="17" name="Shape 15"/>
          <p:cNvSpPr/>
          <p:nvPr/>
        </p:nvSpPr>
        <p:spPr>
          <a:xfrm>
            <a:off x="5524500" y="3562350"/>
            <a:ext cx="10287000" cy="9525"/>
          </a:xfrm>
          <a:prstGeom prst="rect">
            <a:avLst/>
          </a:prstGeom>
          <a:solidFill>
            <a:srgbClr val="E0DCD3"/>
          </a:solidFill>
          <a:ln/>
        </p:spPr>
      </p:sp>
      <p:sp>
        <p:nvSpPr>
          <p:cNvPr id="18" name="Text 16"/>
          <p:cNvSpPr/>
          <p:nvPr/>
        </p:nvSpPr>
        <p:spPr>
          <a:xfrm>
            <a:off x="5600700" y="2838450"/>
            <a:ext cx="10443210" cy="647700"/>
          </a:xfrm>
          <a:prstGeom prst="rect">
            <a:avLst/>
          </a:prstGeom>
          <a:noFill/>
          <a:ln/>
        </p:spPr>
        <p:txBody>
          <a:bodyPr wrap="square" lIns="25400" tIns="25400" rIns="25400" bIns="25400" rtlCol="0" anchor="t">
            <a:normAutofit/>
          </a:bodyPr>
          <a:lstStyle/>
          <a:p>
            <a:pPr algn="l" indent="0" marL="0">
              <a:buNone/>
            </a:pPr>
            <a:r>
              <a:rPr lang="en-US" sz="1800" b="1" dirty="0">
                <a:solidFill>
                  <a:srgbClr val="191C20"/>
                </a:solidFill>
                <a:latin typeface="IBM Plex Sans" pitchFamily="34" charset="0"/>
                <a:ea typeface="IBM Plex Sans" pitchFamily="34" charset="-122"/>
                <a:cs typeface="IBM Plex Sans" pitchFamily="34" charset="-120"/>
              </a:rPr>
              <a:t>BaselineCollection + scope reconciliation </a:t>
            </a:r>
            <a:pPr algn="l" indent="0" marL="0">
              <a:buNone/>
            </a:pPr>
            <a:r>
              <a:rPr lang="en-US" sz="1800" dirty="0">
                <a:solidFill>
                  <a:srgbClr val="4D535B"/>
                </a:solidFill>
                <a:latin typeface="IBM Plex Sans" pitchFamily="34" charset="0"/>
                <a:ea typeface="IBM Plex Sans" pitchFamily="34" charset="-122"/>
                <a:cs typeface="IBM Plex Sans" pitchFamily="34" charset="-120"/>
              </a:rPr>
              <a:t>— e.g. the payments app onboards → its 14 repos baselined; an archived repo → marked dormant · </a:t>
            </a:r>
            <a:pPr algn="l" indent="0" marL="0">
              <a:buNone/>
            </a:pPr>
            <a:r>
              <a:rPr lang="en-US" sz="1800" b="1" dirty="0">
                <a:solidFill>
                  <a:srgbClr val="3D5A48"/>
                </a:solidFill>
                <a:latin typeface="IBM Plex Sans" pitchFamily="34" charset="0"/>
                <a:ea typeface="IBM Plex Sans" pitchFamily="34" charset="-122"/>
                <a:cs typeface="IBM Plex Sans" pitchFamily="34" charset="-120"/>
              </a:rPr>
              <a:t>MVP</a:t>
            </a:r>
            <a:endParaRPr lang="en-US" sz="1800" dirty="0"/>
          </a:p>
        </p:txBody>
      </p:sp>
      <p:sp>
        <p:nvSpPr>
          <p:cNvPr id="19" name="Shape 17"/>
          <p:cNvSpPr/>
          <p:nvPr/>
        </p:nvSpPr>
        <p:spPr>
          <a:xfrm>
            <a:off x="15811500" y="3562350"/>
            <a:ext cx="1619250" cy="9525"/>
          </a:xfrm>
          <a:prstGeom prst="rect">
            <a:avLst/>
          </a:prstGeom>
          <a:solidFill>
            <a:srgbClr val="E0DCD3"/>
          </a:solidFill>
          <a:ln/>
        </p:spPr>
      </p:sp>
      <p:sp>
        <p:nvSpPr>
          <p:cNvPr id="20" name="Text 18"/>
          <p:cNvSpPr/>
          <p:nvPr/>
        </p:nvSpPr>
        <p:spPr>
          <a:xfrm>
            <a:off x="15887700" y="2838450"/>
            <a:ext cx="1543050" cy="6477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bulk</a:t>
            </a:r>
            <a:endParaRPr lang="en-US" sz="1800" dirty="0"/>
          </a:p>
        </p:txBody>
      </p:sp>
      <p:sp>
        <p:nvSpPr>
          <p:cNvPr id="21" name="Shape 19"/>
          <p:cNvSpPr/>
          <p:nvPr/>
        </p:nvSpPr>
        <p:spPr>
          <a:xfrm>
            <a:off x="857250" y="4105275"/>
            <a:ext cx="571500" cy="9525"/>
          </a:xfrm>
          <a:prstGeom prst="rect">
            <a:avLst/>
          </a:prstGeom>
          <a:solidFill>
            <a:srgbClr val="E0DCD3"/>
          </a:solidFill>
          <a:ln/>
        </p:spPr>
      </p:sp>
      <p:sp>
        <p:nvSpPr>
          <p:cNvPr id="22" name="Text 20"/>
          <p:cNvSpPr/>
          <p:nvPr/>
        </p:nvSpPr>
        <p:spPr>
          <a:xfrm>
            <a:off x="933450" y="3686175"/>
            <a:ext cx="4953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2</a:t>
            </a:r>
            <a:endParaRPr lang="en-US" sz="1800" dirty="0"/>
          </a:p>
        </p:txBody>
      </p:sp>
      <p:sp>
        <p:nvSpPr>
          <p:cNvPr id="23" name="Shape 21"/>
          <p:cNvSpPr/>
          <p:nvPr/>
        </p:nvSpPr>
        <p:spPr>
          <a:xfrm>
            <a:off x="1428750" y="4105275"/>
            <a:ext cx="4095750" cy="9525"/>
          </a:xfrm>
          <a:prstGeom prst="rect">
            <a:avLst/>
          </a:prstGeom>
          <a:solidFill>
            <a:srgbClr val="E0DCD3"/>
          </a:solidFill>
          <a:ln/>
        </p:spPr>
      </p:sp>
      <p:sp>
        <p:nvSpPr>
          <p:cNvPr id="24" name="Text 22"/>
          <p:cNvSpPr/>
          <p:nvPr/>
        </p:nvSpPr>
        <p:spPr>
          <a:xfrm>
            <a:off x="1504950" y="3686175"/>
            <a:ext cx="406622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191C20"/>
                </a:solidFill>
                <a:latin typeface="IBM Plex Mono" pitchFamily="34" charset="0"/>
                <a:ea typeface="IBM Plex Mono" pitchFamily="34" charset="-122"/>
                <a:cs typeface="IBM Plex Mono" pitchFamily="34" charset="-120"/>
              </a:rPr>
              <a:t>repo.push</a:t>
            </a:r>
            <a:endParaRPr lang="en-US" sz="1800" dirty="0"/>
          </a:p>
        </p:txBody>
      </p:sp>
      <p:sp>
        <p:nvSpPr>
          <p:cNvPr id="25" name="Shape 23"/>
          <p:cNvSpPr/>
          <p:nvPr/>
        </p:nvSpPr>
        <p:spPr>
          <a:xfrm>
            <a:off x="5524500" y="4105275"/>
            <a:ext cx="10287000" cy="9525"/>
          </a:xfrm>
          <a:prstGeom prst="rect">
            <a:avLst/>
          </a:prstGeom>
          <a:solidFill>
            <a:srgbClr val="E0DCD3"/>
          </a:solidFill>
          <a:ln/>
        </p:spPr>
      </p:sp>
      <p:sp>
        <p:nvSpPr>
          <p:cNvPr id="26" name="Text 24"/>
          <p:cNvSpPr/>
          <p:nvPr/>
        </p:nvSpPr>
        <p:spPr>
          <a:xfrm>
            <a:off x="5600700" y="3686175"/>
            <a:ext cx="1044321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191C20"/>
                </a:solidFill>
                <a:latin typeface="IBM Plex Sans" pitchFamily="34" charset="0"/>
                <a:ea typeface="IBM Plex Sans" pitchFamily="34" charset="-122"/>
                <a:cs typeface="IBM Plex Sans" pitchFamily="34" charset="-120"/>
              </a:rPr>
              <a:t>IncrementalCollection </a:t>
            </a:r>
            <a:pPr algn="l" indent="0" marL="0">
              <a:buNone/>
            </a:pPr>
            <a:r>
              <a:rPr lang="en-US" sz="1800" dirty="0">
                <a:solidFill>
                  <a:srgbClr val="4D535B"/>
                </a:solidFill>
                <a:latin typeface="IBM Plex Sans" pitchFamily="34" charset="0"/>
                <a:ea typeface="IBM Plex Sans" pitchFamily="34" charset="-122"/>
                <a:cs typeface="IBM Plex Sans" pitchFamily="34" charset="-120"/>
              </a:rPr>
              <a:t>— e.g. a merge changes orders.sql → only its edges re-derived · </a:t>
            </a:r>
            <a:pPr algn="l" indent="0" marL="0">
              <a:buNone/>
            </a:pPr>
            <a:r>
              <a:rPr lang="en-US" sz="1800" b="1" dirty="0">
                <a:solidFill>
                  <a:srgbClr val="3D5A48"/>
                </a:solidFill>
                <a:latin typeface="IBM Plex Sans" pitchFamily="34" charset="0"/>
                <a:ea typeface="IBM Plex Sans" pitchFamily="34" charset="-122"/>
                <a:cs typeface="IBM Plex Sans" pitchFamily="34" charset="-120"/>
              </a:rPr>
              <a:t>MVP</a:t>
            </a:r>
            <a:endParaRPr lang="en-US" sz="1800" dirty="0"/>
          </a:p>
        </p:txBody>
      </p:sp>
      <p:sp>
        <p:nvSpPr>
          <p:cNvPr id="27" name="Shape 25"/>
          <p:cNvSpPr/>
          <p:nvPr/>
        </p:nvSpPr>
        <p:spPr>
          <a:xfrm>
            <a:off x="15811500" y="4105275"/>
            <a:ext cx="1619250" cy="9525"/>
          </a:xfrm>
          <a:prstGeom prst="rect">
            <a:avLst/>
          </a:prstGeom>
          <a:solidFill>
            <a:srgbClr val="E0DCD3"/>
          </a:solidFill>
          <a:ln/>
        </p:spPr>
      </p:sp>
      <p:sp>
        <p:nvSpPr>
          <p:cNvPr id="28" name="Text 26"/>
          <p:cNvSpPr/>
          <p:nvPr/>
        </p:nvSpPr>
        <p:spPr>
          <a:xfrm>
            <a:off x="15887700" y="3686175"/>
            <a:ext cx="154305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events</a:t>
            </a:r>
            <a:endParaRPr lang="en-US" sz="1800" dirty="0"/>
          </a:p>
        </p:txBody>
      </p:sp>
      <p:sp>
        <p:nvSpPr>
          <p:cNvPr id="29" name="Shape 27"/>
          <p:cNvSpPr/>
          <p:nvPr/>
        </p:nvSpPr>
        <p:spPr>
          <a:xfrm>
            <a:off x="857250" y="4953000"/>
            <a:ext cx="571500" cy="9525"/>
          </a:xfrm>
          <a:prstGeom prst="rect">
            <a:avLst/>
          </a:prstGeom>
          <a:solidFill>
            <a:srgbClr val="E0DCD3"/>
          </a:solidFill>
          <a:ln/>
        </p:spPr>
      </p:sp>
      <p:sp>
        <p:nvSpPr>
          <p:cNvPr id="30" name="Text 28"/>
          <p:cNvSpPr/>
          <p:nvPr/>
        </p:nvSpPr>
        <p:spPr>
          <a:xfrm>
            <a:off x="933450" y="4229100"/>
            <a:ext cx="495300" cy="6477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3</a:t>
            </a:r>
            <a:endParaRPr lang="en-US" sz="1800" dirty="0"/>
          </a:p>
        </p:txBody>
      </p:sp>
      <p:sp>
        <p:nvSpPr>
          <p:cNvPr id="31" name="Shape 29"/>
          <p:cNvSpPr/>
          <p:nvPr/>
        </p:nvSpPr>
        <p:spPr>
          <a:xfrm>
            <a:off x="1428750" y="4953000"/>
            <a:ext cx="4095750" cy="9525"/>
          </a:xfrm>
          <a:prstGeom prst="rect">
            <a:avLst/>
          </a:prstGeom>
          <a:solidFill>
            <a:srgbClr val="E0DCD3"/>
          </a:solidFill>
          <a:ln/>
        </p:spPr>
      </p:sp>
      <p:sp>
        <p:nvSpPr>
          <p:cNvPr id="32" name="Text 30"/>
          <p:cNvSpPr/>
          <p:nvPr/>
        </p:nvSpPr>
        <p:spPr>
          <a:xfrm>
            <a:off x="1504950" y="4229100"/>
            <a:ext cx="4066223" cy="647700"/>
          </a:xfrm>
          <a:prstGeom prst="rect">
            <a:avLst/>
          </a:prstGeom>
          <a:noFill/>
          <a:ln/>
        </p:spPr>
        <p:txBody>
          <a:bodyPr wrap="square" lIns="25400" tIns="25400" rIns="25400" bIns="25400" rtlCol="0" anchor="t">
            <a:normAutofit/>
          </a:bodyPr>
          <a:lstStyle/>
          <a:p>
            <a:pPr algn="l" indent="0" marL="0">
              <a:buNone/>
            </a:pPr>
            <a:r>
              <a:rPr lang="en-US" sz="1800" dirty="0">
                <a:solidFill>
                  <a:srgbClr val="191C20"/>
                </a:solidFill>
                <a:latin typeface="IBM Plex Mono" pitchFamily="34" charset="0"/>
                <a:ea typeface="IBM Plex Mono" pitchFamily="34" charset="-122"/>
                <a:cs typeface="IBM Plex Mono" pitchFamily="34" charset="-120"/>
              </a:rPr>
              <a:t>repo.pr.updated · rebase</a:t>
            </a:r>
            <a:endParaRPr lang="en-US" sz="1800" dirty="0"/>
          </a:p>
        </p:txBody>
      </p:sp>
      <p:sp>
        <p:nvSpPr>
          <p:cNvPr id="33" name="Shape 31"/>
          <p:cNvSpPr/>
          <p:nvPr/>
        </p:nvSpPr>
        <p:spPr>
          <a:xfrm>
            <a:off x="5524500" y="4953000"/>
            <a:ext cx="10287000" cy="9525"/>
          </a:xfrm>
          <a:prstGeom prst="rect">
            <a:avLst/>
          </a:prstGeom>
          <a:solidFill>
            <a:srgbClr val="E0DCD3"/>
          </a:solidFill>
          <a:ln/>
        </p:spPr>
      </p:sp>
      <p:sp>
        <p:nvSpPr>
          <p:cNvPr id="34" name="Text 32"/>
          <p:cNvSpPr/>
          <p:nvPr/>
        </p:nvSpPr>
        <p:spPr>
          <a:xfrm>
            <a:off x="5600700" y="4229100"/>
            <a:ext cx="10443210" cy="647700"/>
          </a:xfrm>
          <a:prstGeom prst="rect">
            <a:avLst/>
          </a:prstGeom>
          <a:noFill/>
          <a:ln/>
        </p:spPr>
        <p:txBody>
          <a:bodyPr wrap="square" lIns="25400" tIns="25400" rIns="25400" bIns="25400" rtlCol="0" anchor="t">
            <a:normAutofit/>
          </a:bodyPr>
          <a:lstStyle/>
          <a:p>
            <a:pPr algn="l" indent="0" marL="0">
              <a:buNone/>
            </a:pPr>
            <a:r>
              <a:rPr lang="en-US" sz="1800" b="1" dirty="0">
                <a:solidFill>
                  <a:srgbClr val="191C20"/>
                </a:solidFill>
                <a:latin typeface="IBM Plex Sans" pitchFamily="34" charset="0"/>
                <a:ea typeface="IBM Plex Sans" pitchFamily="34" charset="-122"/>
                <a:cs typeface="IBM Plex Sans" pitchFamily="34" charset="-120"/>
              </a:rPr>
              <a:t>PRGate </a:t>
            </a:r>
            <a:pPr algn="l" indent="0" marL="0">
              <a:buNone/>
            </a:pPr>
            <a:r>
              <a:rPr lang="en-US" sz="1800" dirty="0">
                <a:solidFill>
                  <a:srgbClr val="4D535B"/>
                </a:solidFill>
                <a:latin typeface="IBM Plex Sans" pitchFamily="34" charset="0"/>
                <a:ea typeface="IBM Plex Sans" pitchFamily="34" charset="-122"/>
                <a:cs typeface="IBM Plex Sans" pitchFamily="34" charset="-120"/>
              </a:rPr>
              <a:t>— e.g. a PR drops a column → warning listing affected consumers; a rewrite supersedes the prior result · Phase 1</a:t>
            </a:r>
            <a:endParaRPr lang="en-US" sz="1800" dirty="0"/>
          </a:p>
        </p:txBody>
      </p:sp>
      <p:sp>
        <p:nvSpPr>
          <p:cNvPr id="35" name="Shape 33"/>
          <p:cNvSpPr/>
          <p:nvPr/>
        </p:nvSpPr>
        <p:spPr>
          <a:xfrm>
            <a:off x="15811500" y="4953000"/>
            <a:ext cx="1619250" cy="9525"/>
          </a:xfrm>
          <a:prstGeom prst="rect">
            <a:avLst/>
          </a:prstGeom>
          <a:solidFill>
            <a:srgbClr val="E0DCD3"/>
          </a:solidFill>
          <a:ln/>
        </p:spPr>
      </p:sp>
      <p:sp>
        <p:nvSpPr>
          <p:cNvPr id="36" name="Text 34"/>
          <p:cNvSpPr/>
          <p:nvPr/>
        </p:nvSpPr>
        <p:spPr>
          <a:xfrm>
            <a:off x="15887700" y="4229100"/>
            <a:ext cx="1543050" cy="6477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interactive</a:t>
            </a:r>
            <a:endParaRPr lang="en-US" sz="1800" dirty="0"/>
          </a:p>
        </p:txBody>
      </p:sp>
      <p:sp>
        <p:nvSpPr>
          <p:cNvPr id="37" name="Shape 35"/>
          <p:cNvSpPr/>
          <p:nvPr/>
        </p:nvSpPr>
        <p:spPr>
          <a:xfrm>
            <a:off x="857250" y="5800725"/>
            <a:ext cx="571500" cy="9525"/>
          </a:xfrm>
          <a:prstGeom prst="rect">
            <a:avLst/>
          </a:prstGeom>
          <a:solidFill>
            <a:srgbClr val="E0DCD3"/>
          </a:solidFill>
          <a:ln/>
        </p:spPr>
      </p:sp>
      <p:sp>
        <p:nvSpPr>
          <p:cNvPr id="38" name="Text 36"/>
          <p:cNvSpPr/>
          <p:nvPr/>
        </p:nvSpPr>
        <p:spPr>
          <a:xfrm>
            <a:off x="933450" y="5076825"/>
            <a:ext cx="495300" cy="6477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4</a:t>
            </a:r>
            <a:endParaRPr lang="en-US" sz="1800" dirty="0"/>
          </a:p>
        </p:txBody>
      </p:sp>
      <p:sp>
        <p:nvSpPr>
          <p:cNvPr id="39" name="Shape 37"/>
          <p:cNvSpPr/>
          <p:nvPr/>
        </p:nvSpPr>
        <p:spPr>
          <a:xfrm>
            <a:off x="1428750" y="5800725"/>
            <a:ext cx="4095750" cy="9525"/>
          </a:xfrm>
          <a:prstGeom prst="rect">
            <a:avLst/>
          </a:prstGeom>
          <a:solidFill>
            <a:srgbClr val="E0DCD3"/>
          </a:solidFill>
          <a:ln/>
        </p:spPr>
      </p:sp>
      <p:sp>
        <p:nvSpPr>
          <p:cNvPr id="40" name="Text 38"/>
          <p:cNvSpPr/>
          <p:nvPr/>
        </p:nvSpPr>
        <p:spPr>
          <a:xfrm>
            <a:off x="1504950" y="5076825"/>
            <a:ext cx="4066223" cy="647700"/>
          </a:xfrm>
          <a:prstGeom prst="rect">
            <a:avLst/>
          </a:prstGeom>
          <a:noFill/>
          <a:ln/>
        </p:spPr>
        <p:txBody>
          <a:bodyPr wrap="square" lIns="25400" tIns="25400" rIns="25400" bIns="25400" rtlCol="0" anchor="t">
            <a:normAutofit/>
          </a:bodyPr>
          <a:lstStyle/>
          <a:p>
            <a:pPr algn="l" indent="0" marL="0">
              <a:buNone/>
            </a:pPr>
            <a:r>
              <a:rPr lang="en-US" sz="1800" dirty="0">
                <a:solidFill>
                  <a:srgbClr val="191C20"/>
                </a:solidFill>
                <a:latin typeface="IBM Plex Mono" pitchFamily="34" charset="0"/>
                <a:ea typeface="IBM Plex Mono" pitchFamily="34" charset="-122"/>
                <a:cs typeface="IBM Plex Mono" pitchFamily="34" charset="-120"/>
              </a:rPr>
              <a:t>deploy succeeded · failed · rolled back</a:t>
            </a:r>
            <a:endParaRPr lang="en-US" sz="1800" dirty="0"/>
          </a:p>
        </p:txBody>
      </p:sp>
      <p:sp>
        <p:nvSpPr>
          <p:cNvPr id="41" name="Shape 39"/>
          <p:cNvSpPr/>
          <p:nvPr/>
        </p:nvSpPr>
        <p:spPr>
          <a:xfrm>
            <a:off x="5524500" y="5800725"/>
            <a:ext cx="10287000" cy="9525"/>
          </a:xfrm>
          <a:prstGeom prst="rect">
            <a:avLst/>
          </a:prstGeom>
          <a:solidFill>
            <a:srgbClr val="E0DCD3"/>
          </a:solidFill>
          <a:ln/>
        </p:spPr>
      </p:sp>
      <p:sp>
        <p:nvSpPr>
          <p:cNvPr id="42" name="Text 40"/>
          <p:cNvSpPr/>
          <p:nvPr/>
        </p:nvSpPr>
        <p:spPr>
          <a:xfrm>
            <a:off x="5600700" y="5076825"/>
            <a:ext cx="10443210" cy="647700"/>
          </a:xfrm>
          <a:prstGeom prst="rect">
            <a:avLst/>
          </a:prstGeom>
          <a:noFill/>
          <a:ln/>
        </p:spPr>
        <p:txBody>
          <a:bodyPr wrap="square" lIns="25400" tIns="25400" rIns="25400" bIns="25400" rtlCol="0" anchor="t">
            <a:normAutofit/>
          </a:bodyPr>
          <a:lstStyle/>
          <a:p>
            <a:pPr algn="l" indent="0" marL="0">
              <a:buNone/>
            </a:pPr>
            <a:r>
              <a:rPr lang="en-US" sz="1800" b="1" dirty="0">
                <a:solidFill>
                  <a:srgbClr val="191C20"/>
                </a:solidFill>
                <a:latin typeface="IBM Plex Sans" pitchFamily="34" charset="0"/>
                <a:ea typeface="IBM Plex Sans" pitchFamily="34" charset="-122"/>
                <a:cs typeface="IBM Plex Sans" pitchFamily="34" charset="-120"/>
              </a:rPr>
              <a:t>Deploy pointer update (λ) </a:t>
            </a:r>
            <a:pPr algn="l" indent="0" marL="0">
              <a:buNone/>
            </a:pPr>
            <a:r>
              <a:rPr lang="en-US" sz="1800" dirty="0">
                <a:solidFill>
                  <a:srgbClr val="4D535B"/>
                </a:solidFill>
                <a:latin typeface="IBM Plex Sans" pitchFamily="34" charset="0"/>
                <a:ea typeface="IBM Plex Sans" pitchFamily="34" charset="-122"/>
                <a:cs typeface="IBM Plex Sans" pitchFamily="34" charset="-120"/>
              </a:rPr>
              <a:t>— e.g. build abc123 reaches prod → its lineage becomes prod truth; rollback reactivates prior · Phase 1</a:t>
            </a:r>
            <a:endParaRPr lang="en-US" sz="1800" dirty="0"/>
          </a:p>
        </p:txBody>
      </p:sp>
      <p:sp>
        <p:nvSpPr>
          <p:cNvPr id="43" name="Shape 41"/>
          <p:cNvSpPr/>
          <p:nvPr/>
        </p:nvSpPr>
        <p:spPr>
          <a:xfrm>
            <a:off x="15811500" y="5800725"/>
            <a:ext cx="1619250" cy="9525"/>
          </a:xfrm>
          <a:prstGeom prst="rect">
            <a:avLst/>
          </a:prstGeom>
          <a:solidFill>
            <a:srgbClr val="E0DCD3"/>
          </a:solidFill>
          <a:ln/>
        </p:spPr>
      </p:sp>
      <p:sp>
        <p:nvSpPr>
          <p:cNvPr id="44" name="Text 42"/>
          <p:cNvSpPr/>
          <p:nvPr/>
        </p:nvSpPr>
        <p:spPr>
          <a:xfrm>
            <a:off x="15887700" y="5076825"/>
            <a:ext cx="1543050" cy="6477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events</a:t>
            </a:r>
            <a:endParaRPr lang="en-US" sz="1800" dirty="0"/>
          </a:p>
        </p:txBody>
      </p:sp>
      <p:sp>
        <p:nvSpPr>
          <p:cNvPr id="45" name="Shape 43"/>
          <p:cNvSpPr/>
          <p:nvPr/>
        </p:nvSpPr>
        <p:spPr>
          <a:xfrm>
            <a:off x="857250" y="6343650"/>
            <a:ext cx="571500" cy="9525"/>
          </a:xfrm>
          <a:prstGeom prst="rect">
            <a:avLst/>
          </a:prstGeom>
          <a:solidFill>
            <a:srgbClr val="E0DCD3"/>
          </a:solidFill>
          <a:ln/>
        </p:spPr>
      </p:sp>
      <p:sp>
        <p:nvSpPr>
          <p:cNvPr id="46" name="Text 44"/>
          <p:cNvSpPr/>
          <p:nvPr/>
        </p:nvSpPr>
        <p:spPr>
          <a:xfrm>
            <a:off x="933450" y="5924550"/>
            <a:ext cx="4953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5</a:t>
            </a:r>
            <a:endParaRPr lang="en-US" sz="1800" dirty="0"/>
          </a:p>
        </p:txBody>
      </p:sp>
      <p:sp>
        <p:nvSpPr>
          <p:cNvPr id="47" name="Shape 45"/>
          <p:cNvSpPr/>
          <p:nvPr/>
        </p:nvSpPr>
        <p:spPr>
          <a:xfrm>
            <a:off x="1428750" y="6343650"/>
            <a:ext cx="4095750" cy="9525"/>
          </a:xfrm>
          <a:prstGeom prst="rect">
            <a:avLst/>
          </a:prstGeom>
          <a:solidFill>
            <a:srgbClr val="E0DCD3"/>
          </a:solidFill>
          <a:ln/>
        </p:spPr>
      </p:sp>
      <p:sp>
        <p:nvSpPr>
          <p:cNvPr id="48" name="Text 46"/>
          <p:cNvSpPr/>
          <p:nvPr/>
        </p:nvSpPr>
        <p:spPr>
          <a:xfrm>
            <a:off x="1504950" y="5924550"/>
            <a:ext cx="406622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191C20"/>
                </a:solidFill>
                <a:latin typeface="IBM Plex Mono" pitchFamily="34" charset="0"/>
                <a:ea typeface="IBM Plex Mono" pitchFamily="34" charset="-122"/>
                <a:cs typeface="IBM Plex Mono" pitchFamily="34" charset="-120"/>
              </a:rPr>
              <a:t>nightly schedule</a:t>
            </a:r>
            <a:endParaRPr lang="en-US" sz="1800" dirty="0"/>
          </a:p>
        </p:txBody>
      </p:sp>
      <p:sp>
        <p:nvSpPr>
          <p:cNvPr id="49" name="Shape 47"/>
          <p:cNvSpPr/>
          <p:nvPr/>
        </p:nvSpPr>
        <p:spPr>
          <a:xfrm>
            <a:off x="5524500" y="6343650"/>
            <a:ext cx="10287000" cy="9525"/>
          </a:xfrm>
          <a:prstGeom prst="rect">
            <a:avLst/>
          </a:prstGeom>
          <a:solidFill>
            <a:srgbClr val="E0DCD3"/>
          </a:solidFill>
          <a:ln/>
        </p:spPr>
      </p:sp>
      <p:sp>
        <p:nvSpPr>
          <p:cNvPr id="50" name="Text 48"/>
          <p:cNvSpPr/>
          <p:nvPr/>
        </p:nvSpPr>
        <p:spPr>
          <a:xfrm>
            <a:off x="5600700" y="5924550"/>
            <a:ext cx="1044321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191C20"/>
                </a:solidFill>
                <a:latin typeface="IBM Plex Sans" pitchFamily="34" charset="0"/>
                <a:ea typeface="IBM Plex Sans" pitchFamily="34" charset="-122"/>
                <a:cs typeface="IBM Plex Sans" pitchFamily="34" charset="-120"/>
              </a:rPr>
              <a:t>NightlyReconciliation </a:t>
            </a:r>
            <a:pPr algn="l" indent="0" marL="0">
              <a:buNone/>
            </a:pPr>
            <a:r>
              <a:rPr lang="en-US" sz="1800" dirty="0">
                <a:solidFill>
                  <a:srgbClr val="4D535B"/>
                </a:solidFill>
                <a:latin typeface="IBM Plex Sans" pitchFamily="34" charset="0"/>
                <a:ea typeface="IBM Plex Sans" pitchFamily="34" charset="-122"/>
                <a:cs typeface="IBM Plex Sans" pitchFamily="34" charset="-120"/>
              </a:rPr>
              <a:t>— rescan, compare, publish drift · Phase 2</a:t>
            </a:r>
            <a:endParaRPr lang="en-US" sz="1800" dirty="0"/>
          </a:p>
        </p:txBody>
      </p:sp>
      <p:sp>
        <p:nvSpPr>
          <p:cNvPr id="51" name="Shape 49"/>
          <p:cNvSpPr/>
          <p:nvPr/>
        </p:nvSpPr>
        <p:spPr>
          <a:xfrm>
            <a:off x="15811500" y="6343650"/>
            <a:ext cx="1619250" cy="9525"/>
          </a:xfrm>
          <a:prstGeom prst="rect">
            <a:avLst/>
          </a:prstGeom>
          <a:solidFill>
            <a:srgbClr val="E0DCD3"/>
          </a:solidFill>
          <a:ln/>
        </p:spPr>
      </p:sp>
      <p:sp>
        <p:nvSpPr>
          <p:cNvPr id="52" name="Text 50"/>
          <p:cNvSpPr/>
          <p:nvPr/>
        </p:nvSpPr>
        <p:spPr>
          <a:xfrm>
            <a:off x="15887700" y="5924550"/>
            <a:ext cx="154305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bulk</a:t>
            </a:r>
            <a:endParaRPr lang="en-US" sz="1800" dirty="0"/>
          </a:p>
        </p:txBody>
      </p:sp>
      <p:sp>
        <p:nvSpPr>
          <p:cNvPr id="53" name="Shape 51"/>
          <p:cNvSpPr/>
          <p:nvPr/>
        </p:nvSpPr>
        <p:spPr>
          <a:xfrm>
            <a:off x="857250" y="7191375"/>
            <a:ext cx="571500" cy="9525"/>
          </a:xfrm>
          <a:prstGeom prst="rect">
            <a:avLst/>
          </a:prstGeom>
          <a:solidFill>
            <a:srgbClr val="E0DCD3"/>
          </a:solidFill>
          <a:ln/>
        </p:spPr>
      </p:sp>
      <p:sp>
        <p:nvSpPr>
          <p:cNvPr id="54" name="Text 52"/>
          <p:cNvSpPr/>
          <p:nvPr/>
        </p:nvSpPr>
        <p:spPr>
          <a:xfrm>
            <a:off x="933450" y="6467475"/>
            <a:ext cx="495300" cy="6477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6</a:t>
            </a:r>
            <a:endParaRPr lang="en-US" sz="1800" dirty="0"/>
          </a:p>
        </p:txBody>
      </p:sp>
      <p:sp>
        <p:nvSpPr>
          <p:cNvPr id="55" name="Shape 53"/>
          <p:cNvSpPr/>
          <p:nvPr/>
        </p:nvSpPr>
        <p:spPr>
          <a:xfrm>
            <a:off x="1428750" y="7191375"/>
            <a:ext cx="4095750" cy="9525"/>
          </a:xfrm>
          <a:prstGeom prst="rect">
            <a:avLst/>
          </a:prstGeom>
          <a:solidFill>
            <a:srgbClr val="E0DCD3"/>
          </a:solidFill>
          <a:ln/>
        </p:spPr>
      </p:sp>
      <p:sp>
        <p:nvSpPr>
          <p:cNvPr id="56" name="Text 54"/>
          <p:cNvSpPr/>
          <p:nvPr/>
        </p:nvSpPr>
        <p:spPr>
          <a:xfrm>
            <a:off x="1504950" y="6467475"/>
            <a:ext cx="4066223" cy="647700"/>
          </a:xfrm>
          <a:prstGeom prst="rect">
            <a:avLst/>
          </a:prstGeom>
          <a:noFill/>
          <a:ln/>
        </p:spPr>
        <p:txBody>
          <a:bodyPr wrap="square" lIns="25400" tIns="25400" rIns="25400" bIns="25400" rtlCol="0" anchor="t">
            <a:normAutofit/>
          </a:bodyPr>
          <a:lstStyle/>
          <a:p>
            <a:pPr algn="l" indent="0" marL="0">
              <a:buNone/>
            </a:pPr>
            <a:r>
              <a:rPr lang="en-US" sz="1800" dirty="0">
                <a:solidFill>
                  <a:srgbClr val="191C20"/>
                </a:solidFill>
                <a:latin typeface="IBM Plex Mono" pitchFamily="34" charset="0"/>
                <a:ea typeface="IBM Plex Mono" pitchFamily="34" charset="-122"/>
                <a:cs typeface="IBM Plex Mono" pitchFamily="34" charset="-120"/>
              </a:rPr>
              <a:t>registry.changed</a:t>
            </a:r>
            <a:endParaRPr lang="en-US" sz="1800" dirty="0"/>
          </a:p>
        </p:txBody>
      </p:sp>
      <p:sp>
        <p:nvSpPr>
          <p:cNvPr id="57" name="Shape 55"/>
          <p:cNvSpPr/>
          <p:nvPr/>
        </p:nvSpPr>
        <p:spPr>
          <a:xfrm>
            <a:off x="5524500" y="7191375"/>
            <a:ext cx="10287000" cy="9525"/>
          </a:xfrm>
          <a:prstGeom prst="rect">
            <a:avLst/>
          </a:prstGeom>
          <a:solidFill>
            <a:srgbClr val="E0DCD3"/>
          </a:solidFill>
          <a:ln/>
        </p:spPr>
      </p:sp>
      <p:sp>
        <p:nvSpPr>
          <p:cNvPr id="58" name="Text 56"/>
          <p:cNvSpPr/>
          <p:nvPr/>
        </p:nvSpPr>
        <p:spPr>
          <a:xfrm>
            <a:off x="5600700" y="6467475"/>
            <a:ext cx="10443210" cy="647700"/>
          </a:xfrm>
          <a:prstGeom prst="rect">
            <a:avLst/>
          </a:prstGeom>
          <a:noFill/>
          <a:ln/>
        </p:spPr>
        <p:txBody>
          <a:bodyPr wrap="square" lIns="25400" tIns="25400" rIns="25400" bIns="25400" rtlCol="0" anchor="t">
            <a:normAutofit/>
          </a:bodyPr>
          <a:lstStyle/>
          <a:p>
            <a:pPr algn="l" indent="0" marL="0">
              <a:buNone/>
            </a:pPr>
            <a:r>
              <a:rPr lang="en-US" sz="1800" b="1" dirty="0">
                <a:solidFill>
                  <a:srgbClr val="191C20"/>
                </a:solidFill>
                <a:latin typeface="IBM Plex Sans" pitchFamily="34" charset="0"/>
                <a:ea typeface="IBM Plex Sans" pitchFamily="34" charset="-122"/>
                <a:cs typeface="IBM Plex Sans" pitchFamily="34" charset="-120"/>
              </a:rPr>
              <a:t>Registry re-derivation </a:t>
            </a:r>
            <a:pPr algn="l" indent="0" marL="0">
              <a:buNone/>
            </a:pPr>
            <a:r>
              <a:rPr lang="en-US" sz="1800" dirty="0">
                <a:solidFill>
                  <a:srgbClr val="4D535B"/>
                </a:solidFill>
                <a:latin typeface="IBM Plex Sans" pitchFamily="34" charset="0"/>
                <a:ea typeface="IBM Plex Sans" pitchFamily="34" charset="-122"/>
                <a:cs typeface="IBM Plex Sans" pitchFamily="34" charset="-120"/>
              </a:rPr>
              <a:t>— governed schema updated → producers/consumers re-derived; registry always wins · Phase 2</a:t>
            </a:r>
            <a:endParaRPr lang="en-US" sz="1800" dirty="0"/>
          </a:p>
        </p:txBody>
      </p:sp>
      <p:sp>
        <p:nvSpPr>
          <p:cNvPr id="59" name="Shape 57"/>
          <p:cNvSpPr/>
          <p:nvPr/>
        </p:nvSpPr>
        <p:spPr>
          <a:xfrm>
            <a:off x="15811500" y="7191375"/>
            <a:ext cx="1619250" cy="9525"/>
          </a:xfrm>
          <a:prstGeom prst="rect">
            <a:avLst/>
          </a:prstGeom>
          <a:solidFill>
            <a:srgbClr val="E0DCD3"/>
          </a:solidFill>
          <a:ln/>
        </p:spPr>
      </p:sp>
      <p:sp>
        <p:nvSpPr>
          <p:cNvPr id="60" name="Text 58"/>
          <p:cNvSpPr/>
          <p:nvPr/>
        </p:nvSpPr>
        <p:spPr>
          <a:xfrm>
            <a:off x="15887700" y="6467475"/>
            <a:ext cx="1543050" cy="6477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events</a:t>
            </a:r>
            <a:endParaRPr lang="en-US" sz="1800" dirty="0"/>
          </a:p>
        </p:txBody>
      </p:sp>
      <p:sp>
        <p:nvSpPr>
          <p:cNvPr id="61" name="Shape 59"/>
          <p:cNvSpPr/>
          <p:nvPr/>
        </p:nvSpPr>
        <p:spPr>
          <a:xfrm>
            <a:off x="857250" y="7734300"/>
            <a:ext cx="571500" cy="9525"/>
          </a:xfrm>
          <a:prstGeom prst="rect">
            <a:avLst/>
          </a:prstGeom>
          <a:solidFill>
            <a:srgbClr val="E0DCD3"/>
          </a:solidFill>
          <a:ln/>
        </p:spPr>
      </p:sp>
      <p:sp>
        <p:nvSpPr>
          <p:cNvPr id="62" name="Text 60"/>
          <p:cNvSpPr/>
          <p:nvPr/>
        </p:nvSpPr>
        <p:spPr>
          <a:xfrm>
            <a:off x="933450" y="7315200"/>
            <a:ext cx="4953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7</a:t>
            </a:r>
            <a:endParaRPr lang="en-US" sz="1800" dirty="0"/>
          </a:p>
        </p:txBody>
      </p:sp>
      <p:sp>
        <p:nvSpPr>
          <p:cNvPr id="63" name="Shape 61"/>
          <p:cNvSpPr/>
          <p:nvPr/>
        </p:nvSpPr>
        <p:spPr>
          <a:xfrm>
            <a:off x="1428750" y="7734300"/>
            <a:ext cx="4095750" cy="9525"/>
          </a:xfrm>
          <a:prstGeom prst="rect">
            <a:avLst/>
          </a:prstGeom>
          <a:solidFill>
            <a:srgbClr val="E0DCD3"/>
          </a:solidFill>
          <a:ln/>
        </p:spPr>
      </p:sp>
      <p:sp>
        <p:nvSpPr>
          <p:cNvPr id="64" name="Text 62"/>
          <p:cNvSpPr/>
          <p:nvPr/>
        </p:nvSpPr>
        <p:spPr>
          <a:xfrm>
            <a:off x="1504950" y="7315200"/>
            <a:ext cx="406622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191C20"/>
                </a:solidFill>
                <a:latin typeface="IBM Plex Mono" pitchFamily="34" charset="0"/>
                <a:ea typeface="IBM Plex Mono" pitchFamily="34" charset="-122"/>
                <a:cs typeface="IBM Plex Mono" pitchFamily="34" charset="-120"/>
              </a:rPr>
              <a:t>proposal.finalized</a:t>
            </a:r>
            <a:endParaRPr lang="en-US" sz="1800" dirty="0"/>
          </a:p>
        </p:txBody>
      </p:sp>
      <p:sp>
        <p:nvSpPr>
          <p:cNvPr id="65" name="Shape 63"/>
          <p:cNvSpPr/>
          <p:nvPr/>
        </p:nvSpPr>
        <p:spPr>
          <a:xfrm>
            <a:off x="5524500" y="7734300"/>
            <a:ext cx="10287000" cy="9525"/>
          </a:xfrm>
          <a:prstGeom prst="rect">
            <a:avLst/>
          </a:prstGeom>
          <a:solidFill>
            <a:srgbClr val="E0DCD3"/>
          </a:solidFill>
          <a:ln/>
        </p:spPr>
      </p:sp>
      <p:sp>
        <p:nvSpPr>
          <p:cNvPr id="66" name="Text 64"/>
          <p:cNvSpPr/>
          <p:nvPr/>
        </p:nvSpPr>
        <p:spPr>
          <a:xfrm>
            <a:off x="5600700" y="7315200"/>
            <a:ext cx="1044321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191C20"/>
                </a:solidFill>
                <a:latin typeface="IBM Plex Sans" pitchFamily="34" charset="0"/>
                <a:ea typeface="IBM Plex Sans" pitchFamily="34" charset="-122"/>
                <a:cs typeface="IBM Plex Sans" pitchFamily="34" charset="-120"/>
              </a:rPr>
              <a:t>Trust promotion </a:t>
            </a:r>
            <a:pPr algn="l" indent="0" marL="0">
              <a:buNone/>
            </a:pPr>
            <a:r>
              <a:rPr lang="en-US" sz="1800" dirty="0">
                <a:solidFill>
                  <a:srgbClr val="4D535B"/>
                </a:solidFill>
                <a:latin typeface="IBM Plex Sans" pitchFamily="34" charset="0"/>
                <a:ea typeface="IBM Plex Sans" pitchFamily="34" charset="-122"/>
                <a:cs typeface="IBM Plex Sans" pitchFamily="34" charset="-120"/>
              </a:rPr>
              <a:t>— reviewed edges become owner-attested · Phase 1</a:t>
            </a:r>
            <a:endParaRPr lang="en-US" sz="1800" dirty="0"/>
          </a:p>
        </p:txBody>
      </p:sp>
      <p:sp>
        <p:nvSpPr>
          <p:cNvPr id="67" name="Shape 65"/>
          <p:cNvSpPr/>
          <p:nvPr/>
        </p:nvSpPr>
        <p:spPr>
          <a:xfrm>
            <a:off x="15811500" y="7734300"/>
            <a:ext cx="1619250" cy="9525"/>
          </a:xfrm>
          <a:prstGeom prst="rect">
            <a:avLst/>
          </a:prstGeom>
          <a:solidFill>
            <a:srgbClr val="E0DCD3"/>
          </a:solidFill>
          <a:ln/>
        </p:spPr>
      </p:sp>
      <p:sp>
        <p:nvSpPr>
          <p:cNvPr id="68" name="Text 66"/>
          <p:cNvSpPr/>
          <p:nvPr/>
        </p:nvSpPr>
        <p:spPr>
          <a:xfrm>
            <a:off x="15887700" y="7315200"/>
            <a:ext cx="154305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a:t>
            </a:r>
            <a:endParaRPr lang="en-US" sz="1800" dirty="0"/>
          </a:p>
        </p:txBody>
      </p:sp>
      <p:sp>
        <p:nvSpPr>
          <p:cNvPr id="69" name="Shape 67"/>
          <p:cNvSpPr/>
          <p:nvPr/>
        </p:nvSpPr>
        <p:spPr>
          <a:xfrm>
            <a:off x="857250" y="8582025"/>
            <a:ext cx="571500" cy="9525"/>
          </a:xfrm>
          <a:prstGeom prst="rect">
            <a:avLst/>
          </a:prstGeom>
          <a:solidFill>
            <a:srgbClr val="E0DCD3"/>
          </a:solidFill>
          <a:ln/>
        </p:spPr>
      </p:sp>
      <p:sp>
        <p:nvSpPr>
          <p:cNvPr id="70" name="Text 68"/>
          <p:cNvSpPr/>
          <p:nvPr/>
        </p:nvSpPr>
        <p:spPr>
          <a:xfrm>
            <a:off x="933450" y="7858125"/>
            <a:ext cx="495300" cy="6477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8</a:t>
            </a:r>
            <a:endParaRPr lang="en-US" sz="1800" dirty="0"/>
          </a:p>
        </p:txBody>
      </p:sp>
      <p:sp>
        <p:nvSpPr>
          <p:cNvPr id="71" name="Shape 69"/>
          <p:cNvSpPr/>
          <p:nvPr/>
        </p:nvSpPr>
        <p:spPr>
          <a:xfrm>
            <a:off x="1428750" y="8582025"/>
            <a:ext cx="4095750" cy="9525"/>
          </a:xfrm>
          <a:prstGeom prst="rect">
            <a:avLst/>
          </a:prstGeom>
          <a:solidFill>
            <a:srgbClr val="E0DCD3"/>
          </a:solidFill>
          <a:ln/>
        </p:spPr>
      </p:sp>
      <p:sp>
        <p:nvSpPr>
          <p:cNvPr id="72" name="Text 70"/>
          <p:cNvSpPr/>
          <p:nvPr/>
        </p:nvSpPr>
        <p:spPr>
          <a:xfrm>
            <a:off x="1504950" y="7858125"/>
            <a:ext cx="4066223" cy="647700"/>
          </a:xfrm>
          <a:prstGeom prst="rect">
            <a:avLst/>
          </a:prstGeom>
          <a:noFill/>
          <a:ln/>
        </p:spPr>
        <p:txBody>
          <a:bodyPr wrap="square" lIns="25400" tIns="25400" rIns="25400" bIns="25400" rtlCol="0" anchor="t">
            <a:normAutofit/>
          </a:bodyPr>
          <a:lstStyle/>
          <a:p>
            <a:pPr algn="l" indent="0" marL="0">
              <a:buNone/>
            </a:pPr>
            <a:r>
              <a:rPr lang="en-US" sz="1800" dirty="0">
                <a:solidFill>
                  <a:srgbClr val="191C20"/>
                </a:solidFill>
                <a:latin typeface="IBM Plex Mono" pitchFamily="34" charset="0"/>
                <a:ea typeface="IBM Plex Mono" pitchFamily="34" charset="-122"/>
                <a:cs typeface="IBM Plex Mono" pitchFamily="34" charset="-120"/>
              </a:rPr>
              <a:t>test.run.completed · native lineage emitted</a:t>
            </a:r>
            <a:endParaRPr lang="en-US" sz="1800" dirty="0"/>
          </a:p>
        </p:txBody>
      </p:sp>
      <p:sp>
        <p:nvSpPr>
          <p:cNvPr id="73" name="Shape 71"/>
          <p:cNvSpPr/>
          <p:nvPr/>
        </p:nvSpPr>
        <p:spPr>
          <a:xfrm>
            <a:off x="5524500" y="8582025"/>
            <a:ext cx="10287000" cy="9525"/>
          </a:xfrm>
          <a:prstGeom prst="rect">
            <a:avLst/>
          </a:prstGeom>
          <a:solidFill>
            <a:srgbClr val="E0DCD3"/>
          </a:solidFill>
          <a:ln/>
        </p:spPr>
      </p:sp>
      <p:sp>
        <p:nvSpPr>
          <p:cNvPr id="74" name="Text 72"/>
          <p:cNvSpPr/>
          <p:nvPr/>
        </p:nvSpPr>
        <p:spPr>
          <a:xfrm>
            <a:off x="5600700" y="7858125"/>
            <a:ext cx="10443210" cy="647700"/>
          </a:xfrm>
          <a:prstGeom prst="rect">
            <a:avLst/>
          </a:prstGeom>
          <a:noFill/>
          <a:ln/>
        </p:spPr>
        <p:txBody>
          <a:bodyPr wrap="square" lIns="25400" tIns="25400" rIns="25400" bIns="25400" rtlCol="0" anchor="t">
            <a:normAutofit/>
          </a:bodyPr>
          <a:lstStyle/>
          <a:p>
            <a:pPr algn="l" indent="0" marL="0">
              <a:buNone/>
            </a:pPr>
            <a:r>
              <a:rPr lang="en-US" sz="1800" b="1" dirty="0">
                <a:solidFill>
                  <a:srgbClr val="191C20"/>
                </a:solidFill>
                <a:latin typeface="IBM Plex Sans" pitchFamily="34" charset="0"/>
                <a:ea typeface="IBM Plex Sans" pitchFamily="34" charset="-122"/>
                <a:cs typeface="IBM Plex Sans" pitchFamily="34" charset="-120"/>
              </a:rPr>
              <a:t>Runtime evidence ingestion </a:t>
            </a:r>
            <a:pPr algn="l" indent="0" marL="0">
              <a:buNone/>
            </a:pPr>
            <a:r>
              <a:rPr lang="en-US" sz="1800" dirty="0">
                <a:solidFill>
                  <a:srgbClr val="4D535B"/>
                </a:solidFill>
                <a:latin typeface="IBM Plex Sans" pitchFamily="34" charset="0"/>
                <a:ea typeface="IBM Plex Sans" pitchFamily="34" charset="-122"/>
                <a:cs typeface="IBM Plex Sans" pitchFamily="34" charset="-120"/>
              </a:rPr>
              <a:t>— OTel sidecar / SDK observations + Spark &amp; Dask native lineage join the URN merge and corroborate proposed edges · Phase 2</a:t>
            </a:r>
            <a:endParaRPr lang="en-US" sz="1800" dirty="0"/>
          </a:p>
        </p:txBody>
      </p:sp>
      <p:sp>
        <p:nvSpPr>
          <p:cNvPr id="75" name="Shape 73"/>
          <p:cNvSpPr/>
          <p:nvPr/>
        </p:nvSpPr>
        <p:spPr>
          <a:xfrm>
            <a:off x="15811500" y="8582025"/>
            <a:ext cx="1619250" cy="9525"/>
          </a:xfrm>
          <a:prstGeom prst="rect">
            <a:avLst/>
          </a:prstGeom>
          <a:solidFill>
            <a:srgbClr val="E0DCD3"/>
          </a:solidFill>
          <a:ln/>
        </p:spPr>
      </p:sp>
      <p:sp>
        <p:nvSpPr>
          <p:cNvPr id="76" name="Text 74"/>
          <p:cNvSpPr/>
          <p:nvPr/>
        </p:nvSpPr>
        <p:spPr>
          <a:xfrm>
            <a:off x="15887700" y="7858125"/>
            <a:ext cx="1543050" cy="6477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stream</a:t>
            </a:r>
            <a:endParaRPr lang="en-US" sz="1800" dirty="0"/>
          </a:p>
        </p:txBody>
      </p:sp>
      <p:sp>
        <p:nvSpPr>
          <p:cNvPr id="77" name="Text 75"/>
          <p:cNvSpPr/>
          <p:nvPr/>
        </p:nvSpPr>
        <p:spPr>
          <a:xfrm>
            <a:off x="857250" y="8839200"/>
            <a:ext cx="17070705" cy="9525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MVP NEEDS ROWS 1 &amp; 2 · NO MANUAL INVOCATION — NO CLI, CONSOLE BUTTON, OR "RUN NOW" ENDPOINT OPS LONG TAIL (PHASE 2, EACH STILL AN EVENTBRIDGE RULE) — heartbeat loss → edges marked stale, never deleted · waiver/TTL expiry → owner notified, trust decays · toolchain.updated → nightly re-extraction wave, never the PR path</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57250" y="666750"/>
            <a:ext cx="18230850" cy="361950"/>
          </a:xfrm>
          <a:prstGeom prst="rect">
            <a:avLst/>
          </a:prstGeom>
          <a:noFill/>
          <a:ln/>
        </p:spPr>
        <p:txBody>
          <a:bodyPr wrap="square" lIns="25400" tIns="25400" rIns="25400" bIns="25400" rtlCol="0" anchor="t">
            <a:normAutofit/>
          </a:bodyPr>
          <a:lstStyle/>
          <a:p>
            <a:pPr algn="l" indent="0" marL="0">
              <a:buNone/>
            </a:pPr>
            <a:r>
              <a:rPr lang="en-US" sz="1950" spc="312" kern="0" dirty="0">
                <a:solidFill>
                  <a:srgbClr val="4D535B"/>
                </a:solidFill>
                <a:latin typeface="IBM Plex Mono" pitchFamily="34" charset="0"/>
                <a:ea typeface="IBM Plex Mono" pitchFamily="34" charset="-122"/>
                <a:cs typeface="IBM Plex Mono" pitchFamily="34" charset="-120"/>
              </a:rPr>
              <a:t>05 · ELIGIBILITY · BEFORE ANY EXPENSIVE ANALYSIS</a:t>
            </a:r>
            <a:endParaRPr lang="en-US" sz="1950" dirty="0"/>
          </a:p>
        </p:txBody>
      </p:sp>
      <p:sp>
        <p:nvSpPr>
          <p:cNvPr id="3" name="Text 1"/>
          <p:cNvSpPr/>
          <p:nvPr/>
        </p:nvSpPr>
        <p:spPr>
          <a:xfrm>
            <a:off x="857250" y="1123950"/>
            <a:ext cx="18230850" cy="771525"/>
          </a:xfrm>
          <a:prstGeom prst="rect">
            <a:avLst/>
          </a:prstGeom>
          <a:noFill/>
          <a:ln/>
        </p:spPr>
        <p:txBody>
          <a:bodyPr wrap="square" lIns="25400" tIns="25400" rIns="25400" bIns="25400" rtlCol="0" anchor="t">
            <a:normAutofit/>
          </a:bodyPr>
          <a:lstStyle/>
          <a:p>
            <a:pPr algn="l" indent="0" marL="0">
              <a:buNone/>
            </a:pPr>
            <a:r>
              <a:rPr lang="en-US" sz="4500" b="1" dirty="0">
                <a:solidFill>
                  <a:srgbClr val="191C20"/>
                </a:solidFill>
                <a:latin typeface="IBM Plex Sans" pitchFamily="34" charset="0"/>
                <a:ea typeface="IBM Plex Sans" pitchFamily="34" charset="-122"/>
                <a:cs typeface="IBM Plex Sans" pitchFamily="34" charset="-120"/>
              </a:rPr>
              <a:t>Repository Classification</a:t>
            </a:r>
            <a:endParaRPr lang="en-US" sz="4500" dirty="0"/>
          </a:p>
        </p:txBody>
      </p:sp>
      <p:sp>
        <p:nvSpPr>
          <p:cNvPr id="4" name="Text 2"/>
          <p:cNvSpPr/>
          <p:nvPr/>
        </p:nvSpPr>
        <p:spPr>
          <a:xfrm>
            <a:off x="857250" y="2181225"/>
            <a:ext cx="5867400" cy="342900"/>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4D535B"/>
                </a:solidFill>
                <a:latin typeface="IBM Plex Mono" pitchFamily="34" charset="0"/>
                <a:ea typeface="IBM Plex Mono" pitchFamily="34" charset="-122"/>
                <a:cs typeface="IBM Plex Mono" pitchFamily="34" charset="-120"/>
              </a:rPr>
              <a:t>EVIDENCE PRECEDENCE</a:t>
            </a:r>
            <a:endParaRPr lang="en-US" sz="1800" dirty="0"/>
          </a:p>
        </p:txBody>
      </p:sp>
      <p:sp>
        <p:nvSpPr>
          <p:cNvPr id="5" name="Shape 3"/>
          <p:cNvSpPr/>
          <p:nvPr/>
        </p:nvSpPr>
        <p:spPr>
          <a:xfrm>
            <a:off x="857250" y="2619375"/>
            <a:ext cx="5334000" cy="3657600"/>
          </a:xfrm>
          <a:prstGeom prst="rect">
            <a:avLst/>
          </a:prstGeom>
          <a:solidFill>
            <a:srgbClr val="FFFFFF"/>
          </a:solidFill>
          <a:ln w="9525">
            <a:solidFill>
              <a:srgbClr val="E0DCD3"/>
            </a:solidFill>
            <a:prstDash val="solid"/>
          </a:ln>
        </p:spPr>
      </p:sp>
      <p:sp>
        <p:nvSpPr>
          <p:cNvPr id="6" name="Shape 4"/>
          <p:cNvSpPr/>
          <p:nvPr/>
        </p:nvSpPr>
        <p:spPr>
          <a:xfrm>
            <a:off x="1076325" y="3181350"/>
            <a:ext cx="4895850" cy="9525"/>
          </a:xfrm>
          <a:prstGeom prst="rect">
            <a:avLst/>
          </a:prstGeom>
          <a:solidFill>
            <a:srgbClr val="E0DCD3"/>
          </a:solidFill>
          <a:ln/>
        </p:spPr>
      </p:sp>
      <p:sp>
        <p:nvSpPr>
          <p:cNvPr id="7" name="Text 5"/>
          <p:cNvSpPr/>
          <p:nvPr/>
        </p:nvSpPr>
        <p:spPr>
          <a:xfrm>
            <a:off x="1076325" y="2771775"/>
            <a:ext cx="213420" cy="36195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A8551F"/>
                </a:solidFill>
                <a:latin typeface="IBM Plex Mono" pitchFamily="34" charset="0"/>
                <a:ea typeface="IBM Plex Mono" pitchFamily="34" charset="-122"/>
                <a:cs typeface="IBM Plex Mono" pitchFamily="34" charset="-120"/>
              </a:rPr>
              <a:t>1</a:t>
            </a:r>
            <a:endParaRPr lang="en-US" sz="1800" dirty="0"/>
          </a:p>
        </p:txBody>
      </p:sp>
      <p:sp>
        <p:nvSpPr>
          <p:cNvPr id="8" name="Text 6"/>
          <p:cNvSpPr/>
          <p:nvPr/>
        </p:nvSpPr>
        <p:spPr>
          <a:xfrm>
            <a:off x="1365945" y="2771775"/>
            <a:ext cx="3849990" cy="36195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191C20"/>
                </a:solidFill>
                <a:latin typeface="IBM Plex Sans" pitchFamily="34" charset="0"/>
                <a:ea typeface="IBM Plex Sans" pitchFamily="34" charset="-122"/>
                <a:cs typeface="IBM Plex Sans" pitchFamily="34" charset="-120"/>
              </a:rPr>
              <a:t>Governed catalog / repo metadata</a:t>
            </a:r>
            <a:endParaRPr lang="en-US" sz="1800" dirty="0"/>
          </a:p>
        </p:txBody>
      </p:sp>
      <p:sp>
        <p:nvSpPr>
          <p:cNvPr id="9" name="Shape 7"/>
          <p:cNvSpPr/>
          <p:nvPr/>
        </p:nvSpPr>
        <p:spPr>
          <a:xfrm>
            <a:off x="1076325" y="3686175"/>
            <a:ext cx="4895850" cy="9525"/>
          </a:xfrm>
          <a:prstGeom prst="rect">
            <a:avLst/>
          </a:prstGeom>
          <a:solidFill>
            <a:srgbClr val="E0DCD3"/>
          </a:solidFill>
          <a:ln/>
        </p:spPr>
      </p:sp>
      <p:sp>
        <p:nvSpPr>
          <p:cNvPr id="10" name="Text 8"/>
          <p:cNvSpPr/>
          <p:nvPr/>
        </p:nvSpPr>
        <p:spPr>
          <a:xfrm>
            <a:off x="1076325" y="3276600"/>
            <a:ext cx="213420" cy="36195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A8551F"/>
                </a:solidFill>
                <a:latin typeface="IBM Plex Mono" pitchFamily="34" charset="0"/>
                <a:ea typeface="IBM Plex Mono" pitchFamily="34" charset="-122"/>
                <a:cs typeface="IBM Plex Mono" pitchFamily="34" charset="-120"/>
              </a:rPr>
              <a:t>2</a:t>
            </a:r>
            <a:endParaRPr lang="en-US" sz="1800" dirty="0"/>
          </a:p>
        </p:txBody>
      </p:sp>
      <p:sp>
        <p:nvSpPr>
          <p:cNvPr id="11" name="Text 9"/>
          <p:cNvSpPr/>
          <p:nvPr/>
        </p:nvSpPr>
        <p:spPr>
          <a:xfrm>
            <a:off x="1365945" y="3276600"/>
            <a:ext cx="3190890" cy="36195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191C20"/>
                </a:solidFill>
                <a:latin typeface="IBM Plex Sans" pitchFamily="34" charset="0"/>
                <a:ea typeface="IBM Plex Sans" pitchFamily="34" charset="-122"/>
                <a:cs typeface="IBM Plex Sans" pitchFamily="34" charset="-120"/>
              </a:rPr>
              <a:t>Test Automation association</a:t>
            </a:r>
            <a:endParaRPr lang="en-US" sz="1800" dirty="0"/>
          </a:p>
        </p:txBody>
      </p:sp>
      <p:sp>
        <p:nvSpPr>
          <p:cNvPr id="12" name="Shape 10"/>
          <p:cNvSpPr/>
          <p:nvPr/>
        </p:nvSpPr>
        <p:spPr>
          <a:xfrm>
            <a:off x="1076325" y="4191000"/>
            <a:ext cx="4895850" cy="9525"/>
          </a:xfrm>
          <a:prstGeom prst="rect">
            <a:avLst/>
          </a:prstGeom>
          <a:solidFill>
            <a:srgbClr val="E0DCD3"/>
          </a:solidFill>
          <a:ln/>
        </p:spPr>
      </p:sp>
      <p:sp>
        <p:nvSpPr>
          <p:cNvPr id="13" name="Text 11"/>
          <p:cNvSpPr/>
          <p:nvPr/>
        </p:nvSpPr>
        <p:spPr>
          <a:xfrm>
            <a:off x="1076325" y="3781425"/>
            <a:ext cx="213420" cy="36195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A8551F"/>
                </a:solidFill>
                <a:latin typeface="IBM Plex Mono" pitchFamily="34" charset="0"/>
                <a:ea typeface="IBM Plex Mono" pitchFamily="34" charset="-122"/>
                <a:cs typeface="IBM Plex Mono" pitchFamily="34" charset="-120"/>
              </a:rPr>
              <a:t>3</a:t>
            </a:r>
            <a:endParaRPr lang="en-US" sz="1800" dirty="0"/>
          </a:p>
        </p:txBody>
      </p:sp>
      <p:sp>
        <p:nvSpPr>
          <p:cNvPr id="14" name="Text 12"/>
          <p:cNvSpPr/>
          <p:nvPr/>
        </p:nvSpPr>
        <p:spPr>
          <a:xfrm>
            <a:off x="1365945" y="3781425"/>
            <a:ext cx="3963606" cy="36195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191C20"/>
                </a:solidFill>
                <a:latin typeface="IBM Plex Sans" pitchFamily="34" charset="0"/>
                <a:ea typeface="IBM Plex Sans" pitchFamily="34" charset="-122"/>
                <a:cs typeface="IBM Plex Sans" pitchFamily="34" charset="-120"/>
              </a:rPr>
              <a:t>CI/CD deployable-artifact evidence</a:t>
            </a:r>
            <a:endParaRPr lang="en-US" sz="1800" dirty="0"/>
          </a:p>
        </p:txBody>
      </p:sp>
      <p:sp>
        <p:nvSpPr>
          <p:cNvPr id="15" name="Shape 13"/>
          <p:cNvSpPr/>
          <p:nvPr/>
        </p:nvSpPr>
        <p:spPr>
          <a:xfrm>
            <a:off x="1076325" y="4695825"/>
            <a:ext cx="4895850" cy="9525"/>
          </a:xfrm>
          <a:prstGeom prst="rect">
            <a:avLst/>
          </a:prstGeom>
          <a:solidFill>
            <a:srgbClr val="E0DCD3"/>
          </a:solidFill>
          <a:ln/>
        </p:spPr>
      </p:sp>
      <p:sp>
        <p:nvSpPr>
          <p:cNvPr id="16" name="Text 14"/>
          <p:cNvSpPr/>
          <p:nvPr/>
        </p:nvSpPr>
        <p:spPr>
          <a:xfrm>
            <a:off x="1076325" y="4286250"/>
            <a:ext cx="213420" cy="36195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A8551F"/>
                </a:solidFill>
                <a:latin typeface="IBM Plex Mono" pitchFamily="34" charset="0"/>
                <a:ea typeface="IBM Plex Mono" pitchFamily="34" charset="-122"/>
                <a:cs typeface="IBM Plex Mono" pitchFamily="34" charset="-120"/>
              </a:rPr>
              <a:t>4</a:t>
            </a:r>
            <a:endParaRPr lang="en-US" sz="1800" dirty="0"/>
          </a:p>
        </p:txBody>
      </p:sp>
      <p:sp>
        <p:nvSpPr>
          <p:cNvPr id="17" name="Text 15"/>
          <p:cNvSpPr/>
          <p:nvPr/>
        </p:nvSpPr>
        <p:spPr>
          <a:xfrm>
            <a:off x="1365945" y="4286250"/>
            <a:ext cx="4003551" cy="36195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191C20"/>
                </a:solidFill>
                <a:latin typeface="IBM Plex Sans" pitchFamily="34" charset="0"/>
                <a:ea typeface="IBM Plex Sans" pitchFamily="34" charset="-122"/>
                <a:cs typeface="IBM Plex Sans" pitchFamily="34" charset="-120"/>
              </a:rPr>
              <a:t>Deterministic manifests &amp; structure</a:t>
            </a:r>
            <a:endParaRPr lang="en-US" sz="1800" dirty="0"/>
          </a:p>
        </p:txBody>
      </p:sp>
      <p:sp>
        <p:nvSpPr>
          <p:cNvPr id="18" name="Shape 16"/>
          <p:cNvSpPr/>
          <p:nvPr/>
        </p:nvSpPr>
        <p:spPr>
          <a:xfrm>
            <a:off x="1076325" y="5200650"/>
            <a:ext cx="4895850" cy="9525"/>
          </a:xfrm>
          <a:prstGeom prst="rect">
            <a:avLst/>
          </a:prstGeom>
          <a:solidFill>
            <a:srgbClr val="E0DCD3"/>
          </a:solidFill>
          <a:ln/>
        </p:spPr>
      </p:sp>
      <p:sp>
        <p:nvSpPr>
          <p:cNvPr id="19" name="Text 17"/>
          <p:cNvSpPr/>
          <p:nvPr/>
        </p:nvSpPr>
        <p:spPr>
          <a:xfrm>
            <a:off x="1076325" y="4791075"/>
            <a:ext cx="213420" cy="36195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A8551F"/>
                </a:solidFill>
                <a:latin typeface="IBM Plex Mono" pitchFamily="34" charset="0"/>
                <a:ea typeface="IBM Plex Mono" pitchFamily="34" charset="-122"/>
                <a:cs typeface="IBM Plex Mono" pitchFamily="34" charset="-120"/>
              </a:rPr>
              <a:t>5</a:t>
            </a:r>
            <a:endParaRPr lang="en-US" sz="1800" dirty="0"/>
          </a:p>
        </p:txBody>
      </p:sp>
      <p:sp>
        <p:nvSpPr>
          <p:cNvPr id="20" name="Text 18"/>
          <p:cNvSpPr/>
          <p:nvPr/>
        </p:nvSpPr>
        <p:spPr>
          <a:xfrm>
            <a:off x="1365945" y="4791075"/>
            <a:ext cx="3501941" cy="36195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191C20"/>
                </a:solidFill>
                <a:latin typeface="IBM Plex Sans" pitchFamily="34" charset="0"/>
                <a:ea typeface="IBM Plex Sans" pitchFamily="34" charset="-122"/>
                <a:cs typeface="IBM Plex Sans" pitchFamily="34" charset="-120"/>
              </a:rPr>
              <a:t>SBOM, dependency &amp; lock files</a:t>
            </a:r>
            <a:endParaRPr lang="en-US" sz="1800" dirty="0"/>
          </a:p>
        </p:txBody>
      </p:sp>
      <p:sp>
        <p:nvSpPr>
          <p:cNvPr id="21" name="Shape 19"/>
          <p:cNvSpPr/>
          <p:nvPr/>
        </p:nvSpPr>
        <p:spPr>
          <a:xfrm>
            <a:off x="1076325" y="5705475"/>
            <a:ext cx="4895850" cy="9525"/>
          </a:xfrm>
          <a:prstGeom prst="rect">
            <a:avLst/>
          </a:prstGeom>
          <a:solidFill>
            <a:srgbClr val="E0DCD3"/>
          </a:solidFill>
          <a:ln/>
        </p:spPr>
      </p:sp>
      <p:sp>
        <p:nvSpPr>
          <p:cNvPr id="22" name="Text 20"/>
          <p:cNvSpPr/>
          <p:nvPr/>
        </p:nvSpPr>
        <p:spPr>
          <a:xfrm>
            <a:off x="1076325" y="5295900"/>
            <a:ext cx="213420" cy="36195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A8551F"/>
                </a:solidFill>
                <a:latin typeface="IBM Plex Mono" pitchFamily="34" charset="0"/>
                <a:ea typeface="IBM Plex Mono" pitchFamily="34" charset="-122"/>
                <a:cs typeface="IBM Plex Mono" pitchFamily="34" charset="-120"/>
              </a:rPr>
              <a:t>6</a:t>
            </a:r>
            <a:endParaRPr lang="en-US" sz="1800" dirty="0"/>
          </a:p>
        </p:txBody>
      </p:sp>
      <p:sp>
        <p:nvSpPr>
          <p:cNvPr id="23" name="Text 21"/>
          <p:cNvSpPr/>
          <p:nvPr/>
        </p:nvSpPr>
        <p:spPr>
          <a:xfrm>
            <a:off x="1365945" y="5295900"/>
            <a:ext cx="4113892" cy="36195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191C20"/>
                </a:solidFill>
                <a:latin typeface="IBM Plex Sans" pitchFamily="34" charset="0"/>
                <a:ea typeface="IBM Plex Sans" pitchFamily="34" charset="-122"/>
                <a:cs typeface="IBM Plex Sans" pitchFamily="34" charset="-120"/>
              </a:rPr>
              <a:t>CloudWatch deployment association</a:t>
            </a:r>
            <a:endParaRPr lang="en-US" sz="1800" dirty="0"/>
          </a:p>
        </p:txBody>
      </p:sp>
      <p:sp>
        <p:nvSpPr>
          <p:cNvPr id="24" name="Text 22"/>
          <p:cNvSpPr/>
          <p:nvPr/>
        </p:nvSpPr>
        <p:spPr>
          <a:xfrm>
            <a:off x="1076325" y="5800725"/>
            <a:ext cx="213420" cy="36195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A8551F"/>
                </a:solidFill>
                <a:latin typeface="IBM Plex Mono" pitchFamily="34" charset="0"/>
                <a:ea typeface="IBM Plex Mono" pitchFamily="34" charset="-122"/>
                <a:cs typeface="IBM Plex Mono" pitchFamily="34" charset="-120"/>
              </a:rPr>
              <a:t>7</a:t>
            </a:r>
            <a:endParaRPr lang="en-US" sz="1800" dirty="0"/>
          </a:p>
        </p:txBody>
      </p:sp>
      <p:sp>
        <p:nvSpPr>
          <p:cNvPr id="25" name="Text 23"/>
          <p:cNvSpPr/>
          <p:nvPr/>
        </p:nvSpPr>
        <p:spPr>
          <a:xfrm>
            <a:off x="1365945" y="5800725"/>
            <a:ext cx="3062049" cy="36195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191C20"/>
                </a:solidFill>
                <a:latin typeface="IBM Plex Sans" pitchFamily="34" charset="0"/>
                <a:ea typeface="IBM Plex Sans" pitchFamily="34" charset="-122"/>
                <a:cs typeface="IBM Plex Sans" pitchFamily="34" charset="-120"/>
              </a:rPr>
              <a:t>Heuristics — require review</a:t>
            </a:r>
            <a:endParaRPr lang="en-US" sz="1800" dirty="0"/>
          </a:p>
        </p:txBody>
      </p:sp>
      <p:sp>
        <p:nvSpPr>
          <p:cNvPr id="26" name="Shape 24"/>
          <p:cNvSpPr/>
          <p:nvPr/>
        </p:nvSpPr>
        <p:spPr>
          <a:xfrm>
            <a:off x="857250" y="6410325"/>
            <a:ext cx="5334000" cy="2143125"/>
          </a:xfrm>
          <a:prstGeom prst="rect">
            <a:avLst/>
          </a:prstGeom>
          <a:solidFill>
            <a:srgbClr val="191C20"/>
          </a:solidFill>
          <a:ln/>
        </p:spPr>
      </p:sp>
      <p:sp>
        <p:nvSpPr>
          <p:cNvPr id="27" name="Text 25"/>
          <p:cNvSpPr/>
          <p:nvPr/>
        </p:nvSpPr>
        <p:spPr>
          <a:xfrm>
            <a:off x="1085850" y="6600825"/>
            <a:ext cx="5036820" cy="1800225"/>
          </a:xfrm>
          <a:prstGeom prst="rect">
            <a:avLst/>
          </a:prstGeom>
          <a:noFill/>
          <a:ln/>
        </p:spPr>
        <p:txBody>
          <a:bodyPr wrap="square" lIns="25400" tIns="25400" rIns="25400" bIns="25400" rtlCol="0" anchor="t">
            <a:normAutofit/>
          </a:bodyPr>
          <a:lstStyle/>
          <a:p>
            <a:pPr algn="l" indent="0" marL="0">
              <a:lnSpc>
                <a:spcPct val="116250"/>
              </a:lnSpc>
              <a:buNone/>
            </a:pPr>
            <a:r>
              <a:rPr lang="en-US" sz="1800" dirty="0">
                <a:solidFill>
                  <a:srgbClr val="8FB3BF"/>
                </a:solidFill>
                <a:latin typeface="IBM Plex Mono" pitchFamily="34" charset="0"/>
                <a:ea typeface="IBM Plex Mono" pitchFamily="34" charset="-122"/>
                <a:cs typeface="IBM Plex Mono" pitchFamily="34" charset="-120"/>
              </a:rPr>
              <a:t>GUARDRAILS </a:t>
            </a:r>
            <a:pPr algn="l" indent="0" marL="0">
              <a:lnSpc>
                <a:spcPct val="116250"/>
              </a:lnSpc>
              <a:buNone/>
            </a:pPr>
            <a:r>
              <a:rPr lang="en-US" sz="1800" dirty="0">
                <a:solidFill>
                  <a:srgbClr val="E8E4DC"/>
                </a:solidFill>
                <a:highlight>
                  <a:srgbClr val="191C20"/>
                </a:highlight>
                <a:latin typeface="IBM Plex Sans" pitchFamily="34" charset="0"/>
                <a:ea typeface="IBM Plex Sans" pitchFamily="34" charset="-122"/>
                <a:cs typeface="IBM Plex Sans" pitchFamily="34" charset="-120"/>
              </a:rPr>
              <a:t>An LLM can propose but never exclude · conflicts become UNKNOWN · overrides expire · exclusions carry reason, evidence, owner &amp; policy version</a:t>
            </a:r>
            <a:endParaRPr lang="en-US" sz="1800" dirty="0"/>
          </a:p>
        </p:txBody>
      </p:sp>
      <p:sp>
        <p:nvSpPr>
          <p:cNvPr id="28" name="Shape 26"/>
          <p:cNvSpPr/>
          <p:nvPr/>
        </p:nvSpPr>
        <p:spPr>
          <a:xfrm>
            <a:off x="6610350" y="2181225"/>
            <a:ext cx="10820400" cy="19050"/>
          </a:xfrm>
          <a:prstGeom prst="rect">
            <a:avLst/>
          </a:prstGeom>
          <a:solidFill>
            <a:srgbClr val="191C20"/>
          </a:solidFill>
          <a:ln/>
        </p:spPr>
      </p:sp>
      <p:sp>
        <p:nvSpPr>
          <p:cNvPr id="29" name="Shape 27"/>
          <p:cNvSpPr/>
          <p:nvPr/>
        </p:nvSpPr>
        <p:spPr>
          <a:xfrm>
            <a:off x="6610350" y="2714625"/>
            <a:ext cx="3606701" cy="9525"/>
          </a:xfrm>
          <a:prstGeom prst="rect">
            <a:avLst/>
          </a:prstGeom>
          <a:solidFill>
            <a:srgbClr val="E0DCD3"/>
          </a:solidFill>
          <a:ln/>
        </p:spPr>
      </p:sp>
      <p:sp>
        <p:nvSpPr>
          <p:cNvPr id="30" name="Text 28"/>
          <p:cNvSpPr/>
          <p:nvPr/>
        </p:nvSpPr>
        <p:spPr>
          <a:xfrm>
            <a:off x="6686550" y="2305050"/>
            <a:ext cx="3562502"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CLASS</a:t>
            </a:r>
            <a:endParaRPr lang="en-US" sz="1800" dirty="0"/>
          </a:p>
        </p:txBody>
      </p:sp>
      <p:sp>
        <p:nvSpPr>
          <p:cNvPr id="31" name="Shape 29"/>
          <p:cNvSpPr/>
          <p:nvPr/>
        </p:nvSpPr>
        <p:spPr>
          <a:xfrm>
            <a:off x="10217051" y="2714625"/>
            <a:ext cx="3005733" cy="9525"/>
          </a:xfrm>
          <a:prstGeom prst="rect">
            <a:avLst/>
          </a:prstGeom>
          <a:solidFill>
            <a:srgbClr val="E0DCD3"/>
          </a:solidFill>
          <a:ln/>
        </p:spPr>
      </p:sp>
      <p:sp>
        <p:nvSpPr>
          <p:cNvPr id="32" name="Text 30"/>
          <p:cNvSpPr/>
          <p:nvPr/>
        </p:nvSpPr>
        <p:spPr>
          <a:xfrm>
            <a:off x="10293251" y="2305050"/>
            <a:ext cx="294350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BASELINE</a:t>
            </a:r>
            <a:endParaRPr lang="en-US" sz="1800" dirty="0"/>
          </a:p>
        </p:txBody>
      </p:sp>
      <p:sp>
        <p:nvSpPr>
          <p:cNvPr id="33" name="Shape 31"/>
          <p:cNvSpPr/>
          <p:nvPr/>
        </p:nvSpPr>
        <p:spPr>
          <a:xfrm>
            <a:off x="13222784" y="2714625"/>
            <a:ext cx="4207818" cy="9525"/>
          </a:xfrm>
          <a:prstGeom prst="rect">
            <a:avLst/>
          </a:prstGeom>
          <a:solidFill>
            <a:srgbClr val="E0DCD3"/>
          </a:solidFill>
          <a:ln/>
        </p:spPr>
      </p:sp>
      <p:sp>
        <p:nvSpPr>
          <p:cNvPr id="34" name="Text 32"/>
          <p:cNvSpPr/>
          <p:nvPr/>
        </p:nvSpPr>
        <p:spPr>
          <a:xfrm>
            <a:off x="13298984" y="2305050"/>
            <a:ext cx="4181652"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ON CHANGE</a:t>
            </a:r>
            <a:endParaRPr lang="en-US" sz="1800" dirty="0"/>
          </a:p>
        </p:txBody>
      </p:sp>
      <p:sp>
        <p:nvSpPr>
          <p:cNvPr id="35" name="Shape 33"/>
          <p:cNvSpPr/>
          <p:nvPr/>
        </p:nvSpPr>
        <p:spPr>
          <a:xfrm>
            <a:off x="6610350" y="3238500"/>
            <a:ext cx="3606701" cy="9525"/>
          </a:xfrm>
          <a:prstGeom prst="rect">
            <a:avLst/>
          </a:prstGeom>
          <a:solidFill>
            <a:srgbClr val="E0DCD3"/>
          </a:solidFill>
          <a:ln/>
        </p:spPr>
      </p:sp>
      <p:sp>
        <p:nvSpPr>
          <p:cNvPr id="36" name="Text 34"/>
          <p:cNvSpPr/>
          <p:nvPr/>
        </p:nvSpPr>
        <p:spPr>
          <a:xfrm>
            <a:off x="6686550" y="2828925"/>
            <a:ext cx="3562502" cy="342900"/>
          </a:xfrm>
          <a:prstGeom prst="rect">
            <a:avLst/>
          </a:prstGeom>
          <a:noFill/>
          <a:ln/>
        </p:spPr>
        <p:txBody>
          <a:bodyPr wrap="square" lIns="25400" tIns="25400" rIns="25400" bIns="25400" rtlCol="0" anchor="t">
            <a:normAutofit/>
          </a:bodyPr>
          <a:lstStyle/>
          <a:p>
            <a:pPr algn="l" indent="0" marL="0">
              <a:buNone/>
            </a:pPr>
            <a:r>
              <a:rPr lang="en-US" sz="1800" dirty="0">
                <a:solidFill>
                  <a:srgbClr val="191C20"/>
                </a:solidFill>
                <a:latin typeface="IBM Plex Mono" pitchFamily="34" charset="0"/>
                <a:ea typeface="IBM Plex Mono" pitchFamily="34" charset="-122"/>
                <a:cs typeface="IBM Plex Mono" pitchFamily="34" charset="-120"/>
              </a:rPr>
              <a:t>APPLICATION_RUNTIME</a:t>
            </a:r>
            <a:endParaRPr lang="en-US" sz="1800" dirty="0"/>
          </a:p>
        </p:txBody>
      </p:sp>
      <p:sp>
        <p:nvSpPr>
          <p:cNvPr id="37" name="Shape 35"/>
          <p:cNvSpPr/>
          <p:nvPr/>
        </p:nvSpPr>
        <p:spPr>
          <a:xfrm>
            <a:off x="10217051" y="3238500"/>
            <a:ext cx="3005733" cy="9525"/>
          </a:xfrm>
          <a:prstGeom prst="rect">
            <a:avLst/>
          </a:prstGeom>
          <a:solidFill>
            <a:srgbClr val="E0DCD3"/>
          </a:solidFill>
          <a:ln/>
        </p:spPr>
      </p:sp>
      <p:sp>
        <p:nvSpPr>
          <p:cNvPr id="38" name="Text 36"/>
          <p:cNvSpPr/>
          <p:nvPr/>
        </p:nvSpPr>
        <p:spPr>
          <a:xfrm>
            <a:off x="10293251" y="2828925"/>
            <a:ext cx="294350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191C20"/>
                </a:solidFill>
                <a:latin typeface="IBM Plex Sans" pitchFamily="34" charset="0"/>
                <a:ea typeface="IBM Plex Sans" pitchFamily="34" charset="-122"/>
                <a:cs typeface="IBM Plex Sans" pitchFamily="34" charset="-120"/>
              </a:rPr>
              <a:t>Included</a:t>
            </a:r>
            <a:endParaRPr lang="en-US" sz="1800" dirty="0"/>
          </a:p>
        </p:txBody>
      </p:sp>
      <p:sp>
        <p:nvSpPr>
          <p:cNvPr id="39" name="Shape 37"/>
          <p:cNvSpPr/>
          <p:nvPr/>
        </p:nvSpPr>
        <p:spPr>
          <a:xfrm>
            <a:off x="13222784" y="3238500"/>
            <a:ext cx="4207818" cy="9525"/>
          </a:xfrm>
          <a:prstGeom prst="rect">
            <a:avLst/>
          </a:prstGeom>
          <a:solidFill>
            <a:srgbClr val="E0DCD3"/>
          </a:solidFill>
          <a:ln/>
        </p:spPr>
      </p:sp>
      <p:sp>
        <p:nvSpPr>
          <p:cNvPr id="40" name="Text 38"/>
          <p:cNvSpPr/>
          <p:nvPr/>
        </p:nvSpPr>
        <p:spPr>
          <a:xfrm>
            <a:off x="13298984" y="2828925"/>
            <a:ext cx="4181652"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Sans" pitchFamily="34" charset="0"/>
                <a:ea typeface="IBM Plex Sans" pitchFamily="34" charset="-122"/>
                <a:cs typeface="IBM Plex Sans" pitchFamily="34" charset="-120"/>
              </a:rPr>
              <a:t>Incremental lineage</a:t>
            </a:r>
            <a:endParaRPr lang="en-US" sz="1800" dirty="0"/>
          </a:p>
        </p:txBody>
      </p:sp>
      <p:sp>
        <p:nvSpPr>
          <p:cNvPr id="41" name="Shape 39"/>
          <p:cNvSpPr/>
          <p:nvPr/>
        </p:nvSpPr>
        <p:spPr>
          <a:xfrm>
            <a:off x="6610350" y="3762375"/>
            <a:ext cx="3606701" cy="9525"/>
          </a:xfrm>
          <a:prstGeom prst="rect">
            <a:avLst/>
          </a:prstGeom>
          <a:solidFill>
            <a:srgbClr val="E0DCD3"/>
          </a:solidFill>
          <a:ln/>
        </p:spPr>
      </p:sp>
      <p:sp>
        <p:nvSpPr>
          <p:cNvPr id="42" name="Text 40"/>
          <p:cNvSpPr/>
          <p:nvPr/>
        </p:nvSpPr>
        <p:spPr>
          <a:xfrm>
            <a:off x="6686550" y="3352800"/>
            <a:ext cx="3562502" cy="342900"/>
          </a:xfrm>
          <a:prstGeom prst="rect">
            <a:avLst/>
          </a:prstGeom>
          <a:noFill/>
          <a:ln/>
        </p:spPr>
        <p:txBody>
          <a:bodyPr wrap="square" lIns="25400" tIns="25400" rIns="25400" bIns="25400" rtlCol="0" anchor="t">
            <a:normAutofit/>
          </a:bodyPr>
          <a:lstStyle/>
          <a:p>
            <a:pPr algn="l" indent="0" marL="0">
              <a:buNone/>
            </a:pPr>
            <a:r>
              <a:rPr lang="en-US" sz="1800" dirty="0">
                <a:solidFill>
                  <a:srgbClr val="191C20"/>
                </a:solidFill>
                <a:latin typeface="IBM Plex Mono" pitchFamily="34" charset="0"/>
                <a:ea typeface="IBM Plex Mono" pitchFamily="34" charset="-122"/>
                <a:cs typeface="IBM Plex Mono" pitchFamily="34" charset="-120"/>
              </a:rPr>
              <a:t>DATA_PIPELINE</a:t>
            </a:r>
            <a:endParaRPr lang="en-US" sz="1800" dirty="0"/>
          </a:p>
        </p:txBody>
      </p:sp>
      <p:sp>
        <p:nvSpPr>
          <p:cNvPr id="43" name="Shape 41"/>
          <p:cNvSpPr/>
          <p:nvPr/>
        </p:nvSpPr>
        <p:spPr>
          <a:xfrm>
            <a:off x="10217051" y="3762375"/>
            <a:ext cx="3005733" cy="9525"/>
          </a:xfrm>
          <a:prstGeom prst="rect">
            <a:avLst/>
          </a:prstGeom>
          <a:solidFill>
            <a:srgbClr val="E0DCD3"/>
          </a:solidFill>
          <a:ln/>
        </p:spPr>
      </p:sp>
      <p:sp>
        <p:nvSpPr>
          <p:cNvPr id="44" name="Text 42"/>
          <p:cNvSpPr/>
          <p:nvPr/>
        </p:nvSpPr>
        <p:spPr>
          <a:xfrm>
            <a:off x="10293251" y="3352800"/>
            <a:ext cx="294350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191C20"/>
                </a:solidFill>
                <a:latin typeface="IBM Plex Sans" pitchFamily="34" charset="0"/>
                <a:ea typeface="IBM Plex Sans" pitchFamily="34" charset="-122"/>
                <a:cs typeface="IBM Plex Sans" pitchFamily="34" charset="-120"/>
              </a:rPr>
              <a:t>Included</a:t>
            </a:r>
            <a:endParaRPr lang="en-US" sz="1800" dirty="0"/>
          </a:p>
        </p:txBody>
      </p:sp>
      <p:sp>
        <p:nvSpPr>
          <p:cNvPr id="45" name="Shape 43"/>
          <p:cNvSpPr/>
          <p:nvPr/>
        </p:nvSpPr>
        <p:spPr>
          <a:xfrm>
            <a:off x="13222784" y="3762375"/>
            <a:ext cx="4207818" cy="9525"/>
          </a:xfrm>
          <a:prstGeom prst="rect">
            <a:avLst/>
          </a:prstGeom>
          <a:solidFill>
            <a:srgbClr val="E0DCD3"/>
          </a:solidFill>
          <a:ln/>
        </p:spPr>
      </p:sp>
      <p:sp>
        <p:nvSpPr>
          <p:cNvPr id="46" name="Text 44"/>
          <p:cNvSpPr/>
          <p:nvPr/>
        </p:nvSpPr>
        <p:spPr>
          <a:xfrm>
            <a:off x="13298984" y="3352800"/>
            <a:ext cx="4181652"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Sans" pitchFamily="34" charset="0"/>
                <a:ea typeface="IBM Plex Sans" pitchFamily="34" charset="-122"/>
                <a:cs typeface="IBM Plex Sans" pitchFamily="34" charset="-120"/>
              </a:rPr>
              <a:t>Incremental + native lineage</a:t>
            </a:r>
            <a:endParaRPr lang="en-US" sz="1800" dirty="0"/>
          </a:p>
        </p:txBody>
      </p:sp>
      <p:sp>
        <p:nvSpPr>
          <p:cNvPr id="47" name="Shape 45"/>
          <p:cNvSpPr/>
          <p:nvPr/>
        </p:nvSpPr>
        <p:spPr>
          <a:xfrm>
            <a:off x="6610350" y="4286250"/>
            <a:ext cx="3606701" cy="9525"/>
          </a:xfrm>
          <a:prstGeom prst="rect">
            <a:avLst/>
          </a:prstGeom>
          <a:solidFill>
            <a:srgbClr val="E0DCD3"/>
          </a:solidFill>
          <a:ln/>
        </p:spPr>
      </p:sp>
      <p:sp>
        <p:nvSpPr>
          <p:cNvPr id="48" name="Text 46"/>
          <p:cNvSpPr/>
          <p:nvPr/>
        </p:nvSpPr>
        <p:spPr>
          <a:xfrm>
            <a:off x="6686550" y="3876675"/>
            <a:ext cx="3562502" cy="342900"/>
          </a:xfrm>
          <a:prstGeom prst="rect">
            <a:avLst/>
          </a:prstGeom>
          <a:noFill/>
          <a:ln/>
        </p:spPr>
        <p:txBody>
          <a:bodyPr wrap="square" lIns="25400" tIns="25400" rIns="25400" bIns="25400" rtlCol="0" anchor="t">
            <a:normAutofit/>
          </a:bodyPr>
          <a:lstStyle/>
          <a:p>
            <a:pPr algn="l" indent="0" marL="0">
              <a:buNone/>
            </a:pPr>
            <a:r>
              <a:rPr lang="en-US" sz="1800" dirty="0">
                <a:solidFill>
                  <a:srgbClr val="191C20"/>
                </a:solidFill>
                <a:latin typeface="IBM Plex Mono" pitchFamily="34" charset="0"/>
                <a:ea typeface="IBM Plex Mono" pitchFamily="34" charset="-122"/>
                <a:cs typeface="IBM Plex Mono" pitchFamily="34" charset="-120"/>
              </a:rPr>
              <a:t>CONTRACT_SCHEMA_SOURCE</a:t>
            </a:r>
            <a:endParaRPr lang="en-US" sz="1800" dirty="0"/>
          </a:p>
        </p:txBody>
      </p:sp>
      <p:sp>
        <p:nvSpPr>
          <p:cNvPr id="49" name="Shape 47"/>
          <p:cNvSpPr/>
          <p:nvPr/>
        </p:nvSpPr>
        <p:spPr>
          <a:xfrm>
            <a:off x="10217051" y="4286250"/>
            <a:ext cx="3005733" cy="9525"/>
          </a:xfrm>
          <a:prstGeom prst="rect">
            <a:avLst/>
          </a:prstGeom>
          <a:solidFill>
            <a:srgbClr val="E0DCD3"/>
          </a:solidFill>
          <a:ln/>
        </p:spPr>
      </p:sp>
      <p:sp>
        <p:nvSpPr>
          <p:cNvPr id="50" name="Text 48"/>
          <p:cNvSpPr/>
          <p:nvPr/>
        </p:nvSpPr>
        <p:spPr>
          <a:xfrm>
            <a:off x="10293251" y="3876675"/>
            <a:ext cx="294350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191C20"/>
                </a:solidFill>
                <a:latin typeface="IBM Plex Sans" pitchFamily="34" charset="0"/>
                <a:ea typeface="IBM Plex Sans" pitchFamily="34" charset="-122"/>
                <a:cs typeface="IBM Plex Sans" pitchFamily="34" charset="-120"/>
              </a:rPr>
              <a:t>Metadata-only</a:t>
            </a:r>
            <a:endParaRPr lang="en-US" sz="1800" dirty="0"/>
          </a:p>
        </p:txBody>
      </p:sp>
      <p:sp>
        <p:nvSpPr>
          <p:cNvPr id="51" name="Shape 49"/>
          <p:cNvSpPr/>
          <p:nvPr/>
        </p:nvSpPr>
        <p:spPr>
          <a:xfrm>
            <a:off x="13222784" y="4286250"/>
            <a:ext cx="4207818" cy="9525"/>
          </a:xfrm>
          <a:prstGeom prst="rect">
            <a:avLst/>
          </a:prstGeom>
          <a:solidFill>
            <a:srgbClr val="E0DCD3"/>
          </a:solidFill>
          <a:ln/>
        </p:spPr>
      </p:sp>
      <p:sp>
        <p:nvSpPr>
          <p:cNvPr id="52" name="Text 50"/>
          <p:cNvSpPr/>
          <p:nvPr/>
        </p:nvSpPr>
        <p:spPr>
          <a:xfrm>
            <a:off x="13298984" y="3876675"/>
            <a:ext cx="4181652"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Sans" pitchFamily="34" charset="0"/>
                <a:ea typeface="IBM Plex Sans" pitchFamily="34" charset="-122"/>
                <a:cs typeface="IBM Plex Sans" pitchFamily="34" charset="-120"/>
              </a:rPr>
              <a:t>Re-evaluate producers &amp; consumers</a:t>
            </a:r>
            <a:endParaRPr lang="en-US" sz="1800" dirty="0"/>
          </a:p>
        </p:txBody>
      </p:sp>
      <p:sp>
        <p:nvSpPr>
          <p:cNvPr id="53" name="Shape 51"/>
          <p:cNvSpPr/>
          <p:nvPr/>
        </p:nvSpPr>
        <p:spPr>
          <a:xfrm>
            <a:off x="6610350" y="4810125"/>
            <a:ext cx="3606701" cy="9525"/>
          </a:xfrm>
          <a:prstGeom prst="rect">
            <a:avLst/>
          </a:prstGeom>
          <a:solidFill>
            <a:srgbClr val="E0DCD3"/>
          </a:solidFill>
          <a:ln/>
        </p:spPr>
      </p:sp>
      <p:sp>
        <p:nvSpPr>
          <p:cNvPr id="54" name="Text 52"/>
          <p:cNvSpPr/>
          <p:nvPr/>
        </p:nvSpPr>
        <p:spPr>
          <a:xfrm>
            <a:off x="6686550" y="4400550"/>
            <a:ext cx="3562502" cy="342900"/>
          </a:xfrm>
          <a:prstGeom prst="rect">
            <a:avLst/>
          </a:prstGeom>
          <a:noFill/>
          <a:ln/>
        </p:spPr>
        <p:txBody>
          <a:bodyPr wrap="square" lIns="25400" tIns="25400" rIns="25400" bIns="25400" rtlCol="0" anchor="t">
            <a:normAutofit/>
          </a:bodyPr>
          <a:lstStyle/>
          <a:p>
            <a:pPr algn="l" indent="0" marL="0">
              <a:buNone/>
            </a:pPr>
            <a:r>
              <a:rPr lang="en-US" sz="1800" dirty="0">
                <a:solidFill>
                  <a:srgbClr val="191C20"/>
                </a:solidFill>
                <a:latin typeface="IBM Plex Mono" pitchFamily="34" charset="0"/>
                <a:ea typeface="IBM Plex Mono" pitchFamily="34" charset="-122"/>
                <a:cs typeface="IBM Plex Mono" pitchFamily="34" charset="-120"/>
              </a:rPr>
              <a:t>SHARED_LIBRARY</a:t>
            </a:r>
            <a:endParaRPr lang="en-US" sz="1800" dirty="0"/>
          </a:p>
        </p:txBody>
      </p:sp>
      <p:sp>
        <p:nvSpPr>
          <p:cNvPr id="55" name="Shape 53"/>
          <p:cNvSpPr/>
          <p:nvPr/>
        </p:nvSpPr>
        <p:spPr>
          <a:xfrm>
            <a:off x="10217051" y="4810125"/>
            <a:ext cx="3005733" cy="9525"/>
          </a:xfrm>
          <a:prstGeom prst="rect">
            <a:avLst/>
          </a:prstGeom>
          <a:solidFill>
            <a:srgbClr val="E0DCD3"/>
          </a:solidFill>
          <a:ln/>
        </p:spPr>
      </p:sp>
      <p:sp>
        <p:nvSpPr>
          <p:cNvPr id="56" name="Text 54"/>
          <p:cNvSpPr/>
          <p:nvPr/>
        </p:nvSpPr>
        <p:spPr>
          <a:xfrm>
            <a:off x="10293251" y="4400550"/>
            <a:ext cx="294350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191C20"/>
                </a:solidFill>
                <a:latin typeface="IBM Plex Sans" pitchFamily="34" charset="0"/>
                <a:ea typeface="IBM Plex Sans" pitchFamily="34" charset="-122"/>
                <a:cs typeface="IBM Plex Sans" pitchFamily="34" charset="-120"/>
              </a:rPr>
              <a:t>Excluded</a:t>
            </a:r>
            <a:endParaRPr lang="en-US" sz="1800" dirty="0"/>
          </a:p>
        </p:txBody>
      </p:sp>
      <p:sp>
        <p:nvSpPr>
          <p:cNvPr id="57" name="Shape 55"/>
          <p:cNvSpPr/>
          <p:nvPr/>
        </p:nvSpPr>
        <p:spPr>
          <a:xfrm>
            <a:off x="13222784" y="4810125"/>
            <a:ext cx="4207818" cy="9525"/>
          </a:xfrm>
          <a:prstGeom prst="rect">
            <a:avLst/>
          </a:prstGeom>
          <a:solidFill>
            <a:srgbClr val="E0DCD3"/>
          </a:solidFill>
          <a:ln/>
        </p:spPr>
      </p:sp>
      <p:sp>
        <p:nvSpPr>
          <p:cNvPr id="58" name="Text 56"/>
          <p:cNvSpPr/>
          <p:nvPr/>
        </p:nvSpPr>
        <p:spPr>
          <a:xfrm>
            <a:off x="13298984" y="4400550"/>
            <a:ext cx="4181652"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Sans" pitchFamily="34" charset="0"/>
                <a:ea typeface="IBM Plex Sans" pitchFamily="34" charset="-122"/>
                <a:cs typeface="IBM Plex Sans" pitchFamily="34" charset="-120"/>
              </a:rPr>
              <a:t>Re-analyze affected consumers</a:t>
            </a:r>
            <a:endParaRPr lang="en-US" sz="1800" dirty="0"/>
          </a:p>
        </p:txBody>
      </p:sp>
      <p:sp>
        <p:nvSpPr>
          <p:cNvPr id="59" name="Shape 57"/>
          <p:cNvSpPr/>
          <p:nvPr/>
        </p:nvSpPr>
        <p:spPr>
          <a:xfrm>
            <a:off x="6610350" y="5334000"/>
            <a:ext cx="3606701" cy="9525"/>
          </a:xfrm>
          <a:prstGeom prst="rect">
            <a:avLst/>
          </a:prstGeom>
          <a:solidFill>
            <a:srgbClr val="E0DCD3"/>
          </a:solidFill>
          <a:ln/>
        </p:spPr>
      </p:sp>
      <p:sp>
        <p:nvSpPr>
          <p:cNvPr id="60" name="Text 58"/>
          <p:cNvSpPr/>
          <p:nvPr/>
        </p:nvSpPr>
        <p:spPr>
          <a:xfrm>
            <a:off x="6686550" y="4924425"/>
            <a:ext cx="3562502" cy="342900"/>
          </a:xfrm>
          <a:prstGeom prst="rect">
            <a:avLst/>
          </a:prstGeom>
          <a:noFill/>
          <a:ln/>
        </p:spPr>
        <p:txBody>
          <a:bodyPr wrap="square" lIns="25400" tIns="25400" rIns="25400" bIns="25400" rtlCol="0" anchor="t">
            <a:normAutofit/>
          </a:bodyPr>
          <a:lstStyle/>
          <a:p>
            <a:pPr algn="l" indent="0" marL="0">
              <a:buNone/>
            </a:pPr>
            <a:r>
              <a:rPr lang="en-US" sz="1800" dirty="0">
                <a:solidFill>
                  <a:srgbClr val="191C20"/>
                </a:solidFill>
                <a:latin typeface="IBM Plex Mono" pitchFamily="34" charset="0"/>
                <a:ea typeface="IBM Plex Mono" pitchFamily="34" charset="-122"/>
                <a:cs typeface="IBM Plex Mono" pitchFamily="34" charset="-120"/>
              </a:rPr>
              <a:t>INFRASTRUCTURE</a:t>
            </a:r>
            <a:endParaRPr lang="en-US" sz="1800" dirty="0"/>
          </a:p>
        </p:txBody>
      </p:sp>
      <p:sp>
        <p:nvSpPr>
          <p:cNvPr id="61" name="Shape 59"/>
          <p:cNvSpPr/>
          <p:nvPr/>
        </p:nvSpPr>
        <p:spPr>
          <a:xfrm>
            <a:off x="10217051" y="5334000"/>
            <a:ext cx="3005733" cy="9525"/>
          </a:xfrm>
          <a:prstGeom prst="rect">
            <a:avLst/>
          </a:prstGeom>
          <a:solidFill>
            <a:srgbClr val="E0DCD3"/>
          </a:solidFill>
          <a:ln/>
        </p:spPr>
      </p:sp>
      <p:sp>
        <p:nvSpPr>
          <p:cNvPr id="62" name="Text 60"/>
          <p:cNvSpPr/>
          <p:nvPr/>
        </p:nvSpPr>
        <p:spPr>
          <a:xfrm>
            <a:off x="10293251" y="4924425"/>
            <a:ext cx="294350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191C20"/>
                </a:solidFill>
                <a:latin typeface="IBM Plex Sans" pitchFamily="34" charset="0"/>
                <a:ea typeface="IBM Plex Sans" pitchFamily="34" charset="-122"/>
                <a:cs typeface="IBM Plex Sans" pitchFamily="34" charset="-120"/>
              </a:rPr>
              <a:t>Excluded</a:t>
            </a:r>
            <a:endParaRPr lang="en-US" sz="1800" dirty="0"/>
          </a:p>
        </p:txBody>
      </p:sp>
      <p:sp>
        <p:nvSpPr>
          <p:cNvPr id="63" name="Shape 61"/>
          <p:cNvSpPr/>
          <p:nvPr/>
        </p:nvSpPr>
        <p:spPr>
          <a:xfrm>
            <a:off x="13222784" y="5334000"/>
            <a:ext cx="4207818" cy="9525"/>
          </a:xfrm>
          <a:prstGeom prst="rect">
            <a:avLst/>
          </a:prstGeom>
          <a:solidFill>
            <a:srgbClr val="E0DCD3"/>
          </a:solidFill>
          <a:ln/>
        </p:spPr>
      </p:sp>
      <p:sp>
        <p:nvSpPr>
          <p:cNvPr id="64" name="Text 62"/>
          <p:cNvSpPr/>
          <p:nvPr/>
        </p:nvSpPr>
        <p:spPr>
          <a:xfrm>
            <a:off x="13298984" y="4924425"/>
            <a:ext cx="4181652"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Sans" pitchFamily="34" charset="0"/>
                <a:ea typeface="IBM Plex Sans" pitchFamily="34" charset="-122"/>
                <a:cs typeface="IBM Plex Sans" pitchFamily="34" charset="-120"/>
              </a:rPr>
              <a:t>Evaluate bindings, trigger apps</a:t>
            </a:r>
            <a:endParaRPr lang="en-US" sz="1800" dirty="0"/>
          </a:p>
        </p:txBody>
      </p:sp>
      <p:sp>
        <p:nvSpPr>
          <p:cNvPr id="65" name="Shape 63"/>
          <p:cNvSpPr/>
          <p:nvPr/>
        </p:nvSpPr>
        <p:spPr>
          <a:xfrm>
            <a:off x="6610350" y="5857875"/>
            <a:ext cx="3606701" cy="9525"/>
          </a:xfrm>
          <a:prstGeom prst="rect">
            <a:avLst/>
          </a:prstGeom>
          <a:solidFill>
            <a:srgbClr val="E0DCD3"/>
          </a:solidFill>
          <a:ln/>
        </p:spPr>
      </p:sp>
      <p:sp>
        <p:nvSpPr>
          <p:cNvPr id="66" name="Text 64"/>
          <p:cNvSpPr/>
          <p:nvPr/>
        </p:nvSpPr>
        <p:spPr>
          <a:xfrm>
            <a:off x="6686550" y="5448300"/>
            <a:ext cx="3562502" cy="342900"/>
          </a:xfrm>
          <a:prstGeom prst="rect">
            <a:avLst/>
          </a:prstGeom>
          <a:noFill/>
          <a:ln/>
        </p:spPr>
        <p:txBody>
          <a:bodyPr wrap="square" lIns="25400" tIns="25400" rIns="25400" bIns="25400" rtlCol="0" anchor="t">
            <a:normAutofit/>
          </a:bodyPr>
          <a:lstStyle/>
          <a:p>
            <a:pPr algn="l" indent="0" marL="0">
              <a:buNone/>
            </a:pPr>
            <a:r>
              <a:rPr lang="en-US" sz="1800" dirty="0">
                <a:solidFill>
                  <a:srgbClr val="191C20"/>
                </a:solidFill>
                <a:latin typeface="IBM Plex Mono" pitchFamily="34" charset="0"/>
                <a:ea typeface="IBM Plex Mono" pitchFamily="34" charset="-122"/>
                <a:cs typeface="IBM Plex Mono" pitchFamily="34" charset="-120"/>
              </a:rPr>
              <a:t>DOCUMENTATION</a:t>
            </a:r>
            <a:endParaRPr lang="en-US" sz="1800" dirty="0"/>
          </a:p>
        </p:txBody>
      </p:sp>
      <p:sp>
        <p:nvSpPr>
          <p:cNvPr id="67" name="Shape 65"/>
          <p:cNvSpPr/>
          <p:nvPr/>
        </p:nvSpPr>
        <p:spPr>
          <a:xfrm>
            <a:off x="10217051" y="5857875"/>
            <a:ext cx="3005733" cy="9525"/>
          </a:xfrm>
          <a:prstGeom prst="rect">
            <a:avLst/>
          </a:prstGeom>
          <a:solidFill>
            <a:srgbClr val="E0DCD3"/>
          </a:solidFill>
          <a:ln/>
        </p:spPr>
      </p:sp>
      <p:sp>
        <p:nvSpPr>
          <p:cNvPr id="68" name="Text 66"/>
          <p:cNvSpPr/>
          <p:nvPr/>
        </p:nvSpPr>
        <p:spPr>
          <a:xfrm>
            <a:off x="10293251" y="5448300"/>
            <a:ext cx="294350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191C20"/>
                </a:solidFill>
                <a:latin typeface="IBM Plex Sans" pitchFamily="34" charset="0"/>
                <a:ea typeface="IBM Plex Sans" pitchFamily="34" charset="-122"/>
                <a:cs typeface="IBM Plex Sans" pitchFamily="34" charset="-120"/>
              </a:rPr>
              <a:t>Excluded</a:t>
            </a:r>
            <a:endParaRPr lang="en-US" sz="1800" dirty="0"/>
          </a:p>
        </p:txBody>
      </p:sp>
      <p:sp>
        <p:nvSpPr>
          <p:cNvPr id="69" name="Shape 67"/>
          <p:cNvSpPr/>
          <p:nvPr/>
        </p:nvSpPr>
        <p:spPr>
          <a:xfrm>
            <a:off x="13222784" y="5857875"/>
            <a:ext cx="4207818" cy="9525"/>
          </a:xfrm>
          <a:prstGeom prst="rect">
            <a:avLst/>
          </a:prstGeom>
          <a:solidFill>
            <a:srgbClr val="E0DCD3"/>
          </a:solidFill>
          <a:ln/>
        </p:spPr>
      </p:sp>
      <p:sp>
        <p:nvSpPr>
          <p:cNvPr id="70" name="Text 68"/>
          <p:cNvSpPr/>
          <p:nvPr/>
        </p:nvSpPr>
        <p:spPr>
          <a:xfrm>
            <a:off x="13298984" y="5448300"/>
            <a:ext cx="4181652"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Sans" pitchFamily="34" charset="0"/>
                <a:ea typeface="IBM Plex Sans" pitchFamily="34" charset="-122"/>
                <a:cs typeface="IBM Plex Sans" pitchFamily="34" charset="-120"/>
              </a:rPr>
              <a:t>Record NO_LINEAGE_IMPACT</a:t>
            </a:r>
            <a:endParaRPr lang="en-US" sz="1800" dirty="0"/>
          </a:p>
        </p:txBody>
      </p:sp>
      <p:sp>
        <p:nvSpPr>
          <p:cNvPr id="71" name="Shape 69"/>
          <p:cNvSpPr/>
          <p:nvPr/>
        </p:nvSpPr>
        <p:spPr>
          <a:xfrm>
            <a:off x="6610350" y="6381750"/>
            <a:ext cx="3606701" cy="9525"/>
          </a:xfrm>
          <a:prstGeom prst="rect">
            <a:avLst/>
          </a:prstGeom>
          <a:solidFill>
            <a:srgbClr val="E0DCD3"/>
          </a:solidFill>
          <a:ln/>
        </p:spPr>
      </p:sp>
      <p:sp>
        <p:nvSpPr>
          <p:cNvPr id="72" name="Text 70"/>
          <p:cNvSpPr/>
          <p:nvPr/>
        </p:nvSpPr>
        <p:spPr>
          <a:xfrm>
            <a:off x="6686550" y="5972175"/>
            <a:ext cx="3562502" cy="342900"/>
          </a:xfrm>
          <a:prstGeom prst="rect">
            <a:avLst/>
          </a:prstGeom>
          <a:noFill/>
          <a:ln/>
        </p:spPr>
        <p:txBody>
          <a:bodyPr wrap="square" lIns="25400" tIns="25400" rIns="25400" bIns="25400" rtlCol="0" anchor="t">
            <a:normAutofit/>
          </a:bodyPr>
          <a:lstStyle/>
          <a:p>
            <a:pPr algn="l" indent="0" marL="0">
              <a:buNone/>
            </a:pPr>
            <a:r>
              <a:rPr lang="en-US" sz="1800" dirty="0">
                <a:solidFill>
                  <a:srgbClr val="191C20"/>
                </a:solidFill>
                <a:latin typeface="IBM Plex Mono" pitchFamily="34" charset="0"/>
                <a:ea typeface="IBM Plex Mono" pitchFamily="34" charset="-122"/>
                <a:cs typeface="IBM Plex Mono" pitchFamily="34" charset="-120"/>
              </a:rPr>
              <a:t>TEST_AUTOMATION</a:t>
            </a:r>
            <a:endParaRPr lang="en-US" sz="1800" dirty="0"/>
          </a:p>
        </p:txBody>
      </p:sp>
      <p:sp>
        <p:nvSpPr>
          <p:cNvPr id="73" name="Shape 71"/>
          <p:cNvSpPr/>
          <p:nvPr/>
        </p:nvSpPr>
        <p:spPr>
          <a:xfrm>
            <a:off x="10217051" y="6381750"/>
            <a:ext cx="3005733" cy="9525"/>
          </a:xfrm>
          <a:prstGeom prst="rect">
            <a:avLst/>
          </a:prstGeom>
          <a:solidFill>
            <a:srgbClr val="E0DCD3"/>
          </a:solidFill>
          <a:ln/>
        </p:spPr>
      </p:sp>
      <p:sp>
        <p:nvSpPr>
          <p:cNvPr id="74" name="Text 72"/>
          <p:cNvSpPr/>
          <p:nvPr/>
        </p:nvSpPr>
        <p:spPr>
          <a:xfrm>
            <a:off x="10293251" y="5972175"/>
            <a:ext cx="294350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191C20"/>
                </a:solidFill>
                <a:latin typeface="IBM Plex Sans" pitchFamily="34" charset="0"/>
                <a:ea typeface="IBM Plex Sans" pitchFamily="34" charset="-122"/>
                <a:cs typeface="IBM Plex Sans" pitchFamily="34" charset="-120"/>
              </a:rPr>
              <a:t>Excluded</a:t>
            </a:r>
            <a:endParaRPr lang="en-US" sz="1800" dirty="0"/>
          </a:p>
        </p:txBody>
      </p:sp>
      <p:sp>
        <p:nvSpPr>
          <p:cNvPr id="75" name="Shape 73"/>
          <p:cNvSpPr/>
          <p:nvPr/>
        </p:nvSpPr>
        <p:spPr>
          <a:xfrm>
            <a:off x="13222784" y="6381750"/>
            <a:ext cx="4207818" cy="9525"/>
          </a:xfrm>
          <a:prstGeom prst="rect">
            <a:avLst/>
          </a:prstGeom>
          <a:solidFill>
            <a:srgbClr val="E0DCD3"/>
          </a:solidFill>
          <a:ln/>
        </p:spPr>
      </p:sp>
      <p:sp>
        <p:nvSpPr>
          <p:cNvPr id="76" name="Text 74"/>
          <p:cNvSpPr/>
          <p:nvPr/>
        </p:nvSpPr>
        <p:spPr>
          <a:xfrm>
            <a:off x="13298984" y="5972175"/>
            <a:ext cx="4181652"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Sans" pitchFamily="34" charset="0"/>
                <a:ea typeface="IBM Plex Sans" pitchFamily="34" charset="-122"/>
                <a:cs typeface="IBM Plex Sans" pitchFamily="34" charset="-120"/>
              </a:rPr>
              <a:t>Update coverage &amp; test mappings</a:t>
            </a:r>
            <a:endParaRPr lang="en-US" sz="1800" dirty="0"/>
          </a:p>
        </p:txBody>
      </p:sp>
      <p:sp>
        <p:nvSpPr>
          <p:cNvPr id="77" name="Shape 75"/>
          <p:cNvSpPr/>
          <p:nvPr/>
        </p:nvSpPr>
        <p:spPr>
          <a:xfrm>
            <a:off x="6610350" y="6905625"/>
            <a:ext cx="3606701" cy="9525"/>
          </a:xfrm>
          <a:prstGeom prst="rect">
            <a:avLst/>
          </a:prstGeom>
          <a:solidFill>
            <a:srgbClr val="E0DCD3"/>
          </a:solidFill>
          <a:ln/>
        </p:spPr>
      </p:sp>
      <p:sp>
        <p:nvSpPr>
          <p:cNvPr id="78" name="Text 76"/>
          <p:cNvSpPr/>
          <p:nvPr/>
        </p:nvSpPr>
        <p:spPr>
          <a:xfrm>
            <a:off x="6686550" y="6496050"/>
            <a:ext cx="3562502" cy="342900"/>
          </a:xfrm>
          <a:prstGeom prst="rect">
            <a:avLst/>
          </a:prstGeom>
          <a:noFill/>
          <a:ln/>
        </p:spPr>
        <p:txBody>
          <a:bodyPr wrap="square" lIns="25400" tIns="25400" rIns="25400" bIns="25400" rtlCol="0" anchor="t">
            <a:normAutofit/>
          </a:bodyPr>
          <a:lstStyle/>
          <a:p>
            <a:pPr algn="l" indent="0" marL="0">
              <a:buNone/>
            </a:pPr>
            <a:r>
              <a:rPr lang="en-US" sz="1800" dirty="0">
                <a:solidFill>
                  <a:srgbClr val="191C20"/>
                </a:solidFill>
                <a:latin typeface="IBM Plex Mono" pitchFamily="34" charset="0"/>
                <a:ea typeface="IBM Plex Mono" pitchFamily="34" charset="-122"/>
                <a:cs typeface="IBM Plex Mono" pitchFamily="34" charset="-120"/>
              </a:rPr>
              <a:t>MIXED_MONOREPO</a:t>
            </a:r>
            <a:endParaRPr lang="en-US" sz="1800" dirty="0"/>
          </a:p>
        </p:txBody>
      </p:sp>
      <p:sp>
        <p:nvSpPr>
          <p:cNvPr id="79" name="Shape 77"/>
          <p:cNvSpPr/>
          <p:nvPr/>
        </p:nvSpPr>
        <p:spPr>
          <a:xfrm>
            <a:off x="10217051" y="6905625"/>
            <a:ext cx="3005733" cy="9525"/>
          </a:xfrm>
          <a:prstGeom prst="rect">
            <a:avLst/>
          </a:prstGeom>
          <a:solidFill>
            <a:srgbClr val="E0DCD3"/>
          </a:solidFill>
          <a:ln/>
        </p:spPr>
      </p:sp>
      <p:sp>
        <p:nvSpPr>
          <p:cNvPr id="80" name="Text 78"/>
          <p:cNvSpPr/>
          <p:nvPr/>
        </p:nvSpPr>
        <p:spPr>
          <a:xfrm>
            <a:off x="10293251" y="6496050"/>
            <a:ext cx="294350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191C20"/>
                </a:solidFill>
                <a:latin typeface="IBM Plex Sans" pitchFamily="34" charset="0"/>
                <a:ea typeface="IBM Plex Sans" pitchFamily="34" charset="-122"/>
                <a:cs typeface="IBM Plex Sans" pitchFamily="34" charset="-120"/>
              </a:rPr>
              <a:t>Path-level</a:t>
            </a:r>
            <a:endParaRPr lang="en-US" sz="1800" dirty="0"/>
          </a:p>
        </p:txBody>
      </p:sp>
      <p:sp>
        <p:nvSpPr>
          <p:cNvPr id="81" name="Shape 79"/>
          <p:cNvSpPr/>
          <p:nvPr/>
        </p:nvSpPr>
        <p:spPr>
          <a:xfrm>
            <a:off x="13222784" y="6905625"/>
            <a:ext cx="4207818" cy="9525"/>
          </a:xfrm>
          <a:prstGeom prst="rect">
            <a:avLst/>
          </a:prstGeom>
          <a:solidFill>
            <a:srgbClr val="E0DCD3"/>
          </a:solidFill>
          <a:ln/>
        </p:spPr>
      </p:sp>
      <p:sp>
        <p:nvSpPr>
          <p:cNvPr id="82" name="Text 80"/>
          <p:cNvSpPr/>
          <p:nvPr/>
        </p:nvSpPr>
        <p:spPr>
          <a:xfrm>
            <a:off x="13298984" y="6496050"/>
            <a:ext cx="4181652"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Sans" pitchFamily="34" charset="0"/>
                <a:ea typeface="IBM Plex Sans" pitchFamily="34" charset="-122"/>
                <a:cs typeface="IBM Plex Sans" pitchFamily="34" charset="-120"/>
              </a:rPr>
              <a:t>Route each changed path</a:t>
            </a:r>
            <a:endParaRPr lang="en-US" sz="1800" dirty="0"/>
          </a:p>
        </p:txBody>
      </p:sp>
      <p:sp>
        <p:nvSpPr>
          <p:cNvPr id="83" name="Shape 81"/>
          <p:cNvSpPr/>
          <p:nvPr/>
        </p:nvSpPr>
        <p:spPr>
          <a:xfrm>
            <a:off x="6610350" y="7429500"/>
            <a:ext cx="3606701" cy="9525"/>
          </a:xfrm>
          <a:prstGeom prst="rect">
            <a:avLst/>
          </a:prstGeom>
          <a:solidFill>
            <a:srgbClr val="E0DCD3"/>
          </a:solidFill>
          <a:ln/>
        </p:spPr>
      </p:sp>
      <p:sp>
        <p:nvSpPr>
          <p:cNvPr id="84" name="Text 82"/>
          <p:cNvSpPr/>
          <p:nvPr/>
        </p:nvSpPr>
        <p:spPr>
          <a:xfrm>
            <a:off x="6686550" y="7019925"/>
            <a:ext cx="3562502" cy="342900"/>
          </a:xfrm>
          <a:prstGeom prst="rect">
            <a:avLst/>
          </a:prstGeom>
          <a:noFill/>
          <a:ln/>
        </p:spPr>
        <p:txBody>
          <a:bodyPr wrap="square" lIns="25400" tIns="25400" rIns="25400" bIns="25400" rtlCol="0" anchor="t">
            <a:normAutofit/>
          </a:bodyPr>
          <a:lstStyle/>
          <a:p>
            <a:pPr algn="l" indent="0" marL="0">
              <a:buNone/>
            </a:pPr>
            <a:r>
              <a:rPr lang="en-US" sz="1800" dirty="0">
                <a:solidFill>
                  <a:srgbClr val="191C20"/>
                </a:solidFill>
                <a:latin typeface="IBM Plex Mono" pitchFamily="34" charset="0"/>
                <a:ea typeface="IBM Plex Mono" pitchFamily="34" charset="-122"/>
                <a:cs typeface="IBM Plex Mono" pitchFamily="34" charset="-120"/>
              </a:rPr>
              <a:t>UNKNOWN</a:t>
            </a:r>
            <a:endParaRPr lang="en-US" sz="1800" dirty="0"/>
          </a:p>
        </p:txBody>
      </p:sp>
      <p:sp>
        <p:nvSpPr>
          <p:cNvPr id="85" name="Shape 83"/>
          <p:cNvSpPr/>
          <p:nvPr/>
        </p:nvSpPr>
        <p:spPr>
          <a:xfrm>
            <a:off x="10217051" y="7429500"/>
            <a:ext cx="3005733" cy="9525"/>
          </a:xfrm>
          <a:prstGeom prst="rect">
            <a:avLst/>
          </a:prstGeom>
          <a:solidFill>
            <a:srgbClr val="E0DCD3"/>
          </a:solidFill>
          <a:ln/>
        </p:spPr>
      </p:sp>
      <p:sp>
        <p:nvSpPr>
          <p:cNvPr id="86" name="Text 84"/>
          <p:cNvSpPr/>
          <p:nvPr/>
        </p:nvSpPr>
        <p:spPr>
          <a:xfrm>
            <a:off x="10293251" y="7019925"/>
            <a:ext cx="294350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191C20"/>
                </a:solidFill>
                <a:latin typeface="IBM Plex Sans" pitchFamily="34" charset="0"/>
                <a:ea typeface="IBM Plex Sans" pitchFamily="34" charset="-122"/>
                <a:cs typeface="IBM Plex Sans" pitchFamily="34" charset="-120"/>
              </a:rPr>
              <a:t>Never silent</a:t>
            </a:r>
            <a:endParaRPr lang="en-US" sz="1800" dirty="0"/>
          </a:p>
        </p:txBody>
      </p:sp>
      <p:sp>
        <p:nvSpPr>
          <p:cNvPr id="87" name="Shape 85"/>
          <p:cNvSpPr/>
          <p:nvPr/>
        </p:nvSpPr>
        <p:spPr>
          <a:xfrm>
            <a:off x="13222784" y="7429500"/>
            <a:ext cx="4207818" cy="9525"/>
          </a:xfrm>
          <a:prstGeom prst="rect">
            <a:avLst/>
          </a:prstGeom>
          <a:solidFill>
            <a:srgbClr val="E0DCD3"/>
          </a:solidFill>
          <a:ln/>
        </p:spPr>
      </p:sp>
      <p:sp>
        <p:nvSpPr>
          <p:cNvPr id="88" name="Text 86"/>
          <p:cNvSpPr/>
          <p:nvPr/>
        </p:nvSpPr>
        <p:spPr>
          <a:xfrm>
            <a:off x="13298984" y="7019925"/>
            <a:ext cx="4181652"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Sans" pitchFamily="34" charset="0"/>
                <a:ea typeface="IBM Plex Sans" pitchFamily="34" charset="-122"/>
                <a:cs typeface="IBM Plex Sans" pitchFamily="34" charset="-120"/>
              </a:rPr>
              <a:t>Quarantine for review</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57250" y="666750"/>
            <a:ext cx="18230850" cy="361950"/>
          </a:xfrm>
          <a:prstGeom prst="rect">
            <a:avLst/>
          </a:prstGeom>
          <a:noFill/>
          <a:ln/>
        </p:spPr>
        <p:txBody>
          <a:bodyPr wrap="square" lIns="25400" tIns="25400" rIns="25400" bIns="25400" rtlCol="0" anchor="t">
            <a:normAutofit/>
          </a:bodyPr>
          <a:lstStyle/>
          <a:p>
            <a:pPr algn="l" indent="0" marL="0">
              <a:buNone/>
            </a:pPr>
            <a:r>
              <a:rPr lang="en-US" sz="1950" spc="312" kern="0" dirty="0">
                <a:solidFill>
                  <a:srgbClr val="4D535B"/>
                </a:solidFill>
                <a:latin typeface="IBM Plex Mono" pitchFamily="34" charset="0"/>
                <a:ea typeface="IBM Plex Mono" pitchFamily="34" charset="-122"/>
                <a:cs typeface="IBM Plex Mono" pitchFamily="34" charset="-120"/>
              </a:rPr>
              <a:t>06 · PROCESS OVERVIEW</a:t>
            </a:r>
            <a:endParaRPr lang="en-US" sz="1950" dirty="0"/>
          </a:p>
        </p:txBody>
      </p:sp>
      <p:sp>
        <p:nvSpPr>
          <p:cNvPr id="3" name="Text 1"/>
          <p:cNvSpPr/>
          <p:nvPr/>
        </p:nvSpPr>
        <p:spPr>
          <a:xfrm>
            <a:off x="857250" y="1123950"/>
            <a:ext cx="18230850" cy="771525"/>
          </a:xfrm>
          <a:prstGeom prst="rect">
            <a:avLst/>
          </a:prstGeom>
          <a:noFill/>
          <a:ln/>
        </p:spPr>
        <p:txBody>
          <a:bodyPr wrap="square" lIns="25400" tIns="25400" rIns="25400" bIns="25400" rtlCol="0" anchor="t">
            <a:normAutofit/>
          </a:bodyPr>
          <a:lstStyle/>
          <a:p>
            <a:pPr algn="l" indent="0" marL="0">
              <a:buNone/>
            </a:pPr>
            <a:r>
              <a:rPr lang="en-US" sz="4500" b="1" dirty="0">
                <a:solidFill>
                  <a:srgbClr val="191C20"/>
                </a:solidFill>
                <a:latin typeface="IBM Plex Sans" pitchFamily="34" charset="0"/>
                <a:ea typeface="IBM Plex Sans" pitchFamily="34" charset="-122"/>
                <a:cs typeface="IBM Plex Sans" pitchFamily="34" charset="-120"/>
              </a:rPr>
              <a:t>End-to-End Collection Flow</a:t>
            </a:r>
            <a:endParaRPr lang="en-US" sz="4500" dirty="0"/>
          </a:p>
        </p:txBody>
      </p:sp>
      <p:sp>
        <p:nvSpPr>
          <p:cNvPr id="4" name="Shape 2"/>
          <p:cNvSpPr/>
          <p:nvPr/>
        </p:nvSpPr>
        <p:spPr>
          <a:xfrm>
            <a:off x="857250" y="2219325"/>
            <a:ext cx="4014788" cy="2076450"/>
          </a:xfrm>
          <a:prstGeom prst="rect">
            <a:avLst/>
          </a:prstGeom>
          <a:solidFill>
            <a:srgbClr val="FFFFFF"/>
          </a:solidFill>
          <a:ln w="9525">
            <a:solidFill>
              <a:srgbClr val="E0DCD3"/>
            </a:solidFill>
            <a:prstDash val="solid"/>
          </a:ln>
        </p:spPr>
      </p:sp>
      <p:sp>
        <p:nvSpPr>
          <p:cNvPr id="5" name="Text 3"/>
          <p:cNvSpPr/>
          <p:nvPr/>
        </p:nvSpPr>
        <p:spPr>
          <a:xfrm>
            <a:off x="1114425" y="2438400"/>
            <a:ext cx="385048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A8551F"/>
                </a:solidFill>
                <a:latin typeface="IBM Plex Mono" pitchFamily="34" charset="0"/>
                <a:ea typeface="IBM Plex Mono" pitchFamily="34" charset="-122"/>
                <a:cs typeface="IBM Plex Mono" pitchFamily="34" charset="-120"/>
              </a:rPr>
              <a:t>1 · DISCOVER</a:t>
            </a:r>
            <a:endParaRPr lang="en-US" sz="1800" dirty="0"/>
          </a:p>
        </p:txBody>
      </p:sp>
      <p:sp>
        <p:nvSpPr>
          <p:cNvPr id="6" name="Text 4"/>
          <p:cNvSpPr/>
          <p:nvPr/>
        </p:nvSpPr>
        <p:spPr>
          <a:xfrm>
            <a:off x="1114425" y="2819400"/>
            <a:ext cx="3605451" cy="981075"/>
          </a:xfrm>
          <a:prstGeom prst="rect">
            <a:avLst/>
          </a:prstGeom>
          <a:noFill/>
          <a:ln/>
        </p:spPr>
        <p:txBody>
          <a:bodyPr wrap="square" lIns="25400" tIns="25400" rIns="25400" bIns="25400" rtlCol="0" anchor="t">
            <a:normAutofit/>
          </a:bodyPr>
          <a:lstStyle/>
          <a:p>
            <a:pPr algn="l" indent="0" marL="0">
              <a:lnSpc>
                <a:spcPct val="105000"/>
              </a:lnSpc>
              <a:buNone/>
            </a:pPr>
            <a:r>
              <a:rPr lang="en-US" sz="1800" dirty="0">
                <a:solidFill>
                  <a:srgbClr val="4D535B"/>
                </a:solidFill>
                <a:latin typeface="IBM Plex Sans" pitchFamily="34" charset="0"/>
                <a:ea typeface="IBM Plex Sans" pitchFamily="34" charset="-122"/>
                <a:cs typeface="IBM Plex Sans" pitchFamily="34" charset="-120"/>
              </a:rPr>
              <a:t>Test Automation inventory, SCM, deployment &amp; CloudWatch context</a:t>
            </a:r>
            <a:endParaRPr lang="en-US" sz="1800" dirty="0"/>
          </a:p>
        </p:txBody>
      </p:sp>
      <p:sp>
        <p:nvSpPr>
          <p:cNvPr id="7" name="Shape 5"/>
          <p:cNvSpPr/>
          <p:nvPr/>
        </p:nvSpPr>
        <p:spPr>
          <a:xfrm>
            <a:off x="5043488" y="2219325"/>
            <a:ext cx="4014788" cy="2076450"/>
          </a:xfrm>
          <a:prstGeom prst="rect">
            <a:avLst/>
          </a:prstGeom>
          <a:solidFill>
            <a:srgbClr val="FFFFFF"/>
          </a:solidFill>
          <a:ln w="9525">
            <a:solidFill>
              <a:srgbClr val="E0DCD3"/>
            </a:solidFill>
            <a:prstDash val="solid"/>
          </a:ln>
        </p:spPr>
      </p:sp>
      <p:sp>
        <p:nvSpPr>
          <p:cNvPr id="8" name="Text 6"/>
          <p:cNvSpPr/>
          <p:nvPr/>
        </p:nvSpPr>
        <p:spPr>
          <a:xfrm>
            <a:off x="5300663" y="2438400"/>
            <a:ext cx="385048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A8551F"/>
                </a:solidFill>
                <a:latin typeface="IBM Plex Mono" pitchFamily="34" charset="0"/>
                <a:ea typeface="IBM Plex Mono" pitchFamily="34" charset="-122"/>
                <a:cs typeface="IBM Plex Mono" pitchFamily="34" charset="-120"/>
              </a:rPr>
              <a:t>2 · NORMALIZE &amp; ROUTE</a:t>
            </a:r>
            <a:endParaRPr lang="en-US" sz="1800" dirty="0"/>
          </a:p>
        </p:txBody>
      </p:sp>
      <p:sp>
        <p:nvSpPr>
          <p:cNvPr id="9" name="Text 7"/>
          <p:cNvSpPr/>
          <p:nvPr/>
        </p:nvSpPr>
        <p:spPr>
          <a:xfrm>
            <a:off x="5300663" y="2819400"/>
            <a:ext cx="3605451" cy="1295400"/>
          </a:xfrm>
          <a:prstGeom prst="rect">
            <a:avLst/>
          </a:prstGeom>
          <a:noFill/>
          <a:ln/>
        </p:spPr>
        <p:txBody>
          <a:bodyPr wrap="square" lIns="25400" tIns="25400" rIns="25400" bIns="25400" rtlCol="0" anchor="t">
            <a:normAutofit/>
          </a:bodyPr>
          <a:lstStyle/>
          <a:p>
            <a:pPr algn="l" indent="0" marL="0">
              <a:lnSpc>
                <a:spcPct val="105000"/>
              </a:lnSpc>
              <a:buNone/>
            </a:pPr>
            <a:r>
              <a:rPr lang="en-US" sz="1800" dirty="0">
                <a:solidFill>
                  <a:srgbClr val="4D535B"/>
                </a:solidFill>
                <a:latin typeface="IBM Plex Sans" pitchFamily="34" charset="0"/>
                <a:ea typeface="IBM Plex Sans" pitchFamily="34" charset="-122"/>
                <a:cs typeface="IBM Plex Sans" pitchFamily="34" charset="-120"/>
              </a:rPr>
              <a:t>Verify signature, drop repeats, one envelope — EventBridge routes onto priority SQS; DLQ per lane</a:t>
            </a:r>
            <a:endParaRPr lang="en-US" sz="1800" dirty="0"/>
          </a:p>
        </p:txBody>
      </p:sp>
      <p:sp>
        <p:nvSpPr>
          <p:cNvPr id="10" name="Shape 8"/>
          <p:cNvSpPr/>
          <p:nvPr/>
        </p:nvSpPr>
        <p:spPr>
          <a:xfrm>
            <a:off x="9229725" y="2219325"/>
            <a:ext cx="4014788" cy="2076450"/>
          </a:xfrm>
          <a:prstGeom prst="rect">
            <a:avLst/>
          </a:prstGeom>
          <a:solidFill>
            <a:srgbClr val="FFFFFF"/>
          </a:solidFill>
          <a:ln w="9525">
            <a:solidFill>
              <a:srgbClr val="E0DCD3"/>
            </a:solidFill>
            <a:prstDash val="solid"/>
          </a:ln>
        </p:spPr>
      </p:sp>
      <p:sp>
        <p:nvSpPr>
          <p:cNvPr id="11" name="Text 9"/>
          <p:cNvSpPr/>
          <p:nvPr/>
        </p:nvSpPr>
        <p:spPr>
          <a:xfrm>
            <a:off x="9486900" y="2438400"/>
            <a:ext cx="385048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A8551F"/>
                </a:solidFill>
                <a:latin typeface="IBM Plex Mono" pitchFamily="34" charset="0"/>
                <a:ea typeface="IBM Plex Mono" pitchFamily="34" charset="-122"/>
                <a:cs typeface="IBM Plex Mono" pitchFamily="34" charset="-120"/>
              </a:rPr>
              <a:t>3 · COORDINATE</a:t>
            </a:r>
            <a:endParaRPr lang="en-US" sz="1800" dirty="0"/>
          </a:p>
        </p:txBody>
      </p:sp>
      <p:sp>
        <p:nvSpPr>
          <p:cNvPr id="12" name="Text 10"/>
          <p:cNvSpPr/>
          <p:nvPr/>
        </p:nvSpPr>
        <p:spPr>
          <a:xfrm>
            <a:off x="9486900" y="2819400"/>
            <a:ext cx="3605451" cy="981075"/>
          </a:xfrm>
          <a:prstGeom prst="rect">
            <a:avLst/>
          </a:prstGeom>
          <a:noFill/>
          <a:ln/>
        </p:spPr>
        <p:txBody>
          <a:bodyPr wrap="square" lIns="25400" tIns="25400" rIns="25400" bIns="25400" rtlCol="0" anchor="t">
            <a:normAutofit/>
          </a:bodyPr>
          <a:lstStyle/>
          <a:p>
            <a:pPr algn="l" indent="0" marL="0">
              <a:lnSpc>
                <a:spcPct val="105000"/>
              </a:lnSpc>
              <a:buNone/>
            </a:pPr>
            <a:r>
              <a:rPr lang="en-US" sz="1800" dirty="0">
                <a:solidFill>
                  <a:srgbClr val="4D535B"/>
                </a:solidFill>
                <a:latin typeface="IBM Plex Sans" pitchFamily="34" charset="0"/>
                <a:ea typeface="IBM Plex Sans" pitchFamily="34" charset="-122"/>
                <a:cs typeface="IBM Plex Sans" pitchFamily="34" charset="-120"/>
              </a:rPr>
              <a:t>Step Functions runs the visible workflow; redrive resumes failed stages</a:t>
            </a:r>
            <a:endParaRPr lang="en-US" sz="1800" dirty="0"/>
          </a:p>
        </p:txBody>
      </p:sp>
      <p:sp>
        <p:nvSpPr>
          <p:cNvPr id="13" name="Shape 11"/>
          <p:cNvSpPr/>
          <p:nvPr/>
        </p:nvSpPr>
        <p:spPr>
          <a:xfrm>
            <a:off x="13415963" y="2219325"/>
            <a:ext cx="4014788" cy="2076450"/>
          </a:xfrm>
          <a:prstGeom prst="rect">
            <a:avLst/>
          </a:prstGeom>
          <a:solidFill>
            <a:srgbClr val="FFFFFF"/>
          </a:solidFill>
          <a:ln w="9525">
            <a:solidFill>
              <a:srgbClr val="E0DCD3"/>
            </a:solidFill>
            <a:prstDash val="solid"/>
          </a:ln>
        </p:spPr>
      </p:sp>
      <p:sp>
        <p:nvSpPr>
          <p:cNvPr id="14" name="Text 12"/>
          <p:cNvSpPr/>
          <p:nvPr/>
        </p:nvSpPr>
        <p:spPr>
          <a:xfrm>
            <a:off x="13673138" y="2438400"/>
            <a:ext cx="385048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A8551F"/>
                </a:solidFill>
                <a:latin typeface="IBM Plex Mono" pitchFamily="34" charset="0"/>
                <a:ea typeface="IBM Plex Mono" pitchFamily="34" charset="-122"/>
                <a:cs typeface="IBM Plex Mono" pitchFamily="34" charset="-120"/>
              </a:rPr>
              <a:t>4 · CLASSIFY</a:t>
            </a:r>
            <a:endParaRPr lang="en-US" sz="1800" dirty="0"/>
          </a:p>
        </p:txBody>
      </p:sp>
      <p:sp>
        <p:nvSpPr>
          <p:cNvPr id="15" name="Text 13"/>
          <p:cNvSpPr/>
          <p:nvPr/>
        </p:nvSpPr>
        <p:spPr>
          <a:xfrm>
            <a:off x="13673138" y="2819400"/>
            <a:ext cx="3605451" cy="981075"/>
          </a:xfrm>
          <a:prstGeom prst="rect">
            <a:avLst/>
          </a:prstGeom>
          <a:noFill/>
          <a:ln/>
        </p:spPr>
        <p:txBody>
          <a:bodyPr wrap="square" lIns="25400" tIns="25400" rIns="25400" bIns="25400" rtlCol="0" anchor="t">
            <a:normAutofit/>
          </a:bodyPr>
          <a:lstStyle/>
          <a:p>
            <a:pPr algn="l" indent="0" marL="0">
              <a:lnSpc>
                <a:spcPct val="105000"/>
              </a:lnSpc>
              <a:buNone/>
            </a:pPr>
            <a:r>
              <a:rPr lang="en-US" sz="1800" dirty="0">
                <a:solidFill>
                  <a:srgbClr val="4D535B"/>
                </a:solidFill>
                <a:latin typeface="IBM Plex Sans" pitchFamily="34" charset="0"/>
                <a:ea typeface="IBM Plex Sans" pitchFamily="34" charset="-122"/>
                <a:cs typeface="IBM Plex Sans" pitchFamily="34" charset="-120"/>
              </a:rPr>
              <a:t>First workflow step: repository eligibility before any expensive analysis</a:t>
            </a:r>
            <a:endParaRPr lang="en-US" sz="1800" dirty="0"/>
          </a:p>
        </p:txBody>
      </p:sp>
      <p:sp>
        <p:nvSpPr>
          <p:cNvPr id="16" name="Shape 14"/>
          <p:cNvSpPr/>
          <p:nvPr/>
        </p:nvSpPr>
        <p:spPr>
          <a:xfrm>
            <a:off x="857250" y="4467225"/>
            <a:ext cx="4014788" cy="1762125"/>
          </a:xfrm>
          <a:prstGeom prst="rect">
            <a:avLst/>
          </a:prstGeom>
          <a:solidFill>
            <a:srgbClr val="FFFFFF"/>
          </a:solidFill>
          <a:ln w="9525">
            <a:solidFill>
              <a:srgbClr val="E0DCD3"/>
            </a:solidFill>
            <a:prstDash val="solid"/>
          </a:ln>
        </p:spPr>
      </p:sp>
      <p:sp>
        <p:nvSpPr>
          <p:cNvPr id="17" name="Text 15"/>
          <p:cNvSpPr/>
          <p:nvPr/>
        </p:nvSpPr>
        <p:spPr>
          <a:xfrm>
            <a:off x="1114425" y="4686300"/>
            <a:ext cx="385048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A8551F"/>
                </a:solidFill>
                <a:latin typeface="IBM Plex Mono" pitchFamily="34" charset="0"/>
                <a:ea typeface="IBM Plex Mono" pitchFamily="34" charset="-122"/>
                <a:cs typeface="IBM Plex Mono" pitchFamily="34" charset="-120"/>
              </a:rPr>
              <a:t>5 · EXTRACT</a:t>
            </a:r>
            <a:endParaRPr lang="en-US" sz="1800" dirty="0"/>
          </a:p>
        </p:txBody>
      </p:sp>
      <p:sp>
        <p:nvSpPr>
          <p:cNvPr id="18" name="Text 16"/>
          <p:cNvSpPr/>
          <p:nvPr/>
        </p:nvSpPr>
        <p:spPr>
          <a:xfrm>
            <a:off x="1114425" y="5067300"/>
            <a:ext cx="3605451" cy="981075"/>
          </a:xfrm>
          <a:prstGeom prst="rect">
            <a:avLst/>
          </a:prstGeom>
          <a:noFill/>
          <a:ln/>
        </p:spPr>
        <p:txBody>
          <a:bodyPr wrap="square" lIns="25400" tIns="25400" rIns="25400" bIns="25400" rtlCol="0" anchor="t">
            <a:normAutofit/>
          </a:bodyPr>
          <a:lstStyle/>
          <a:p>
            <a:pPr algn="l" indent="0" marL="0">
              <a:lnSpc>
                <a:spcPct val="105000"/>
              </a:lnSpc>
              <a:buNone/>
            </a:pPr>
            <a:r>
              <a:rPr lang="en-US" sz="1800" dirty="0">
                <a:solidFill>
                  <a:srgbClr val="4D535B"/>
                </a:solidFill>
                <a:latin typeface="IBM Plex Sans" pitchFamily="34" charset="0"/>
                <a:ea typeface="IBM Plex Sans" pitchFamily="34" charset="-122"/>
                <a:cs typeface="IBM Plex Sans" pitchFamily="34" charset="-120"/>
              </a:rPr>
              <a:t>Parsers + AST service on Fargate; LLM-gateway residue only; runtime layer corroborates</a:t>
            </a:r>
            <a:endParaRPr lang="en-US" sz="1800" dirty="0"/>
          </a:p>
        </p:txBody>
      </p:sp>
      <p:sp>
        <p:nvSpPr>
          <p:cNvPr id="19" name="Shape 17"/>
          <p:cNvSpPr/>
          <p:nvPr/>
        </p:nvSpPr>
        <p:spPr>
          <a:xfrm>
            <a:off x="5043488" y="4467225"/>
            <a:ext cx="4014788" cy="1762125"/>
          </a:xfrm>
          <a:prstGeom prst="rect">
            <a:avLst/>
          </a:prstGeom>
          <a:solidFill>
            <a:srgbClr val="FFFFFF"/>
          </a:solidFill>
          <a:ln w="9525">
            <a:solidFill>
              <a:srgbClr val="E0DCD3"/>
            </a:solidFill>
            <a:prstDash val="solid"/>
          </a:ln>
        </p:spPr>
      </p:sp>
      <p:sp>
        <p:nvSpPr>
          <p:cNvPr id="20" name="Text 18"/>
          <p:cNvSpPr/>
          <p:nvPr/>
        </p:nvSpPr>
        <p:spPr>
          <a:xfrm>
            <a:off x="5300663" y="4686300"/>
            <a:ext cx="385048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2F6B80"/>
                </a:solidFill>
                <a:latin typeface="IBM Plex Mono" pitchFamily="34" charset="0"/>
                <a:ea typeface="IBM Plex Mono" pitchFamily="34" charset="-122"/>
                <a:cs typeface="IBM Plex Mono" pitchFamily="34" charset="-120"/>
              </a:rPr>
              <a:t>6 · VERIFY &amp; PROPOSE</a:t>
            </a:r>
            <a:endParaRPr lang="en-US" sz="1800" dirty="0"/>
          </a:p>
        </p:txBody>
      </p:sp>
      <p:sp>
        <p:nvSpPr>
          <p:cNvPr id="21" name="Text 19"/>
          <p:cNvSpPr/>
          <p:nvPr/>
        </p:nvSpPr>
        <p:spPr>
          <a:xfrm>
            <a:off x="5300663" y="5067300"/>
            <a:ext cx="3605451" cy="981075"/>
          </a:xfrm>
          <a:prstGeom prst="rect">
            <a:avLst/>
          </a:prstGeom>
          <a:noFill/>
          <a:ln/>
        </p:spPr>
        <p:txBody>
          <a:bodyPr wrap="square" lIns="25400" tIns="25400" rIns="25400" bIns="25400" rtlCol="0" anchor="t">
            <a:normAutofit/>
          </a:bodyPr>
          <a:lstStyle/>
          <a:p>
            <a:pPr algn="l" indent="0" marL="0">
              <a:lnSpc>
                <a:spcPct val="105000"/>
              </a:lnSpc>
              <a:buNone/>
            </a:pPr>
            <a:r>
              <a:rPr lang="en-US" sz="1800" dirty="0">
                <a:solidFill>
                  <a:srgbClr val="4D535B"/>
                </a:solidFill>
                <a:latin typeface="IBM Plex Sans" pitchFamily="34" charset="0"/>
                <a:ea typeface="IBM Plex Sans" pitchFamily="34" charset="-122"/>
                <a:cs typeface="IBM Plex Sans" pitchFamily="34" charset="-120"/>
              </a:rPr>
              <a:t>S3 evidence + DynamoDB state → before/after proposal, two-axis confidence</a:t>
            </a:r>
            <a:endParaRPr lang="en-US" sz="1800" dirty="0"/>
          </a:p>
        </p:txBody>
      </p:sp>
      <p:sp>
        <p:nvSpPr>
          <p:cNvPr id="22" name="Shape 20"/>
          <p:cNvSpPr/>
          <p:nvPr/>
        </p:nvSpPr>
        <p:spPr>
          <a:xfrm>
            <a:off x="9229725" y="4467225"/>
            <a:ext cx="4014788" cy="1762125"/>
          </a:xfrm>
          <a:prstGeom prst="rect">
            <a:avLst/>
          </a:prstGeom>
          <a:solidFill>
            <a:srgbClr val="191C20"/>
          </a:solidFill>
          <a:ln/>
        </p:spPr>
      </p:sp>
      <p:sp>
        <p:nvSpPr>
          <p:cNvPr id="23" name="Text 21"/>
          <p:cNvSpPr/>
          <p:nvPr/>
        </p:nvSpPr>
        <p:spPr>
          <a:xfrm>
            <a:off x="9477375" y="4676775"/>
            <a:ext cx="3871436"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FB3BF"/>
                </a:solidFill>
                <a:latin typeface="IBM Plex Mono" pitchFamily="34" charset="0"/>
                <a:ea typeface="IBM Plex Mono" pitchFamily="34" charset="-122"/>
                <a:cs typeface="IBM Plex Mono" pitchFamily="34" charset="-120"/>
              </a:rPr>
              <a:t>7 · REVIEW · HUMAN</a:t>
            </a:r>
            <a:endParaRPr lang="en-US" sz="1800" dirty="0"/>
          </a:p>
        </p:txBody>
      </p:sp>
      <p:sp>
        <p:nvSpPr>
          <p:cNvPr id="24" name="Text 22"/>
          <p:cNvSpPr/>
          <p:nvPr/>
        </p:nvSpPr>
        <p:spPr>
          <a:xfrm>
            <a:off x="9477375" y="5057775"/>
            <a:ext cx="3625072" cy="666750"/>
          </a:xfrm>
          <a:prstGeom prst="rect">
            <a:avLst/>
          </a:prstGeom>
          <a:noFill/>
          <a:ln/>
        </p:spPr>
        <p:txBody>
          <a:bodyPr wrap="square" lIns="25400" tIns="25400" rIns="25400" bIns="25400" rtlCol="0" anchor="t">
            <a:normAutofit/>
          </a:bodyPr>
          <a:lstStyle/>
          <a:p>
            <a:pPr algn="l" indent="0" marL="0">
              <a:lnSpc>
                <a:spcPct val="105000"/>
              </a:lnSpc>
              <a:buNone/>
            </a:pPr>
            <a:r>
              <a:rPr lang="en-US" sz="1800" dirty="0">
                <a:solidFill>
                  <a:srgbClr val="B8BDC4"/>
                </a:solidFill>
                <a:latin typeface="IBM Plex Sans" pitchFamily="34" charset="0"/>
                <a:ea typeface="IBM Plex Sans" pitchFamily="34" charset="-122"/>
                <a:cs typeface="IBM Plex Sans" pitchFamily="34" charset="-120"/>
              </a:rPr>
              <a:t>Correct, approve or reject with full evidence</a:t>
            </a:r>
            <a:endParaRPr lang="en-US" sz="1800" dirty="0"/>
          </a:p>
        </p:txBody>
      </p:sp>
      <p:sp>
        <p:nvSpPr>
          <p:cNvPr id="25" name="Shape 23"/>
          <p:cNvSpPr/>
          <p:nvPr/>
        </p:nvSpPr>
        <p:spPr>
          <a:xfrm>
            <a:off x="13415963" y="4467225"/>
            <a:ext cx="4014788" cy="1762125"/>
          </a:xfrm>
          <a:prstGeom prst="rect">
            <a:avLst/>
          </a:prstGeom>
          <a:solidFill>
            <a:srgbClr val="FFFFFF"/>
          </a:solidFill>
          <a:ln w="9525">
            <a:solidFill>
              <a:srgbClr val="E0DCD3"/>
            </a:solidFill>
            <a:prstDash val="solid"/>
          </a:ln>
        </p:spPr>
      </p:sp>
      <p:sp>
        <p:nvSpPr>
          <p:cNvPr id="26" name="Text 24"/>
          <p:cNvSpPr/>
          <p:nvPr/>
        </p:nvSpPr>
        <p:spPr>
          <a:xfrm>
            <a:off x="13673138" y="4686300"/>
            <a:ext cx="385048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2F6B80"/>
                </a:solidFill>
                <a:latin typeface="IBM Plex Mono" pitchFamily="34" charset="0"/>
                <a:ea typeface="IBM Plex Mono" pitchFamily="34" charset="-122"/>
                <a:cs typeface="IBM Plex Mono" pitchFamily="34" charset="-120"/>
              </a:rPr>
              <a:t>8 · PUBLISH</a:t>
            </a:r>
            <a:endParaRPr lang="en-US" sz="1800" dirty="0"/>
          </a:p>
        </p:txBody>
      </p:sp>
      <p:sp>
        <p:nvSpPr>
          <p:cNvPr id="27" name="Text 25"/>
          <p:cNvSpPr/>
          <p:nvPr/>
        </p:nvSpPr>
        <p:spPr>
          <a:xfrm>
            <a:off x="13673138" y="5067300"/>
            <a:ext cx="3605451" cy="666750"/>
          </a:xfrm>
          <a:prstGeom prst="rect">
            <a:avLst/>
          </a:prstGeom>
          <a:noFill/>
          <a:ln/>
        </p:spPr>
        <p:txBody>
          <a:bodyPr wrap="square" lIns="25400" tIns="25400" rIns="25400" bIns="25400" rtlCol="0" anchor="t">
            <a:normAutofit/>
          </a:bodyPr>
          <a:lstStyle/>
          <a:p>
            <a:pPr algn="l" indent="0" marL="0">
              <a:lnSpc>
                <a:spcPct val="105000"/>
              </a:lnSpc>
              <a:buNone/>
            </a:pPr>
            <a:r>
              <a:rPr lang="en-US" sz="1800" dirty="0">
                <a:solidFill>
                  <a:srgbClr val="4D535B"/>
                </a:solidFill>
                <a:latin typeface="IBM Plex Sans" pitchFamily="34" charset="0"/>
                <a:ea typeface="IBM Plex Sans" pitchFamily="34" charset="-122"/>
                <a:cs typeface="IBM Plex Sans" pitchFamily="34" charset="-120"/>
              </a:rPr>
              <a:t>Fenced new graph version → Neptune (OpenSearch in Phase 1)</a:t>
            </a:r>
            <a:endParaRPr lang="en-US" sz="1800" dirty="0"/>
          </a:p>
        </p:txBody>
      </p:sp>
      <p:sp>
        <p:nvSpPr>
          <p:cNvPr id="28" name="Shape 26"/>
          <p:cNvSpPr/>
          <p:nvPr/>
        </p:nvSpPr>
        <p:spPr>
          <a:xfrm>
            <a:off x="857250" y="6515100"/>
            <a:ext cx="38100" cy="1790700"/>
          </a:xfrm>
          <a:prstGeom prst="rect">
            <a:avLst/>
          </a:prstGeom>
          <a:solidFill>
            <a:srgbClr val="A8551F"/>
          </a:solidFill>
          <a:ln/>
        </p:spPr>
      </p:sp>
      <p:sp>
        <p:nvSpPr>
          <p:cNvPr id="29" name="Text 27"/>
          <p:cNvSpPr/>
          <p:nvPr/>
        </p:nvSpPr>
        <p:spPr>
          <a:xfrm>
            <a:off x="1104900" y="6553200"/>
            <a:ext cx="5324856" cy="1752600"/>
          </a:xfrm>
          <a:prstGeom prst="rect">
            <a:avLst/>
          </a:prstGeom>
          <a:noFill/>
          <a:ln/>
        </p:spPr>
        <p:txBody>
          <a:bodyPr wrap="square" lIns="25400" tIns="25400" rIns="25400" bIns="25400" rtlCol="0" anchor="t">
            <a:normAutofit/>
          </a:bodyPr>
          <a:lstStyle/>
          <a:p>
            <a:pPr algn="l" indent="0" marL="0">
              <a:lnSpc>
                <a:spcPct val="112500"/>
              </a:lnSpc>
              <a:buNone/>
            </a:pPr>
            <a:r>
              <a:rPr lang="en-US" sz="1800" b="1" dirty="0">
                <a:solidFill>
                  <a:srgbClr val="191C20"/>
                </a:solidFill>
                <a:latin typeface="IBM Plex Sans" pitchFamily="34" charset="0"/>
                <a:ea typeface="IBM Plex Sans" pitchFamily="34" charset="-122"/>
                <a:cs typeface="IBM Plex Sans" pitchFamily="34" charset="-120"/>
              </a:rPr>
              <a:t>Classify branches </a:t>
            </a:r>
            <a:pPr algn="l" indent="0" marL="0">
              <a:lnSpc>
                <a:spcPct val="112500"/>
              </a:lnSpc>
              <a:buNone/>
            </a:pPr>
            <a:r>
              <a:rPr lang="en-US" sz="1800" dirty="0">
                <a:solidFill>
                  <a:srgbClr val="4D535B"/>
                </a:solidFill>
                <a:latin typeface="IBM Plex Sans" pitchFamily="34" charset="0"/>
                <a:ea typeface="IBM Plex Sans" pitchFamily="34" charset="-122"/>
                <a:cs typeface="IBM Plex Sans" pitchFamily="34" charset="-120"/>
              </a:rPr>
              <a:t>— library / infrastructure → resolve affected applications via dependency index · documentation → NO_LINEAGE_IMPACT · unknown → classification review</a:t>
            </a:r>
            <a:endParaRPr lang="en-US" sz="1800" dirty="0"/>
          </a:p>
        </p:txBody>
      </p:sp>
      <p:sp>
        <p:nvSpPr>
          <p:cNvPr id="30" name="Shape 28"/>
          <p:cNvSpPr/>
          <p:nvPr/>
        </p:nvSpPr>
        <p:spPr>
          <a:xfrm>
            <a:off x="6438900" y="6515100"/>
            <a:ext cx="38100" cy="1790700"/>
          </a:xfrm>
          <a:prstGeom prst="rect">
            <a:avLst/>
          </a:prstGeom>
          <a:solidFill>
            <a:srgbClr val="A8551F"/>
          </a:solidFill>
          <a:ln/>
        </p:spPr>
      </p:sp>
      <p:sp>
        <p:nvSpPr>
          <p:cNvPr id="31" name="Text 29"/>
          <p:cNvSpPr/>
          <p:nvPr/>
        </p:nvSpPr>
        <p:spPr>
          <a:xfrm>
            <a:off x="6686550" y="6553200"/>
            <a:ext cx="5324856" cy="1752600"/>
          </a:xfrm>
          <a:prstGeom prst="rect">
            <a:avLst/>
          </a:prstGeom>
          <a:noFill/>
          <a:ln/>
        </p:spPr>
        <p:txBody>
          <a:bodyPr wrap="square" lIns="25400" tIns="25400" rIns="25400" bIns="25400" rtlCol="0" anchor="t">
            <a:normAutofit/>
          </a:bodyPr>
          <a:lstStyle/>
          <a:p>
            <a:pPr algn="l" indent="0" marL="0">
              <a:lnSpc>
                <a:spcPct val="112500"/>
              </a:lnSpc>
              <a:buNone/>
            </a:pPr>
            <a:r>
              <a:rPr lang="en-US" sz="1800" b="1" dirty="0">
                <a:solidFill>
                  <a:srgbClr val="191C20"/>
                </a:solidFill>
                <a:latin typeface="IBM Plex Sans" pitchFamily="34" charset="0"/>
                <a:ea typeface="IBM Plex Sans" pitchFamily="34" charset="-122"/>
                <a:cs typeface="IBM Plex Sans" pitchFamily="34" charset="-120"/>
              </a:rPr>
              <a:t>Conditional lanes </a:t>
            </a:r>
            <a:pPr algn="l" indent="0" marL="0">
              <a:lnSpc>
                <a:spcPct val="112500"/>
              </a:lnSpc>
              <a:buNone/>
            </a:pPr>
            <a:r>
              <a:rPr lang="en-US" sz="1800" dirty="0">
                <a:solidFill>
                  <a:srgbClr val="4D535B"/>
                </a:solidFill>
                <a:latin typeface="IBM Plex Sans" pitchFamily="34" charset="0"/>
                <a:ea typeface="IBM Plex Sans" pitchFamily="34" charset="-122"/>
                <a:cs typeface="IBM Plex Sans" pitchFamily="34" charset="-120"/>
              </a:rPr>
              <a:t>— the LLM gateway runs only while named unresolved holes remain · integration-test sessions run only when the evidence plan requires them — Spark &amp; Dask native lineage streams on every job run</a:t>
            </a:r>
            <a:endParaRPr lang="en-US" sz="1800" dirty="0"/>
          </a:p>
        </p:txBody>
      </p:sp>
      <p:sp>
        <p:nvSpPr>
          <p:cNvPr id="32" name="Shape 30"/>
          <p:cNvSpPr/>
          <p:nvPr/>
        </p:nvSpPr>
        <p:spPr>
          <a:xfrm>
            <a:off x="12020550" y="6515100"/>
            <a:ext cx="38100" cy="1790700"/>
          </a:xfrm>
          <a:prstGeom prst="rect">
            <a:avLst/>
          </a:prstGeom>
          <a:solidFill>
            <a:srgbClr val="2F6B80"/>
          </a:solidFill>
          <a:ln/>
        </p:spPr>
      </p:sp>
      <p:sp>
        <p:nvSpPr>
          <p:cNvPr id="33" name="Text 31"/>
          <p:cNvSpPr/>
          <p:nvPr/>
        </p:nvSpPr>
        <p:spPr>
          <a:xfrm>
            <a:off x="12268200" y="6553200"/>
            <a:ext cx="5324856" cy="1752600"/>
          </a:xfrm>
          <a:prstGeom prst="rect">
            <a:avLst/>
          </a:prstGeom>
          <a:noFill/>
          <a:ln/>
        </p:spPr>
        <p:txBody>
          <a:bodyPr wrap="square" lIns="25400" tIns="25400" rIns="25400" bIns="25400" rtlCol="0" anchor="t">
            <a:normAutofit/>
          </a:bodyPr>
          <a:lstStyle/>
          <a:p>
            <a:pPr algn="l" indent="0" marL="0">
              <a:lnSpc>
                <a:spcPct val="112500"/>
              </a:lnSpc>
              <a:buNone/>
            </a:pPr>
            <a:r>
              <a:rPr lang="en-US" sz="1800" b="1" dirty="0">
                <a:solidFill>
                  <a:srgbClr val="191C20"/>
                </a:solidFill>
                <a:latin typeface="IBM Plex Sans" pitchFamily="34" charset="0"/>
                <a:ea typeface="IBM Plex Sans" pitchFamily="34" charset="-122"/>
                <a:cs typeface="IBM Plex Sans" pitchFamily="34" charset="-120"/>
              </a:rPr>
              <a:t>Review outcomes </a:t>
            </a:r>
            <a:pPr algn="l" indent="0" marL="0">
              <a:lnSpc>
                <a:spcPct val="112500"/>
              </a:lnSpc>
              <a:buNone/>
            </a:pPr>
            <a:r>
              <a:rPr lang="en-US" sz="1800" dirty="0">
                <a:solidFill>
                  <a:srgbClr val="4D535B"/>
                </a:solidFill>
                <a:latin typeface="IBM Plex Sans" pitchFamily="34" charset="0"/>
                <a:ea typeface="IBM Plex Sans" pitchFamily="34" charset="-122"/>
                <a:cs typeface="IBM Plex Sans" pitchFamily="34" charset="-120"/>
              </a:rPr>
              <a:t>— approved → publish · corrected → new immutable proposal version · rejected → retained with full audit, never published</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762000" y="342900"/>
            <a:ext cx="18440400" cy="361950"/>
          </a:xfrm>
          <a:prstGeom prst="rect">
            <a:avLst/>
          </a:prstGeom>
          <a:noFill/>
          <a:ln/>
        </p:spPr>
        <p:txBody>
          <a:bodyPr wrap="square" lIns="25400" tIns="25400" rIns="25400" bIns="25400" rtlCol="0" anchor="t">
            <a:normAutofit/>
          </a:bodyPr>
          <a:lstStyle/>
          <a:p>
            <a:pPr algn="l" indent="0" marL="0">
              <a:buNone/>
            </a:pPr>
            <a:r>
              <a:rPr lang="en-US" sz="1950" spc="312" kern="0" dirty="0">
                <a:solidFill>
                  <a:srgbClr val="4D535B"/>
                </a:solidFill>
                <a:latin typeface="IBM Plex Mono" pitchFamily="34" charset="0"/>
                <a:ea typeface="IBM Plex Mono" pitchFamily="34" charset="-122"/>
                <a:cs typeface="IBM Plex Mono" pitchFamily="34" charset="-120"/>
              </a:rPr>
              <a:t>07 · BASELINE · BUSINESS APPLICATION · QUEUE bulk · ALL EXTRACTION SERVICES → URN MERGE</a:t>
            </a:r>
            <a:endParaRPr lang="en-US" sz="1950" dirty="0"/>
          </a:p>
        </p:txBody>
      </p:sp>
      <p:sp>
        <p:nvSpPr>
          <p:cNvPr id="3" name="Text 1"/>
          <p:cNvSpPr/>
          <p:nvPr/>
        </p:nvSpPr>
        <p:spPr>
          <a:xfrm>
            <a:off x="762000" y="762000"/>
            <a:ext cx="18440400" cy="771525"/>
          </a:xfrm>
          <a:prstGeom prst="rect">
            <a:avLst/>
          </a:prstGeom>
          <a:noFill/>
          <a:ln/>
        </p:spPr>
        <p:txBody>
          <a:bodyPr wrap="square" lIns="25400" tIns="25400" rIns="25400" bIns="25400" rtlCol="0" anchor="t">
            <a:normAutofit/>
          </a:bodyPr>
          <a:lstStyle/>
          <a:p>
            <a:pPr algn="l" indent="0" marL="0">
              <a:buNone/>
            </a:pPr>
            <a:r>
              <a:rPr lang="en-US" sz="4500" b="1" dirty="0">
                <a:solidFill>
                  <a:srgbClr val="191C20"/>
                </a:solidFill>
                <a:latin typeface="IBM Plex Sans" pitchFamily="34" charset="0"/>
                <a:ea typeface="IBM Plex Sans" pitchFamily="34" charset="-122"/>
                <a:cs typeface="IBM Plex Sans" pitchFamily="34" charset="-120"/>
              </a:rPr>
              <a:t>Baseline Collection Flow</a:t>
            </a:r>
            <a:endParaRPr lang="en-US" sz="4500" dirty="0"/>
          </a:p>
        </p:txBody>
      </p:sp>
      <p:sp>
        <p:nvSpPr>
          <p:cNvPr id="4" name="Shape 2"/>
          <p:cNvSpPr/>
          <p:nvPr/>
        </p:nvSpPr>
        <p:spPr>
          <a:xfrm>
            <a:off x="762000" y="1685925"/>
            <a:ext cx="3948112" cy="1504950"/>
          </a:xfrm>
          <a:prstGeom prst="rect">
            <a:avLst/>
          </a:prstGeom>
          <a:solidFill>
            <a:srgbClr val="FFFFFF"/>
          </a:solidFill>
          <a:ln w="9525">
            <a:solidFill>
              <a:srgbClr val="E0DCD3"/>
            </a:solidFill>
            <a:prstDash val="solid"/>
          </a:ln>
        </p:spPr>
      </p:sp>
      <p:pic>
        <p:nvPicPr>
          <p:cNvPr id="5" name="Image 0" descr="preencoded.png">    </p:cNvPr>
          <p:cNvPicPr>
            <a:picLocks noChangeAspect="1"/>
          </p:cNvPicPr>
          <p:nvPr/>
        </p:nvPicPr>
        <p:blipFill>
          <a:blip r:embed="rId1"/>
          <a:stretch>
            <a:fillRect/>
          </a:stretch>
        </p:blipFill>
        <p:spPr>
          <a:xfrm>
            <a:off x="923925" y="1828800"/>
            <a:ext cx="342900" cy="342900"/>
          </a:xfrm>
          <a:prstGeom prst="rect">
            <a:avLst/>
          </a:prstGeom>
        </p:spPr>
      </p:pic>
      <p:sp>
        <p:nvSpPr>
          <p:cNvPr id="6" name="Text 3"/>
          <p:cNvSpPr/>
          <p:nvPr/>
        </p:nvSpPr>
        <p:spPr>
          <a:xfrm>
            <a:off x="1362075" y="1847850"/>
            <a:ext cx="2134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A8551F"/>
                </a:solidFill>
                <a:latin typeface="IBM Plex Mono" pitchFamily="34" charset="0"/>
                <a:ea typeface="IBM Plex Mono" pitchFamily="34" charset="-122"/>
                <a:cs typeface="IBM Plex Mono" pitchFamily="34" charset="-120"/>
              </a:rPr>
              <a:t>1</a:t>
            </a:r>
            <a:endParaRPr lang="en-US" sz="1800" dirty="0"/>
          </a:p>
        </p:txBody>
      </p:sp>
      <p:sp>
        <p:nvSpPr>
          <p:cNvPr id="7" name="Text 4"/>
          <p:cNvSpPr/>
          <p:nvPr/>
        </p:nvSpPr>
        <p:spPr>
          <a:xfrm>
            <a:off x="923925" y="2228850"/>
            <a:ext cx="3986689" cy="323850"/>
          </a:xfrm>
          <a:prstGeom prst="rect">
            <a:avLst/>
          </a:prstGeom>
          <a:noFill/>
          <a:ln/>
        </p:spPr>
        <p:txBody>
          <a:bodyPr wrap="square" lIns="25400" tIns="25400" rIns="25400" bIns="25400" rtlCol="0" anchor="t">
            <a:normAutofit/>
          </a:bodyPr>
          <a:lstStyle/>
          <a:p>
            <a:pPr algn="l" indent="0" marL="0">
              <a:lnSpc>
                <a:spcPct val="93750"/>
              </a:lnSpc>
              <a:buNone/>
            </a:pPr>
            <a:r>
              <a:rPr lang="en-US" sz="1800" b="1" dirty="0">
                <a:solidFill>
                  <a:srgbClr val="191C20"/>
                </a:solidFill>
                <a:latin typeface="IBM Plex Sans" pitchFamily="34" charset="0"/>
                <a:ea typeface="IBM Plex Sans" pitchFamily="34" charset="-122"/>
                <a:cs typeface="IBM Plex Sans" pitchFamily="34" charset="-120"/>
              </a:rPr>
              <a:t>Onboarding trigger</a:t>
            </a:r>
            <a:endParaRPr lang="en-US" sz="1800" dirty="0"/>
          </a:p>
        </p:txBody>
      </p:sp>
      <p:sp>
        <p:nvSpPr>
          <p:cNvPr id="8" name="Text 5"/>
          <p:cNvSpPr/>
          <p:nvPr/>
        </p:nvSpPr>
        <p:spPr>
          <a:xfrm>
            <a:off x="923925" y="2571750"/>
            <a:ext cx="3732990" cy="514350"/>
          </a:xfrm>
          <a:prstGeom prst="rect">
            <a:avLst/>
          </a:prstGeom>
          <a:noFill/>
          <a:ln/>
        </p:spPr>
        <p:txBody>
          <a:bodyPr wrap="square" lIns="25400" tIns="25400" rIns="25400" bIns="25400" rtlCol="0" anchor="t">
            <a:normAutofit/>
          </a:bodyPr>
          <a:lstStyle/>
          <a:p>
            <a:pPr algn="l" indent="0" marL="0">
              <a:lnSpc>
                <a:spcPct val="106875"/>
              </a:lnSpc>
              <a:buNone/>
            </a:pPr>
            <a:r>
              <a:rPr lang="en-US" sz="1425" dirty="0">
                <a:solidFill>
                  <a:srgbClr val="4D535B"/>
                </a:solidFill>
                <a:latin typeface="IBM Plex Sans" pitchFamily="34" charset="0"/>
                <a:ea typeface="IBM Plex Sans" pitchFamily="34" charset="-122"/>
                <a:cs typeface="IBM Plex Sans" pitchFamily="34" charset="-120"/>
              </a:rPr>
              <a:t>onboarding.registered · inventory delta · queue bulk</a:t>
            </a:r>
            <a:endParaRPr lang="en-US" sz="1425" dirty="0"/>
          </a:p>
        </p:txBody>
      </p:sp>
      <p:sp>
        <p:nvSpPr>
          <p:cNvPr id="9" name="Text 6"/>
          <p:cNvSpPr/>
          <p:nvPr/>
        </p:nvSpPr>
        <p:spPr>
          <a:xfrm>
            <a:off x="4672013" y="1685925"/>
            <a:ext cx="400050" cy="1543050"/>
          </a:xfrm>
          <a:prstGeom prst="rect">
            <a:avLst/>
          </a:prstGeom>
          <a:noFill/>
          <a:ln/>
        </p:spPr>
        <p:txBody>
          <a:bodyPr wrap="square" lIns="25400" tIns="25400" rIns="25400" bIns="25400" rtlCol="0" anchor="ctr">
            <a:normAutofit/>
          </a:bodyPr>
          <a:lstStyle/>
          <a:p>
            <a:pPr algn="ctr" indent="0" marL="0">
              <a:buNone/>
            </a:pPr>
            <a:r>
              <a:rPr lang="en-US" sz="2250" dirty="0">
                <a:solidFill>
                  <a:srgbClr val="9AA0A8"/>
                </a:solidFill>
                <a:latin typeface="IBM Plex Sans" pitchFamily="34" charset="0"/>
                <a:ea typeface="IBM Plex Sans" pitchFamily="34" charset="-122"/>
                <a:cs typeface="IBM Plex Sans" pitchFamily="34" charset="-120"/>
              </a:rPr>
              <a:t>→</a:t>
            </a:r>
            <a:endParaRPr lang="en-US" sz="2250" dirty="0"/>
          </a:p>
        </p:txBody>
      </p:sp>
      <p:sp>
        <p:nvSpPr>
          <p:cNvPr id="10" name="Shape 7"/>
          <p:cNvSpPr/>
          <p:nvPr/>
        </p:nvSpPr>
        <p:spPr>
          <a:xfrm>
            <a:off x="5033963" y="1685925"/>
            <a:ext cx="3948112" cy="1504950"/>
          </a:xfrm>
          <a:prstGeom prst="rect">
            <a:avLst/>
          </a:prstGeom>
          <a:solidFill>
            <a:srgbClr val="FFFFFF"/>
          </a:solidFill>
          <a:ln w="9525">
            <a:solidFill>
              <a:srgbClr val="E0DCD3"/>
            </a:solidFill>
            <a:prstDash val="solid"/>
          </a:ln>
        </p:spPr>
      </p:sp>
      <p:pic>
        <p:nvPicPr>
          <p:cNvPr id="11" name="Image 1" descr="preencoded.png">    </p:cNvPr>
          <p:cNvPicPr>
            <a:picLocks noChangeAspect="1"/>
          </p:cNvPicPr>
          <p:nvPr/>
        </p:nvPicPr>
        <p:blipFill>
          <a:blip r:embed="rId2"/>
          <a:stretch>
            <a:fillRect/>
          </a:stretch>
        </p:blipFill>
        <p:spPr>
          <a:xfrm>
            <a:off x="5195888" y="1828800"/>
            <a:ext cx="342900" cy="342900"/>
          </a:xfrm>
          <a:prstGeom prst="rect">
            <a:avLst/>
          </a:prstGeom>
        </p:spPr>
      </p:pic>
      <p:sp>
        <p:nvSpPr>
          <p:cNvPr id="12" name="Text 8"/>
          <p:cNvSpPr/>
          <p:nvPr/>
        </p:nvSpPr>
        <p:spPr>
          <a:xfrm>
            <a:off x="5634038" y="1847850"/>
            <a:ext cx="2134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A8551F"/>
                </a:solidFill>
                <a:latin typeface="IBM Plex Mono" pitchFamily="34" charset="0"/>
                <a:ea typeface="IBM Plex Mono" pitchFamily="34" charset="-122"/>
                <a:cs typeface="IBM Plex Mono" pitchFamily="34" charset="-120"/>
              </a:rPr>
              <a:t>2</a:t>
            </a:r>
            <a:endParaRPr lang="en-US" sz="1800" dirty="0"/>
          </a:p>
        </p:txBody>
      </p:sp>
      <p:sp>
        <p:nvSpPr>
          <p:cNvPr id="13" name="Text 9"/>
          <p:cNvSpPr/>
          <p:nvPr/>
        </p:nvSpPr>
        <p:spPr>
          <a:xfrm>
            <a:off x="5195888" y="2228850"/>
            <a:ext cx="3986689" cy="323850"/>
          </a:xfrm>
          <a:prstGeom prst="rect">
            <a:avLst/>
          </a:prstGeom>
          <a:noFill/>
          <a:ln/>
        </p:spPr>
        <p:txBody>
          <a:bodyPr wrap="square" lIns="25400" tIns="25400" rIns="25400" bIns="25400" rtlCol="0" anchor="t">
            <a:normAutofit/>
          </a:bodyPr>
          <a:lstStyle/>
          <a:p>
            <a:pPr algn="l" indent="0" marL="0">
              <a:lnSpc>
                <a:spcPct val="93750"/>
              </a:lnSpc>
              <a:buNone/>
            </a:pPr>
            <a:r>
              <a:rPr lang="en-US" sz="1800" b="1" dirty="0">
                <a:solidFill>
                  <a:srgbClr val="191C20"/>
                </a:solidFill>
                <a:latin typeface="IBM Plex Sans" pitchFamily="34" charset="0"/>
                <a:ea typeface="IBM Plex Sans" pitchFamily="34" charset="-122"/>
                <a:cs typeface="IBM Plex Sans" pitchFamily="34" charset="-120"/>
              </a:rPr>
              <a:t>Resolve member repos</a:t>
            </a:r>
            <a:endParaRPr lang="en-US" sz="1800" dirty="0"/>
          </a:p>
        </p:txBody>
      </p:sp>
      <p:sp>
        <p:nvSpPr>
          <p:cNvPr id="14" name="Text 10"/>
          <p:cNvSpPr/>
          <p:nvPr/>
        </p:nvSpPr>
        <p:spPr>
          <a:xfrm>
            <a:off x="5195888" y="2571750"/>
            <a:ext cx="3986689" cy="276225"/>
          </a:xfrm>
          <a:prstGeom prst="rect">
            <a:avLst/>
          </a:prstGeom>
          <a:noFill/>
          <a:ln/>
        </p:spPr>
        <p:txBody>
          <a:bodyPr wrap="square" lIns="25400" tIns="25400" rIns="25400" bIns="25400" rtlCol="0" anchor="t">
            <a:normAutofit/>
          </a:bodyPr>
          <a:lstStyle/>
          <a:p>
            <a:pPr algn="l" indent="0" marL="0">
              <a:lnSpc>
                <a:spcPct val="106875"/>
              </a:lnSpc>
              <a:buNone/>
            </a:pPr>
            <a:r>
              <a:rPr lang="en-US" sz="1425" dirty="0">
                <a:solidFill>
                  <a:srgbClr val="4D535B"/>
                </a:solidFill>
                <a:latin typeface="IBM Plex Sans" pitchFamily="34" charset="0"/>
                <a:ea typeface="IBM Plex Sans" pitchFamily="34" charset="-122"/>
                <a:cs typeface="IBM Plex Sans" pitchFamily="34" charset="-120"/>
              </a:rPr>
              <a:t>governed catalog ∩ TAS active set</a:t>
            </a:r>
            <a:endParaRPr lang="en-US" sz="1425" dirty="0"/>
          </a:p>
        </p:txBody>
      </p:sp>
      <p:sp>
        <p:nvSpPr>
          <p:cNvPr id="15" name="Text 11"/>
          <p:cNvSpPr/>
          <p:nvPr/>
        </p:nvSpPr>
        <p:spPr>
          <a:xfrm>
            <a:off x="8943975" y="1685925"/>
            <a:ext cx="400050" cy="1543050"/>
          </a:xfrm>
          <a:prstGeom prst="rect">
            <a:avLst/>
          </a:prstGeom>
          <a:noFill/>
          <a:ln/>
        </p:spPr>
        <p:txBody>
          <a:bodyPr wrap="square" lIns="25400" tIns="25400" rIns="25400" bIns="25400" rtlCol="0" anchor="ctr">
            <a:normAutofit/>
          </a:bodyPr>
          <a:lstStyle/>
          <a:p>
            <a:pPr algn="ctr" indent="0" marL="0">
              <a:buNone/>
            </a:pPr>
            <a:r>
              <a:rPr lang="en-US" sz="2250" dirty="0">
                <a:solidFill>
                  <a:srgbClr val="9AA0A8"/>
                </a:solidFill>
                <a:latin typeface="IBM Plex Sans" pitchFamily="34" charset="0"/>
                <a:ea typeface="IBM Plex Sans" pitchFamily="34" charset="-122"/>
                <a:cs typeface="IBM Plex Sans" pitchFamily="34" charset="-120"/>
              </a:rPr>
              <a:t>→</a:t>
            </a:r>
            <a:endParaRPr lang="en-US" sz="2250" dirty="0"/>
          </a:p>
        </p:txBody>
      </p:sp>
      <p:sp>
        <p:nvSpPr>
          <p:cNvPr id="16" name="Shape 12"/>
          <p:cNvSpPr/>
          <p:nvPr/>
        </p:nvSpPr>
        <p:spPr>
          <a:xfrm>
            <a:off x="9305925" y="1685925"/>
            <a:ext cx="3948112" cy="1504950"/>
          </a:xfrm>
          <a:prstGeom prst="rect">
            <a:avLst/>
          </a:prstGeom>
          <a:solidFill>
            <a:srgbClr val="FFFFFF"/>
          </a:solidFill>
          <a:ln w="9525">
            <a:solidFill>
              <a:srgbClr val="E0DCD3"/>
            </a:solidFill>
            <a:prstDash val="solid"/>
          </a:ln>
        </p:spPr>
      </p:sp>
      <p:pic>
        <p:nvPicPr>
          <p:cNvPr id="17" name="Image 2" descr="preencoded.png">    </p:cNvPr>
          <p:cNvPicPr>
            <a:picLocks noChangeAspect="1"/>
          </p:cNvPicPr>
          <p:nvPr/>
        </p:nvPicPr>
        <p:blipFill>
          <a:blip r:embed="rId3"/>
          <a:stretch>
            <a:fillRect/>
          </a:stretch>
        </p:blipFill>
        <p:spPr>
          <a:xfrm>
            <a:off x="9467850" y="1828800"/>
            <a:ext cx="342900" cy="342900"/>
          </a:xfrm>
          <a:prstGeom prst="rect">
            <a:avLst/>
          </a:prstGeom>
        </p:spPr>
      </p:pic>
      <p:sp>
        <p:nvSpPr>
          <p:cNvPr id="18" name="Text 13"/>
          <p:cNvSpPr/>
          <p:nvPr/>
        </p:nvSpPr>
        <p:spPr>
          <a:xfrm>
            <a:off x="9906000" y="1847850"/>
            <a:ext cx="2134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A8551F"/>
                </a:solidFill>
                <a:latin typeface="IBM Plex Mono" pitchFamily="34" charset="0"/>
                <a:ea typeface="IBM Plex Mono" pitchFamily="34" charset="-122"/>
                <a:cs typeface="IBM Plex Mono" pitchFamily="34" charset="-120"/>
              </a:rPr>
              <a:t>3</a:t>
            </a:r>
            <a:endParaRPr lang="en-US" sz="1800" dirty="0"/>
          </a:p>
        </p:txBody>
      </p:sp>
      <p:sp>
        <p:nvSpPr>
          <p:cNvPr id="19" name="Text 14"/>
          <p:cNvSpPr/>
          <p:nvPr/>
        </p:nvSpPr>
        <p:spPr>
          <a:xfrm>
            <a:off x="9467850" y="2228850"/>
            <a:ext cx="3986689" cy="323850"/>
          </a:xfrm>
          <a:prstGeom prst="rect">
            <a:avLst/>
          </a:prstGeom>
          <a:noFill/>
          <a:ln/>
        </p:spPr>
        <p:txBody>
          <a:bodyPr wrap="square" lIns="25400" tIns="25400" rIns="25400" bIns="25400" rtlCol="0" anchor="t">
            <a:normAutofit/>
          </a:bodyPr>
          <a:lstStyle/>
          <a:p>
            <a:pPr algn="l" indent="0" marL="0">
              <a:lnSpc>
                <a:spcPct val="93750"/>
              </a:lnSpc>
              <a:buNone/>
            </a:pPr>
            <a:r>
              <a:rPr lang="en-US" sz="1800" b="1" dirty="0">
                <a:solidFill>
                  <a:srgbClr val="191C20"/>
                </a:solidFill>
                <a:latin typeface="IBM Plex Sans" pitchFamily="34" charset="0"/>
                <a:ea typeface="IBM Plex Sans" pitchFamily="34" charset="-122"/>
                <a:cs typeface="IBM Plex Sans" pitchFamily="34" charset="-120"/>
              </a:rPr>
              <a:t>Enrich context</a:t>
            </a:r>
            <a:endParaRPr lang="en-US" sz="1800" dirty="0"/>
          </a:p>
        </p:txBody>
      </p:sp>
      <p:sp>
        <p:nvSpPr>
          <p:cNvPr id="20" name="Text 15"/>
          <p:cNvSpPr/>
          <p:nvPr/>
        </p:nvSpPr>
        <p:spPr>
          <a:xfrm>
            <a:off x="9467850" y="2571750"/>
            <a:ext cx="3732990" cy="514350"/>
          </a:xfrm>
          <a:prstGeom prst="rect">
            <a:avLst/>
          </a:prstGeom>
          <a:noFill/>
          <a:ln/>
        </p:spPr>
        <p:txBody>
          <a:bodyPr wrap="square" lIns="25400" tIns="25400" rIns="25400" bIns="25400" rtlCol="0" anchor="t">
            <a:normAutofit/>
          </a:bodyPr>
          <a:lstStyle/>
          <a:p>
            <a:pPr algn="l" indent="0" marL="0">
              <a:lnSpc>
                <a:spcPct val="106875"/>
              </a:lnSpc>
              <a:buNone/>
            </a:pPr>
            <a:r>
              <a:rPr lang="en-US" sz="1425" dirty="0">
                <a:solidFill>
                  <a:srgbClr val="4D535B"/>
                </a:solidFill>
                <a:latin typeface="IBM Plex Sans" pitchFamily="34" charset="0"/>
                <a:ea typeface="IBM Plex Sans" pitchFamily="34" charset="-122"/>
                <a:cs typeface="IBM Plex Sans" pitchFamily="34" charset="-120"/>
              </a:rPr>
              <a:t>deploy digests · schemas · CloudWatch context</a:t>
            </a:r>
            <a:endParaRPr lang="en-US" sz="1425" dirty="0"/>
          </a:p>
        </p:txBody>
      </p:sp>
      <p:sp>
        <p:nvSpPr>
          <p:cNvPr id="21" name="Text 16"/>
          <p:cNvSpPr/>
          <p:nvPr/>
        </p:nvSpPr>
        <p:spPr>
          <a:xfrm>
            <a:off x="13215938" y="1685925"/>
            <a:ext cx="400050" cy="1543050"/>
          </a:xfrm>
          <a:prstGeom prst="rect">
            <a:avLst/>
          </a:prstGeom>
          <a:noFill/>
          <a:ln/>
        </p:spPr>
        <p:txBody>
          <a:bodyPr wrap="square" lIns="25400" tIns="25400" rIns="25400" bIns="25400" rtlCol="0" anchor="ctr">
            <a:normAutofit/>
          </a:bodyPr>
          <a:lstStyle/>
          <a:p>
            <a:pPr algn="ctr" indent="0" marL="0">
              <a:buNone/>
            </a:pPr>
            <a:r>
              <a:rPr lang="en-US" sz="2250" dirty="0">
                <a:solidFill>
                  <a:srgbClr val="9AA0A8"/>
                </a:solidFill>
                <a:latin typeface="IBM Plex Sans" pitchFamily="34" charset="0"/>
                <a:ea typeface="IBM Plex Sans" pitchFamily="34" charset="-122"/>
                <a:cs typeface="IBM Plex Sans" pitchFamily="34" charset="-120"/>
              </a:rPr>
              <a:t>→</a:t>
            </a:r>
            <a:endParaRPr lang="en-US" sz="2250" dirty="0"/>
          </a:p>
        </p:txBody>
      </p:sp>
      <p:sp>
        <p:nvSpPr>
          <p:cNvPr id="22" name="Shape 17"/>
          <p:cNvSpPr/>
          <p:nvPr/>
        </p:nvSpPr>
        <p:spPr>
          <a:xfrm>
            <a:off x="13577888" y="1685925"/>
            <a:ext cx="3948112" cy="1504950"/>
          </a:xfrm>
          <a:prstGeom prst="rect">
            <a:avLst/>
          </a:prstGeom>
          <a:solidFill>
            <a:srgbClr val="FFFFFF"/>
          </a:solidFill>
          <a:ln w="9525">
            <a:solidFill>
              <a:srgbClr val="E0DCD3"/>
            </a:solidFill>
            <a:prstDash val="solid"/>
          </a:ln>
        </p:spPr>
      </p:sp>
      <p:pic>
        <p:nvPicPr>
          <p:cNvPr id="23" name="Image 3" descr="preencoded.png">    </p:cNvPr>
          <p:cNvPicPr>
            <a:picLocks noChangeAspect="1"/>
          </p:cNvPicPr>
          <p:nvPr/>
        </p:nvPicPr>
        <p:blipFill>
          <a:blip r:embed="rId4"/>
          <a:stretch>
            <a:fillRect/>
          </a:stretch>
        </p:blipFill>
        <p:spPr>
          <a:xfrm>
            <a:off x="13739813" y="1828800"/>
            <a:ext cx="342900" cy="342900"/>
          </a:xfrm>
          <a:prstGeom prst="rect">
            <a:avLst/>
          </a:prstGeom>
        </p:spPr>
      </p:pic>
      <p:sp>
        <p:nvSpPr>
          <p:cNvPr id="24" name="Text 18"/>
          <p:cNvSpPr/>
          <p:nvPr/>
        </p:nvSpPr>
        <p:spPr>
          <a:xfrm>
            <a:off x="14177963" y="1847850"/>
            <a:ext cx="2134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A8551F"/>
                </a:solidFill>
                <a:latin typeface="IBM Plex Mono" pitchFamily="34" charset="0"/>
                <a:ea typeface="IBM Plex Mono" pitchFamily="34" charset="-122"/>
                <a:cs typeface="IBM Plex Mono" pitchFamily="34" charset="-120"/>
              </a:rPr>
              <a:t>4</a:t>
            </a:r>
            <a:endParaRPr lang="en-US" sz="1800" dirty="0"/>
          </a:p>
        </p:txBody>
      </p:sp>
      <p:sp>
        <p:nvSpPr>
          <p:cNvPr id="25" name="Text 19"/>
          <p:cNvSpPr/>
          <p:nvPr/>
        </p:nvSpPr>
        <p:spPr>
          <a:xfrm>
            <a:off x="13739813" y="2228850"/>
            <a:ext cx="3986689" cy="323850"/>
          </a:xfrm>
          <a:prstGeom prst="rect">
            <a:avLst/>
          </a:prstGeom>
          <a:noFill/>
          <a:ln/>
        </p:spPr>
        <p:txBody>
          <a:bodyPr wrap="square" lIns="25400" tIns="25400" rIns="25400" bIns="25400" rtlCol="0" anchor="t">
            <a:normAutofit/>
          </a:bodyPr>
          <a:lstStyle/>
          <a:p>
            <a:pPr algn="l" indent="0" marL="0">
              <a:lnSpc>
                <a:spcPct val="93750"/>
              </a:lnSpc>
              <a:buNone/>
            </a:pPr>
            <a:r>
              <a:rPr lang="en-US" sz="1800" b="1" dirty="0">
                <a:solidFill>
                  <a:srgbClr val="191C20"/>
                </a:solidFill>
                <a:latin typeface="IBM Plex Sans" pitchFamily="34" charset="0"/>
                <a:ea typeface="IBM Plex Sans" pitchFamily="34" charset="-122"/>
                <a:cs typeface="IBM Plex Sans" pitchFamily="34" charset="-120"/>
              </a:rPr>
              <a:t>Classify every repo</a:t>
            </a:r>
            <a:endParaRPr lang="en-US" sz="1800" dirty="0"/>
          </a:p>
        </p:txBody>
      </p:sp>
      <p:sp>
        <p:nvSpPr>
          <p:cNvPr id="26" name="Text 20"/>
          <p:cNvSpPr/>
          <p:nvPr/>
        </p:nvSpPr>
        <p:spPr>
          <a:xfrm>
            <a:off x="13739813" y="2571750"/>
            <a:ext cx="3986689" cy="276225"/>
          </a:xfrm>
          <a:prstGeom prst="rect">
            <a:avLst/>
          </a:prstGeom>
          <a:noFill/>
          <a:ln/>
        </p:spPr>
        <p:txBody>
          <a:bodyPr wrap="square" lIns="25400" tIns="25400" rIns="25400" bIns="25400" rtlCol="0" anchor="t">
            <a:normAutofit/>
          </a:bodyPr>
          <a:lstStyle/>
          <a:p>
            <a:pPr algn="l" indent="0" marL="0">
              <a:lnSpc>
                <a:spcPct val="106875"/>
              </a:lnSpc>
              <a:buNone/>
            </a:pPr>
            <a:r>
              <a:rPr lang="en-US" sz="1425" dirty="0">
                <a:solidFill>
                  <a:srgbClr val="4D535B"/>
                </a:solidFill>
                <a:latin typeface="IBM Plex Sans" pitchFamily="34" charset="0"/>
                <a:ea typeface="IBM Plex Sans" pitchFamily="34" charset="-122"/>
                <a:cs typeface="IBM Plex Sans" pitchFamily="34" charset="-120"/>
              </a:rPr>
              <a:t>eligibility from DDB — before any checkout</a:t>
            </a:r>
            <a:endParaRPr lang="en-US" sz="1425" dirty="0"/>
          </a:p>
        </p:txBody>
      </p:sp>
      <p:sp>
        <p:nvSpPr>
          <p:cNvPr id="27" name="Text 21"/>
          <p:cNvSpPr/>
          <p:nvPr/>
        </p:nvSpPr>
        <p:spPr>
          <a:xfrm>
            <a:off x="-857250" y="3286125"/>
            <a:ext cx="17811750" cy="323850"/>
          </a:xfrm>
          <a:prstGeom prst="rect">
            <a:avLst/>
          </a:prstGeom>
          <a:noFill/>
          <a:ln/>
        </p:spPr>
        <p:txBody>
          <a:bodyPr wrap="square" lIns="25400" tIns="25400" rIns="25400" bIns="25400" rtlCol="0" anchor="t">
            <a:normAutofit/>
          </a:bodyPr>
          <a:lstStyle/>
          <a:p>
            <a:pPr algn="r" indent="0" marL="0">
              <a:lnSpc>
                <a:spcPct val="76923"/>
              </a:lnSpc>
              <a:buNone/>
            </a:pPr>
            <a:r>
              <a:rPr lang="en-US" sz="2250" dirty="0">
                <a:solidFill>
                  <a:srgbClr val="9AA0A8"/>
                </a:solidFill>
                <a:latin typeface="IBM Plex Sans" pitchFamily="34" charset="0"/>
                <a:ea typeface="IBM Plex Sans" pitchFamily="34" charset="-122"/>
                <a:cs typeface="IBM Plex Sans" pitchFamily="34" charset="-120"/>
              </a:rPr>
              <a:t>↓</a:t>
            </a:r>
            <a:endParaRPr lang="en-US" sz="2250" dirty="0"/>
          </a:p>
        </p:txBody>
      </p:sp>
      <p:sp>
        <p:nvSpPr>
          <p:cNvPr id="28" name="Shape 22"/>
          <p:cNvSpPr/>
          <p:nvPr/>
        </p:nvSpPr>
        <p:spPr>
          <a:xfrm>
            <a:off x="762000" y="3667125"/>
            <a:ext cx="3967163" cy="2247900"/>
          </a:xfrm>
          <a:prstGeom prst="rect">
            <a:avLst/>
          </a:prstGeom>
          <a:solidFill>
            <a:srgbClr val="FFFFFF"/>
          </a:solidFill>
          <a:ln w="19050">
            <a:solidFill>
              <a:srgbClr val="A8551F"/>
            </a:solidFill>
            <a:prstDash val="solid"/>
          </a:ln>
        </p:spPr>
      </p:sp>
      <p:pic>
        <p:nvPicPr>
          <p:cNvPr id="29" name="Image 4" descr="preencoded.png">    </p:cNvPr>
          <p:cNvPicPr>
            <a:picLocks noChangeAspect="1"/>
          </p:cNvPicPr>
          <p:nvPr/>
        </p:nvPicPr>
        <p:blipFill>
          <a:blip r:embed="rId5"/>
          <a:stretch>
            <a:fillRect/>
          </a:stretch>
        </p:blipFill>
        <p:spPr>
          <a:xfrm>
            <a:off x="933450" y="3819525"/>
            <a:ext cx="342900" cy="342900"/>
          </a:xfrm>
          <a:prstGeom prst="rect">
            <a:avLst/>
          </a:prstGeom>
        </p:spPr>
      </p:pic>
      <p:sp>
        <p:nvSpPr>
          <p:cNvPr id="30" name="Text 23"/>
          <p:cNvSpPr/>
          <p:nvPr/>
        </p:nvSpPr>
        <p:spPr>
          <a:xfrm>
            <a:off x="1371600" y="3838575"/>
            <a:ext cx="2134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A8551F"/>
                </a:solidFill>
                <a:latin typeface="IBM Plex Mono" pitchFamily="34" charset="0"/>
                <a:ea typeface="IBM Plex Mono" pitchFamily="34" charset="-122"/>
                <a:cs typeface="IBM Plex Mono" pitchFamily="34" charset="-120"/>
              </a:rPr>
              <a:t>5</a:t>
            </a:r>
            <a:endParaRPr lang="en-US" sz="1800" dirty="0"/>
          </a:p>
        </p:txBody>
      </p:sp>
      <p:sp>
        <p:nvSpPr>
          <p:cNvPr id="31" name="Text 24"/>
          <p:cNvSpPr/>
          <p:nvPr/>
        </p:nvSpPr>
        <p:spPr>
          <a:xfrm>
            <a:off x="933450" y="4219575"/>
            <a:ext cx="3986689" cy="323850"/>
          </a:xfrm>
          <a:prstGeom prst="rect">
            <a:avLst/>
          </a:prstGeom>
          <a:noFill/>
          <a:ln/>
        </p:spPr>
        <p:txBody>
          <a:bodyPr wrap="square" lIns="25400" tIns="25400" rIns="25400" bIns="25400" rtlCol="0" anchor="t">
            <a:normAutofit/>
          </a:bodyPr>
          <a:lstStyle/>
          <a:p>
            <a:pPr algn="l" indent="0" marL="0">
              <a:lnSpc>
                <a:spcPct val="93750"/>
              </a:lnSpc>
              <a:buNone/>
            </a:pPr>
            <a:r>
              <a:rPr lang="en-US" sz="1800" b="1" dirty="0">
                <a:solidFill>
                  <a:srgbClr val="191C20"/>
                </a:solidFill>
                <a:latin typeface="IBM Plex Sans" pitchFamily="34" charset="0"/>
                <a:ea typeface="IBM Plex Sans" pitchFamily="34" charset="-122"/>
                <a:cs typeface="IBM Plex Sans" pitchFamily="34" charset="-120"/>
              </a:rPr>
              <a:t>Distributed Map</a:t>
            </a:r>
            <a:endParaRPr lang="en-US" sz="1800" dirty="0"/>
          </a:p>
        </p:txBody>
      </p:sp>
      <p:sp>
        <p:nvSpPr>
          <p:cNvPr id="32" name="Text 25"/>
          <p:cNvSpPr/>
          <p:nvPr/>
        </p:nvSpPr>
        <p:spPr>
          <a:xfrm>
            <a:off x="933450" y="4562475"/>
            <a:ext cx="3732990" cy="514350"/>
          </a:xfrm>
          <a:prstGeom prst="rect">
            <a:avLst/>
          </a:prstGeom>
          <a:noFill/>
          <a:ln/>
        </p:spPr>
        <p:txBody>
          <a:bodyPr wrap="square" lIns="25400" tIns="25400" rIns="25400" bIns="25400" rtlCol="0" anchor="t">
            <a:normAutofit/>
          </a:bodyPr>
          <a:lstStyle/>
          <a:p>
            <a:pPr algn="l" indent="0" marL="0">
              <a:lnSpc>
                <a:spcPct val="106875"/>
              </a:lnSpc>
              <a:buNone/>
            </a:pPr>
            <a:r>
              <a:rPr lang="en-US" sz="1425" dirty="0">
                <a:solidFill>
                  <a:srgbClr val="4D535B"/>
                </a:solidFill>
                <a:latin typeface="IBM Plex Sans" pitchFamily="34" charset="0"/>
                <a:ea typeface="IBM Plex Sans" pitchFamily="34" charset="-122"/>
                <a:cs typeface="IBM Plex Sans" pitchFamily="34" charset="-120"/>
              </a:rPr>
              <a:t>one branch per repo · capped ≈300 parallel · S3 manifest</a:t>
            </a:r>
            <a:endParaRPr lang="en-US" sz="1425" dirty="0"/>
          </a:p>
        </p:txBody>
      </p:sp>
      <p:sp>
        <p:nvSpPr>
          <p:cNvPr id="33" name="Text 26"/>
          <p:cNvSpPr/>
          <p:nvPr/>
        </p:nvSpPr>
        <p:spPr>
          <a:xfrm>
            <a:off x="4691063" y="3667125"/>
            <a:ext cx="400050" cy="2286000"/>
          </a:xfrm>
          <a:prstGeom prst="rect">
            <a:avLst/>
          </a:prstGeom>
          <a:noFill/>
          <a:ln/>
        </p:spPr>
        <p:txBody>
          <a:bodyPr wrap="square" lIns="25400" tIns="25400" rIns="25400" bIns="25400" rtlCol="0" anchor="ctr">
            <a:normAutofit/>
          </a:bodyPr>
          <a:lstStyle/>
          <a:p>
            <a:pPr algn="ctr" indent="0" marL="0">
              <a:buNone/>
            </a:pPr>
            <a:r>
              <a:rPr lang="en-US" sz="2250" dirty="0">
                <a:solidFill>
                  <a:srgbClr val="9AA0A8"/>
                </a:solidFill>
                <a:latin typeface="IBM Plex Sans" pitchFamily="34" charset="0"/>
                <a:ea typeface="IBM Plex Sans" pitchFamily="34" charset="-122"/>
                <a:cs typeface="IBM Plex Sans" pitchFamily="34" charset="-120"/>
              </a:rPr>
              <a:t>→</a:t>
            </a:r>
            <a:endParaRPr lang="en-US" sz="2250" dirty="0"/>
          </a:p>
        </p:txBody>
      </p:sp>
      <p:sp>
        <p:nvSpPr>
          <p:cNvPr id="34" name="Shape 27"/>
          <p:cNvSpPr/>
          <p:nvPr/>
        </p:nvSpPr>
        <p:spPr>
          <a:xfrm>
            <a:off x="5053013" y="3667125"/>
            <a:ext cx="3948112" cy="2247900"/>
          </a:xfrm>
          <a:prstGeom prst="rect">
            <a:avLst/>
          </a:prstGeom>
          <a:solidFill>
            <a:srgbClr val="FFFFFF"/>
          </a:solidFill>
          <a:ln w="9525">
            <a:solidFill>
              <a:srgbClr val="E0DCD3"/>
            </a:solidFill>
            <a:prstDash val="solid"/>
          </a:ln>
        </p:spPr>
      </p:sp>
      <p:pic>
        <p:nvPicPr>
          <p:cNvPr id="35" name="Image 5" descr="preencoded.png">    </p:cNvPr>
          <p:cNvPicPr>
            <a:picLocks noChangeAspect="1"/>
          </p:cNvPicPr>
          <p:nvPr/>
        </p:nvPicPr>
        <p:blipFill>
          <a:blip r:embed="rId6"/>
          <a:stretch>
            <a:fillRect/>
          </a:stretch>
        </p:blipFill>
        <p:spPr>
          <a:xfrm>
            <a:off x="5214938" y="3810000"/>
            <a:ext cx="342900" cy="342900"/>
          </a:xfrm>
          <a:prstGeom prst="rect">
            <a:avLst/>
          </a:prstGeom>
        </p:spPr>
      </p:pic>
      <p:sp>
        <p:nvSpPr>
          <p:cNvPr id="36" name="Text 28"/>
          <p:cNvSpPr/>
          <p:nvPr/>
        </p:nvSpPr>
        <p:spPr>
          <a:xfrm>
            <a:off x="5653088" y="3829050"/>
            <a:ext cx="2134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A8551F"/>
                </a:solidFill>
                <a:latin typeface="IBM Plex Mono" pitchFamily="34" charset="0"/>
                <a:ea typeface="IBM Plex Mono" pitchFamily="34" charset="-122"/>
                <a:cs typeface="IBM Plex Mono" pitchFamily="34" charset="-120"/>
              </a:rPr>
              <a:t>6</a:t>
            </a:r>
            <a:endParaRPr lang="en-US" sz="1800" dirty="0"/>
          </a:p>
        </p:txBody>
      </p:sp>
      <p:sp>
        <p:nvSpPr>
          <p:cNvPr id="37" name="Text 29"/>
          <p:cNvSpPr/>
          <p:nvPr/>
        </p:nvSpPr>
        <p:spPr>
          <a:xfrm>
            <a:off x="5214938" y="4210050"/>
            <a:ext cx="3986689" cy="323850"/>
          </a:xfrm>
          <a:prstGeom prst="rect">
            <a:avLst/>
          </a:prstGeom>
          <a:noFill/>
          <a:ln/>
        </p:spPr>
        <p:txBody>
          <a:bodyPr wrap="square" lIns="25400" tIns="25400" rIns="25400" bIns="25400" rtlCol="0" anchor="t">
            <a:normAutofit/>
          </a:bodyPr>
          <a:lstStyle/>
          <a:p>
            <a:pPr algn="l" indent="0" marL="0">
              <a:lnSpc>
                <a:spcPct val="93750"/>
              </a:lnSpc>
              <a:buNone/>
            </a:pPr>
            <a:r>
              <a:rPr lang="en-US" sz="1800" b="1" dirty="0">
                <a:solidFill>
                  <a:srgbClr val="191C20"/>
                </a:solidFill>
                <a:latin typeface="IBM Plex Sans" pitchFamily="34" charset="0"/>
                <a:ea typeface="IBM Plex Sans" pitchFamily="34" charset="-122"/>
                <a:cs typeface="IBM Plex Sans" pitchFamily="34" charset="-120"/>
              </a:rPr>
              <a:t>Extract by class</a:t>
            </a:r>
            <a:endParaRPr lang="en-US" sz="1800" dirty="0"/>
          </a:p>
        </p:txBody>
      </p:sp>
      <p:sp>
        <p:nvSpPr>
          <p:cNvPr id="38" name="Text 30"/>
          <p:cNvSpPr/>
          <p:nvPr/>
        </p:nvSpPr>
        <p:spPr>
          <a:xfrm>
            <a:off x="5214938" y="4552950"/>
            <a:ext cx="3732990" cy="514350"/>
          </a:xfrm>
          <a:prstGeom prst="rect">
            <a:avLst/>
          </a:prstGeom>
          <a:noFill/>
          <a:ln/>
        </p:spPr>
        <p:txBody>
          <a:bodyPr wrap="square" lIns="25400" tIns="25400" rIns="25400" bIns="25400" rtlCol="0" anchor="t">
            <a:normAutofit/>
          </a:bodyPr>
          <a:lstStyle/>
          <a:p>
            <a:pPr algn="l" indent="0" marL="0">
              <a:lnSpc>
                <a:spcPct val="106875"/>
              </a:lnSpc>
              <a:buNone/>
            </a:pPr>
            <a:r>
              <a:rPr lang="en-US" sz="1425" dirty="0">
                <a:solidFill>
                  <a:srgbClr val="4D535B"/>
                </a:solidFill>
                <a:latin typeface="IBM Plex Sans" pitchFamily="34" charset="0"/>
                <a:ea typeface="IBM Plex Sans" pitchFamily="34" charset="-122"/>
                <a:cs typeface="IBM Plex Sans" pitchFamily="34" charset="-120"/>
              </a:rPr>
              <a:t>parsers → AST service → LLM-gateway residue, cache-first</a:t>
            </a:r>
            <a:endParaRPr lang="en-US" sz="1425" dirty="0"/>
          </a:p>
        </p:txBody>
      </p:sp>
      <p:sp>
        <p:nvSpPr>
          <p:cNvPr id="39" name="Text 31"/>
          <p:cNvSpPr/>
          <p:nvPr/>
        </p:nvSpPr>
        <p:spPr>
          <a:xfrm>
            <a:off x="8963025" y="3667125"/>
            <a:ext cx="400050" cy="2286000"/>
          </a:xfrm>
          <a:prstGeom prst="rect">
            <a:avLst/>
          </a:prstGeom>
          <a:noFill/>
          <a:ln/>
        </p:spPr>
        <p:txBody>
          <a:bodyPr wrap="square" lIns="25400" tIns="25400" rIns="25400" bIns="25400" rtlCol="0" anchor="ctr">
            <a:normAutofit/>
          </a:bodyPr>
          <a:lstStyle/>
          <a:p>
            <a:pPr algn="ctr" indent="0" marL="0">
              <a:buNone/>
            </a:pPr>
            <a:r>
              <a:rPr lang="en-US" sz="2250" dirty="0">
                <a:solidFill>
                  <a:srgbClr val="9AA0A8"/>
                </a:solidFill>
                <a:latin typeface="IBM Plex Sans" pitchFamily="34" charset="0"/>
                <a:ea typeface="IBM Plex Sans" pitchFamily="34" charset="-122"/>
                <a:cs typeface="IBM Plex Sans" pitchFamily="34" charset="-120"/>
              </a:rPr>
              <a:t>→</a:t>
            </a:r>
            <a:endParaRPr lang="en-US" sz="2250" dirty="0"/>
          </a:p>
        </p:txBody>
      </p:sp>
      <p:sp>
        <p:nvSpPr>
          <p:cNvPr id="40" name="Shape 32"/>
          <p:cNvSpPr/>
          <p:nvPr/>
        </p:nvSpPr>
        <p:spPr>
          <a:xfrm>
            <a:off x="9324975" y="3667125"/>
            <a:ext cx="3948112" cy="2247900"/>
          </a:xfrm>
          <a:prstGeom prst="rect">
            <a:avLst/>
          </a:prstGeom>
          <a:solidFill>
            <a:srgbClr val="FFFFFF"/>
          </a:solidFill>
          <a:ln w="9525">
            <a:solidFill>
              <a:srgbClr val="E0DCD3"/>
            </a:solidFill>
            <a:prstDash val="solid"/>
          </a:ln>
        </p:spPr>
      </p:sp>
      <p:pic>
        <p:nvPicPr>
          <p:cNvPr id="41" name="Image 6" descr="preencoded.png">    </p:cNvPr>
          <p:cNvPicPr>
            <a:picLocks noChangeAspect="1"/>
          </p:cNvPicPr>
          <p:nvPr/>
        </p:nvPicPr>
        <p:blipFill>
          <a:blip r:embed="rId7"/>
          <a:stretch>
            <a:fillRect/>
          </a:stretch>
        </p:blipFill>
        <p:spPr>
          <a:xfrm>
            <a:off x="9486900" y="3810000"/>
            <a:ext cx="342900" cy="342900"/>
          </a:xfrm>
          <a:prstGeom prst="rect">
            <a:avLst/>
          </a:prstGeom>
        </p:spPr>
      </p:pic>
      <p:sp>
        <p:nvSpPr>
          <p:cNvPr id="42" name="Text 33"/>
          <p:cNvSpPr/>
          <p:nvPr/>
        </p:nvSpPr>
        <p:spPr>
          <a:xfrm>
            <a:off x="9925050" y="3829050"/>
            <a:ext cx="2134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A8551F"/>
                </a:solidFill>
                <a:latin typeface="IBM Plex Mono" pitchFamily="34" charset="0"/>
                <a:ea typeface="IBM Plex Mono" pitchFamily="34" charset="-122"/>
                <a:cs typeface="IBM Plex Mono" pitchFamily="34" charset="-120"/>
              </a:rPr>
              <a:t>7</a:t>
            </a:r>
            <a:endParaRPr lang="en-US" sz="1800" dirty="0"/>
          </a:p>
        </p:txBody>
      </p:sp>
      <p:sp>
        <p:nvSpPr>
          <p:cNvPr id="43" name="Text 34"/>
          <p:cNvSpPr/>
          <p:nvPr/>
        </p:nvSpPr>
        <p:spPr>
          <a:xfrm>
            <a:off x="9486900" y="4210050"/>
            <a:ext cx="3986689" cy="323850"/>
          </a:xfrm>
          <a:prstGeom prst="rect">
            <a:avLst/>
          </a:prstGeom>
          <a:noFill/>
          <a:ln/>
        </p:spPr>
        <p:txBody>
          <a:bodyPr wrap="square" lIns="25400" tIns="25400" rIns="25400" bIns="25400" rtlCol="0" anchor="t">
            <a:normAutofit/>
          </a:bodyPr>
          <a:lstStyle/>
          <a:p>
            <a:pPr algn="l" indent="0" marL="0">
              <a:lnSpc>
                <a:spcPct val="93750"/>
              </a:lnSpc>
              <a:buNone/>
            </a:pPr>
            <a:r>
              <a:rPr lang="en-US" sz="1800" b="1" dirty="0">
                <a:solidFill>
                  <a:srgbClr val="191C20"/>
                </a:solidFill>
                <a:latin typeface="IBM Plex Sans" pitchFamily="34" charset="0"/>
                <a:ea typeface="IBM Plex Sans" pitchFamily="34" charset="-122"/>
                <a:cs typeface="IBM Plex Sans" pitchFamily="34" charset="-120"/>
              </a:rPr>
              <a:t>URN merge + reconcile</a:t>
            </a:r>
            <a:endParaRPr lang="en-US" sz="1800" dirty="0"/>
          </a:p>
        </p:txBody>
      </p:sp>
      <p:sp>
        <p:nvSpPr>
          <p:cNvPr id="44" name="Text 35"/>
          <p:cNvSpPr/>
          <p:nvPr/>
        </p:nvSpPr>
        <p:spPr>
          <a:xfrm>
            <a:off x="9486900" y="4552950"/>
            <a:ext cx="3732990" cy="514350"/>
          </a:xfrm>
          <a:prstGeom prst="rect">
            <a:avLst/>
          </a:prstGeom>
          <a:noFill/>
          <a:ln/>
        </p:spPr>
        <p:txBody>
          <a:bodyPr wrap="square" lIns="25400" tIns="25400" rIns="25400" bIns="25400" rtlCol="0" anchor="t">
            <a:normAutofit/>
          </a:bodyPr>
          <a:lstStyle/>
          <a:p>
            <a:pPr algn="l" indent="0" marL="0">
              <a:lnSpc>
                <a:spcPct val="106875"/>
              </a:lnSpc>
              <a:buNone/>
            </a:pPr>
            <a:r>
              <a:rPr lang="en-US" sz="1425" dirty="0">
                <a:solidFill>
                  <a:srgbClr val="4D535B"/>
                </a:solidFill>
                <a:latin typeface="IBM Plex Sans" pitchFamily="34" charset="0"/>
                <a:ea typeface="IBM Plex Sans" pitchFamily="34" charset="-122"/>
                <a:cs typeface="IBM Plex Sans" pitchFamily="34" charset="-120"/>
              </a:rPr>
              <a:t>union edges from all mechanisms · agreement raises band · coverage per class</a:t>
            </a:r>
            <a:endParaRPr lang="en-US" sz="1425" dirty="0"/>
          </a:p>
        </p:txBody>
      </p:sp>
      <p:sp>
        <p:nvSpPr>
          <p:cNvPr id="45" name="Text 36"/>
          <p:cNvSpPr/>
          <p:nvPr/>
        </p:nvSpPr>
        <p:spPr>
          <a:xfrm>
            <a:off x="13234988" y="3667125"/>
            <a:ext cx="400050" cy="2286000"/>
          </a:xfrm>
          <a:prstGeom prst="rect">
            <a:avLst/>
          </a:prstGeom>
          <a:noFill/>
          <a:ln/>
        </p:spPr>
        <p:txBody>
          <a:bodyPr wrap="square" lIns="25400" tIns="25400" rIns="25400" bIns="25400" rtlCol="0" anchor="ctr">
            <a:normAutofit/>
          </a:bodyPr>
          <a:lstStyle/>
          <a:p>
            <a:pPr algn="ctr" indent="0" marL="0">
              <a:buNone/>
            </a:pPr>
            <a:r>
              <a:rPr lang="en-US" sz="2250" dirty="0">
                <a:solidFill>
                  <a:srgbClr val="9AA0A8"/>
                </a:solidFill>
                <a:latin typeface="IBM Plex Sans" pitchFamily="34" charset="0"/>
                <a:ea typeface="IBM Plex Sans" pitchFamily="34" charset="-122"/>
                <a:cs typeface="IBM Plex Sans" pitchFamily="34" charset="-120"/>
              </a:rPr>
              <a:t>→</a:t>
            </a:r>
            <a:endParaRPr lang="en-US" sz="2250" dirty="0"/>
          </a:p>
        </p:txBody>
      </p:sp>
      <p:sp>
        <p:nvSpPr>
          <p:cNvPr id="46" name="Shape 37"/>
          <p:cNvSpPr/>
          <p:nvPr/>
        </p:nvSpPr>
        <p:spPr>
          <a:xfrm>
            <a:off x="13596938" y="3667125"/>
            <a:ext cx="3929063" cy="2247900"/>
          </a:xfrm>
          <a:prstGeom prst="rect">
            <a:avLst/>
          </a:prstGeom>
          <a:solidFill>
            <a:srgbClr val="191C20"/>
          </a:solidFill>
          <a:ln/>
        </p:spPr>
      </p:sp>
      <p:pic>
        <p:nvPicPr>
          <p:cNvPr id="47" name="Image 7" descr="preencoded.png">    </p:cNvPr>
          <p:cNvPicPr>
            <a:picLocks noChangeAspect="1"/>
          </p:cNvPicPr>
          <p:nvPr/>
        </p:nvPicPr>
        <p:blipFill>
          <a:blip r:embed="rId8"/>
          <a:stretch>
            <a:fillRect/>
          </a:stretch>
        </p:blipFill>
        <p:spPr>
          <a:xfrm>
            <a:off x="13749338" y="3800475"/>
            <a:ext cx="342900" cy="342900"/>
          </a:xfrm>
          <a:prstGeom prst="rect">
            <a:avLst/>
          </a:prstGeom>
        </p:spPr>
      </p:pic>
      <p:sp>
        <p:nvSpPr>
          <p:cNvPr id="48" name="Text 38"/>
          <p:cNvSpPr/>
          <p:nvPr/>
        </p:nvSpPr>
        <p:spPr>
          <a:xfrm>
            <a:off x="14187488" y="3819525"/>
            <a:ext cx="2134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FB3BF"/>
                </a:solidFill>
                <a:latin typeface="IBM Plex Mono" pitchFamily="34" charset="0"/>
                <a:ea typeface="IBM Plex Mono" pitchFamily="34" charset="-122"/>
                <a:cs typeface="IBM Plex Mono" pitchFamily="34" charset="-120"/>
              </a:rPr>
              <a:t>8</a:t>
            </a:r>
            <a:endParaRPr lang="en-US" sz="1800" dirty="0"/>
          </a:p>
        </p:txBody>
      </p:sp>
      <p:sp>
        <p:nvSpPr>
          <p:cNvPr id="49" name="Text 39"/>
          <p:cNvSpPr/>
          <p:nvPr/>
        </p:nvSpPr>
        <p:spPr>
          <a:xfrm>
            <a:off x="13749338" y="4200525"/>
            <a:ext cx="3732990" cy="609600"/>
          </a:xfrm>
          <a:prstGeom prst="rect">
            <a:avLst/>
          </a:prstGeom>
          <a:noFill/>
          <a:ln/>
        </p:spPr>
        <p:txBody>
          <a:bodyPr wrap="square" lIns="25400" tIns="25400" rIns="25400" bIns="25400" rtlCol="0" anchor="t">
            <a:normAutofit/>
          </a:bodyPr>
          <a:lstStyle/>
          <a:p>
            <a:pPr algn="l" indent="0" marL="0">
              <a:lnSpc>
                <a:spcPct val="93750"/>
              </a:lnSpc>
              <a:buNone/>
            </a:pPr>
            <a:r>
              <a:rPr lang="en-US" sz="1800" b="1" dirty="0">
                <a:solidFill>
                  <a:srgbClr val="F2EFE9"/>
                </a:solidFill>
                <a:latin typeface="IBM Plex Sans" pitchFamily="34" charset="0"/>
                <a:ea typeface="IBM Plex Sans" pitchFamily="34" charset="-122"/>
                <a:cs typeface="IBM Plex Sans" pitchFamily="34" charset="-120"/>
              </a:rPr>
              <a:t>Proposal → HUMAN → fenced publish</a:t>
            </a:r>
            <a:endParaRPr lang="en-US" sz="1800" dirty="0"/>
          </a:p>
        </p:txBody>
      </p:sp>
      <p:sp>
        <p:nvSpPr>
          <p:cNvPr id="50" name="Text 40"/>
          <p:cNvSpPr/>
          <p:nvPr/>
        </p:nvSpPr>
        <p:spPr>
          <a:xfrm>
            <a:off x="13749338" y="4829175"/>
            <a:ext cx="3732990" cy="990600"/>
          </a:xfrm>
          <a:prstGeom prst="rect">
            <a:avLst/>
          </a:prstGeom>
          <a:noFill/>
          <a:ln/>
        </p:spPr>
        <p:txBody>
          <a:bodyPr wrap="square" lIns="25400" tIns="25400" rIns="25400" bIns="25400" rtlCol="0" anchor="t">
            <a:normAutofit/>
          </a:bodyPr>
          <a:lstStyle/>
          <a:p>
            <a:pPr algn="l" indent="0" marL="0">
              <a:lnSpc>
                <a:spcPct val="106875"/>
              </a:lnSpc>
              <a:buNone/>
            </a:pPr>
            <a:r>
              <a:rPr lang="en-US" sz="1425" dirty="0">
                <a:solidFill>
                  <a:srgbClr val="B8BDC4"/>
                </a:solidFill>
                <a:latin typeface="IBM Plex Sans" pitchFamily="34" charset="0"/>
                <a:ea typeface="IBM Plex Sans" pitchFamily="34" charset="-122"/>
                <a:cs typeface="IBM Plex Sans" pitchFamily="34" charset="-120"/>
              </a:rPr>
              <a:t>validated first — schema + confidence bands (Evidence &amp; Confidence slide) — then reviewed; the approved baseline becomes the active graph version</a:t>
            </a:r>
            <a:endParaRPr lang="en-US" sz="1425" dirty="0"/>
          </a:p>
        </p:txBody>
      </p:sp>
      <p:sp>
        <p:nvSpPr>
          <p:cNvPr id="51" name="Text 41"/>
          <p:cNvSpPr/>
          <p:nvPr/>
        </p:nvSpPr>
        <p:spPr>
          <a:xfrm>
            <a:off x="762000" y="6105525"/>
            <a:ext cx="18440400" cy="266700"/>
          </a:xfrm>
          <a:prstGeom prst="rect">
            <a:avLst/>
          </a:prstGeom>
          <a:noFill/>
          <a:ln/>
        </p:spPr>
        <p:txBody>
          <a:bodyPr wrap="square" lIns="25400" tIns="25400" rIns="25400" bIns="25400" rtlCol="0" anchor="t">
            <a:normAutofit/>
          </a:bodyPr>
          <a:lstStyle/>
          <a:p>
            <a:pPr algn="l" indent="0" marL="0">
              <a:buNone/>
            </a:pPr>
            <a:r>
              <a:rPr lang="en-US" sz="1425" spc="114" kern="0" dirty="0">
                <a:solidFill>
                  <a:srgbClr val="4D535B"/>
                </a:solidFill>
                <a:latin typeface="IBM Plex Mono" pitchFamily="34" charset="0"/>
                <a:ea typeface="IBM Plex Mono" pitchFamily="34" charset="-122"/>
                <a:cs typeface="IBM Plex Mono" pitchFamily="34" charset="-120"/>
              </a:rPr>
              <a:t>ROUTE BY CLASS INSIDE THE MAP (STEP 6) · DETAIL ON THE NEXT SLIDE</a:t>
            </a:r>
            <a:endParaRPr lang="en-US" sz="1425" dirty="0"/>
          </a:p>
        </p:txBody>
      </p:sp>
      <p:sp>
        <p:nvSpPr>
          <p:cNvPr id="52" name="Shape 42"/>
          <p:cNvSpPr/>
          <p:nvPr/>
        </p:nvSpPr>
        <p:spPr>
          <a:xfrm>
            <a:off x="762000" y="6429375"/>
            <a:ext cx="8343900" cy="666750"/>
          </a:xfrm>
          <a:prstGeom prst="rect">
            <a:avLst/>
          </a:prstGeom>
          <a:solidFill>
            <a:srgbClr val="FFFFFF"/>
          </a:solidFill>
          <a:ln w="9525">
            <a:solidFill>
              <a:srgbClr val="E0DCD3"/>
            </a:solidFill>
            <a:prstDash val="solid"/>
          </a:ln>
        </p:spPr>
      </p:sp>
      <p:sp>
        <p:nvSpPr>
          <p:cNvPr id="53" name="Text 43"/>
          <p:cNvSpPr/>
          <p:nvPr/>
        </p:nvSpPr>
        <p:spPr>
          <a:xfrm>
            <a:off x="904875" y="6524625"/>
            <a:ext cx="1672307" cy="276225"/>
          </a:xfrm>
          <a:prstGeom prst="rect">
            <a:avLst/>
          </a:prstGeom>
          <a:noFill/>
          <a:ln/>
        </p:spPr>
        <p:txBody>
          <a:bodyPr wrap="none" lIns="25400" tIns="25400" rIns="25400" bIns="25400" rtlCol="0" anchor="t">
            <a:normAutofit/>
          </a:bodyPr>
          <a:lstStyle/>
          <a:p>
            <a:pPr algn="l" indent="0" marL="0">
              <a:lnSpc>
                <a:spcPct val="106875"/>
              </a:lnSpc>
              <a:buNone/>
            </a:pPr>
            <a:r>
              <a:rPr lang="en-US" sz="1425" dirty="0">
                <a:solidFill>
                  <a:srgbClr val="A8551F"/>
                </a:solidFill>
                <a:latin typeface="IBM Plex Mono" pitchFamily="34" charset="0"/>
                <a:ea typeface="IBM Plex Mono" pitchFamily="34" charset="-122"/>
                <a:cs typeface="IBM Plex Mono" pitchFamily="34" charset="-120"/>
              </a:rPr>
              <a:t>APP / PIPELINE</a:t>
            </a:r>
            <a:endParaRPr lang="en-US" sz="1425" dirty="0"/>
          </a:p>
        </p:txBody>
      </p:sp>
      <p:sp>
        <p:nvSpPr>
          <p:cNvPr id="54" name="Text 44"/>
          <p:cNvSpPr/>
          <p:nvPr/>
        </p:nvSpPr>
        <p:spPr>
          <a:xfrm>
            <a:off x="2520404" y="6524625"/>
            <a:ext cx="6635899" cy="514350"/>
          </a:xfrm>
          <a:prstGeom prst="rect">
            <a:avLst/>
          </a:prstGeom>
          <a:noFill/>
          <a:ln/>
        </p:spPr>
        <p:txBody>
          <a:bodyPr wrap="square" lIns="25400" tIns="25400" rIns="25400" bIns="25400" rtlCol="0" anchor="t">
            <a:normAutofit/>
          </a:bodyPr>
          <a:lstStyle/>
          <a:p>
            <a:pPr algn="l" indent="0" marL="0">
              <a:lnSpc>
                <a:spcPct val="106875"/>
              </a:lnSpc>
              <a:buNone/>
            </a:pPr>
            <a:r>
              <a:rPr lang="en-US" sz="1425" dirty="0">
                <a:solidFill>
                  <a:srgbClr val="4D535B"/>
                </a:solidFill>
                <a:latin typeface="IBM Plex Sans" pitchFamily="34" charset="0"/>
                <a:ea typeface="IBM Plex Sans" pitchFamily="34" charset="-122"/>
                <a:cs typeface="IBM Plex Sans" pitchFamily="34" charset="-120"/>
              </a:rPr>
              <a:t>→ full extraction: parsers → AST → LLM residue → determinants → candidate artifact</a:t>
            </a:r>
            <a:endParaRPr lang="en-US" sz="1425" dirty="0"/>
          </a:p>
        </p:txBody>
      </p:sp>
      <p:sp>
        <p:nvSpPr>
          <p:cNvPr id="55" name="Shape 45"/>
          <p:cNvSpPr/>
          <p:nvPr/>
        </p:nvSpPr>
        <p:spPr>
          <a:xfrm>
            <a:off x="9182100" y="6429375"/>
            <a:ext cx="8343900" cy="666750"/>
          </a:xfrm>
          <a:prstGeom prst="rect">
            <a:avLst/>
          </a:prstGeom>
          <a:solidFill>
            <a:srgbClr val="FFFFFF"/>
          </a:solidFill>
          <a:ln w="9525">
            <a:solidFill>
              <a:srgbClr val="E0DCD3"/>
            </a:solidFill>
            <a:prstDash val="solid"/>
          </a:ln>
        </p:spPr>
      </p:sp>
      <p:sp>
        <p:nvSpPr>
          <p:cNvPr id="56" name="Text 46"/>
          <p:cNvSpPr/>
          <p:nvPr/>
        </p:nvSpPr>
        <p:spPr>
          <a:xfrm>
            <a:off x="9324975" y="6524625"/>
            <a:ext cx="836414" cy="276225"/>
          </a:xfrm>
          <a:prstGeom prst="rect">
            <a:avLst/>
          </a:prstGeom>
          <a:noFill/>
          <a:ln/>
        </p:spPr>
        <p:txBody>
          <a:bodyPr wrap="none" lIns="25400" tIns="25400" rIns="25400" bIns="25400" rtlCol="0" anchor="t">
            <a:normAutofit/>
          </a:bodyPr>
          <a:lstStyle/>
          <a:p>
            <a:pPr algn="l" indent="0" marL="0">
              <a:lnSpc>
                <a:spcPct val="106875"/>
              </a:lnSpc>
              <a:buNone/>
            </a:pPr>
            <a:r>
              <a:rPr lang="en-US" sz="1425" dirty="0">
                <a:solidFill>
                  <a:srgbClr val="A8551F"/>
                </a:solidFill>
                <a:latin typeface="IBM Plex Mono" pitchFamily="34" charset="0"/>
                <a:ea typeface="IBM Plex Mono" pitchFamily="34" charset="-122"/>
                <a:cs typeface="IBM Plex Mono" pitchFamily="34" charset="-120"/>
              </a:rPr>
              <a:t>LIBRARY</a:t>
            </a:r>
            <a:endParaRPr lang="en-US" sz="1425" dirty="0"/>
          </a:p>
        </p:txBody>
      </p:sp>
      <p:sp>
        <p:nvSpPr>
          <p:cNvPr id="57" name="Text 47"/>
          <p:cNvSpPr/>
          <p:nvPr/>
        </p:nvSpPr>
        <p:spPr>
          <a:xfrm>
            <a:off x="10180439" y="6524625"/>
            <a:ext cx="5458286" cy="276225"/>
          </a:xfrm>
          <a:prstGeom prst="rect">
            <a:avLst/>
          </a:prstGeom>
          <a:noFill/>
          <a:ln/>
        </p:spPr>
        <p:txBody>
          <a:bodyPr wrap="square" lIns="25400" tIns="25400" rIns="25400" bIns="25400" rtlCol="0" anchor="t">
            <a:normAutofit/>
          </a:bodyPr>
          <a:lstStyle/>
          <a:p>
            <a:pPr algn="l" indent="0" marL="0">
              <a:lnSpc>
                <a:spcPct val="106875"/>
              </a:lnSpc>
              <a:buNone/>
            </a:pPr>
            <a:r>
              <a:rPr lang="en-US" sz="1425" dirty="0">
                <a:solidFill>
                  <a:srgbClr val="4D535B"/>
                </a:solidFill>
                <a:latin typeface="IBM Plex Sans" pitchFamily="34" charset="0"/>
                <a:ea typeface="IBM Plex Sans" pitchFamily="34" charset="-122"/>
                <a:cs typeface="IBM Plex Sans" pitchFamily="34" charset="-120"/>
              </a:rPr>
              <a:t>→ index consumers only — determinant source, no extraction</a:t>
            </a:r>
            <a:endParaRPr lang="en-US" sz="1425" dirty="0"/>
          </a:p>
        </p:txBody>
      </p:sp>
      <p:sp>
        <p:nvSpPr>
          <p:cNvPr id="58" name="Shape 48"/>
          <p:cNvSpPr/>
          <p:nvPr/>
        </p:nvSpPr>
        <p:spPr>
          <a:xfrm>
            <a:off x="762000" y="7172325"/>
            <a:ext cx="8343900" cy="428625"/>
          </a:xfrm>
          <a:prstGeom prst="rect">
            <a:avLst/>
          </a:prstGeom>
          <a:solidFill>
            <a:srgbClr val="FFFFFF"/>
          </a:solidFill>
          <a:ln w="9525">
            <a:solidFill>
              <a:srgbClr val="E0DCD3"/>
            </a:solidFill>
            <a:prstDash val="solid"/>
          </a:ln>
        </p:spPr>
      </p:sp>
      <p:sp>
        <p:nvSpPr>
          <p:cNvPr id="59" name="Text 49"/>
          <p:cNvSpPr/>
          <p:nvPr/>
        </p:nvSpPr>
        <p:spPr>
          <a:xfrm>
            <a:off x="904875" y="7267575"/>
            <a:ext cx="1672307" cy="276225"/>
          </a:xfrm>
          <a:prstGeom prst="rect">
            <a:avLst/>
          </a:prstGeom>
          <a:noFill/>
          <a:ln/>
        </p:spPr>
        <p:txBody>
          <a:bodyPr wrap="none" lIns="25400" tIns="25400" rIns="25400" bIns="25400" rtlCol="0" anchor="t">
            <a:normAutofit/>
          </a:bodyPr>
          <a:lstStyle/>
          <a:p>
            <a:pPr algn="l" indent="0" marL="0">
              <a:lnSpc>
                <a:spcPct val="106875"/>
              </a:lnSpc>
              <a:buNone/>
            </a:pPr>
            <a:r>
              <a:rPr lang="en-US" sz="1425" dirty="0">
                <a:solidFill>
                  <a:srgbClr val="A8551F"/>
                </a:solidFill>
                <a:latin typeface="IBM Plex Mono" pitchFamily="34" charset="0"/>
                <a:ea typeface="IBM Plex Mono" pitchFamily="34" charset="-122"/>
                <a:cs typeface="IBM Plex Mono" pitchFamily="34" charset="-120"/>
              </a:rPr>
              <a:t>INFRASTRUCTURE</a:t>
            </a:r>
            <a:endParaRPr lang="en-US" sz="1425" dirty="0"/>
          </a:p>
        </p:txBody>
      </p:sp>
      <p:sp>
        <p:nvSpPr>
          <p:cNvPr id="60" name="Text 50"/>
          <p:cNvSpPr/>
          <p:nvPr/>
        </p:nvSpPr>
        <p:spPr>
          <a:xfrm>
            <a:off x="2520404" y="7267575"/>
            <a:ext cx="5148218" cy="276225"/>
          </a:xfrm>
          <a:prstGeom prst="rect">
            <a:avLst/>
          </a:prstGeom>
          <a:noFill/>
          <a:ln/>
        </p:spPr>
        <p:txBody>
          <a:bodyPr wrap="square" lIns="25400" tIns="25400" rIns="25400" bIns="25400" rtlCol="0" anchor="t">
            <a:normAutofit/>
          </a:bodyPr>
          <a:lstStyle/>
          <a:p>
            <a:pPr algn="l" indent="0" marL="0">
              <a:lnSpc>
                <a:spcPct val="106875"/>
              </a:lnSpc>
              <a:buNone/>
            </a:pPr>
            <a:r>
              <a:rPr lang="en-US" sz="1425" dirty="0">
                <a:solidFill>
                  <a:srgbClr val="4D535B"/>
                </a:solidFill>
                <a:latin typeface="IBM Plex Sans" pitchFamily="34" charset="0"/>
                <a:ea typeface="IBM Plex Sans" pitchFamily="34" charset="-122"/>
                <a:cs typeface="IBM Plex Sans" pitchFamily="34" charset="-120"/>
              </a:rPr>
              <a:t>→ index bindings only — declarations, no transform edges</a:t>
            </a:r>
            <a:endParaRPr lang="en-US" sz="1425" dirty="0"/>
          </a:p>
        </p:txBody>
      </p:sp>
      <p:sp>
        <p:nvSpPr>
          <p:cNvPr id="61" name="Shape 51"/>
          <p:cNvSpPr/>
          <p:nvPr/>
        </p:nvSpPr>
        <p:spPr>
          <a:xfrm>
            <a:off x="9182100" y="7172325"/>
            <a:ext cx="8343900" cy="428625"/>
          </a:xfrm>
          <a:prstGeom prst="rect">
            <a:avLst/>
          </a:prstGeom>
          <a:solidFill>
            <a:srgbClr val="FFFFFF"/>
          </a:solidFill>
          <a:ln w="9525">
            <a:solidFill>
              <a:srgbClr val="E0DCD3"/>
            </a:solidFill>
            <a:prstDash val="solid"/>
          </a:ln>
        </p:spPr>
      </p:sp>
      <p:sp>
        <p:nvSpPr>
          <p:cNvPr id="62" name="Text 52"/>
          <p:cNvSpPr/>
          <p:nvPr/>
        </p:nvSpPr>
        <p:spPr>
          <a:xfrm>
            <a:off x="9324975" y="7267575"/>
            <a:ext cx="1791653" cy="276225"/>
          </a:xfrm>
          <a:prstGeom prst="rect">
            <a:avLst/>
          </a:prstGeom>
          <a:noFill/>
          <a:ln/>
        </p:spPr>
        <p:txBody>
          <a:bodyPr wrap="none" lIns="25400" tIns="25400" rIns="25400" bIns="25400" rtlCol="0" anchor="t">
            <a:normAutofit/>
          </a:bodyPr>
          <a:lstStyle/>
          <a:p>
            <a:pPr algn="l" indent="0" marL="0">
              <a:lnSpc>
                <a:spcPct val="106875"/>
              </a:lnSpc>
              <a:buNone/>
            </a:pPr>
            <a:r>
              <a:rPr lang="en-US" sz="1425" dirty="0">
                <a:solidFill>
                  <a:srgbClr val="A8551F"/>
                </a:solidFill>
                <a:latin typeface="IBM Plex Mono" pitchFamily="34" charset="0"/>
                <a:ea typeface="IBM Plex Mono" pitchFamily="34" charset="-122"/>
                <a:cs typeface="IBM Plex Mono" pitchFamily="34" charset="-120"/>
              </a:rPr>
              <a:t>CONTRACT SOURCE</a:t>
            </a:r>
            <a:endParaRPr lang="en-US" sz="1425" dirty="0"/>
          </a:p>
        </p:txBody>
      </p:sp>
      <p:sp>
        <p:nvSpPr>
          <p:cNvPr id="63" name="Text 53"/>
          <p:cNvSpPr/>
          <p:nvPr/>
        </p:nvSpPr>
        <p:spPr>
          <a:xfrm>
            <a:off x="11049000" y="7267575"/>
            <a:ext cx="2885078" cy="276225"/>
          </a:xfrm>
          <a:prstGeom prst="rect">
            <a:avLst/>
          </a:prstGeom>
          <a:noFill/>
          <a:ln/>
        </p:spPr>
        <p:txBody>
          <a:bodyPr wrap="square" lIns="25400" tIns="25400" rIns="25400" bIns="25400" rtlCol="0" anchor="t">
            <a:normAutofit/>
          </a:bodyPr>
          <a:lstStyle/>
          <a:p>
            <a:pPr algn="l" indent="0" marL="0">
              <a:lnSpc>
                <a:spcPct val="106875"/>
              </a:lnSpc>
              <a:buNone/>
            </a:pPr>
            <a:r>
              <a:rPr lang="en-US" sz="1425" dirty="0">
                <a:solidFill>
                  <a:srgbClr val="4D535B"/>
                </a:solidFill>
                <a:latin typeface="IBM Plex Sans" pitchFamily="34" charset="0"/>
                <a:ea typeface="IBM Plex Sans" pitchFamily="34" charset="-122"/>
                <a:cs typeface="IBM Plex Sans" pitchFamily="34" charset="-120"/>
              </a:rPr>
              <a:t>→ index producers + consumers</a:t>
            </a:r>
            <a:endParaRPr lang="en-US" sz="1425" dirty="0"/>
          </a:p>
        </p:txBody>
      </p:sp>
      <p:sp>
        <p:nvSpPr>
          <p:cNvPr id="64" name="Shape 54"/>
          <p:cNvSpPr/>
          <p:nvPr/>
        </p:nvSpPr>
        <p:spPr>
          <a:xfrm>
            <a:off x="762000" y="7677150"/>
            <a:ext cx="8343900" cy="428625"/>
          </a:xfrm>
          <a:prstGeom prst="rect">
            <a:avLst/>
          </a:prstGeom>
          <a:solidFill>
            <a:srgbClr val="FFFFFF"/>
          </a:solidFill>
          <a:ln w="9525">
            <a:solidFill>
              <a:srgbClr val="E0DCD3"/>
            </a:solidFill>
            <a:prstDash val="solid"/>
          </a:ln>
        </p:spPr>
      </p:sp>
      <p:sp>
        <p:nvSpPr>
          <p:cNvPr id="65" name="Text 55"/>
          <p:cNvSpPr/>
          <p:nvPr/>
        </p:nvSpPr>
        <p:spPr>
          <a:xfrm>
            <a:off x="904875" y="7772400"/>
            <a:ext cx="1791653" cy="276225"/>
          </a:xfrm>
          <a:prstGeom prst="rect">
            <a:avLst/>
          </a:prstGeom>
          <a:noFill/>
          <a:ln/>
        </p:spPr>
        <p:txBody>
          <a:bodyPr wrap="none" lIns="25400" tIns="25400" rIns="25400" bIns="25400" rtlCol="0" anchor="t">
            <a:normAutofit/>
          </a:bodyPr>
          <a:lstStyle/>
          <a:p>
            <a:pPr algn="l" indent="0" marL="0">
              <a:lnSpc>
                <a:spcPct val="106875"/>
              </a:lnSpc>
              <a:buNone/>
            </a:pPr>
            <a:r>
              <a:rPr lang="en-US" sz="1425" dirty="0">
                <a:solidFill>
                  <a:srgbClr val="A8551F"/>
                </a:solidFill>
                <a:latin typeface="IBM Plex Mono" pitchFamily="34" charset="0"/>
                <a:ea typeface="IBM Plex Mono" pitchFamily="34" charset="-122"/>
                <a:cs typeface="IBM Plex Mono" pitchFamily="34" charset="-120"/>
              </a:rPr>
              <a:t>TEST AUTOMATION</a:t>
            </a:r>
            <a:endParaRPr lang="en-US" sz="1425" dirty="0"/>
          </a:p>
        </p:txBody>
      </p:sp>
      <p:sp>
        <p:nvSpPr>
          <p:cNvPr id="66" name="Text 56"/>
          <p:cNvSpPr/>
          <p:nvPr/>
        </p:nvSpPr>
        <p:spPr>
          <a:xfrm>
            <a:off x="2628900" y="7772400"/>
            <a:ext cx="2546851" cy="276225"/>
          </a:xfrm>
          <a:prstGeom prst="rect">
            <a:avLst/>
          </a:prstGeom>
          <a:noFill/>
          <a:ln/>
        </p:spPr>
        <p:txBody>
          <a:bodyPr wrap="square" lIns="25400" tIns="25400" rIns="25400" bIns="25400" rtlCol="0" anchor="t">
            <a:normAutofit/>
          </a:bodyPr>
          <a:lstStyle/>
          <a:p>
            <a:pPr algn="l" indent="0" marL="0">
              <a:lnSpc>
                <a:spcPct val="106875"/>
              </a:lnSpc>
              <a:buNone/>
            </a:pPr>
            <a:r>
              <a:rPr lang="en-US" sz="1425" dirty="0">
                <a:solidFill>
                  <a:srgbClr val="4D535B"/>
                </a:solidFill>
                <a:latin typeface="IBM Plex Sans" pitchFamily="34" charset="0"/>
                <a:ea typeface="IBM Plex Sans" pitchFamily="34" charset="-122"/>
                <a:cs typeface="IBM Plex Sans" pitchFamily="34" charset="-120"/>
              </a:rPr>
              <a:t>→ index coverage + sidecars</a:t>
            </a:r>
            <a:endParaRPr lang="en-US" sz="1425" dirty="0"/>
          </a:p>
        </p:txBody>
      </p:sp>
      <p:sp>
        <p:nvSpPr>
          <p:cNvPr id="67" name="Shape 57"/>
          <p:cNvSpPr/>
          <p:nvPr/>
        </p:nvSpPr>
        <p:spPr>
          <a:xfrm>
            <a:off x="9182100" y="7677150"/>
            <a:ext cx="8343900" cy="428625"/>
          </a:xfrm>
          <a:prstGeom prst="rect">
            <a:avLst/>
          </a:prstGeom>
          <a:solidFill>
            <a:srgbClr val="FFFFFF"/>
          </a:solidFill>
          <a:ln w="9525">
            <a:solidFill>
              <a:srgbClr val="E0DCD3"/>
            </a:solidFill>
            <a:prstDash val="solid"/>
          </a:ln>
        </p:spPr>
      </p:sp>
      <p:sp>
        <p:nvSpPr>
          <p:cNvPr id="68" name="Text 58"/>
          <p:cNvSpPr/>
          <p:nvPr/>
        </p:nvSpPr>
        <p:spPr>
          <a:xfrm>
            <a:off x="9324975" y="7772400"/>
            <a:ext cx="1552798" cy="276225"/>
          </a:xfrm>
          <a:prstGeom prst="rect">
            <a:avLst/>
          </a:prstGeom>
          <a:noFill/>
          <a:ln/>
        </p:spPr>
        <p:txBody>
          <a:bodyPr wrap="none" lIns="25400" tIns="25400" rIns="25400" bIns="25400" rtlCol="0" anchor="t">
            <a:normAutofit/>
          </a:bodyPr>
          <a:lstStyle/>
          <a:p>
            <a:pPr algn="l" indent="0" marL="0">
              <a:lnSpc>
                <a:spcPct val="106875"/>
              </a:lnSpc>
              <a:buNone/>
            </a:pPr>
            <a:r>
              <a:rPr lang="en-US" sz="1425" dirty="0">
                <a:solidFill>
                  <a:srgbClr val="A8551F"/>
                </a:solidFill>
                <a:latin typeface="IBM Plex Mono" pitchFamily="34" charset="0"/>
                <a:ea typeface="IBM Plex Mono" pitchFamily="34" charset="-122"/>
                <a:cs typeface="IBM Plex Mono" pitchFamily="34" charset="-120"/>
              </a:rPr>
              <a:t>DOCUMENTATION</a:t>
            </a:r>
            <a:endParaRPr lang="en-US" sz="1425" dirty="0"/>
          </a:p>
        </p:txBody>
      </p:sp>
      <p:sp>
        <p:nvSpPr>
          <p:cNvPr id="69" name="Text 59"/>
          <p:cNvSpPr/>
          <p:nvPr/>
        </p:nvSpPr>
        <p:spPr>
          <a:xfrm>
            <a:off x="10831860" y="7772400"/>
            <a:ext cx="3739649" cy="276225"/>
          </a:xfrm>
          <a:prstGeom prst="rect">
            <a:avLst/>
          </a:prstGeom>
          <a:noFill/>
          <a:ln/>
        </p:spPr>
        <p:txBody>
          <a:bodyPr wrap="square" lIns="25400" tIns="25400" rIns="25400" bIns="25400" rtlCol="0" anchor="t">
            <a:normAutofit/>
          </a:bodyPr>
          <a:lstStyle/>
          <a:p>
            <a:pPr algn="l" indent="0" marL="0">
              <a:lnSpc>
                <a:spcPct val="106875"/>
              </a:lnSpc>
              <a:buNone/>
            </a:pPr>
            <a:r>
              <a:rPr lang="en-US" sz="1425" dirty="0">
                <a:solidFill>
                  <a:srgbClr val="4D535B"/>
                </a:solidFill>
                <a:latin typeface="IBM Plex Sans" pitchFamily="34" charset="0"/>
                <a:ea typeface="IBM Plex Sans" pitchFamily="34" charset="-122"/>
                <a:cs typeface="IBM Plex Sans" pitchFamily="34" charset="-120"/>
              </a:rPr>
              <a:t>→ NO_LINEAGE_IMPACT — zero compute</a:t>
            </a:r>
            <a:endParaRPr lang="en-US" sz="1425" dirty="0"/>
          </a:p>
        </p:txBody>
      </p:sp>
      <p:sp>
        <p:nvSpPr>
          <p:cNvPr id="70" name="Shape 60"/>
          <p:cNvSpPr/>
          <p:nvPr/>
        </p:nvSpPr>
        <p:spPr>
          <a:xfrm>
            <a:off x="762000" y="8181975"/>
            <a:ext cx="8343900" cy="428625"/>
          </a:xfrm>
          <a:prstGeom prst="rect">
            <a:avLst/>
          </a:prstGeom>
          <a:solidFill>
            <a:srgbClr val="FFFFFF"/>
          </a:solidFill>
          <a:ln w="9525">
            <a:solidFill>
              <a:srgbClr val="E0DCD3"/>
            </a:solidFill>
            <a:prstDash val="solid"/>
          </a:ln>
        </p:spPr>
      </p:sp>
      <p:sp>
        <p:nvSpPr>
          <p:cNvPr id="71" name="Text 61"/>
          <p:cNvSpPr/>
          <p:nvPr/>
        </p:nvSpPr>
        <p:spPr>
          <a:xfrm>
            <a:off x="904875" y="8277225"/>
            <a:ext cx="1672307" cy="276225"/>
          </a:xfrm>
          <a:prstGeom prst="rect">
            <a:avLst/>
          </a:prstGeom>
          <a:noFill/>
          <a:ln/>
        </p:spPr>
        <p:txBody>
          <a:bodyPr wrap="none" lIns="25400" tIns="25400" rIns="25400" bIns="25400" rtlCol="0" anchor="t">
            <a:normAutofit/>
          </a:bodyPr>
          <a:lstStyle/>
          <a:p>
            <a:pPr algn="l" indent="0" marL="0">
              <a:lnSpc>
                <a:spcPct val="106875"/>
              </a:lnSpc>
              <a:buNone/>
            </a:pPr>
            <a:r>
              <a:rPr lang="en-US" sz="1425" dirty="0">
                <a:solidFill>
                  <a:srgbClr val="A8551F"/>
                </a:solidFill>
                <a:latin typeface="IBM Plex Mono" pitchFamily="34" charset="0"/>
                <a:ea typeface="IBM Plex Mono" pitchFamily="34" charset="-122"/>
                <a:cs typeface="IBM Plex Mono" pitchFamily="34" charset="-120"/>
              </a:rPr>
              <a:t>MIXED MONOREPO</a:t>
            </a:r>
            <a:endParaRPr lang="en-US" sz="1425" dirty="0"/>
          </a:p>
        </p:txBody>
      </p:sp>
      <p:sp>
        <p:nvSpPr>
          <p:cNvPr id="72" name="Text 62"/>
          <p:cNvSpPr/>
          <p:nvPr/>
        </p:nvSpPr>
        <p:spPr>
          <a:xfrm>
            <a:off x="2520404" y="8277225"/>
            <a:ext cx="3790563" cy="276225"/>
          </a:xfrm>
          <a:prstGeom prst="rect">
            <a:avLst/>
          </a:prstGeom>
          <a:noFill/>
          <a:ln/>
        </p:spPr>
        <p:txBody>
          <a:bodyPr wrap="square" lIns="25400" tIns="25400" rIns="25400" bIns="25400" rtlCol="0" anchor="t">
            <a:normAutofit/>
          </a:bodyPr>
          <a:lstStyle/>
          <a:p>
            <a:pPr algn="l" indent="0" marL="0">
              <a:lnSpc>
                <a:spcPct val="106875"/>
              </a:lnSpc>
              <a:buNone/>
            </a:pPr>
            <a:r>
              <a:rPr lang="en-US" sz="1425" dirty="0">
                <a:solidFill>
                  <a:srgbClr val="4D535B"/>
                </a:solidFill>
                <a:latin typeface="IBM Plex Sans" pitchFamily="34" charset="0"/>
                <a:ea typeface="IBM Plex Sans" pitchFamily="34" charset="-122"/>
                <a:cs typeface="IBM Plex Sans" pitchFamily="34" charset="-120"/>
              </a:rPr>
              <a:t>→ route each eligible path by its own class</a:t>
            </a:r>
            <a:endParaRPr lang="en-US" sz="1425" dirty="0"/>
          </a:p>
        </p:txBody>
      </p:sp>
      <p:sp>
        <p:nvSpPr>
          <p:cNvPr id="73" name="Shape 63"/>
          <p:cNvSpPr/>
          <p:nvPr/>
        </p:nvSpPr>
        <p:spPr>
          <a:xfrm>
            <a:off x="9182100" y="8181975"/>
            <a:ext cx="8343900" cy="428625"/>
          </a:xfrm>
          <a:prstGeom prst="rect">
            <a:avLst/>
          </a:prstGeom>
          <a:solidFill>
            <a:srgbClr val="FFFFFF"/>
          </a:solidFill>
          <a:ln w="9525">
            <a:solidFill>
              <a:srgbClr val="E0DCD3"/>
            </a:solidFill>
            <a:prstDash val="solid"/>
          </a:ln>
        </p:spPr>
      </p:sp>
      <p:sp>
        <p:nvSpPr>
          <p:cNvPr id="74" name="Text 64"/>
          <p:cNvSpPr/>
          <p:nvPr/>
        </p:nvSpPr>
        <p:spPr>
          <a:xfrm>
            <a:off x="9324975" y="8277225"/>
            <a:ext cx="836414" cy="276225"/>
          </a:xfrm>
          <a:prstGeom prst="rect">
            <a:avLst/>
          </a:prstGeom>
          <a:noFill/>
          <a:ln/>
        </p:spPr>
        <p:txBody>
          <a:bodyPr wrap="none" lIns="25400" tIns="25400" rIns="25400" bIns="25400" rtlCol="0" anchor="t">
            <a:normAutofit/>
          </a:bodyPr>
          <a:lstStyle/>
          <a:p>
            <a:pPr algn="l" indent="0" marL="0">
              <a:lnSpc>
                <a:spcPct val="106875"/>
              </a:lnSpc>
              <a:buNone/>
            </a:pPr>
            <a:r>
              <a:rPr lang="en-US" sz="1425" dirty="0">
                <a:solidFill>
                  <a:srgbClr val="A8551F"/>
                </a:solidFill>
                <a:latin typeface="IBM Plex Mono" pitchFamily="34" charset="0"/>
                <a:ea typeface="IBM Plex Mono" pitchFamily="34" charset="-122"/>
                <a:cs typeface="IBM Plex Mono" pitchFamily="34" charset="-120"/>
              </a:rPr>
              <a:t>UNKNOWN</a:t>
            </a:r>
            <a:endParaRPr lang="en-US" sz="1425" dirty="0"/>
          </a:p>
        </p:txBody>
      </p:sp>
      <p:sp>
        <p:nvSpPr>
          <p:cNvPr id="75" name="Text 65"/>
          <p:cNvSpPr/>
          <p:nvPr/>
        </p:nvSpPr>
        <p:spPr>
          <a:xfrm>
            <a:off x="10180439" y="8277225"/>
            <a:ext cx="5634439" cy="276225"/>
          </a:xfrm>
          <a:prstGeom prst="rect">
            <a:avLst/>
          </a:prstGeom>
          <a:noFill/>
          <a:ln/>
        </p:spPr>
        <p:txBody>
          <a:bodyPr wrap="square" lIns="25400" tIns="25400" rIns="25400" bIns="25400" rtlCol="0" anchor="t">
            <a:normAutofit/>
          </a:bodyPr>
          <a:lstStyle/>
          <a:p>
            <a:pPr algn="l" indent="0" marL="0">
              <a:lnSpc>
                <a:spcPct val="106875"/>
              </a:lnSpc>
              <a:buNone/>
            </a:pPr>
            <a:r>
              <a:rPr lang="en-US" sz="1425" dirty="0">
                <a:solidFill>
                  <a:srgbClr val="4D535B"/>
                </a:solidFill>
                <a:latin typeface="IBM Plex Sans" pitchFamily="34" charset="0"/>
                <a:ea typeface="IBM Plex Sans" pitchFamily="34" charset="-122"/>
                <a:cs typeface="IBM Plex Sans" pitchFamily="34" charset="-120"/>
              </a:rPr>
              <a:t>→ quarantine — must resolve before the baseline can complete</a:t>
            </a:r>
            <a:endParaRPr lang="en-US" sz="1425" dirty="0"/>
          </a:p>
        </p:txBody>
      </p:sp>
      <p:sp>
        <p:nvSpPr>
          <p:cNvPr id="76" name="Text 66"/>
          <p:cNvSpPr/>
          <p:nvPr/>
        </p:nvSpPr>
        <p:spPr>
          <a:xfrm>
            <a:off x="762000" y="8743950"/>
            <a:ext cx="18440400" cy="2667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Mono" pitchFamily="34" charset="0"/>
                <a:ea typeface="IBM Plex Mono" pitchFamily="34" charset="-122"/>
                <a:cs typeface="IBM Plex Mono" pitchFamily="34" charset="-120"/>
              </a:rPr>
              <a:t>COMPLETION · A BASELINE CANNOT COMPLETE WHILE A CRITICAL ACTIVE REPO IS UNKNOWN · PARTIAL FAILURE IS FIRST-CLASS — FAILED REPO → ERROR IN COVERAGE</a:t>
            </a:r>
            <a:endParaRPr lang="en-US" sz="142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762000" y="342900"/>
            <a:ext cx="18440400" cy="361950"/>
          </a:xfrm>
          <a:prstGeom prst="rect">
            <a:avLst/>
          </a:prstGeom>
          <a:noFill/>
          <a:ln/>
        </p:spPr>
        <p:txBody>
          <a:bodyPr wrap="square" lIns="25400" tIns="25400" rIns="25400" bIns="25400" rtlCol="0" anchor="t">
            <a:normAutofit/>
          </a:bodyPr>
          <a:lstStyle/>
          <a:p>
            <a:pPr algn="l" indent="0" marL="0">
              <a:buNone/>
            </a:pPr>
            <a:r>
              <a:rPr lang="en-US" sz="1950" spc="312" kern="0" dirty="0">
                <a:solidFill>
                  <a:srgbClr val="4D535B"/>
                </a:solidFill>
                <a:latin typeface="IBM Plex Mono" pitchFamily="34" charset="0"/>
                <a:ea typeface="IBM Plex Mono" pitchFamily="34" charset="-122"/>
                <a:cs typeface="IBM Plex Mono" pitchFamily="34" charset="-120"/>
              </a:rPr>
              <a:t>07B · APPENDIX · BASELINE ROUTING — WHAT EACH CLASS MEANS</a:t>
            </a:r>
            <a:endParaRPr lang="en-US" sz="1950" dirty="0"/>
          </a:p>
        </p:txBody>
      </p:sp>
      <p:sp>
        <p:nvSpPr>
          <p:cNvPr id="3" name="Text 1"/>
          <p:cNvSpPr/>
          <p:nvPr/>
        </p:nvSpPr>
        <p:spPr>
          <a:xfrm>
            <a:off x="762000" y="762000"/>
            <a:ext cx="18440400" cy="771525"/>
          </a:xfrm>
          <a:prstGeom prst="rect">
            <a:avLst/>
          </a:prstGeom>
          <a:noFill/>
          <a:ln/>
        </p:spPr>
        <p:txBody>
          <a:bodyPr wrap="square" lIns="25400" tIns="25400" rIns="25400" bIns="25400" rtlCol="0" anchor="t">
            <a:normAutofit/>
          </a:bodyPr>
          <a:lstStyle/>
          <a:p>
            <a:pPr algn="l" indent="0" marL="0">
              <a:buNone/>
            </a:pPr>
            <a:r>
              <a:rPr lang="en-US" sz="4500" b="1" dirty="0">
                <a:solidFill>
                  <a:srgbClr val="191C20"/>
                </a:solidFill>
                <a:latin typeface="IBM Plex Sans" pitchFamily="34" charset="0"/>
                <a:ea typeface="IBM Plex Sans" pitchFamily="34" charset="-122"/>
                <a:cs typeface="IBM Plex Sans" pitchFamily="34" charset="-120"/>
              </a:rPr>
              <a:t>Baseline Appendix — Routing Explained</a:t>
            </a:r>
            <a:endParaRPr lang="en-US" sz="4500" dirty="0"/>
          </a:p>
        </p:txBody>
      </p:sp>
      <p:sp>
        <p:nvSpPr>
          <p:cNvPr id="4" name="Shape 2"/>
          <p:cNvSpPr/>
          <p:nvPr/>
        </p:nvSpPr>
        <p:spPr>
          <a:xfrm>
            <a:off x="762000" y="1666875"/>
            <a:ext cx="16764000" cy="19050"/>
          </a:xfrm>
          <a:prstGeom prst="rect">
            <a:avLst/>
          </a:prstGeom>
          <a:solidFill>
            <a:srgbClr val="191C20"/>
          </a:solidFill>
          <a:ln/>
        </p:spPr>
      </p:sp>
      <p:sp>
        <p:nvSpPr>
          <p:cNvPr id="5" name="Shape 3"/>
          <p:cNvSpPr/>
          <p:nvPr/>
        </p:nvSpPr>
        <p:spPr>
          <a:xfrm>
            <a:off x="762000" y="2085975"/>
            <a:ext cx="2381250" cy="9525"/>
          </a:xfrm>
          <a:prstGeom prst="rect">
            <a:avLst/>
          </a:prstGeom>
          <a:solidFill>
            <a:srgbClr val="E0DCD3"/>
          </a:solidFill>
          <a:ln/>
        </p:spPr>
      </p:sp>
      <p:sp>
        <p:nvSpPr>
          <p:cNvPr id="6" name="Text 4"/>
          <p:cNvSpPr/>
          <p:nvPr/>
        </p:nvSpPr>
        <p:spPr>
          <a:xfrm>
            <a:off x="838200" y="1771650"/>
            <a:ext cx="2305050" cy="2667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Mono" pitchFamily="34" charset="0"/>
                <a:ea typeface="IBM Plex Mono" pitchFamily="34" charset="-122"/>
                <a:cs typeface="IBM Plex Mono" pitchFamily="34" charset="-120"/>
              </a:rPr>
              <a:t>CLASS</a:t>
            </a:r>
            <a:endParaRPr lang="en-US" sz="1425" dirty="0"/>
          </a:p>
        </p:txBody>
      </p:sp>
      <p:sp>
        <p:nvSpPr>
          <p:cNvPr id="7" name="Shape 5"/>
          <p:cNvSpPr/>
          <p:nvPr/>
        </p:nvSpPr>
        <p:spPr>
          <a:xfrm>
            <a:off x="3143250" y="2085975"/>
            <a:ext cx="6537573" cy="9525"/>
          </a:xfrm>
          <a:prstGeom prst="rect">
            <a:avLst/>
          </a:prstGeom>
          <a:solidFill>
            <a:srgbClr val="E0DCD3"/>
          </a:solidFill>
          <a:ln/>
        </p:spPr>
      </p:sp>
      <p:sp>
        <p:nvSpPr>
          <p:cNvPr id="8" name="Text 6"/>
          <p:cNvSpPr/>
          <p:nvPr/>
        </p:nvSpPr>
        <p:spPr>
          <a:xfrm>
            <a:off x="3219450" y="1771650"/>
            <a:ext cx="6581300" cy="2667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Mono" pitchFamily="34" charset="0"/>
                <a:ea typeface="IBM Plex Mono" pitchFamily="34" charset="-122"/>
                <a:cs typeface="IBM Plex Mono" pitchFamily="34" charset="-120"/>
              </a:rPr>
              <a:t>WHAT IT IS</a:t>
            </a:r>
            <a:endParaRPr lang="en-US" sz="1425" dirty="0"/>
          </a:p>
        </p:txBody>
      </p:sp>
      <p:sp>
        <p:nvSpPr>
          <p:cNvPr id="9" name="Shape 7"/>
          <p:cNvSpPr/>
          <p:nvPr/>
        </p:nvSpPr>
        <p:spPr>
          <a:xfrm>
            <a:off x="9680823" y="2085975"/>
            <a:ext cx="7845028" cy="9525"/>
          </a:xfrm>
          <a:prstGeom prst="rect">
            <a:avLst/>
          </a:prstGeom>
          <a:solidFill>
            <a:srgbClr val="E0DCD3"/>
          </a:solidFill>
          <a:ln/>
        </p:spPr>
      </p:sp>
      <p:sp>
        <p:nvSpPr>
          <p:cNvPr id="10" name="Text 8"/>
          <p:cNvSpPr/>
          <p:nvPr/>
        </p:nvSpPr>
        <p:spPr>
          <a:xfrm>
            <a:off x="9757023" y="1771650"/>
            <a:ext cx="7927979" cy="2667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Mono" pitchFamily="34" charset="0"/>
                <a:ea typeface="IBM Plex Mono" pitchFamily="34" charset="-122"/>
                <a:cs typeface="IBM Plex Mono" pitchFamily="34" charset="-120"/>
              </a:rPr>
              <a:t>ROUTE &amp; WHAT IS PRODUCED</a:t>
            </a:r>
            <a:endParaRPr lang="en-US" sz="1425" dirty="0"/>
          </a:p>
        </p:txBody>
      </p:sp>
      <p:sp>
        <p:nvSpPr>
          <p:cNvPr id="11" name="Shape 9"/>
          <p:cNvSpPr/>
          <p:nvPr/>
        </p:nvSpPr>
        <p:spPr>
          <a:xfrm>
            <a:off x="762000" y="2724150"/>
            <a:ext cx="2381250" cy="9525"/>
          </a:xfrm>
          <a:prstGeom prst="rect">
            <a:avLst/>
          </a:prstGeom>
          <a:solidFill>
            <a:srgbClr val="E0DCD3"/>
          </a:solidFill>
          <a:ln/>
        </p:spPr>
      </p:sp>
      <p:sp>
        <p:nvSpPr>
          <p:cNvPr id="12" name="Text 10"/>
          <p:cNvSpPr/>
          <p:nvPr/>
        </p:nvSpPr>
        <p:spPr>
          <a:xfrm>
            <a:off x="838200" y="2181225"/>
            <a:ext cx="2305050" cy="495300"/>
          </a:xfrm>
          <a:prstGeom prst="rect">
            <a:avLst/>
          </a:prstGeom>
          <a:noFill/>
          <a:ln/>
        </p:spPr>
        <p:txBody>
          <a:bodyPr wrap="square" lIns="25400" tIns="25400" rIns="25400" bIns="25400" rtlCol="0" anchor="t">
            <a:normAutofit/>
          </a:bodyPr>
          <a:lstStyle/>
          <a:p>
            <a:pPr algn="l" indent="0" marL="0">
              <a:buNone/>
            </a:pPr>
            <a:r>
              <a:rPr lang="en-US" sz="1425" dirty="0">
                <a:solidFill>
                  <a:srgbClr val="191C20"/>
                </a:solidFill>
                <a:latin typeface="IBM Plex Mono" pitchFamily="34" charset="0"/>
                <a:ea typeface="IBM Plex Mono" pitchFamily="34" charset="-122"/>
                <a:cs typeface="IBM Plex Mono" pitchFamily="34" charset="-120"/>
              </a:rPr>
              <a:t>APP / PIPELINE</a:t>
            </a:r>
            <a:endParaRPr lang="en-US" sz="1425" dirty="0"/>
          </a:p>
        </p:txBody>
      </p:sp>
      <p:sp>
        <p:nvSpPr>
          <p:cNvPr id="13" name="Shape 11"/>
          <p:cNvSpPr/>
          <p:nvPr/>
        </p:nvSpPr>
        <p:spPr>
          <a:xfrm>
            <a:off x="3143250" y="2724150"/>
            <a:ext cx="6537573" cy="9525"/>
          </a:xfrm>
          <a:prstGeom prst="rect">
            <a:avLst/>
          </a:prstGeom>
          <a:solidFill>
            <a:srgbClr val="E0DCD3"/>
          </a:solidFill>
          <a:ln/>
        </p:spPr>
      </p:sp>
      <p:sp>
        <p:nvSpPr>
          <p:cNvPr id="14" name="Text 12"/>
          <p:cNvSpPr/>
          <p:nvPr/>
        </p:nvSpPr>
        <p:spPr>
          <a:xfrm>
            <a:off x="3219450" y="2181225"/>
            <a:ext cx="6581300" cy="4953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Deployable code that reads or writes data — e.g. orders-service, a dbt project</a:t>
            </a:r>
            <a:endParaRPr lang="en-US" sz="1425" dirty="0"/>
          </a:p>
        </p:txBody>
      </p:sp>
      <p:sp>
        <p:nvSpPr>
          <p:cNvPr id="15" name="Shape 13"/>
          <p:cNvSpPr/>
          <p:nvPr/>
        </p:nvSpPr>
        <p:spPr>
          <a:xfrm>
            <a:off x="9680823" y="2724150"/>
            <a:ext cx="7845028" cy="9525"/>
          </a:xfrm>
          <a:prstGeom prst="rect">
            <a:avLst/>
          </a:prstGeom>
          <a:solidFill>
            <a:srgbClr val="E0DCD3"/>
          </a:solidFill>
          <a:ln/>
        </p:spPr>
      </p:sp>
      <p:sp>
        <p:nvSpPr>
          <p:cNvPr id="16" name="Text 14"/>
          <p:cNvSpPr/>
          <p:nvPr/>
        </p:nvSpPr>
        <p:spPr>
          <a:xfrm>
            <a:off x="9757023" y="2181225"/>
            <a:ext cx="7927979" cy="4953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Shallow clone → parsers → AST service → LLM residue (cache-first) → immutable candidate-edge artifact + determinants</a:t>
            </a:r>
            <a:endParaRPr lang="en-US" sz="1425" dirty="0"/>
          </a:p>
        </p:txBody>
      </p:sp>
      <p:sp>
        <p:nvSpPr>
          <p:cNvPr id="17" name="Shape 15"/>
          <p:cNvSpPr/>
          <p:nvPr/>
        </p:nvSpPr>
        <p:spPr>
          <a:xfrm>
            <a:off x="762000" y="3362325"/>
            <a:ext cx="2381250" cy="9525"/>
          </a:xfrm>
          <a:prstGeom prst="rect">
            <a:avLst/>
          </a:prstGeom>
          <a:solidFill>
            <a:srgbClr val="E0DCD3"/>
          </a:solidFill>
          <a:ln/>
        </p:spPr>
      </p:sp>
      <p:sp>
        <p:nvSpPr>
          <p:cNvPr id="18" name="Text 16"/>
          <p:cNvSpPr/>
          <p:nvPr/>
        </p:nvSpPr>
        <p:spPr>
          <a:xfrm>
            <a:off x="838200" y="2819400"/>
            <a:ext cx="2305050" cy="495300"/>
          </a:xfrm>
          <a:prstGeom prst="rect">
            <a:avLst/>
          </a:prstGeom>
          <a:noFill/>
          <a:ln/>
        </p:spPr>
        <p:txBody>
          <a:bodyPr wrap="square" lIns="25400" tIns="25400" rIns="25400" bIns="25400" rtlCol="0" anchor="t">
            <a:normAutofit/>
          </a:bodyPr>
          <a:lstStyle/>
          <a:p>
            <a:pPr algn="l" indent="0" marL="0">
              <a:buNone/>
            </a:pPr>
            <a:r>
              <a:rPr lang="en-US" sz="1425" dirty="0">
                <a:solidFill>
                  <a:srgbClr val="191C20"/>
                </a:solidFill>
                <a:latin typeface="IBM Plex Mono" pitchFamily="34" charset="0"/>
                <a:ea typeface="IBM Plex Mono" pitchFamily="34" charset="-122"/>
                <a:cs typeface="IBM Plex Mono" pitchFamily="34" charset="-120"/>
              </a:rPr>
              <a:t>LIBRARY</a:t>
            </a:r>
            <a:endParaRPr lang="en-US" sz="1425" dirty="0"/>
          </a:p>
        </p:txBody>
      </p:sp>
      <p:sp>
        <p:nvSpPr>
          <p:cNvPr id="19" name="Shape 17"/>
          <p:cNvSpPr/>
          <p:nvPr/>
        </p:nvSpPr>
        <p:spPr>
          <a:xfrm>
            <a:off x="3143250" y="3362325"/>
            <a:ext cx="6537573" cy="9525"/>
          </a:xfrm>
          <a:prstGeom prst="rect">
            <a:avLst/>
          </a:prstGeom>
          <a:solidFill>
            <a:srgbClr val="E0DCD3"/>
          </a:solidFill>
          <a:ln/>
        </p:spPr>
      </p:sp>
      <p:sp>
        <p:nvSpPr>
          <p:cNvPr id="20" name="Text 18"/>
          <p:cNvSpPr/>
          <p:nvPr/>
        </p:nvSpPr>
        <p:spPr>
          <a:xfrm>
            <a:off x="3219450" y="2819400"/>
            <a:ext cx="6581300" cy="4953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Shared code — transforms nothing by itself; its consumers do</a:t>
            </a:r>
            <a:endParaRPr lang="en-US" sz="1425" dirty="0"/>
          </a:p>
        </p:txBody>
      </p:sp>
      <p:sp>
        <p:nvSpPr>
          <p:cNvPr id="21" name="Shape 19"/>
          <p:cNvSpPr/>
          <p:nvPr/>
        </p:nvSpPr>
        <p:spPr>
          <a:xfrm>
            <a:off x="9680823" y="3362325"/>
            <a:ext cx="7845028" cy="9525"/>
          </a:xfrm>
          <a:prstGeom prst="rect">
            <a:avLst/>
          </a:prstGeom>
          <a:solidFill>
            <a:srgbClr val="E0DCD3"/>
          </a:solidFill>
          <a:ln/>
        </p:spPr>
      </p:sp>
      <p:sp>
        <p:nvSpPr>
          <p:cNvPr id="22" name="Text 20"/>
          <p:cNvSpPr/>
          <p:nvPr/>
        </p:nvSpPr>
        <p:spPr>
          <a:xfrm>
            <a:off x="9757023" y="2819400"/>
            <a:ext cx="7927979" cy="4953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No extraction — recorded as a determinant source (name, version, digest) so a change re-analyzes affected consumers</a:t>
            </a:r>
            <a:endParaRPr lang="en-US" sz="1425" dirty="0"/>
          </a:p>
        </p:txBody>
      </p:sp>
      <p:sp>
        <p:nvSpPr>
          <p:cNvPr id="23" name="Shape 21"/>
          <p:cNvSpPr/>
          <p:nvPr/>
        </p:nvSpPr>
        <p:spPr>
          <a:xfrm>
            <a:off x="762000" y="3771900"/>
            <a:ext cx="2381250" cy="9525"/>
          </a:xfrm>
          <a:prstGeom prst="rect">
            <a:avLst/>
          </a:prstGeom>
          <a:solidFill>
            <a:srgbClr val="E0DCD3"/>
          </a:solidFill>
          <a:ln/>
        </p:spPr>
      </p:sp>
      <p:sp>
        <p:nvSpPr>
          <p:cNvPr id="24" name="Text 22"/>
          <p:cNvSpPr/>
          <p:nvPr/>
        </p:nvSpPr>
        <p:spPr>
          <a:xfrm>
            <a:off x="838200" y="3457575"/>
            <a:ext cx="2305050" cy="266700"/>
          </a:xfrm>
          <a:prstGeom prst="rect">
            <a:avLst/>
          </a:prstGeom>
          <a:noFill/>
          <a:ln/>
        </p:spPr>
        <p:txBody>
          <a:bodyPr wrap="square" lIns="25400" tIns="25400" rIns="25400" bIns="25400" rtlCol="0" anchor="t">
            <a:normAutofit/>
          </a:bodyPr>
          <a:lstStyle/>
          <a:p>
            <a:pPr algn="l" indent="0" marL="0">
              <a:buNone/>
            </a:pPr>
            <a:r>
              <a:rPr lang="en-US" sz="1425" dirty="0">
                <a:solidFill>
                  <a:srgbClr val="191C20"/>
                </a:solidFill>
                <a:latin typeface="IBM Plex Mono" pitchFamily="34" charset="0"/>
                <a:ea typeface="IBM Plex Mono" pitchFamily="34" charset="-122"/>
                <a:cs typeface="IBM Plex Mono" pitchFamily="34" charset="-120"/>
              </a:rPr>
              <a:t>INFRASTRUCTURE</a:t>
            </a:r>
            <a:endParaRPr lang="en-US" sz="1425" dirty="0"/>
          </a:p>
        </p:txBody>
      </p:sp>
      <p:sp>
        <p:nvSpPr>
          <p:cNvPr id="25" name="Shape 23"/>
          <p:cNvSpPr/>
          <p:nvPr/>
        </p:nvSpPr>
        <p:spPr>
          <a:xfrm>
            <a:off x="3143250" y="3771900"/>
            <a:ext cx="6537573" cy="9525"/>
          </a:xfrm>
          <a:prstGeom prst="rect">
            <a:avLst/>
          </a:prstGeom>
          <a:solidFill>
            <a:srgbClr val="E0DCD3"/>
          </a:solidFill>
          <a:ln/>
        </p:spPr>
      </p:sp>
      <p:sp>
        <p:nvSpPr>
          <p:cNvPr id="26" name="Text 24"/>
          <p:cNvSpPr/>
          <p:nvPr/>
        </p:nvSpPr>
        <p:spPr>
          <a:xfrm>
            <a:off x="3219450" y="3457575"/>
            <a:ext cx="6581300" cy="2667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Terraform / CDK — declares routes, topics and bindings, moves no data</a:t>
            </a:r>
            <a:endParaRPr lang="en-US" sz="1425" dirty="0"/>
          </a:p>
        </p:txBody>
      </p:sp>
      <p:sp>
        <p:nvSpPr>
          <p:cNvPr id="27" name="Shape 25"/>
          <p:cNvSpPr/>
          <p:nvPr/>
        </p:nvSpPr>
        <p:spPr>
          <a:xfrm>
            <a:off x="9680823" y="3771900"/>
            <a:ext cx="7845028" cy="9525"/>
          </a:xfrm>
          <a:prstGeom prst="rect">
            <a:avLst/>
          </a:prstGeom>
          <a:solidFill>
            <a:srgbClr val="E0DCD3"/>
          </a:solidFill>
          <a:ln/>
        </p:spPr>
      </p:sp>
      <p:sp>
        <p:nvSpPr>
          <p:cNvPr id="28" name="Text 26"/>
          <p:cNvSpPr/>
          <p:nvPr/>
        </p:nvSpPr>
        <p:spPr>
          <a:xfrm>
            <a:off x="9757023" y="3457575"/>
            <a:ext cx="7927979" cy="2667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Bindings indexed as declarations — connectivity context, never transform edges</a:t>
            </a:r>
            <a:endParaRPr lang="en-US" sz="1425" dirty="0"/>
          </a:p>
        </p:txBody>
      </p:sp>
      <p:sp>
        <p:nvSpPr>
          <p:cNvPr id="29" name="Shape 27"/>
          <p:cNvSpPr/>
          <p:nvPr/>
        </p:nvSpPr>
        <p:spPr>
          <a:xfrm>
            <a:off x="762000" y="4181475"/>
            <a:ext cx="2381250" cy="9525"/>
          </a:xfrm>
          <a:prstGeom prst="rect">
            <a:avLst/>
          </a:prstGeom>
          <a:solidFill>
            <a:srgbClr val="E0DCD3"/>
          </a:solidFill>
          <a:ln/>
        </p:spPr>
      </p:sp>
      <p:sp>
        <p:nvSpPr>
          <p:cNvPr id="30" name="Text 28"/>
          <p:cNvSpPr/>
          <p:nvPr/>
        </p:nvSpPr>
        <p:spPr>
          <a:xfrm>
            <a:off x="838200" y="3867150"/>
            <a:ext cx="2305050" cy="266700"/>
          </a:xfrm>
          <a:prstGeom prst="rect">
            <a:avLst/>
          </a:prstGeom>
          <a:noFill/>
          <a:ln/>
        </p:spPr>
        <p:txBody>
          <a:bodyPr wrap="square" lIns="25400" tIns="25400" rIns="25400" bIns="25400" rtlCol="0" anchor="t">
            <a:normAutofit/>
          </a:bodyPr>
          <a:lstStyle/>
          <a:p>
            <a:pPr algn="l" indent="0" marL="0">
              <a:buNone/>
            </a:pPr>
            <a:r>
              <a:rPr lang="en-US" sz="1425" dirty="0">
                <a:solidFill>
                  <a:srgbClr val="191C20"/>
                </a:solidFill>
                <a:latin typeface="IBM Plex Mono" pitchFamily="34" charset="0"/>
                <a:ea typeface="IBM Plex Mono" pitchFamily="34" charset="-122"/>
                <a:cs typeface="IBM Plex Mono" pitchFamily="34" charset="-120"/>
              </a:rPr>
              <a:t>CONTRACT SOURCE</a:t>
            </a:r>
            <a:endParaRPr lang="en-US" sz="1425" dirty="0"/>
          </a:p>
        </p:txBody>
      </p:sp>
      <p:sp>
        <p:nvSpPr>
          <p:cNvPr id="31" name="Shape 29"/>
          <p:cNvSpPr/>
          <p:nvPr/>
        </p:nvSpPr>
        <p:spPr>
          <a:xfrm>
            <a:off x="3143250" y="4181475"/>
            <a:ext cx="6537573" cy="9525"/>
          </a:xfrm>
          <a:prstGeom prst="rect">
            <a:avLst/>
          </a:prstGeom>
          <a:solidFill>
            <a:srgbClr val="E0DCD3"/>
          </a:solidFill>
          <a:ln/>
        </p:spPr>
      </p:sp>
      <p:sp>
        <p:nvSpPr>
          <p:cNvPr id="32" name="Text 30"/>
          <p:cNvSpPr/>
          <p:nvPr/>
        </p:nvSpPr>
        <p:spPr>
          <a:xfrm>
            <a:off x="3219450" y="3867150"/>
            <a:ext cx="6581300" cy="2667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Schema / API definitions — the shape both sides must honor</a:t>
            </a:r>
            <a:endParaRPr lang="en-US" sz="1425" dirty="0"/>
          </a:p>
        </p:txBody>
      </p:sp>
      <p:sp>
        <p:nvSpPr>
          <p:cNvPr id="33" name="Shape 31"/>
          <p:cNvSpPr/>
          <p:nvPr/>
        </p:nvSpPr>
        <p:spPr>
          <a:xfrm>
            <a:off x="9680823" y="4181475"/>
            <a:ext cx="7845028" cy="9525"/>
          </a:xfrm>
          <a:prstGeom prst="rect">
            <a:avLst/>
          </a:prstGeom>
          <a:solidFill>
            <a:srgbClr val="E0DCD3"/>
          </a:solidFill>
          <a:ln/>
        </p:spPr>
      </p:sp>
      <p:sp>
        <p:nvSpPr>
          <p:cNvPr id="34" name="Text 32"/>
          <p:cNvSpPr/>
          <p:nvPr/>
        </p:nvSpPr>
        <p:spPr>
          <a:xfrm>
            <a:off x="9757023" y="3867150"/>
            <a:ext cx="7927979" cy="2667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Producers + consumers linked to the contract; a schema change re-evaluates both sides</a:t>
            </a:r>
            <a:endParaRPr lang="en-US" sz="1425" dirty="0"/>
          </a:p>
        </p:txBody>
      </p:sp>
      <p:sp>
        <p:nvSpPr>
          <p:cNvPr id="35" name="Shape 33"/>
          <p:cNvSpPr/>
          <p:nvPr/>
        </p:nvSpPr>
        <p:spPr>
          <a:xfrm>
            <a:off x="762000" y="4591050"/>
            <a:ext cx="2381250" cy="9525"/>
          </a:xfrm>
          <a:prstGeom prst="rect">
            <a:avLst/>
          </a:prstGeom>
          <a:solidFill>
            <a:srgbClr val="E0DCD3"/>
          </a:solidFill>
          <a:ln/>
        </p:spPr>
      </p:sp>
      <p:sp>
        <p:nvSpPr>
          <p:cNvPr id="36" name="Text 34"/>
          <p:cNvSpPr/>
          <p:nvPr/>
        </p:nvSpPr>
        <p:spPr>
          <a:xfrm>
            <a:off x="838200" y="4276725"/>
            <a:ext cx="2305050" cy="266700"/>
          </a:xfrm>
          <a:prstGeom prst="rect">
            <a:avLst/>
          </a:prstGeom>
          <a:noFill/>
          <a:ln/>
        </p:spPr>
        <p:txBody>
          <a:bodyPr wrap="square" lIns="25400" tIns="25400" rIns="25400" bIns="25400" rtlCol="0" anchor="t">
            <a:normAutofit/>
          </a:bodyPr>
          <a:lstStyle/>
          <a:p>
            <a:pPr algn="l" indent="0" marL="0">
              <a:buNone/>
            </a:pPr>
            <a:r>
              <a:rPr lang="en-US" sz="1425" dirty="0">
                <a:solidFill>
                  <a:srgbClr val="191C20"/>
                </a:solidFill>
                <a:latin typeface="IBM Plex Mono" pitchFamily="34" charset="0"/>
                <a:ea typeface="IBM Plex Mono" pitchFamily="34" charset="-122"/>
                <a:cs typeface="IBM Plex Mono" pitchFamily="34" charset="-120"/>
              </a:rPr>
              <a:t>TEST AUTOMATION</a:t>
            </a:r>
            <a:endParaRPr lang="en-US" sz="1425" dirty="0"/>
          </a:p>
        </p:txBody>
      </p:sp>
      <p:sp>
        <p:nvSpPr>
          <p:cNvPr id="37" name="Shape 35"/>
          <p:cNvSpPr/>
          <p:nvPr/>
        </p:nvSpPr>
        <p:spPr>
          <a:xfrm>
            <a:off x="3143250" y="4591050"/>
            <a:ext cx="6537573" cy="9525"/>
          </a:xfrm>
          <a:prstGeom prst="rect">
            <a:avLst/>
          </a:prstGeom>
          <a:solidFill>
            <a:srgbClr val="E0DCD3"/>
          </a:solidFill>
          <a:ln/>
        </p:spPr>
      </p:sp>
      <p:sp>
        <p:nvSpPr>
          <p:cNvPr id="38" name="Text 36"/>
          <p:cNvSpPr/>
          <p:nvPr/>
        </p:nvSpPr>
        <p:spPr>
          <a:xfrm>
            <a:off x="3219450" y="4276725"/>
            <a:ext cx="6581300" cy="2667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Integration-test suites — the source of runtime corroboration</a:t>
            </a:r>
            <a:endParaRPr lang="en-US" sz="1425" dirty="0"/>
          </a:p>
        </p:txBody>
      </p:sp>
      <p:sp>
        <p:nvSpPr>
          <p:cNvPr id="39" name="Shape 37"/>
          <p:cNvSpPr/>
          <p:nvPr/>
        </p:nvSpPr>
        <p:spPr>
          <a:xfrm>
            <a:off x="9680823" y="4591050"/>
            <a:ext cx="7845028" cy="9525"/>
          </a:xfrm>
          <a:prstGeom prst="rect">
            <a:avLst/>
          </a:prstGeom>
          <a:solidFill>
            <a:srgbClr val="E0DCD3"/>
          </a:solidFill>
          <a:ln/>
        </p:spPr>
      </p:sp>
      <p:sp>
        <p:nvSpPr>
          <p:cNvPr id="40" name="Text 38"/>
          <p:cNvSpPr/>
          <p:nvPr/>
        </p:nvSpPr>
        <p:spPr>
          <a:xfrm>
            <a:off x="9757023" y="4276725"/>
            <a:ext cx="7927979" cy="2667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Coverage + sidecar mappings indexed — feeds the evidence plan, no edges of its own</a:t>
            </a:r>
            <a:endParaRPr lang="en-US" sz="1425" dirty="0"/>
          </a:p>
        </p:txBody>
      </p:sp>
      <p:sp>
        <p:nvSpPr>
          <p:cNvPr id="41" name="Shape 39"/>
          <p:cNvSpPr/>
          <p:nvPr/>
        </p:nvSpPr>
        <p:spPr>
          <a:xfrm>
            <a:off x="762000" y="5000625"/>
            <a:ext cx="2381250" cy="9525"/>
          </a:xfrm>
          <a:prstGeom prst="rect">
            <a:avLst/>
          </a:prstGeom>
          <a:solidFill>
            <a:srgbClr val="E0DCD3"/>
          </a:solidFill>
          <a:ln/>
        </p:spPr>
      </p:sp>
      <p:sp>
        <p:nvSpPr>
          <p:cNvPr id="42" name="Text 40"/>
          <p:cNvSpPr/>
          <p:nvPr/>
        </p:nvSpPr>
        <p:spPr>
          <a:xfrm>
            <a:off x="838200" y="4686300"/>
            <a:ext cx="2305050" cy="266700"/>
          </a:xfrm>
          <a:prstGeom prst="rect">
            <a:avLst/>
          </a:prstGeom>
          <a:noFill/>
          <a:ln/>
        </p:spPr>
        <p:txBody>
          <a:bodyPr wrap="square" lIns="25400" tIns="25400" rIns="25400" bIns="25400" rtlCol="0" anchor="t">
            <a:normAutofit/>
          </a:bodyPr>
          <a:lstStyle/>
          <a:p>
            <a:pPr algn="l" indent="0" marL="0">
              <a:buNone/>
            </a:pPr>
            <a:r>
              <a:rPr lang="en-US" sz="1425" dirty="0">
                <a:solidFill>
                  <a:srgbClr val="191C20"/>
                </a:solidFill>
                <a:latin typeface="IBM Plex Mono" pitchFamily="34" charset="0"/>
                <a:ea typeface="IBM Plex Mono" pitchFamily="34" charset="-122"/>
                <a:cs typeface="IBM Plex Mono" pitchFamily="34" charset="-120"/>
              </a:rPr>
              <a:t>DOCUMENTATION</a:t>
            </a:r>
            <a:endParaRPr lang="en-US" sz="1425" dirty="0"/>
          </a:p>
        </p:txBody>
      </p:sp>
      <p:sp>
        <p:nvSpPr>
          <p:cNvPr id="43" name="Shape 41"/>
          <p:cNvSpPr/>
          <p:nvPr/>
        </p:nvSpPr>
        <p:spPr>
          <a:xfrm>
            <a:off x="3143250" y="5000625"/>
            <a:ext cx="6537573" cy="9525"/>
          </a:xfrm>
          <a:prstGeom prst="rect">
            <a:avLst/>
          </a:prstGeom>
          <a:solidFill>
            <a:srgbClr val="E0DCD3"/>
          </a:solidFill>
          <a:ln/>
        </p:spPr>
      </p:sp>
      <p:sp>
        <p:nvSpPr>
          <p:cNvPr id="44" name="Text 42"/>
          <p:cNvSpPr/>
          <p:nvPr/>
        </p:nvSpPr>
        <p:spPr>
          <a:xfrm>
            <a:off x="3219450" y="4686300"/>
            <a:ext cx="6581300" cy="2667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Docs, wikis, runbooks — no executable data path</a:t>
            </a:r>
            <a:endParaRPr lang="en-US" sz="1425" dirty="0"/>
          </a:p>
        </p:txBody>
      </p:sp>
      <p:sp>
        <p:nvSpPr>
          <p:cNvPr id="45" name="Shape 43"/>
          <p:cNvSpPr/>
          <p:nvPr/>
        </p:nvSpPr>
        <p:spPr>
          <a:xfrm>
            <a:off x="9680823" y="5000625"/>
            <a:ext cx="7845028" cy="9525"/>
          </a:xfrm>
          <a:prstGeom prst="rect">
            <a:avLst/>
          </a:prstGeom>
          <a:solidFill>
            <a:srgbClr val="E0DCD3"/>
          </a:solidFill>
          <a:ln/>
        </p:spPr>
      </p:sp>
      <p:sp>
        <p:nvSpPr>
          <p:cNvPr id="46" name="Text 44"/>
          <p:cNvSpPr/>
          <p:nvPr/>
        </p:nvSpPr>
        <p:spPr>
          <a:xfrm>
            <a:off x="9757023" y="4686300"/>
            <a:ext cx="7927979" cy="2667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Explainable NO_LINEAGE_IMPACT record, zero compute spent</a:t>
            </a:r>
            <a:endParaRPr lang="en-US" sz="1425" dirty="0"/>
          </a:p>
        </p:txBody>
      </p:sp>
      <p:sp>
        <p:nvSpPr>
          <p:cNvPr id="47" name="Shape 45"/>
          <p:cNvSpPr/>
          <p:nvPr/>
        </p:nvSpPr>
        <p:spPr>
          <a:xfrm>
            <a:off x="762000" y="5410200"/>
            <a:ext cx="2381250" cy="9525"/>
          </a:xfrm>
          <a:prstGeom prst="rect">
            <a:avLst/>
          </a:prstGeom>
          <a:solidFill>
            <a:srgbClr val="E0DCD3"/>
          </a:solidFill>
          <a:ln/>
        </p:spPr>
      </p:sp>
      <p:sp>
        <p:nvSpPr>
          <p:cNvPr id="48" name="Text 46"/>
          <p:cNvSpPr/>
          <p:nvPr/>
        </p:nvSpPr>
        <p:spPr>
          <a:xfrm>
            <a:off x="838200" y="5095875"/>
            <a:ext cx="2305050" cy="266700"/>
          </a:xfrm>
          <a:prstGeom prst="rect">
            <a:avLst/>
          </a:prstGeom>
          <a:noFill/>
          <a:ln/>
        </p:spPr>
        <p:txBody>
          <a:bodyPr wrap="square" lIns="25400" tIns="25400" rIns="25400" bIns="25400" rtlCol="0" anchor="t">
            <a:normAutofit/>
          </a:bodyPr>
          <a:lstStyle/>
          <a:p>
            <a:pPr algn="l" indent="0" marL="0">
              <a:buNone/>
            </a:pPr>
            <a:r>
              <a:rPr lang="en-US" sz="1425" dirty="0">
                <a:solidFill>
                  <a:srgbClr val="191C20"/>
                </a:solidFill>
                <a:latin typeface="IBM Plex Mono" pitchFamily="34" charset="0"/>
                <a:ea typeface="IBM Plex Mono" pitchFamily="34" charset="-122"/>
                <a:cs typeface="IBM Plex Mono" pitchFamily="34" charset="-120"/>
              </a:rPr>
              <a:t>MIXED MONOREPO</a:t>
            </a:r>
            <a:endParaRPr lang="en-US" sz="1425" dirty="0"/>
          </a:p>
        </p:txBody>
      </p:sp>
      <p:sp>
        <p:nvSpPr>
          <p:cNvPr id="49" name="Shape 47"/>
          <p:cNvSpPr/>
          <p:nvPr/>
        </p:nvSpPr>
        <p:spPr>
          <a:xfrm>
            <a:off x="3143250" y="5410200"/>
            <a:ext cx="6537573" cy="9525"/>
          </a:xfrm>
          <a:prstGeom prst="rect">
            <a:avLst/>
          </a:prstGeom>
          <a:solidFill>
            <a:srgbClr val="E0DCD3"/>
          </a:solidFill>
          <a:ln/>
        </p:spPr>
      </p:sp>
      <p:sp>
        <p:nvSpPr>
          <p:cNvPr id="50" name="Text 48"/>
          <p:cNvSpPr/>
          <p:nvPr/>
        </p:nvSpPr>
        <p:spPr>
          <a:xfrm>
            <a:off x="3219450" y="5095875"/>
            <a:ext cx="6581300" cy="2667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One repo, several kinds of content under different paths</a:t>
            </a:r>
            <a:endParaRPr lang="en-US" sz="1425" dirty="0"/>
          </a:p>
        </p:txBody>
      </p:sp>
      <p:sp>
        <p:nvSpPr>
          <p:cNvPr id="51" name="Shape 49"/>
          <p:cNvSpPr/>
          <p:nvPr/>
        </p:nvSpPr>
        <p:spPr>
          <a:xfrm>
            <a:off x="9680823" y="5410200"/>
            <a:ext cx="7845028" cy="9525"/>
          </a:xfrm>
          <a:prstGeom prst="rect">
            <a:avLst/>
          </a:prstGeom>
          <a:solidFill>
            <a:srgbClr val="E0DCD3"/>
          </a:solidFill>
          <a:ln/>
        </p:spPr>
      </p:sp>
      <p:sp>
        <p:nvSpPr>
          <p:cNvPr id="52" name="Text 50"/>
          <p:cNvSpPr/>
          <p:nvPr/>
        </p:nvSpPr>
        <p:spPr>
          <a:xfrm>
            <a:off x="9757023" y="5095875"/>
            <a:ext cx="7927979" cy="2667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Path-level routing — each eligible path treated by its own class above</a:t>
            </a:r>
            <a:endParaRPr lang="en-US" sz="1425" dirty="0"/>
          </a:p>
        </p:txBody>
      </p:sp>
      <p:sp>
        <p:nvSpPr>
          <p:cNvPr id="53" name="Shape 51"/>
          <p:cNvSpPr/>
          <p:nvPr/>
        </p:nvSpPr>
        <p:spPr>
          <a:xfrm>
            <a:off x="762000" y="5819775"/>
            <a:ext cx="2381250" cy="9525"/>
          </a:xfrm>
          <a:prstGeom prst="rect">
            <a:avLst/>
          </a:prstGeom>
          <a:solidFill>
            <a:srgbClr val="E0DCD3"/>
          </a:solidFill>
          <a:ln/>
        </p:spPr>
      </p:sp>
      <p:sp>
        <p:nvSpPr>
          <p:cNvPr id="54" name="Text 52"/>
          <p:cNvSpPr/>
          <p:nvPr/>
        </p:nvSpPr>
        <p:spPr>
          <a:xfrm>
            <a:off x="838200" y="5505450"/>
            <a:ext cx="2305050" cy="266700"/>
          </a:xfrm>
          <a:prstGeom prst="rect">
            <a:avLst/>
          </a:prstGeom>
          <a:noFill/>
          <a:ln/>
        </p:spPr>
        <p:txBody>
          <a:bodyPr wrap="square" lIns="25400" tIns="25400" rIns="25400" bIns="25400" rtlCol="0" anchor="t">
            <a:normAutofit/>
          </a:bodyPr>
          <a:lstStyle/>
          <a:p>
            <a:pPr algn="l" indent="0" marL="0">
              <a:buNone/>
            </a:pPr>
            <a:r>
              <a:rPr lang="en-US" sz="1425" dirty="0">
                <a:solidFill>
                  <a:srgbClr val="191C20"/>
                </a:solidFill>
                <a:latin typeface="IBM Plex Mono" pitchFamily="34" charset="0"/>
                <a:ea typeface="IBM Plex Mono" pitchFamily="34" charset="-122"/>
                <a:cs typeface="IBM Plex Mono" pitchFamily="34" charset="-120"/>
              </a:rPr>
              <a:t>UNKNOWN</a:t>
            </a:r>
            <a:endParaRPr lang="en-US" sz="1425" dirty="0"/>
          </a:p>
        </p:txBody>
      </p:sp>
      <p:sp>
        <p:nvSpPr>
          <p:cNvPr id="55" name="Shape 53"/>
          <p:cNvSpPr/>
          <p:nvPr/>
        </p:nvSpPr>
        <p:spPr>
          <a:xfrm>
            <a:off x="3143250" y="5819775"/>
            <a:ext cx="6537573" cy="9525"/>
          </a:xfrm>
          <a:prstGeom prst="rect">
            <a:avLst/>
          </a:prstGeom>
          <a:solidFill>
            <a:srgbClr val="E0DCD3"/>
          </a:solidFill>
          <a:ln/>
        </p:spPr>
      </p:sp>
      <p:sp>
        <p:nvSpPr>
          <p:cNvPr id="56" name="Text 54"/>
          <p:cNvSpPr/>
          <p:nvPr/>
        </p:nvSpPr>
        <p:spPr>
          <a:xfrm>
            <a:off x="3219450" y="5505450"/>
            <a:ext cx="6581300" cy="2667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Evidence conflicts or is missing — never silently guessed</a:t>
            </a:r>
            <a:endParaRPr lang="en-US" sz="1425" dirty="0"/>
          </a:p>
        </p:txBody>
      </p:sp>
      <p:sp>
        <p:nvSpPr>
          <p:cNvPr id="57" name="Shape 55"/>
          <p:cNvSpPr/>
          <p:nvPr/>
        </p:nvSpPr>
        <p:spPr>
          <a:xfrm>
            <a:off x="9680823" y="5819775"/>
            <a:ext cx="7845028" cy="9525"/>
          </a:xfrm>
          <a:prstGeom prst="rect">
            <a:avLst/>
          </a:prstGeom>
          <a:solidFill>
            <a:srgbClr val="E0DCD3"/>
          </a:solidFill>
          <a:ln/>
        </p:spPr>
      </p:sp>
      <p:sp>
        <p:nvSpPr>
          <p:cNvPr id="58" name="Text 56"/>
          <p:cNvSpPr/>
          <p:nvPr/>
        </p:nvSpPr>
        <p:spPr>
          <a:xfrm>
            <a:off x="9757023" y="5505450"/>
            <a:ext cx="7927979" cy="2667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Quarantined for classification review; a critical UNKNOWN blocks baseline completion</a:t>
            </a:r>
            <a:endParaRPr lang="en-US" sz="1425" dirty="0"/>
          </a:p>
        </p:txBody>
      </p:sp>
      <p:sp>
        <p:nvSpPr>
          <p:cNvPr id="59" name="Shape 57"/>
          <p:cNvSpPr/>
          <p:nvPr/>
        </p:nvSpPr>
        <p:spPr>
          <a:xfrm>
            <a:off x="762000" y="5962650"/>
            <a:ext cx="8324850" cy="1019175"/>
          </a:xfrm>
          <a:prstGeom prst="rect">
            <a:avLst/>
          </a:prstGeom>
          <a:solidFill>
            <a:srgbClr val="FFFFFF"/>
          </a:solidFill>
          <a:ln w="9525">
            <a:solidFill>
              <a:srgbClr val="E0DCD3"/>
            </a:solidFill>
            <a:prstDash val="solid"/>
          </a:ln>
        </p:spPr>
      </p:sp>
      <p:sp>
        <p:nvSpPr>
          <p:cNvPr id="60" name="Text 58"/>
          <p:cNvSpPr/>
          <p:nvPr/>
        </p:nvSpPr>
        <p:spPr>
          <a:xfrm>
            <a:off x="962025" y="6086475"/>
            <a:ext cx="8174546" cy="809625"/>
          </a:xfrm>
          <a:prstGeom prst="rect">
            <a:avLst/>
          </a:prstGeom>
          <a:noFill/>
          <a:ln/>
        </p:spPr>
        <p:txBody>
          <a:bodyPr wrap="square" lIns="25400" tIns="25400" rIns="25400" bIns="25400" rtlCol="0" anchor="t">
            <a:normAutofit/>
          </a:bodyPr>
          <a:lstStyle/>
          <a:p>
            <a:pPr algn="l" indent="0" marL="0">
              <a:lnSpc>
                <a:spcPct val="114792"/>
              </a:lnSpc>
              <a:buNone/>
            </a:pPr>
            <a:r>
              <a:rPr lang="en-US" sz="1425" dirty="0">
                <a:solidFill>
                  <a:srgbClr val="3D5A48"/>
                </a:solidFill>
                <a:latin typeface="IBM Plex Mono" pitchFamily="34" charset="0"/>
                <a:ea typeface="IBM Plex Mono" pitchFamily="34" charset="-122"/>
                <a:cs typeface="IBM Plex Mono" pitchFamily="34" charset="-120"/>
              </a:rPr>
              <a:t>CONDITIONAL LANES </a:t>
            </a:r>
            <a:pPr algn="l" indent="0" marL="0">
              <a:lnSpc>
                <a:spcPct val="114792"/>
              </a:lnSpc>
              <a:buNone/>
            </a:pPr>
            <a:r>
              <a:rPr lang="en-US" sz="1425" dirty="0">
                <a:solidFill>
                  <a:srgbClr val="4D535B"/>
                </a:solidFill>
                <a:highlight>
                  <a:srgbClr val="FFFFFF"/>
                </a:highlight>
                <a:latin typeface="IBM Plex Sans" pitchFamily="34" charset="0"/>
                <a:ea typeface="IBM Plex Sans" pitchFamily="34" charset="-122"/>
                <a:cs typeface="IBM Plex Sans" pitchFamily="34" charset="-120"/>
              </a:rPr>
              <a:t>— LLM gateway runs only while named unresolved holes remain — cached by (digest, prompt), cited, capped · integration-test sessions run only when the evidence plan requires them · Spark &amp; Dask native lineage streams on every job run</a:t>
            </a:r>
            <a:endParaRPr lang="en-US" sz="1425" dirty="0"/>
          </a:p>
        </p:txBody>
      </p:sp>
      <p:sp>
        <p:nvSpPr>
          <p:cNvPr id="61" name="Shape 59"/>
          <p:cNvSpPr/>
          <p:nvPr/>
        </p:nvSpPr>
        <p:spPr>
          <a:xfrm>
            <a:off x="9201150" y="5962650"/>
            <a:ext cx="8324850" cy="1019175"/>
          </a:xfrm>
          <a:prstGeom prst="rect">
            <a:avLst/>
          </a:prstGeom>
          <a:solidFill>
            <a:srgbClr val="FFFFFF"/>
          </a:solidFill>
          <a:ln w="9525">
            <a:solidFill>
              <a:srgbClr val="E0DCD3"/>
            </a:solidFill>
            <a:prstDash val="solid"/>
          </a:ln>
        </p:spPr>
      </p:sp>
      <p:sp>
        <p:nvSpPr>
          <p:cNvPr id="62" name="Text 60"/>
          <p:cNvSpPr/>
          <p:nvPr/>
        </p:nvSpPr>
        <p:spPr>
          <a:xfrm>
            <a:off x="9401175" y="6086475"/>
            <a:ext cx="8174546" cy="809625"/>
          </a:xfrm>
          <a:prstGeom prst="rect">
            <a:avLst/>
          </a:prstGeom>
          <a:noFill/>
          <a:ln/>
        </p:spPr>
        <p:txBody>
          <a:bodyPr wrap="square" lIns="25400" tIns="25400" rIns="25400" bIns="25400" rtlCol="0" anchor="t">
            <a:normAutofit/>
          </a:bodyPr>
          <a:lstStyle/>
          <a:p>
            <a:pPr algn="l" indent="0" marL="0">
              <a:lnSpc>
                <a:spcPct val="114792"/>
              </a:lnSpc>
              <a:buNone/>
            </a:pPr>
            <a:r>
              <a:rPr lang="en-US" sz="1425" dirty="0">
                <a:solidFill>
                  <a:srgbClr val="3D5A48"/>
                </a:solidFill>
                <a:latin typeface="IBM Plex Mono" pitchFamily="34" charset="0"/>
                <a:ea typeface="IBM Plex Mono" pitchFamily="34" charset="-122"/>
                <a:cs typeface="IBM Plex Mono" pitchFamily="34" charset="-120"/>
              </a:rPr>
              <a:t>COMPLETION RULES </a:t>
            </a:r>
            <a:pPr algn="l" indent="0" marL="0">
              <a:lnSpc>
                <a:spcPct val="114792"/>
              </a:lnSpc>
              <a:buNone/>
            </a:pPr>
            <a:r>
              <a:rPr lang="en-US" sz="1425" dirty="0">
                <a:solidFill>
                  <a:srgbClr val="4D535B"/>
                </a:solidFill>
                <a:highlight>
                  <a:srgbClr val="FFFFFF"/>
                </a:highlight>
                <a:latin typeface="IBM Plex Sans" pitchFamily="34" charset="0"/>
                <a:ea typeface="IBM Plex Sans" pitchFamily="34" charset="-122"/>
                <a:cs typeface="IBM Plex Sans" pitchFamily="34" charset="-120"/>
              </a:rPr>
              <a:t>— a baseline cannot complete while a critical active repository remains UNKNOWN · partial failure is first-class: a failed repo shows as an error in coverage, never a silent gap</a:t>
            </a:r>
            <a:endParaRPr lang="en-US" sz="142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762000" y="342900"/>
            <a:ext cx="17266920" cy="685800"/>
          </a:xfrm>
          <a:prstGeom prst="rect">
            <a:avLst/>
          </a:prstGeom>
          <a:noFill/>
          <a:ln/>
        </p:spPr>
        <p:txBody>
          <a:bodyPr wrap="square" lIns="25400" tIns="25400" rIns="25400" bIns="25400" rtlCol="0" anchor="t">
            <a:normAutofit/>
          </a:bodyPr>
          <a:lstStyle/>
          <a:p>
            <a:pPr algn="l" indent="0" marL="0">
              <a:buNone/>
            </a:pPr>
            <a:r>
              <a:rPr lang="en-US" sz="1950" spc="312" kern="0" dirty="0">
                <a:solidFill>
                  <a:srgbClr val="4D535B"/>
                </a:solidFill>
                <a:latin typeface="IBM Plex Mono" pitchFamily="34" charset="0"/>
                <a:ea typeface="IBM Plex Mono" pitchFamily="34" charset="-122"/>
                <a:cs typeface="IBM Plex Mono" pitchFamily="34" charset="-120"/>
              </a:rPr>
              <a:t>08 · INCREMENTAL · REPO + DIGEST · QUEUE events · PARSERS → AST · LLM ON CACHE MISS → URN MERGE</a:t>
            </a:r>
            <a:endParaRPr lang="en-US" sz="1950" dirty="0"/>
          </a:p>
        </p:txBody>
      </p:sp>
      <p:sp>
        <p:nvSpPr>
          <p:cNvPr id="3" name="Text 1"/>
          <p:cNvSpPr/>
          <p:nvPr/>
        </p:nvSpPr>
        <p:spPr>
          <a:xfrm>
            <a:off x="762000" y="1085850"/>
            <a:ext cx="18440400" cy="771525"/>
          </a:xfrm>
          <a:prstGeom prst="rect">
            <a:avLst/>
          </a:prstGeom>
          <a:noFill/>
          <a:ln/>
        </p:spPr>
        <p:txBody>
          <a:bodyPr wrap="square" lIns="25400" tIns="25400" rIns="25400" bIns="25400" rtlCol="0" anchor="t">
            <a:normAutofit/>
          </a:bodyPr>
          <a:lstStyle/>
          <a:p>
            <a:pPr algn="l" indent="0" marL="0">
              <a:buNone/>
            </a:pPr>
            <a:r>
              <a:rPr lang="en-US" sz="4500" b="1" dirty="0">
                <a:solidFill>
                  <a:srgbClr val="191C20"/>
                </a:solidFill>
                <a:latin typeface="IBM Plex Sans" pitchFamily="34" charset="0"/>
                <a:ea typeface="IBM Plex Sans" pitchFamily="34" charset="-122"/>
                <a:cs typeface="IBM Plex Sans" pitchFamily="34" charset="-120"/>
              </a:rPr>
              <a:t>Incremental Update Flow</a:t>
            </a:r>
            <a:endParaRPr lang="en-US" sz="4500" dirty="0"/>
          </a:p>
        </p:txBody>
      </p:sp>
      <p:sp>
        <p:nvSpPr>
          <p:cNvPr id="4" name="Shape 2"/>
          <p:cNvSpPr/>
          <p:nvPr/>
        </p:nvSpPr>
        <p:spPr>
          <a:xfrm>
            <a:off x="762000" y="2009775"/>
            <a:ext cx="3948112" cy="1504950"/>
          </a:xfrm>
          <a:prstGeom prst="rect">
            <a:avLst/>
          </a:prstGeom>
          <a:solidFill>
            <a:srgbClr val="FFFFFF"/>
          </a:solidFill>
          <a:ln w="9525">
            <a:solidFill>
              <a:srgbClr val="E0DCD3"/>
            </a:solidFill>
            <a:prstDash val="solid"/>
          </a:ln>
        </p:spPr>
      </p:sp>
      <p:pic>
        <p:nvPicPr>
          <p:cNvPr id="5" name="Image 0" descr="preencoded.png">    </p:cNvPr>
          <p:cNvPicPr>
            <a:picLocks noChangeAspect="1"/>
          </p:cNvPicPr>
          <p:nvPr/>
        </p:nvPicPr>
        <p:blipFill>
          <a:blip r:embed="rId1"/>
          <a:stretch>
            <a:fillRect/>
          </a:stretch>
        </p:blipFill>
        <p:spPr>
          <a:xfrm>
            <a:off x="923925" y="2152650"/>
            <a:ext cx="342900" cy="342900"/>
          </a:xfrm>
          <a:prstGeom prst="rect">
            <a:avLst/>
          </a:prstGeom>
        </p:spPr>
      </p:pic>
      <p:sp>
        <p:nvSpPr>
          <p:cNvPr id="6" name="Text 3"/>
          <p:cNvSpPr/>
          <p:nvPr/>
        </p:nvSpPr>
        <p:spPr>
          <a:xfrm>
            <a:off x="1362075" y="2171700"/>
            <a:ext cx="2134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A8551F"/>
                </a:solidFill>
                <a:latin typeface="IBM Plex Mono" pitchFamily="34" charset="0"/>
                <a:ea typeface="IBM Plex Mono" pitchFamily="34" charset="-122"/>
                <a:cs typeface="IBM Plex Mono" pitchFamily="34" charset="-120"/>
              </a:rPr>
              <a:t>1</a:t>
            </a:r>
            <a:endParaRPr lang="en-US" sz="1800" dirty="0"/>
          </a:p>
        </p:txBody>
      </p:sp>
      <p:sp>
        <p:nvSpPr>
          <p:cNvPr id="7" name="Text 4"/>
          <p:cNvSpPr/>
          <p:nvPr/>
        </p:nvSpPr>
        <p:spPr>
          <a:xfrm>
            <a:off x="923925" y="2552700"/>
            <a:ext cx="3986689" cy="323850"/>
          </a:xfrm>
          <a:prstGeom prst="rect">
            <a:avLst/>
          </a:prstGeom>
          <a:noFill/>
          <a:ln/>
        </p:spPr>
        <p:txBody>
          <a:bodyPr wrap="square" lIns="25400" tIns="25400" rIns="25400" bIns="25400" rtlCol="0" anchor="t">
            <a:normAutofit/>
          </a:bodyPr>
          <a:lstStyle/>
          <a:p>
            <a:pPr algn="l" indent="0" marL="0">
              <a:lnSpc>
                <a:spcPct val="93750"/>
              </a:lnSpc>
              <a:buNone/>
            </a:pPr>
            <a:r>
              <a:rPr lang="en-US" sz="1800" b="1" dirty="0">
                <a:solidFill>
                  <a:srgbClr val="191C20"/>
                </a:solidFill>
                <a:latin typeface="IBM Plex Sans" pitchFamily="34" charset="0"/>
                <a:ea typeface="IBM Plex Sans" pitchFamily="34" charset="-122"/>
                <a:cs typeface="IBM Plex Sans" pitchFamily="34" charset="-120"/>
              </a:rPr>
              <a:t>SCM / deploy event</a:t>
            </a:r>
            <a:endParaRPr lang="en-US" sz="1800" dirty="0"/>
          </a:p>
        </p:txBody>
      </p:sp>
      <p:sp>
        <p:nvSpPr>
          <p:cNvPr id="8" name="Text 5"/>
          <p:cNvSpPr/>
          <p:nvPr/>
        </p:nvSpPr>
        <p:spPr>
          <a:xfrm>
            <a:off x="923925" y="2895600"/>
            <a:ext cx="3732990" cy="514350"/>
          </a:xfrm>
          <a:prstGeom prst="rect">
            <a:avLst/>
          </a:prstGeom>
          <a:noFill/>
          <a:ln/>
        </p:spPr>
        <p:txBody>
          <a:bodyPr wrap="square" lIns="25400" tIns="25400" rIns="25400" bIns="25400" rtlCol="0" anchor="t">
            <a:normAutofit/>
          </a:bodyPr>
          <a:lstStyle/>
          <a:p>
            <a:pPr algn="l" indent="0" marL="0">
              <a:lnSpc>
                <a:spcPct val="106875"/>
              </a:lnSpc>
              <a:buNone/>
            </a:pPr>
            <a:r>
              <a:rPr lang="en-US" sz="1425" dirty="0">
                <a:solidFill>
                  <a:srgbClr val="4D535B"/>
                </a:solidFill>
                <a:latin typeface="IBM Plex Sans" pitchFamily="34" charset="0"/>
                <a:ea typeface="IBM Plex Sans" pitchFamily="34" charset="-122"/>
                <a:cs typeface="IBM Plex Sans" pitchFamily="34" charset="-120"/>
              </a:rPr>
              <a:t>repo.push (org, repo, sha) · deploy (digest, env) · queue events</a:t>
            </a:r>
            <a:endParaRPr lang="en-US" sz="1425" dirty="0"/>
          </a:p>
        </p:txBody>
      </p:sp>
      <p:sp>
        <p:nvSpPr>
          <p:cNvPr id="9" name="Text 6"/>
          <p:cNvSpPr/>
          <p:nvPr/>
        </p:nvSpPr>
        <p:spPr>
          <a:xfrm>
            <a:off x="4672013" y="2009775"/>
            <a:ext cx="400050" cy="1543050"/>
          </a:xfrm>
          <a:prstGeom prst="rect">
            <a:avLst/>
          </a:prstGeom>
          <a:noFill/>
          <a:ln/>
        </p:spPr>
        <p:txBody>
          <a:bodyPr wrap="square" lIns="25400" tIns="25400" rIns="25400" bIns="25400" rtlCol="0" anchor="ctr">
            <a:normAutofit/>
          </a:bodyPr>
          <a:lstStyle/>
          <a:p>
            <a:pPr algn="ctr" indent="0" marL="0">
              <a:buNone/>
            </a:pPr>
            <a:r>
              <a:rPr lang="en-US" sz="2250" dirty="0">
                <a:solidFill>
                  <a:srgbClr val="9AA0A8"/>
                </a:solidFill>
                <a:latin typeface="IBM Plex Sans" pitchFamily="34" charset="0"/>
                <a:ea typeface="IBM Plex Sans" pitchFamily="34" charset="-122"/>
                <a:cs typeface="IBM Plex Sans" pitchFamily="34" charset="-120"/>
              </a:rPr>
              <a:t>→</a:t>
            </a:r>
            <a:endParaRPr lang="en-US" sz="2250" dirty="0"/>
          </a:p>
        </p:txBody>
      </p:sp>
      <p:sp>
        <p:nvSpPr>
          <p:cNvPr id="10" name="Shape 7"/>
          <p:cNvSpPr/>
          <p:nvPr/>
        </p:nvSpPr>
        <p:spPr>
          <a:xfrm>
            <a:off x="5033963" y="2009775"/>
            <a:ext cx="3948112" cy="1504950"/>
          </a:xfrm>
          <a:prstGeom prst="rect">
            <a:avLst/>
          </a:prstGeom>
          <a:solidFill>
            <a:srgbClr val="FFFFFF"/>
          </a:solidFill>
          <a:ln w="9525">
            <a:solidFill>
              <a:srgbClr val="E0DCD3"/>
            </a:solidFill>
            <a:prstDash val="solid"/>
          </a:ln>
        </p:spPr>
      </p:sp>
      <p:pic>
        <p:nvPicPr>
          <p:cNvPr id="11" name="Image 1" descr="preencoded.png">    </p:cNvPr>
          <p:cNvPicPr>
            <a:picLocks noChangeAspect="1"/>
          </p:cNvPicPr>
          <p:nvPr/>
        </p:nvPicPr>
        <p:blipFill>
          <a:blip r:embed="rId2"/>
          <a:stretch>
            <a:fillRect/>
          </a:stretch>
        </p:blipFill>
        <p:spPr>
          <a:xfrm>
            <a:off x="5195888" y="2152650"/>
            <a:ext cx="342900" cy="342900"/>
          </a:xfrm>
          <a:prstGeom prst="rect">
            <a:avLst/>
          </a:prstGeom>
        </p:spPr>
      </p:pic>
      <p:sp>
        <p:nvSpPr>
          <p:cNvPr id="12" name="Text 8"/>
          <p:cNvSpPr/>
          <p:nvPr/>
        </p:nvSpPr>
        <p:spPr>
          <a:xfrm>
            <a:off x="5634038" y="2171700"/>
            <a:ext cx="2134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A8551F"/>
                </a:solidFill>
                <a:latin typeface="IBM Plex Mono" pitchFamily="34" charset="0"/>
                <a:ea typeface="IBM Plex Mono" pitchFamily="34" charset="-122"/>
                <a:cs typeface="IBM Plex Mono" pitchFamily="34" charset="-120"/>
              </a:rPr>
              <a:t>2</a:t>
            </a:r>
            <a:endParaRPr lang="en-US" sz="1800" dirty="0"/>
          </a:p>
        </p:txBody>
      </p:sp>
      <p:sp>
        <p:nvSpPr>
          <p:cNvPr id="13" name="Text 9"/>
          <p:cNvSpPr/>
          <p:nvPr/>
        </p:nvSpPr>
        <p:spPr>
          <a:xfrm>
            <a:off x="5195888" y="2552700"/>
            <a:ext cx="3986689" cy="323850"/>
          </a:xfrm>
          <a:prstGeom prst="rect">
            <a:avLst/>
          </a:prstGeom>
          <a:noFill/>
          <a:ln/>
        </p:spPr>
        <p:txBody>
          <a:bodyPr wrap="square" lIns="25400" tIns="25400" rIns="25400" bIns="25400" rtlCol="0" anchor="t">
            <a:normAutofit/>
          </a:bodyPr>
          <a:lstStyle/>
          <a:p>
            <a:pPr algn="l" indent="0" marL="0">
              <a:lnSpc>
                <a:spcPct val="93750"/>
              </a:lnSpc>
              <a:buNone/>
            </a:pPr>
            <a:r>
              <a:rPr lang="en-US" sz="1800" b="1" dirty="0">
                <a:solidFill>
                  <a:srgbClr val="191C20"/>
                </a:solidFill>
                <a:latin typeface="IBM Plex Sans" pitchFamily="34" charset="0"/>
                <a:ea typeface="IBM Plex Sans" pitchFamily="34" charset="-122"/>
                <a:cs typeface="IBM Plex Sans" pitchFamily="34" charset="-120"/>
              </a:rPr>
              <a:t>Class gate</a:t>
            </a:r>
            <a:endParaRPr lang="en-US" sz="1800" dirty="0"/>
          </a:p>
        </p:txBody>
      </p:sp>
      <p:sp>
        <p:nvSpPr>
          <p:cNvPr id="14" name="Text 10"/>
          <p:cNvSpPr/>
          <p:nvPr/>
        </p:nvSpPr>
        <p:spPr>
          <a:xfrm>
            <a:off x="5195888" y="2895600"/>
            <a:ext cx="3732990" cy="514350"/>
          </a:xfrm>
          <a:prstGeom prst="rect">
            <a:avLst/>
          </a:prstGeom>
          <a:noFill/>
          <a:ln/>
        </p:spPr>
        <p:txBody>
          <a:bodyPr wrap="square" lIns="25400" tIns="25400" rIns="25400" bIns="25400" rtlCol="0" anchor="t">
            <a:normAutofit/>
          </a:bodyPr>
          <a:lstStyle/>
          <a:p>
            <a:pPr algn="l" indent="0" marL="0">
              <a:lnSpc>
                <a:spcPct val="106875"/>
              </a:lnSpc>
              <a:buNone/>
            </a:pPr>
            <a:r>
              <a:rPr lang="en-US" sz="1425" dirty="0">
                <a:solidFill>
                  <a:srgbClr val="4D535B"/>
                </a:solidFill>
                <a:latin typeface="IBM Plex Sans" pitchFamily="34" charset="0"/>
                <a:ea typeface="IBM Plex Sans" pitchFamily="34" charset="-122"/>
                <a:cs typeface="IBM Plex Sans" pitchFamily="34" charset="-120"/>
              </a:rPr>
              <a:t>eligibility + dependency index loaded from DDB</a:t>
            </a:r>
            <a:endParaRPr lang="en-US" sz="1425" dirty="0"/>
          </a:p>
        </p:txBody>
      </p:sp>
      <p:sp>
        <p:nvSpPr>
          <p:cNvPr id="15" name="Text 11"/>
          <p:cNvSpPr/>
          <p:nvPr/>
        </p:nvSpPr>
        <p:spPr>
          <a:xfrm>
            <a:off x="8943975" y="2009775"/>
            <a:ext cx="400050" cy="1543050"/>
          </a:xfrm>
          <a:prstGeom prst="rect">
            <a:avLst/>
          </a:prstGeom>
          <a:noFill/>
          <a:ln/>
        </p:spPr>
        <p:txBody>
          <a:bodyPr wrap="square" lIns="25400" tIns="25400" rIns="25400" bIns="25400" rtlCol="0" anchor="ctr">
            <a:normAutofit/>
          </a:bodyPr>
          <a:lstStyle/>
          <a:p>
            <a:pPr algn="ctr" indent="0" marL="0">
              <a:buNone/>
            </a:pPr>
            <a:r>
              <a:rPr lang="en-US" sz="2250" dirty="0">
                <a:solidFill>
                  <a:srgbClr val="9AA0A8"/>
                </a:solidFill>
                <a:latin typeface="IBM Plex Sans" pitchFamily="34" charset="0"/>
                <a:ea typeface="IBM Plex Sans" pitchFamily="34" charset="-122"/>
                <a:cs typeface="IBM Plex Sans" pitchFamily="34" charset="-120"/>
              </a:rPr>
              <a:t>→</a:t>
            </a:r>
            <a:endParaRPr lang="en-US" sz="2250" dirty="0"/>
          </a:p>
        </p:txBody>
      </p:sp>
      <p:sp>
        <p:nvSpPr>
          <p:cNvPr id="16" name="Shape 12"/>
          <p:cNvSpPr/>
          <p:nvPr/>
        </p:nvSpPr>
        <p:spPr>
          <a:xfrm>
            <a:off x="9305925" y="2009775"/>
            <a:ext cx="3948112" cy="1504950"/>
          </a:xfrm>
          <a:prstGeom prst="rect">
            <a:avLst/>
          </a:prstGeom>
          <a:solidFill>
            <a:srgbClr val="FFFFFF"/>
          </a:solidFill>
          <a:ln w="9525">
            <a:solidFill>
              <a:srgbClr val="E0DCD3"/>
            </a:solidFill>
            <a:prstDash val="solid"/>
          </a:ln>
        </p:spPr>
      </p:sp>
      <p:pic>
        <p:nvPicPr>
          <p:cNvPr id="17" name="Image 2" descr="preencoded.png">    </p:cNvPr>
          <p:cNvPicPr>
            <a:picLocks noChangeAspect="1"/>
          </p:cNvPicPr>
          <p:nvPr/>
        </p:nvPicPr>
        <p:blipFill>
          <a:blip r:embed="rId3"/>
          <a:stretch>
            <a:fillRect/>
          </a:stretch>
        </p:blipFill>
        <p:spPr>
          <a:xfrm>
            <a:off x="9467850" y="2152650"/>
            <a:ext cx="342900" cy="342900"/>
          </a:xfrm>
          <a:prstGeom prst="rect">
            <a:avLst/>
          </a:prstGeom>
        </p:spPr>
      </p:pic>
      <p:sp>
        <p:nvSpPr>
          <p:cNvPr id="18" name="Text 13"/>
          <p:cNvSpPr/>
          <p:nvPr/>
        </p:nvSpPr>
        <p:spPr>
          <a:xfrm>
            <a:off x="9906000" y="2171700"/>
            <a:ext cx="2134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A8551F"/>
                </a:solidFill>
                <a:latin typeface="IBM Plex Mono" pitchFamily="34" charset="0"/>
                <a:ea typeface="IBM Plex Mono" pitchFamily="34" charset="-122"/>
                <a:cs typeface="IBM Plex Mono" pitchFamily="34" charset="-120"/>
              </a:rPr>
              <a:t>3</a:t>
            </a:r>
            <a:endParaRPr lang="en-US" sz="1800" dirty="0"/>
          </a:p>
        </p:txBody>
      </p:sp>
      <p:sp>
        <p:nvSpPr>
          <p:cNvPr id="19" name="Text 14"/>
          <p:cNvSpPr/>
          <p:nvPr/>
        </p:nvSpPr>
        <p:spPr>
          <a:xfrm>
            <a:off x="9467850" y="2552700"/>
            <a:ext cx="3986689" cy="323850"/>
          </a:xfrm>
          <a:prstGeom prst="rect">
            <a:avLst/>
          </a:prstGeom>
          <a:noFill/>
          <a:ln/>
        </p:spPr>
        <p:txBody>
          <a:bodyPr wrap="square" lIns="25400" tIns="25400" rIns="25400" bIns="25400" rtlCol="0" anchor="t">
            <a:normAutofit/>
          </a:bodyPr>
          <a:lstStyle/>
          <a:p>
            <a:pPr algn="l" indent="0" marL="0">
              <a:lnSpc>
                <a:spcPct val="93750"/>
              </a:lnSpc>
              <a:buNone/>
            </a:pPr>
            <a:r>
              <a:rPr lang="en-US" sz="1800" b="1" dirty="0">
                <a:solidFill>
                  <a:srgbClr val="191C20"/>
                </a:solidFill>
                <a:latin typeface="IBM Plex Sans" pitchFamily="34" charset="0"/>
                <a:ea typeface="IBM Plex Sans" pitchFamily="34" charset="-122"/>
                <a:cs typeface="IBM Plex Sans" pitchFamily="34" charset="-120"/>
              </a:rPr>
              <a:t>Change classifier (ms)</a:t>
            </a:r>
            <a:endParaRPr lang="en-US" sz="1800" dirty="0"/>
          </a:p>
        </p:txBody>
      </p:sp>
      <p:sp>
        <p:nvSpPr>
          <p:cNvPr id="20" name="Text 15"/>
          <p:cNvSpPr/>
          <p:nvPr/>
        </p:nvSpPr>
        <p:spPr>
          <a:xfrm>
            <a:off x="9467850" y="2895600"/>
            <a:ext cx="3732990" cy="514350"/>
          </a:xfrm>
          <a:prstGeom prst="rect">
            <a:avLst/>
          </a:prstGeom>
          <a:noFill/>
          <a:ln/>
        </p:spPr>
        <p:txBody>
          <a:bodyPr wrap="square" lIns="25400" tIns="25400" rIns="25400" bIns="25400" rtlCol="0" anchor="t">
            <a:normAutofit/>
          </a:bodyPr>
          <a:lstStyle/>
          <a:p>
            <a:pPr algn="l" indent="0" marL="0">
              <a:lnSpc>
                <a:spcPct val="106875"/>
              </a:lnSpc>
              <a:buNone/>
            </a:pPr>
            <a:r>
              <a:rPr lang="en-US" sz="1425" dirty="0">
                <a:solidFill>
                  <a:srgbClr val="4D535B"/>
                </a:solidFill>
                <a:latin typeface="IBM Plex Sans" pitchFamily="34" charset="0"/>
                <a:ea typeface="IBM Plex Sans" pitchFamily="34" charset="-122"/>
                <a:cs typeface="IBM Plex Sans" pitchFamily="34" charset="-120"/>
              </a:rPr>
              <a:t>changed paths ∩ manifest globs ∩ determinant sets ∩ rule packs</a:t>
            </a:r>
            <a:endParaRPr lang="en-US" sz="1425" dirty="0"/>
          </a:p>
        </p:txBody>
      </p:sp>
      <p:sp>
        <p:nvSpPr>
          <p:cNvPr id="21" name="Text 16"/>
          <p:cNvSpPr/>
          <p:nvPr/>
        </p:nvSpPr>
        <p:spPr>
          <a:xfrm>
            <a:off x="13215938" y="2009775"/>
            <a:ext cx="400050" cy="1543050"/>
          </a:xfrm>
          <a:prstGeom prst="rect">
            <a:avLst/>
          </a:prstGeom>
          <a:noFill/>
          <a:ln/>
        </p:spPr>
        <p:txBody>
          <a:bodyPr wrap="square" lIns="25400" tIns="25400" rIns="25400" bIns="25400" rtlCol="0" anchor="ctr">
            <a:normAutofit/>
          </a:bodyPr>
          <a:lstStyle/>
          <a:p>
            <a:pPr algn="ctr" indent="0" marL="0">
              <a:buNone/>
            </a:pPr>
            <a:r>
              <a:rPr lang="en-US" sz="2250" dirty="0">
                <a:solidFill>
                  <a:srgbClr val="9AA0A8"/>
                </a:solidFill>
                <a:latin typeface="IBM Plex Sans" pitchFamily="34" charset="0"/>
                <a:ea typeface="IBM Plex Sans" pitchFamily="34" charset="-122"/>
                <a:cs typeface="IBM Plex Sans" pitchFamily="34" charset="-120"/>
              </a:rPr>
              <a:t>→</a:t>
            </a:r>
            <a:endParaRPr lang="en-US" sz="2250" dirty="0"/>
          </a:p>
        </p:txBody>
      </p:sp>
      <p:sp>
        <p:nvSpPr>
          <p:cNvPr id="22" name="Shape 17"/>
          <p:cNvSpPr/>
          <p:nvPr/>
        </p:nvSpPr>
        <p:spPr>
          <a:xfrm>
            <a:off x="13577888" y="2009775"/>
            <a:ext cx="3948112" cy="1504950"/>
          </a:xfrm>
          <a:prstGeom prst="rect">
            <a:avLst/>
          </a:prstGeom>
          <a:solidFill>
            <a:srgbClr val="FFFFFF"/>
          </a:solidFill>
          <a:ln w="9525">
            <a:solidFill>
              <a:srgbClr val="E0DCD3"/>
            </a:solidFill>
            <a:prstDash val="solid"/>
          </a:ln>
        </p:spPr>
      </p:sp>
      <p:pic>
        <p:nvPicPr>
          <p:cNvPr id="23" name="Image 3" descr="preencoded.png">    </p:cNvPr>
          <p:cNvPicPr>
            <a:picLocks noChangeAspect="1"/>
          </p:cNvPicPr>
          <p:nvPr/>
        </p:nvPicPr>
        <p:blipFill>
          <a:blip r:embed="rId4"/>
          <a:stretch>
            <a:fillRect/>
          </a:stretch>
        </p:blipFill>
        <p:spPr>
          <a:xfrm>
            <a:off x="13739813" y="2152650"/>
            <a:ext cx="342900" cy="342900"/>
          </a:xfrm>
          <a:prstGeom prst="rect">
            <a:avLst/>
          </a:prstGeom>
        </p:spPr>
      </p:pic>
      <p:sp>
        <p:nvSpPr>
          <p:cNvPr id="24" name="Text 18"/>
          <p:cNvSpPr/>
          <p:nvPr/>
        </p:nvSpPr>
        <p:spPr>
          <a:xfrm>
            <a:off x="14177963" y="2171700"/>
            <a:ext cx="2134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A8551F"/>
                </a:solidFill>
                <a:latin typeface="IBM Plex Mono" pitchFamily="34" charset="0"/>
                <a:ea typeface="IBM Plex Mono" pitchFamily="34" charset="-122"/>
                <a:cs typeface="IBM Plex Mono" pitchFamily="34" charset="-120"/>
              </a:rPr>
              <a:t>4</a:t>
            </a:r>
            <a:endParaRPr lang="en-US" sz="1800" dirty="0"/>
          </a:p>
        </p:txBody>
      </p:sp>
      <p:sp>
        <p:nvSpPr>
          <p:cNvPr id="25" name="Text 19"/>
          <p:cNvSpPr/>
          <p:nvPr/>
        </p:nvSpPr>
        <p:spPr>
          <a:xfrm>
            <a:off x="13739813" y="2552700"/>
            <a:ext cx="3986689" cy="323850"/>
          </a:xfrm>
          <a:prstGeom prst="rect">
            <a:avLst/>
          </a:prstGeom>
          <a:noFill/>
          <a:ln/>
        </p:spPr>
        <p:txBody>
          <a:bodyPr wrap="square" lIns="25400" tIns="25400" rIns="25400" bIns="25400" rtlCol="0" anchor="t">
            <a:normAutofit/>
          </a:bodyPr>
          <a:lstStyle/>
          <a:p>
            <a:pPr algn="l" indent="0" marL="0">
              <a:lnSpc>
                <a:spcPct val="93750"/>
              </a:lnSpc>
              <a:buNone/>
            </a:pPr>
            <a:r>
              <a:rPr lang="en-US" sz="1800" b="1" dirty="0">
                <a:solidFill>
                  <a:srgbClr val="191C20"/>
                </a:solidFill>
                <a:latin typeface="IBM Plex Sans" pitchFamily="34" charset="0"/>
                <a:ea typeface="IBM Plex Sans" pitchFamily="34" charset="-122"/>
                <a:cs typeface="IBM Plex Sans" pitchFamily="34" charset="-120"/>
              </a:rPr>
              <a:t>No impact? exit</a:t>
            </a:r>
            <a:endParaRPr lang="en-US" sz="1800" dirty="0"/>
          </a:p>
        </p:txBody>
      </p:sp>
      <p:sp>
        <p:nvSpPr>
          <p:cNvPr id="26" name="Text 20"/>
          <p:cNvSpPr/>
          <p:nvPr/>
        </p:nvSpPr>
        <p:spPr>
          <a:xfrm>
            <a:off x="13739813" y="2895600"/>
            <a:ext cx="3732990" cy="514350"/>
          </a:xfrm>
          <a:prstGeom prst="rect">
            <a:avLst/>
          </a:prstGeom>
          <a:noFill/>
          <a:ln/>
        </p:spPr>
        <p:txBody>
          <a:bodyPr wrap="square" lIns="25400" tIns="25400" rIns="25400" bIns="25400" rtlCol="0" anchor="t">
            <a:normAutofit/>
          </a:bodyPr>
          <a:lstStyle/>
          <a:p>
            <a:pPr algn="l" indent="0" marL="0">
              <a:lnSpc>
                <a:spcPct val="106875"/>
              </a:lnSpc>
              <a:buNone/>
            </a:pPr>
            <a:r>
              <a:rPr lang="en-US" sz="1425" dirty="0">
                <a:solidFill>
                  <a:srgbClr val="4D535B"/>
                </a:solidFill>
                <a:latin typeface="IBM Plex Sans" pitchFamily="34" charset="0"/>
                <a:ea typeface="IBM Plex Sans" pitchFamily="34" charset="-122"/>
                <a:cs typeface="IBM Plex Sans" pitchFamily="34" charset="-120"/>
              </a:rPr>
              <a:t>explainable NO_LINEAGE_IMPACT record in the flow status — done</a:t>
            </a:r>
            <a:endParaRPr lang="en-US" sz="1425" dirty="0"/>
          </a:p>
        </p:txBody>
      </p:sp>
      <p:sp>
        <p:nvSpPr>
          <p:cNvPr id="27" name="Text 21"/>
          <p:cNvSpPr/>
          <p:nvPr/>
        </p:nvSpPr>
        <p:spPr>
          <a:xfrm>
            <a:off x="-857250" y="3609975"/>
            <a:ext cx="17811750" cy="323850"/>
          </a:xfrm>
          <a:prstGeom prst="rect">
            <a:avLst/>
          </a:prstGeom>
          <a:noFill/>
          <a:ln/>
        </p:spPr>
        <p:txBody>
          <a:bodyPr wrap="square" lIns="25400" tIns="25400" rIns="25400" bIns="25400" rtlCol="0" anchor="t">
            <a:normAutofit/>
          </a:bodyPr>
          <a:lstStyle/>
          <a:p>
            <a:pPr algn="r" indent="0" marL="0">
              <a:lnSpc>
                <a:spcPct val="76923"/>
              </a:lnSpc>
              <a:buNone/>
            </a:pPr>
            <a:r>
              <a:rPr lang="en-US" sz="2250" dirty="0">
                <a:solidFill>
                  <a:srgbClr val="9AA0A8"/>
                </a:solidFill>
                <a:latin typeface="IBM Plex Sans" pitchFamily="34" charset="0"/>
                <a:ea typeface="IBM Plex Sans" pitchFamily="34" charset="-122"/>
                <a:cs typeface="IBM Plex Sans" pitchFamily="34" charset="-120"/>
              </a:rPr>
              <a:t>↓</a:t>
            </a:r>
            <a:endParaRPr lang="en-US" sz="2250" dirty="0"/>
          </a:p>
        </p:txBody>
      </p:sp>
      <p:sp>
        <p:nvSpPr>
          <p:cNvPr id="28" name="Shape 22"/>
          <p:cNvSpPr/>
          <p:nvPr/>
        </p:nvSpPr>
        <p:spPr>
          <a:xfrm>
            <a:off x="762000" y="3990975"/>
            <a:ext cx="3967163" cy="2247900"/>
          </a:xfrm>
          <a:prstGeom prst="rect">
            <a:avLst/>
          </a:prstGeom>
          <a:solidFill>
            <a:srgbClr val="FFFFFF"/>
          </a:solidFill>
          <a:ln w="19050">
            <a:solidFill>
              <a:srgbClr val="A8551F"/>
            </a:solidFill>
            <a:prstDash val="solid"/>
          </a:ln>
        </p:spPr>
      </p:sp>
      <p:pic>
        <p:nvPicPr>
          <p:cNvPr id="29" name="Image 4" descr="preencoded.png">    </p:cNvPr>
          <p:cNvPicPr>
            <a:picLocks noChangeAspect="1"/>
          </p:cNvPicPr>
          <p:nvPr/>
        </p:nvPicPr>
        <p:blipFill>
          <a:blip r:embed="rId5"/>
          <a:stretch>
            <a:fillRect/>
          </a:stretch>
        </p:blipFill>
        <p:spPr>
          <a:xfrm>
            <a:off x="933450" y="4143375"/>
            <a:ext cx="342900" cy="342900"/>
          </a:xfrm>
          <a:prstGeom prst="rect">
            <a:avLst/>
          </a:prstGeom>
        </p:spPr>
      </p:pic>
      <p:sp>
        <p:nvSpPr>
          <p:cNvPr id="30" name="Text 23"/>
          <p:cNvSpPr/>
          <p:nvPr/>
        </p:nvSpPr>
        <p:spPr>
          <a:xfrm>
            <a:off x="1371600" y="4162425"/>
            <a:ext cx="2134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A8551F"/>
                </a:solidFill>
                <a:latin typeface="IBM Plex Mono" pitchFamily="34" charset="0"/>
                <a:ea typeface="IBM Plex Mono" pitchFamily="34" charset="-122"/>
                <a:cs typeface="IBM Plex Mono" pitchFamily="34" charset="-120"/>
              </a:rPr>
              <a:t>5</a:t>
            </a:r>
            <a:endParaRPr lang="en-US" sz="1800" dirty="0"/>
          </a:p>
        </p:txBody>
      </p:sp>
      <p:sp>
        <p:nvSpPr>
          <p:cNvPr id="31" name="Text 24"/>
          <p:cNvSpPr/>
          <p:nvPr/>
        </p:nvSpPr>
        <p:spPr>
          <a:xfrm>
            <a:off x="933450" y="4543425"/>
            <a:ext cx="3986689" cy="323850"/>
          </a:xfrm>
          <a:prstGeom prst="rect">
            <a:avLst/>
          </a:prstGeom>
          <a:noFill/>
          <a:ln/>
        </p:spPr>
        <p:txBody>
          <a:bodyPr wrap="square" lIns="25400" tIns="25400" rIns="25400" bIns="25400" rtlCol="0" anchor="t">
            <a:normAutofit/>
          </a:bodyPr>
          <a:lstStyle/>
          <a:p>
            <a:pPr algn="l" indent="0" marL="0">
              <a:lnSpc>
                <a:spcPct val="93750"/>
              </a:lnSpc>
              <a:buNone/>
            </a:pPr>
            <a:r>
              <a:rPr lang="en-US" sz="1800" b="1" dirty="0">
                <a:solidFill>
                  <a:srgbClr val="191C20"/>
                </a:solidFill>
                <a:latin typeface="IBM Plex Sans" pitchFamily="34" charset="0"/>
                <a:ea typeface="IBM Plex Sans" pitchFamily="34" charset="-122"/>
                <a:cs typeface="IBM Plex Sans" pitchFamily="34" charset="-120"/>
              </a:rPr>
              <a:t>Targeted extraction</a:t>
            </a:r>
            <a:endParaRPr lang="en-US" sz="1800" dirty="0"/>
          </a:p>
        </p:txBody>
      </p:sp>
      <p:sp>
        <p:nvSpPr>
          <p:cNvPr id="32" name="Text 25"/>
          <p:cNvSpPr/>
          <p:nvPr/>
        </p:nvSpPr>
        <p:spPr>
          <a:xfrm>
            <a:off x="933450" y="4886325"/>
            <a:ext cx="3732990" cy="514350"/>
          </a:xfrm>
          <a:prstGeom prst="rect">
            <a:avLst/>
          </a:prstGeom>
          <a:noFill/>
          <a:ln/>
        </p:spPr>
        <p:txBody>
          <a:bodyPr wrap="square" lIns="25400" tIns="25400" rIns="25400" bIns="25400" rtlCol="0" anchor="t">
            <a:normAutofit/>
          </a:bodyPr>
          <a:lstStyle/>
          <a:p>
            <a:pPr algn="l" indent="0" marL="0">
              <a:lnSpc>
                <a:spcPct val="106875"/>
              </a:lnSpc>
              <a:buNone/>
            </a:pPr>
            <a:r>
              <a:rPr lang="en-US" sz="1425" dirty="0">
                <a:solidFill>
                  <a:srgbClr val="4D535B"/>
                </a:solidFill>
                <a:latin typeface="IBM Plex Sans" pitchFamily="34" charset="0"/>
                <a:ea typeface="IBM Plex Sans" pitchFamily="34" charset="-122"/>
                <a:cs typeface="IBM Plex Sans" pitchFamily="34" charset="-120"/>
              </a:rPr>
              <a:t>only edges whose determinants changed · parsers → AST · LLM on cache miss</a:t>
            </a:r>
            <a:endParaRPr lang="en-US" sz="1425" dirty="0"/>
          </a:p>
        </p:txBody>
      </p:sp>
      <p:sp>
        <p:nvSpPr>
          <p:cNvPr id="33" name="Text 26"/>
          <p:cNvSpPr/>
          <p:nvPr/>
        </p:nvSpPr>
        <p:spPr>
          <a:xfrm>
            <a:off x="4691063" y="3990975"/>
            <a:ext cx="400050" cy="2286000"/>
          </a:xfrm>
          <a:prstGeom prst="rect">
            <a:avLst/>
          </a:prstGeom>
          <a:noFill/>
          <a:ln/>
        </p:spPr>
        <p:txBody>
          <a:bodyPr wrap="square" lIns="25400" tIns="25400" rIns="25400" bIns="25400" rtlCol="0" anchor="ctr">
            <a:normAutofit/>
          </a:bodyPr>
          <a:lstStyle/>
          <a:p>
            <a:pPr algn="ctr" indent="0" marL="0">
              <a:buNone/>
            </a:pPr>
            <a:r>
              <a:rPr lang="en-US" sz="2250" dirty="0">
                <a:solidFill>
                  <a:srgbClr val="9AA0A8"/>
                </a:solidFill>
                <a:latin typeface="IBM Plex Sans" pitchFamily="34" charset="0"/>
                <a:ea typeface="IBM Plex Sans" pitchFamily="34" charset="-122"/>
                <a:cs typeface="IBM Plex Sans" pitchFamily="34" charset="-120"/>
              </a:rPr>
              <a:t>→</a:t>
            </a:r>
            <a:endParaRPr lang="en-US" sz="2250" dirty="0"/>
          </a:p>
        </p:txBody>
      </p:sp>
      <p:sp>
        <p:nvSpPr>
          <p:cNvPr id="34" name="Shape 27"/>
          <p:cNvSpPr/>
          <p:nvPr/>
        </p:nvSpPr>
        <p:spPr>
          <a:xfrm>
            <a:off x="5053013" y="3990975"/>
            <a:ext cx="3948112" cy="2247900"/>
          </a:xfrm>
          <a:prstGeom prst="rect">
            <a:avLst/>
          </a:prstGeom>
          <a:solidFill>
            <a:srgbClr val="FFFFFF"/>
          </a:solidFill>
          <a:ln w="9525">
            <a:solidFill>
              <a:srgbClr val="E0DCD3"/>
            </a:solidFill>
            <a:prstDash val="solid"/>
          </a:ln>
        </p:spPr>
      </p:sp>
      <p:pic>
        <p:nvPicPr>
          <p:cNvPr id="35" name="Image 5" descr="preencoded.png">    </p:cNvPr>
          <p:cNvPicPr>
            <a:picLocks noChangeAspect="1"/>
          </p:cNvPicPr>
          <p:nvPr/>
        </p:nvPicPr>
        <p:blipFill>
          <a:blip r:embed="rId6"/>
          <a:stretch>
            <a:fillRect/>
          </a:stretch>
        </p:blipFill>
        <p:spPr>
          <a:xfrm>
            <a:off x="5214938" y="4133850"/>
            <a:ext cx="342900" cy="342900"/>
          </a:xfrm>
          <a:prstGeom prst="rect">
            <a:avLst/>
          </a:prstGeom>
        </p:spPr>
      </p:pic>
      <p:sp>
        <p:nvSpPr>
          <p:cNvPr id="36" name="Text 28"/>
          <p:cNvSpPr/>
          <p:nvPr/>
        </p:nvSpPr>
        <p:spPr>
          <a:xfrm>
            <a:off x="5653088" y="4152900"/>
            <a:ext cx="2134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A8551F"/>
                </a:solidFill>
                <a:latin typeface="IBM Plex Mono" pitchFamily="34" charset="0"/>
                <a:ea typeface="IBM Plex Mono" pitchFamily="34" charset="-122"/>
                <a:cs typeface="IBM Plex Mono" pitchFamily="34" charset="-120"/>
              </a:rPr>
              <a:t>6</a:t>
            </a:r>
            <a:endParaRPr lang="en-US" sz="1800" dirty="0"/>
          </a:p>
        </p:txBody>
      </p:sp>
      <p:sp>
        <p:nvSpPr>
          <p:cNvPr id="37" name="Text 29"/>
          <p:cNvSpPr/>
          <p:nvPr/>
        </p:nvSpPr>
        <p:spPr>
          <a:xfrm>
            <a:off x="5214938" y="4533900"/>
            <a:ext cx="3986689" cy="323850"/>
          </a:xfrm>
          <a:prstGeom prst="rect">
            <a:avLst/>
          </a:prstGeom>
          <a:noFill/>
          <a:ln/>
        </p:spPr>
        <p:txBody>
          <a:bodyPr wrap="square" lIns="25400" tIns="25400" rIns="25400" bIns="25400" rtlCol="0" anchor="t">
            <a:normAutofit/>
          </a:bodyPr>
          <a:lstStyle/>
          <a:p>
            <a:pPr algn="l" indent="0" marL="0">
              <a:lnSpc>
                <a:spcPct val="93750"/>
              </a:lnSpc>
              <a:buNone/>
            </a:pPr>
            <a:r>
              <a:rPr lang="en-US" sz="1800" b="1" dirty="0">
                <a:solidFill>
                  <a:srgbClr val="191C20"/>
                </a:solidFill>
                <a:latin typeface="IBM Plex Sans" pitchFamily="34" charset="0"/>
                <a:ea typeface="IBM Plex Sans" pitchFamily="34" charset="-122"/>
                <a:cs typeface="IBM Plex Sans" pitchFamily="34" charset="-120"/>
              </a:rPr>
              <a:t>URN merge</a:t>
            </a:r>
            <a:endParaRPr lang="en-US" sz="1800" dirty="0"/>
          </a:p>
        </p:txBody>
      </p:sp>
      <p:sp>
        <p:nvSpPr>
          <p:cNvPr id="38" name="Text 30"/>
          <p:cNvSpPr/>
          <p:nvPr/>
        </p:nvSpPr>
        <p:spPr>
          <a:xfrm>
            <a:off x="5214938" y="4876800"/>
            <a:ext cx="3732990" cy="514350"/>
          </a:xfrm>
          <a:prstGeom prst="rect">
            <a:avLst/>
          </a:prstGeom>
          <a:noFill/>
          <a:ln/>
        </p:spPr>
        <p:txBody>
          <a:bodyPr wrap="square" lIns="25400" tIns="25400" rIns="25400" bIns="25400" rtlCol="0" anchor="t">
            <a:normAutofit/>
          </a:bodyPr>
          <a:lstStyle/>
          <a:p>
            <a:pPr algn="l" indent="0" marL="0">
              <a:lnSpc>
                <a:spcPct val="106875"/>
              </a:lnSpc>
              <a:buNone/>
            </a:pPr>
            <a:r>
              <a:rPr lang="en-US" sz="1425" dirty="0">
                <a:solidFill>
                  <a:srgbClr val="4D535B"/>
                </a:solidFill>
                <a:latin typeface="IBM Plex Sans" pitchFamily="34" charset="0"/>
                <a:ea typeface="IBM Plex Sans" pitchFamily="34" charset="-122"/>
                <a:cs typeface="IBM Plex Sans" pitchFamily="34" charset="-120"/>
              </a:rPr>
              <a:t>new edges union with the unchanged baseline · agreement sets the band</a:t>
            </a:r>
            <a:endParaRPr lang="en-US" sz="1425" dirty="0"/>
          </a:p>
        </p:txBody>
      </p:sp>
      <p:sp>
        <p:nvSpPr>
          <p:cNvPr id="39" name="Text 31"/>
          <p:cNvSpPr/>
          <p:nvPr/>
        </p:nvSpPr>
        <p:spPr>
          <a:xfrm>
            <a:off x="8963025" y="3990975"/>
            <a:ext cx="400050" cy="2286000"/>
          </a:xfrm>
          <a:prstGeom prst="rect">
            <a:avLst/>
          </a:prstGeom>
          <a:noFill/>
          <a:ln/>
        </p:spPr>
        <p:txBody>
          <a:bodyPr wrap="square" lIns="25400" tIns="25400" rIns="25400" bIns="25400" rtlCol="0" anchor="ctr">
            <a:normAutofit/>
          </a:bodyPr>
          <a:lstStyle/>
          <a:p>
            <a:pPr algn="ctr" indent="0" marL="0">
              <a:buNone/>
            </a:pPr>
            <a:r>
              <a:rPr lang="en-US" sz="2250" dirty="0">
                <a:solidFill>
                  <a:srgbClr val="9AA0A8"/>
                </a:solidFill>
                <a:latin typeface="IBM Plex Sans" pitchFamily="34" charset="0"/>
                <a:ea typeface="IBM Plex Sans" pitchFamily="34" charset="-122"/>
                <a:cs typeface="IBM Plex Sans" pitchFamily="34" charset="-120"/>
              </a:rPr>
              <a:t>→</a:t>
            </a:r>
            <a:endParaRPr lang="en-US" sz="2250" dirty="0"/>
          </a:p>
        </p:txBody>
      </p:sp>
      <p:sp>
        <p:nvSpPr>
          <p:cNvPr id="40" name="Shape 32"/>
          <p:cNvSpPr/>
          <p:nvPr/>
        </p:nvSpPr>
        <p:spPr>
          <a:xfrm>
            <a:off x="9324975" y="3990975"/>
            <a:ext cx="3948112" cy="2247900"/>
          </a:xfrm>
          <a:prstGeom prst="rect">
            <a:avLst/>
          </a:prstGeom>
          <a:solidFill>
            <a:srgbClr val="FFFFFF"/>
          </a:solidFill>
          <a:ln w="9525">
            <a:solidFill>
              <a:srgbClr val="E0DCD3"/>
            </a:solidFill>
            <a:prstDash val="solid"/>
          </a:ln>
        </p:spPr>
      </p:sp>
      <p:pic>
        <p:nvPicPr>
          <p:cNvPr id="41" name="Image 6" descr="preencoded.png">    </p:cNvPr>
          <p:cNvPicPr>
            <a:picLocks noChangeAspect="1"/>
          </p:cNvPicPr>
          <p:nvPr/>
        </p:nvPicPr>
        <p:blipFill>
          <a:blip r:embed="rId7"/>
          <a:stretch>
            <a:fillRect/>
          </a:stretch>
        </p:blipFill>
        <p:spPr>
          <a:xfrm>
            <a:off x="9486900" y="4133850"/>
            <a:ext cx="342900" cy="342900"/>
          </a:xfrm>
          <a:prstGeom prst="rect">
            <a:avLst/>
          </a:prstGeom>
        </p:spPr>
      </p:pic>
      <p:sp>
        <p:nvSpPr>
          <p:cNvPr id="42" name="Text 33"/>
          <p:cNvSpPr/>
          <p:nvPr/>
        </p:nvSpPr>
        <p:spPr>
          <a:xfrm>
            <a:off x="9925050" y="4152900"/>
            <a:ext cx="2134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A8551F"/>
                </a:solidFill>
                <a:latin typeface="IBM Plex Mono" pitchFamily="34" charset="0"/>
                <a:ea typeface="IBM Plex Mono" pitchFamily="34" charset="-122"/>
                <a:cs typeface="IBM Plex Mono" pitchFamily="34" charset="-120"/>
              </a:rPr>
              <a:t>7</a:t>
            </a:r>
            <a:endParaRPr lang="en-US" sz="1800" dirty="0"/>
          </a:p>
        </p:txBody>
      </p:sp>
      <p:sp>
        <p:nvSpPr>
          <p:cNvPr id="43" name="Text 34"/>
          <p:cNvSpPr/>
          <p:nvPr/>
        </p:nvSpPr>
        <p:spPr>
          <a:xfrm>
            <a:off x="9486900" y="4533900"/>
            <a:ext cx="3986689" cy="323850"/>
          </a:xfrm>
          <a:prstGeom prst="rect">
            <a:avLst/>
          </a:prstGeom>
          <a:noFill/>
          <a:ln/>
        </p:spPr>
        <p:txBody>
          <a:bodyPr wrap="square" lIns="25400" tIns="25400" rIns="25400" bIns="25400" rtlCol="0" anchor="t">
            <a:normAutofit/>
          </a:bodyPr>
          <a:lstStyle/>
          <a:p>
            <a:pPr algn="l" indent="0" marL="0">
              <a:lnSpc>
                <a:spcPct val="93750"/>
              </a:lnSpc>
              <a:buNone/>
            </a:pPr>
            <a:r>
              <a:rPr lang="en-US" sz="1800" b="1" dirty="0">
                <a:solidFill>
                  <a:srgbClr val="191C20"/>
                </a:solidFill>
                <a:latin typeface="IBM Plex Sans" pitchFamily="34" charset="0"/>
                <a:ea typeface="IBM Plex Sans" pitchFamily="34" charset="-122"/>
                <a:cs typeface="IBM Plex Sans" pitchFamily="34" charset="-120"/>
              </a:rPr>
              <a:t>Diff vs accepted baseline</a:t>
            </a:r>
            <a:endParaRPr lang="en-US" sz="1800" dirty="0"/>
          </a:p>
        </p:txBody>
      </p:sp>
      <p:sp>
        <p:nvSpPr>
          <p:cNvPr id="44" name="Text 35"/>
          <p:cNvSpPr/>
          <p:nvPr/>
        </p:nvSpPr>
        <p:spPr>
          <a:xfrm>
            <a:off x="9486900" y="4876800"/>
            <a:ext cx="3732990" cy="514350"/>
          </a:xfrm>
          <a:prstGeom prst="rect">
            <a:avLst/>
          </a:prstGeom>
          <a:noFill/>
          <a:ln/>
        </p:spPr>
        <p:txBody>
          <a:bodyPr wrap="square" lIns="25400" tIns="25400" rIns="25400" bIns="25400" rtlCol="0" anchor="t">
            <a:normAutofit/>
          </a:bodyPr>
          <a:lstStyle/>
          <a:p>
            <a:pPr algn="l" indent="0" marL="0">
              <a:lnSpc>
                <a:spcPct val="106875"/>
              </a:lnSpc>
              <a:buNone/>
            </a:pPr>
            <a:r>
              <a:rPr lang="en-US" sz="1425" dirty="0">
                <a:solidFill>
                  <a:srgbClr val="4D535B"/>
                </a:solidFill>
                <a:latin typeface="IBM Plex Sans" pitchFamily="34" charset="0"/>
                <a:ea typeface="IBM Plex Sans" pitchFamily="34" charset="-122"/>
                <a:cs typeface="IBM Plex Sans" pitchFamily="34" charset="-120"/>
              </a:rPr>
              <a:t>added · removed · modified · confidence deltas · coverage</a:t>
            </a:r>
            <a:endParaRPr lang="en-US" sz="1425" dirty="0"/>
          </a:p>
        </p:txBody>
      </p:sp>
      <p:sp>
        <p:nvSpPr>
          <p:cNvPr id="45" name="Text 36"/>
          <p:cNvSpPr/>
          <p:nvPr/>
        </p:nvSpPr>
        <p:spPr>
          <a:xfrm>
            <a:off x="13234988" y="3990975"/>
            <a:ext cx="400050" cy="2286000"/>
          </a:xfrm>
          <a:prstGeom prst="rect">
            <a:avLst/>
          </a:prstGeom>
          <a:noFill/>
          <a:ln/>
        </p:spPr>
        <p:txBody>
          <a:bodyPr wrap="square" lIns="25400" tIns="25400" rIns="25400" bIns="25400" rtlCol="0" anchor="ctr">
            <a:normAutofit/>
          </a:bodyPr>
          <a:lstStyle/>
          <a:p>
            <a:pPr algn="ctr" indent="0" marL="0">
              <a:buNone/>
            </a:pPr>
            <a:r>
              <a:rPr lang="en-US" sz="2250" dirty="0">
                <a:solidFill>
                  <a:srgbClr val="9AA0A8"/>
                </a:solidFill>
                <a:latin typeface="IBM Plex Sans" pitchFamily="34" charset="0"/>
                <a:ea typeface="IBM Plex Sans" pitchFamily="34" charset="-122"/>
                <a:cs typeface="IBM Plex Sans" pitchFamily="34" charset="-120"/>
              </a:rPr>
              <a:t>→</a:t>
            </a:r>
            <a:endParaRPr lang="en-US" sz="2250" dirty="0"/>
          </a:p>
        </p:txBody>
      </p:sp>
      <p:sp>
        <p:nvSpPr>
          <p:cNvPr id="46" name="Shape 37"/>
          <p:cNvSpPr/>
          <p:nvPr/>
        </p:nvSpPr>
        <p:spPr>
          <a:xfrm>
            <a:off x="13596938" y="3990975"/>
            <a:ext cx="3929063" cy="2247900"/>
          </a:xfrm>
          <a:prstGeom prst="rect">
            <a:avLst/>
          </a:prstGeom>
          <a:solidFill>
            <a:srgbClr val="191C20"/>
          </a:solidFill>
          <a:ln/>
        </p:spPr>
      </p:sp>
      <p:pic>
        <p:nvPicPr>
          <p:cNvPr id="47" name="Image 7" descr="preencoded.png">    </p:cNvPr>
          <p:cNvPicPr>
            <a:picLocks noChangeAspect="1"/>
          </p:cNvPicPr>
          <p:nvPr/>
        </p:nvPicPr>
        <p:blipFill>
          <a:blip r:embed="rId8"/>
          <a:stretch>
            <a:fillRect/>
          </a:stretch>
        </p:blipFill>
        <p:spPr>
          <a:xfrm>
            <a:off x="13749338" y="4124325"/>
            <a:ext cx="342900" cy="342900"/>
          </a:xfrm>
          <a:prstGeom prst="rect">
            <a:avLst/>
          </a:prstGeom>
        </p:spPr>
      </p:pic>
      <p:sp>
        <p:nvSpPr>
          <p:cNvPr id="48" name="Text 38"/>
          <p:cNvSpPr/>
          <p:nvPr/>
        </p:nvSpPr>
        <p:spPr>
          <a:xfrm>
            <a:off x="14187488" y="4143375"/>
            <a:ext cx="2134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FB3BF"/>
                </a:solidFill>
                <a:latin typeface="IBM Plex Mono" pitchFamily="34" charset="0"/>
                <a:ea typeface="IBM Plex Mono" pitchFamily="34" charset="-122"/>
                <a:cs typeface="IBM Plex Mono" pitchFamily="34" charset="-120"/>
              </a:rPr>
              <a:t>8</a:t>
            </a:r>
            <a:endParaRPr lang="en-US" sz="1800" dirty="0"/>
          </a:p>
        </p:txBody>
      </p:sp>
      <p:sp>
        <p:nvSpPr>
          <p:cNvPr id="49" name="Text 39"/>
          <p:cNvSpPr/>
          <p:nvPr/>
        </p:nvSpPr>
        <p:spPr>
          <a:xfrm>
            <a:off x="13749338" y="4524375"/>
            <a:ext cx="3732990" cy="609600"/>
          </a:xfrm>
          <a:prstGeom prst="rect">
            <a:avLst/>
          </a:prstGeom>
          <a:noFill/>
          <a:ln/>
        </p:spPr>
        <p:txBody>
          <a:bodyPr wrap="square" lIns="25400" tIns="25400" rIns="25400" bIns="25400" rtlCol="0" anchor="t">
            <a:normAutofit/>
          </a:bodyPr>
          <a:lstStyle/>
          <a:p>
            <a:pPr algn="l" indent="0" marL="0">
              <a:lnSpc>
                <a:spcPct val="93750"/>
              </a:lnSpc>
              <a:buNone/>
            </a:pPr>
            <a:r>
              <a:rPr lang="en-US" sz="1800" b="1" dirty="0">
                <a:solidFill>
                  <a:srgbClr val="F2EFE9"/>
                </a:solidFill>
                <a:latin typeface="IBM Plex Sans" pitchFamily="34" charset="0"/>
                <a:ea typeface="IBM Plex Sans" pitchFamily="34" charset="-122"/>
                <a:cs typeface="IBM Plex Sans" pitchFamily="34" charset="-120"/>
              </a:rPr>
              <a:t>Proposal → HUMAN → fenced publish</a:t>
            </a:r>
            <a:endParaRPr lang="en-US" sz="1800" dirty="0"/>
          </a:p>
        </p:txBody>
      </p:sp>
      <p:sp>
        <p:nvSpPr>
          <p:cNvPr id="50" name="Text 40"/>
          <p:cNvSpPr/>
          <p:nvPr/>
        </p:nvSpPr>
        <p:spPr>
          <a:xfrm>
            <a:off x="13749338" y="5153025"/>
            <a:ext cx="3732990" cy="990600"/>
          </a:xfrm>
          <a:prstGeom prst="rect">
            <a:avLst/>
          </a:prstGeom>
          <a:noFill/>
          <a:ln/>
        </p:spPr>
        <p:txBody>
          <a:bodyPr wrap="square" lIns="25400" tIns="25400" rIns="25400" bIns="25400" rtlCol="0" anchor="t">
            <a:normAutofit/>
          </a:bodyPr>
          <a:lstStyle/>
          <a:p>
            <a:pPr algn="l" indent="0" marL="0">
              <a:lnSpc>
                <a:spcPct val="106875"/>
              </a:lnSpc>
              <a:buNone/>
            </a:pPr>
            <a:r>
              <a:rPr lang="en-US" sz="1425" dirty="0">
                <a:solidFill>
                  <a:srgbClr val="B8BDC4"/>
                </a:solidFill>
                <a:latin typeface="IBM Plex Sans" pitchFamily="34" charset="0"/>
                <a:ea typeface="IBM Plex Sans" pitchFamily="34" charset="-122"/>
                <a:cs typeface="IBM Plex Sans" pitchFamily="34" charset="-120"/>
              </a:rPr>
              <a:t>validated first — schema + confidence bands (Evidence &amp; Confidence slide) — then review via approval inbox + PR surface → new active graph version</a:t>
            </a:r>
            <a:endParaRPr lang="en-US" sz="1425" dirty="0"/>
          </a:p>
        </p:txBody>
      </p:sp>
      <p:sp>
        <p:nvSpPr>
          <p:cNvPr id="51" name="Text 41"/>
          <p:cNvSpPr/>
          <p:nvPr/>
        </p:nvSpPr>
        <p:spPr>
          <a:xfrm>
            <a:off x="762000" y="6429375"/>
            <a:ext cx="18440400" cy="266700"/>
          </a:xfrm>
          <a:prstGeom prst="rect">
            <a:avLst/>
          </a:prstGeom>
          <a:noFill/>
          <a:ln/>
        </p:spPr>
        <p:txBody>
          <a:bodyPr wrap="square" lIns="25400" tIns="25400" rIns="25400" bIns="25400" rtlCol="0" anchor="t">
            <a:normAutofit/>
          </a:bodyPr>
          <a:lstStyle/>
          <a:p>
            <a:pPr algn="l" indent="0" marL="0">
              <a:buNone/>
            </a:pPr>
            <a:r>
              <a:rPr lang="en-US" sz="1425" spc="114" kern="0" dirty="0">
                <a:solidFill>
                  <a:srgbClr val="4D535B"/>
                </a:solidFill>
                <a:latin typeface="IBM Plex Mono" pitchFamily="34" charset="0"/>
                <a:ea typeface="IBM Plex Mono" pitchFamily="34" charset="-122"/>
                <a:cs typeface="IBM Plex Mono" pitchFamily="34" charset="-120"/>
              </a:rPr>
              <a:t>ROUTE BY REPOSITORY CLASS (STEP 5) · DETAIL ON THE NEXT SLIDE</a:t>
            </a:r>
            <a:endParaRPr lang="en-US" sz="1425" dirty="0"/>
          </a:p>
        </p:txBody>
      </p:sp>
      <p:sp>
        <p:nvSpPr>
          <p:cNvPr id="52" name="Shape 42"/>
          <p:cNvSpPr/>
          <p:nvPr/>
        </p:nvSpPr>
        <p:spPr>
          <a:xfrm>
            <a:off x="762000" y="6753225"/>
            <a:ext cx="8343900" cy="428625"/>
          </a:xfrm>
          <a:prstGeom prst="rect">
            <a:avLst/>
          </a:prstGeom>
          <a:solidFill>
            <a:srgbClr val="FFFFFF"/>
          </a:solidFill>
          <a:ln w="9525">
            <a:solidFill>
              <a:srgbClr val="E0DCD3"/>
            </a:solidFill>
            <a:prstDash val="solid"/>
          </a:ln>
        </p:spPr>
      </p:sp>
      <p:sp>
        <p:nvSpPr>
          <p:cNvPr id="53" name="Text 43"/>
          <p:cNvSpPr/>
          <p:nvPr/>
        </p:nvSpPr>
        <p:spPr>
          <a:xfrm>
            <a:off x="904875" y="6848475"/>
            <a:ext cx="1672307" cy="276225"/>
          </a:xfrm>
          <a:prstGeom prst="rect">
            <a:avLst/>
          </a:prstGeom>
          <a:noFill/>
          <a:ln/>
        </p:spPr>
        <p:txBody>
          <a:bodyPr wrap="none" lIns="25400" tIns="25400" rIns="25400" bIns="25400" rtlCol="0" anchor="t">
            <a:normAutofit/>
          </a:bodyPr>
          <a:lstStyle/>
          <a:p>
            <a:pPr algn="l" indent="0" marL="0">
              <a:lnSpc>
                <a:spcPct val="106875"/>
              </a:lnSpc>
              <a:buNone/>
            </a:pPr>
            <a:r>
              <a:rPr lang="en-US" sz="1425" dirty="0">
                <a:solidFill>
                  <a:srgbClr val="A8551F"/>
                </a:solidFill>
                <a:latin typeface="IBM Plex Mono" pitchFamily="34" charset="0"/>
                <a:ea typeface="IBM Plex Mono" pitchFamily="34" charset="-122"/>
                <a:cs typeface="IBM Plex Mono" pitchFamily="34" charset="-120"/>
              </a:rPr>
              <a:t>APP / PIPELINE</a:t>
            </a:r>
            <a:endParaRPr lang="en-US" sz="1425" dirty="0"/>
          </a:p>
        </p:txBody>
      </p:sp>
      <p:sp>
        <p:nvSpPr>
          <p:cNvPr id="54" name="Text 44"/>
          <p:cNvSpPr/>
          <p:nvPr/>
        </p:nvSpPr>
        <p:spPr>
          <a:xfrm>
            <a:off x="2520404" y="6848475"/>
            <a:ext cx="3515856" cy="276225"/>
          </a:xfrm>
          <a:prstGeom prst="rect">
            <a:avLst/>
          </a:prstGeom>
          <a:noFill/>
          <a:ln/>
        </p:spPr>
        <p:txBody>
          <a:bodyPr wrap="square" lIns="25400" tIns="25400" rIns="25400" bIns="25400" rtlCol="0" anchor="t">
            <a:normAutofit/>
          </a:bodyPr>
          <a:lstStyle/>
          <a:p>
            <a:pPr algn="l" indent="0" marL="0">
              <a:lnSpc>
                <a:spcPct val="106875"/>
              </a:lnSpc>
              <a:buNone/>
            </a:pPr>
            <a:r>
              <a:rPr lang="en-US" sz="1425" dirty="0">
                <a:solidFill>
                  <a:srgbClr val="4D535B"/>
                </a:solidFill>
                <a:latin typeface="IBM Plex Sans" pitchFamily="34" charset="0"/>
                <a:ea typeface="IBM Plex Sans" pitchFamily="34" charset="-122"/>
                <a:cs typeface="IBM Plex Sans" pitchFamily="34" charset="-120"/>
              </a:rPr>
              <a:t>→ re-derive affected determinants only</a:t>
            </a:r>
            <a:endParaRPr lang="en-US" sz="1425" dirty="0"/>
          </a:p>
        </p:txBody>
      </p:sp>
      <p:sp>
        <p:nvSpPr>
          <p:cNvPr id="55" name="Shape 45"/>
          <p:cNvSpPr/>
          <p:nvPr/>
        </p:nvSpPr>
        <p:spPr>
          <a:xfrm>
            <a:off x="9182100" y="6753225"/>
            <a:ext cx="8343900" cy="428625"/>
          </a:xfrm>
          <a:prstGeom prst="rect">
            <a:avLst/>
          </a:prstGeom>
          <a:solidFill>
            <a:srgbClr val="FFFFFF"/>
          </a:solidFill>
          <a:ln w="9525">
            <a:solidFill>
              <a:srgbClr val="E0DCD3"/>
            </a:solidFill>
            <a:prstDash val="solid"/>
          </a:ln>
        </p:spPr>
      </p:sp>
      <p:sp>
        <p:nvSpPr>
          <p:cNvPr id="56" name="Text 46"/>
          <p:cNvSpPr/>
          <p:nvPr/>
        </p:nvSpPr>
        <p:spPr>
          <a:xfrm>
            <a:off x="9324975" y="6848475"/>
            <a:ext cx="836414" cy="276225"/>
          </a:xfrm>
          <a:prstGeom prst="rect">
            <a:avLst/>
          </a:prstGeom>
          <a:noFill/>
          <a:ln/>
        </p:spPr>
        <p:txBody>
          <a:bodyPr wrap="none" lIns="25400" tIns="25400" rIns="25400" bIns="25400" rtlCol="0" anchor="t">
            <a:normAutofit/>
          </a:bodyPr>
          <a:lstStyle/>
          <a:p>
            <a:pPr algn="l" indent="0" marL="0">
              <a:lnSpc>
                <a:spcPct val="106875"/>
              </a:lnSpc>
              <a:buNone/>
            </a:pPr>
            <a:r>
              <a:rPr lang="en-US" sz="1425" dirty="0">
                <a:solidFill>
                  <a:srgbClr val="A8551F"/>
                </a:solidFill>
                <a:latin typeface="IBM Plex Mono" pitchFamily="34" charset="0"/>
                <a:ea typeface="IBM Plex Mono" pitchFamily="34" charset="-122"/>
                <a:cs typeface="IBM Plex Mono" pitchFamily="34" charset="-120"/>
              </a:rPr>
              <a:t>LIBRARY</a:t>
            </a:r>
            <a:endParaRPr lang="en-US" sz="1425" dirty="0"/>
          </a:p>
        </p:txBody>
      </p:sp>
      <p:sp>
        <p:nvSpPr>
          <p:cNvPr id="57" name="Text 47"/>
          <p:cNvSpPr/>
          <p:nvPr/>
        </p:nvSpPr>
        <p:spPr>
          <a:xfrm>
            <a:off x="10180439" y="6848475"/>
            <a:ext cx="4964534" cy="276225"/>
          </a:xfrm>
          <a:prstGeom prst="rect">
            <a:avLst/>
          </a:prstGeom>
          <a:noFill/>
          <a:ln/>
        </p:spPr>
        <p:txBody>
          <a:bodyPr wrap="square" lIns="25400" tIns="25400" rIns="25400" bIns="25400" rtlCol="0" anchor="t">
            <a:normAutofit/>
          </a:bodyPr>
          <a:lstStyle/>
          <a:p>
            <a:pPr algn="l" indent="0" marL="0">
              <a:lnSpc>
                <a:spcPct val="106875"/>
              </a:lnSpc>
              <a:buNone/>
            </a:pPr>
            <a:r>
              <a:rPr lang="en-US" sz="1425" dirty="0">
                <a:solidFill>
                  <a:srgbClr val="4D535B"/>
                </a:solidFill>
                <a:latin typeface="IBM Plex Sans" pitchFamily="34" charset="0"/>
                <a:ea typeface="IBM Plex Sans" pitchFamily="34" charset="-122"/>
                <a:cs typeface="IBM Plex Sans" pitchFamily="34" charset="-120"/>
              </a:rPr>
              <a:t>→ re-analyze consumers whose determinants include it</a:t>
            </a:r>
            <a:endParaRPr lang="en-US" sz="1425" dirty="0"/>
          </a:p>
        </p:txBody>
      </p:sp>
      <p:sp>
        <p:nvSpPr>
          <p:cNvPr id="58" name="Shape 48"/>
          <p:cNvSpPr/>
          <p:nvPr/>
        </p:nvSpPr>
        <p:spPr>
          <a:xfrm>
            <a:off x="762000" y="7258050"/>
            <a:ext cx="8343900" cy="428625"/>
          </a:xfrm>
          <a:prstGeom prst="rect">
            <a:avLst/>
          </a:prstGeom>
          <a:solidFill>
            <a:srgbClr val="FFFFFF"/>
          </a:solidFill>
          <a:ln w="9525">
            <a:solidFill>
              <a:srgbClr val="E0DCD3"/>
            </a:solidFill>
            <a:prstDash val="solid"/>
          </a:ln>
        </p:spPr>
      </p:sp>
      <p:sp>
        <p:nvSpPr>
          <p:cNvPr id="59" name="Text 49"/>
          <p:cNvSpPr/>
          <p:nvPr/>
        </p:nvSpPr>
        <p:spPr>
          <a:xfrm>
            <a:off x="904875" y="7353300"/>
            <a:ext cx="1672307" cy="276225"/>
          </a:xfrm>
          <a:prstGeom prst="rect">
            <a:avLst/>
          </a:prstGeom>
          <a:noFill/>
          <a:ln/>
        </p:spPr>
        <p:txBody>
          <a:bodyPr wrap="none" lIns="25400" tIns="25400" rIns="25400" bIns="25400" rtlCol="0" anchor="t">
            <a:normAutofit/>
          </a:bodyPr>
          <a:lstStyle/>
          <a:p>
            <a:pPr algn="l" indent="0" marL="0">
              <a:lnSpc>
                <a:spcPct val="106875"/>
              </a:lnSpc>
              <a:buNone/>
            </a:pPr>
            <a:r>
              <a:rPr lang="en-US" sz="1425" dirty="0">
                <a:solidFill>
                  <a:srgbClr val="A8551F"/>
                </a:solidFill>
                <a:latin typeface="IBM Plex Mono" pitchFamily="34" charset="0"/>
                <a:ea typeface="IBM Plex Mono" pitchFamily="34" charset="-122"/>
                <a:cs typeface="IBM Plex Mono" pitchFamily="34" charset="-120"/>
              </a:rPr>
              <a:t>INFRASTRUCTURE</a:t>
            </a:r>
            <a:endParaRPr lang="en-US" sz="1425" dirty="0"/>
          </a:p>
        </p:txBody>
      </p:sp>
      <p:sp>
        <p:nvSpPr>
          <p:cNvPr id="60" name="Text 50"/>
          <p:cNvSpPr/>
          <p:nvPr/>
        </p:nvSpPr>
        <p:spPr>
          <a:xfrm>
            <a:off x="2520404" y="7353300"/>
            <a:ext cx="5423089" cy="276225"/>
          </a:xfrm>
          <a:prstGeom prst="rect">
            <a:avLst/>
          </a:prstGeom>
          <a:noFill/>
          <a:ln/>
        </p:spPr>
        <p:txBody>
          <a:bodyPr wrap="square" lIns="25400" tIns="25400" rIns="25400" bIns="25400" rtlCol="0" anchor="t">
            <a:normAutofit/>
          </a:bodyPr>
          <a:lstStyle/>
          <a:p>
            <a:pPr algn="l" indent="0" marL="0">
              <a:lnSpc>
                <a:spcPct val="106875"/>
              </a:lnSpc>
              <a:buNone/>
            </a:pPr>
            <a:r>
              <a:rPr lang="en-US" sz="1425" dirty="0">
                <a:solidFill>
                  <a:srgbClr val="4D535B"/>
                </a:solidFill>
                <a:latin typeface="IBM Plex Sans" pitchFamily="34" charset="0"/>
                <a:ea typeface="IBM Plex Sans" pitchFamily="34" charset="-122"/>
                <a:cs typeface="IBM Plex Sans" pitchFamily="34" charset="-120"/>
              </a:rPr>
              <a:t>→ routes / topics / bindings — capacity-only changes ignored</a:t>
            </a:r>
            <a:endParaRPr lang="en-US" sz="1425" dirty="0"/>
          </a:p>
        </p:txBody>
      </p:sp>
      <p:sp>
        <p:nvSpPr>
          <p:cNvPr id="61" name="Shape 51"/>
          <p:cNvSpPr/>
          <p:nvPr/>
        </p:nvSpPr>
        <p:spPr>
          <a:xfrm>
            <a:off x="9182100" y="7258050"/>
            <a:ext cx="8343900" cy="428625"/>
          </a:xfrm>
          <a:prstGeom prst="rect">
            <a:avLst/>
          </a:prstGeom>
          <a:solidFill>
            <a:srgbClr val="FFFFFF"/>
          </a:solidFill>
          <a:ln w="9525">
            <a:solidFill>
              <a:srgbClr val="E0DCD3"/>
            </a:solidFill>
            <a:prstDash val="solid"/>
          </a:ln>
        </p:spPr>
      </p:sp>
      <p:sp>
        <p:nvSpPr>
          <p:cNvPr id="62" name="Text 52"/>
          <p:cNvSpPr/>
          <p:nvPr/>
        </p:nvSpPr>
        <p:spPr>
          <a:xfrm>
            <a:off x="9324975" y="7353300"/>
            <a:ext cx="1791653" cy="276225"/>
          </a:xfrm>
          <a:prstGeom prst="rect">
            <a:avLst/>
          </a:prstGeom>
          <a:noFill/>
          <a:ln/>
        </p:spPr>
        <p:txBody>
          <a:bodyPr wrap="none" lIns="25400" tIns="25400" rIns="25400" bIns="25400" rtlCol="0" anchor="t">
            <a:normAutofit/>
          </a:bodyPr>
          <a:lstStyle/>
          <a:p>
            <a:pPr algn="l" indent="0" marL="0">
              <a:lnSpc>
                <a:spcPct val="106875"/>
              </a:lnSpc>
              <a:buNone/>
            </a:pPr>
            <a:r>
              <a:rPr lang="en-US" sz="1425" dirty="0">
                <a:solidFill>
                  <a:srgbClr val="A8551F"/>
                </a:solidFill>
                <a:latin typeface="IBM Plex Mono" pitchFamily="34" charset="0"/>
                <a:ea typeface="IBM Plex Mono" pitchFamily="34" charset="-122"/>
                <a:cs typeface="IBM Plex Mono" pitchFamily="34" charset="-120"/>
              </a:rPr>
              <a:t>CONTRACT SOURCE</a:t>
            </a:r>
            <a:endParaRPr lang="en-US" sz="1425" dirty="0"/>
          </a:p>
        </p:txBody>
      </p:sp>
      <p:sp>
        <p:nvSpPr>
          <p:cNvPr id="63" name="Text 53"/>
          <p:cNvSpPr/>
          <p:nvPr/>
        </p:nvSpPr>
        <p:spPr>
          <a:xfrm>
            <a:off x="11049000" y="7353300"/>
            <a:ext cx="4429199" cy="276225"/>
          </a:xfrm>
          <a:prstGeom prst="rect">
            <a:avLst/>
          </a:prstGeom>
          <a:noFill/>
          <a:ln/>
        </p:spPr>
        <p:txBody>
          <a:bodyPr wrap="square" lIns="25400" tIns="25400" rIns="25400" bIns="25400" rtlCol="0" anchor="t">
            <a:normAutofit/>
          </a:bodyPr>
          <a:lstStyle/>
          <a:p>
            <a:pPr algn="l" indent="0" marL="0">
              <a:lnSpc>
                <a:spcPct val="106875"/>
              </a:lnSpc>
              <a:buNone/>
            </a:pPr>
            <a:r>
              <a:rPr lang="en-US" sz="1425" dirty="0">
                <a:solidFill>
                  <a:srgbClr val="4D535B"/>
                </a:solidFill>
                <a:latin typeface="IBM Plex Sans" pitchFamily="34" charset="0"/>
                <a:ea typeface="IBM Plex Sans" pitchFamily="34" charset="-122"/>
                <a:cs typeface="IBM Plex Sans" pitchFamily="34" charset="-120"/>
              </a:rPr>
              <a:t>→ re-evaluate connected producers &amp; consumers</a:t>
            </a:r>
            <a:endParaRPr lang="en-US" sz="1425" dirty="0"/>
          </a:p>
        </p:txBody>
      </p:sp>
      <p:sp>
        <p:nvSpPr>
          <p:cNvPr id="64" name="Shape 54"/>
          <p:cNvSpPr/>
          <p:nvPr/>
        </p:nvSpPr>
        <p:spPr>
          <a:xfrm>
            <a:off x="762000" y="7762875"/>
            <a:ext cx="8343900" cy="428625"/>
          </a:xfrm>
          <a:prstGeom prst="rect">
            <a:avLst/>
          </a:prstGeom>
          <a:solidFill>
            <a:srgbClr val="FFFFFF"/>
          </a:solidFill>
          <a:ln w="9525">
            <a:solidFill>
              <a:srgbClr val="E0DCD3"/>
            </a:solidFill>
            <a:prstDash val="solid"/>
          </a:ln>
        </p:spPr>
      </p:sp>
      <p:sp>
        <p:nvSpPr>
          <p:cNvPr id="65" name="Text 55"/>
          <p:cNvSpPr/>
          <p:nvPr/>
        </p:nvSpPr>
        <p:spPr>
          <a:xfrm>
            <a:off x="904875" y="7858125"/>
            <a:ext cx="1791653" cy="276225"/>
          </a:xfrm>
          <a:prstGeom prst="rect">
            <a:avLst/>
          </a:prstGeom>
          <a:noFill/>
          <a:ln/>
        </p:spPr>
        <p:txBody>
          <a:bodyPr wrap="none" lIns="25400" tIns="25400" rIns="25400" bIns="25400" rtlCol="0" anchor="t">
            <a:normAutofit/>
          </a:bodyPr>
          <a:lstStyle/>
          <a:p>
            <a:pPr algn="l" indent="0" marL="0">
              <a:lnSpc>
                <a:spcPct val="106875"/>
              </a:lnSpc>
              <a:buNone/>
            </a:pPr>
            <a:r>
              <a:rPr lang="en-US" sz="1425" dirty="0">
                <a:solidFill>
                  <a:srgbClr val="A8551F"/>
                </a:solidFill>
                <a:latin typeface="IBM Plex Mono" pitchFamily="34" charset="0"/>
                <a:ea typeface="IBM Plex Mono" pitchFamily="34" charset="-122"/>
                <a:cs typeface="IBM Plex Mono" pitchFamily="34" charset="-120"/>
              </a:rPr>
              <a:t>TEST AUTOMATION</a:t>
            </a:r>
            <a:endParaRPr lang="en-US" sz="1425" dirty="0"/>
          </a:p>
        </p:txBody>
      </p:sp>
      <p:sp>
        <p:nvSpPr>
          <p:cNvPr id="66" name="Text 56"/>
          <p:cNvSpPr/>
          <p:nvPr/>
        </p:nvSpPr>
        <p:spPr>
          <a:xfrm>
            <a:off x="2628900" y="7858125"/>
            <a:ext cx="3660904" cy="276225"/>
          </a:xfrm>
          <a:prstGeom prst="rect">
            <a:avLst/>
          </a:prstGeom>
          <a:noFill/>
          <a:ln/>
        </p:spPr>
        <p:txBody>
          <a:bodyPr wrap="square" lIns="25400" tIns="25400" rIns="25400" bIns="25400" rtlCol="0" anchor="t">
            <a:normAutofit/>
          </a:bodyPr>
          <a:lstStyle/>
          <a:p>
            <a:pPr algn="l" indent="0" marL="0">
              <a:lnSpc>
                <a:spcPct val="106875"/>
              </a:lnSpc>
              <a:buNone/>
            </a:pPr>
            <a:r>
              <a:rPr lang="en-US" sz="1425" dirty="0">
                <a:solidFill>
                  <a:srgbClr val="4D535B"/>
                </a:solidFill>
                <a:latin typeface="IBM Plex Sans" pitchFamily="34" charset="0"/>
                <a:ea typeface="IBM Plex Sans" pitchFamily="34" charset="-122"/>
                <a:cs typeface="IBM Plex Sans" pitchFamily="34" charset="-120"/>
              </a:rPr>
              <a:t>→ update coverage + evidence freshness</a:t>
            </a:r>
            <a:endParaRPr lang="en-US" sz="1425" dirty="0"/>
          </a:p>
        </p:txBody>
      </p:sp>
      <p:sp>
        <p:nvSpPr>
          <p:cNvPr id="67" name="Shape 57"/>
          <p:cNvSpPr/>
          <p:nvPr/>
        </p:nvSpPr>
        <p:spPr>
          <a:xfrm>
            <a:off x="9182100" y="7762875"/>
            <a:ext cx="8343900" cy="428625"/>
          </a:xfrm>
          <a:prstGeom prst="rect">
            <a:avLst/>
          </a:prstGeom>
          <a:solidFill>
            <a:srgbClr val="FFFFFF"/>
          </a:solidFill>
          <a:ln w="9525">
            <a:solidFill>
              <a:srgbClr val="E0DCD3"/>
            </a:solidFill>
            <a:prstDash val="solid"/>
          </a:ln>
        </p:spPr>
      </p:sp>
      <p:sp>
        <p:nvSpPr>
          <p:cNvPr id="68" name="Text 58"/>
          <p:cNvSpPr/>
          <p:nvPr/>
        </p:nvSpPr>
        <p:spPr>
          <a:xfrm>
            <a:off x="9324975" y="7858125"/>
            <a:ext cx="1552798" cy="276225"/>
          </a:xfrm>
          <a:prstGeom prst="rect">
            <a:avLst/>
          </a:prstGeom>
          <a:noFill/>
          <a:ln/>
        </p:spPr>
        <p:txBody>
          <a:bodyPr wrap="none" lIns="25400" tIns="25400" rIns="25400" bIns="25400" rtlCol="0" anchor="t">
            <a:normAutofit/>
          </a:bodyPr>
          <a:lstStyle/>
          <a:p>
            <a:pPr algn="l" indent="0" marL="0">
              <a:lnSpc>
                <a:spcPct val="106875"/>
              </a:lnSpc>
              <a:buNone/>
            </a:pPr>
            <a:r>
              <a:rPr lang="en-US" sz="1425" dirty="0">
                <a:solidFill>
                  <a:srgbClr val="A8551F"/>
                </a:solidFill>
                <a:latin typeface="IBM Plex Mono" pitchFamily="34" charset="0"/>
                <a:ea typeface="IBM Plex Mono" pitchFamily="34" charset="-122"/>
                <a:cs typeface="IBM Plex Mono" pitchFamily="34" charset="-120"/>
              </a:rPr>
              <a:t>DOCUMENTATION</a:t>
            </a:r>
            <a:endParaRPr lang="en-US" sz="1425" dirty="0"/>
          </a:p>
        </p:txBody>
      </p:sp>
      <p:sp>
        <p:nvSpPr>
          <p:cNvPr id="69" name="Text 59"/>
          <p:cNvSpPr/>
          <p:nvPr/>
        </p:nvSpPr>
        <p:spPr>
          <a:xfrm>
            <a:off x="10831860" y="7858125"/>
            <a:ext cx="3739649" cy="276225"/>
          </a:xfrm>
          <a:prstGeom prst="rect">
            <a:avLst/>
          </a:prstGeom>
          <a:noFill/>
          <a:ln/>
        </p:spPr>
        <p:txBody>
          <a:bodyPr wrap="square" lIns="25400" tIns="25400" rIns="25400" bIns="25400" rtlCol="0" anchor="t">
            <a:normAutofit/>
          </a:bodyPr>
          <a:lstStyle/>
          <a:p>
            <a:pPr algn="l" indent="0" marL="0">
              <a:lnSpc>
                <a:spcPct val="106875"/>
              </a:lnSpc>
              <a:buNone/>
            </a:pPr>
            <a:r>
              <a:rPr lang="en-US" sz="1425" dirty="0">
                <a:solidFill>
                  <a:srgbClr val="4D535B"/>
                </a:solidFill>
                <a:latin typeface="IBM Plex Sans" pitchFamily="34" charset="0"/>
                <a:ea typeface="IBM Plex Sans" pitchFamily="34" charset="-122"/>
                <a:cs typeface="IBM Plex Sans" pitchFamily="34" charset="-120"/>
              </a:rPr>
              <a:t>→ NO_LINEAGE_IMPACT — zero compute</a:t>
            </a:r>
            <a:endParaRPr lang="en-US" sz="1425" dirty="0"/>
          </a:p>
        </p:txBody>
      </p:sp>
      <p:sp>
        <p:nvSpPr>
          <p:cNvPr id="70" name="Shape 60"/>
          <p:cNvSpPr/>
          <p:nvPr/>
        </p:nvSpPr>
        <p:spPr>
          <a:xfrm>
            <a:off x="762000" y="8267700"/>
            <a:ext cx="8343900" cy="428625"/>
          </a:xfrm>
          <a:prstGeom prst="rect">
            <a:avLst/>
          </a:prstGeom>
          <a:solidFill>
            <a:srgbClr val="FFFFFF"/>
          </a:solidFill>
          <a:ln w="9525">
            <a:solidFill>
              <a:srgbClr val="E0DCD3"/>
            </a:solidFill>
            <a:prstDash val="solid"/>
          </a:ln>
        </p:spPr>
      </p:sp>
      <p:sp>
        <p:nvSpPr>
          <p:cNvPr id="71" name="Text 61"/>
          <p:cNvSpPr/>
          <p:nvPr/>
        </p:nvSpPr>
        <p:spPr>
          <a:xfrm>
            <a:off x="904875" y="8362950"/>
            <a:ext cx="1672307" cy="276225"/>
          </a:xfrm>
          <a:prstGeom prst="rect">
            <a:avLst/>
          </a:prstGeom>
          <a:noFill/>
          <a:ln/>
        </p:spPr>
        <p:txBody>
          <a:bodyPr wrap="none" lIns="25400" tIns="25400" rIns="25400" bIns="25400" rtlCol="0" anchor="t">
            <a:normAutofit/>
          </a:bodyPr>
          <a:lstStyle/>
          <a:p>
            <a:pPr algn="l" indent="0" marL="0">
              <a:lnSpc>
                <a:spcPct val="106875"/>
              </a:lnSpc>
              <a:buNone/>
            </a:pPr>
            <a:r>
              <a:rPr lang="en-US" sz="1425" dirty="0">
                <a:solidFill>
                  <a:srgbClr val="A8551F"/>
                </a:solidFill>
                <a:latin typeface="IBM Plex Mono" pitchFamily="34" charset="0"/>
                <a:ea typeface="IBM Plex Mono" pitchFamily="34" charset="-122"/>
                <a:cs typeface="IBM Plex Mono" pitchFamily="34" charset="-120"/>
              </a:rPr>
              <a:t>MIXED MONOREPO</a:t>
            </a:r>
            <a:endParaRPr lang="en-US" sz="1425" dirty="0"/>
          </a:p>
        </p:txBody>
      </p:sp>
      <p:sp>
        <p:nvSpPr>
          <p:cNvPr id="72" name="Text 62"/>
          <p:cNvSpPr/>
          <p:nvPr/>
        </p:nvSpPr>
        <p:spPr>
          <a:xfrm>
            <a:off x="2520404" y="8362950"/>
            <a:ext cx="3904833" cy="276225"/>
          </a:xfrm>
          <a:prstGeom prst="rect">
            <a:avLst/>
          </a:prstGeom>
          <a:noFill/>
          <a:ln/>
        </p:spPr>
        <p:txBody>
          <a:bodyPr wrap="square" lIns="25400" tIns="25400" rIns="25400" bIns="25400" rtlCol="0" anchor="t">
            <a:normAutofit/>
          </a:bodyPr>
          <a:lstStyle/>
          <a:p>
            <a:pPr algn="l" indent="0" marL="0">
              <a:lnSpc>
                <a:spcPct val="106875"/>
              </a:lnSpc>
              <a:buNone/>
            </a:pPr>
            <a:r>
              <a:rPr lang="en-US" sz="1425" dirty="0">
                <a:solidFill>
                  <a:srgbClr val="4D535B"/>
                </a:solidFill>
                <a:latin typeface="IBM Plex Sans" pitchFamily="34" charset="0"/>
                <a:ea typeface="IBM Plex Sans" pitchFamily="34" charset="-122"/>
                <a:cs typeface="IBM Plex Sans" pitchFamily="34" charset="-120"/>
              </a:rPr>
              <a:t>→ route each changed path by its own class</a:t>
            </a:r>
            <a:endParaRPr lang="en-US" sz="1425" dirty="0"/>
          </a:p>
        </p:txBody>
      </p:sp>
      <p:sp>
        <p:nvSpPr>
          <p:cNvPr id="73" name="Shape 63"/>
          <p:cNvSpPr/>
          <p:nvPr/>
        </p:nvSpPr>
        <p:spPr>
          <a:xfrm>
            <a:off x="9182100" y="8267700"/>
            <a:ext cx="8343900" cy="428625"/>
          </a:xfrm>
          <a:prstGeom prst="rect">
            <a:avLst/>
          </a:prstGeom>
          <a:solidFill>
            <a:srgbClr val="FFFFFF"/>
          </a:solidFill>
          <a:ln w="9525">
            <a:solidFill>
              <a:srgbClr val="E0DCD3"/>
            </a:solidFill>
            <a:prstDash val="solid"/>
          </a:ln>
        </p:spPr>
      </p:sp>
      <p:sp>
        <p:nvSpPr>
          <p:cNvPr id="74" name="Text 64"/>
          <p:cNvSpPr/>
          <p:nvPr/>
        </p:nvSpPr>
        <p:spPr>
          <a:xfrm>
            <a:off x="9324975" y="8362950"/>
            <a:ext cx="836414" cy="276225"/>
          </a:xfrm>
          <a:prstGeom prst="rect">
            <a:avLst/>
          </a:prstGeom>
          <a:noFill/>
          <a:ln/>
        </p:spPr>
        <p:txBody>
          <a:bodyPr wrap="none" lIns="25400" tIns="25400" rIns="25400" bIns="25400" rtlCol="0" anchor="t">
            <a:normAutofit/>
          </a:bodyPr>
          <a:lstStyle/>
          <a:p>
            <a:pPr algn="l" indent="0" marL="0">
              <a:lnSpc>
                <a:spcPct val="106875"/>
              </a:lnSpc>
              <a:buNone/>
            </a:pPr>
            <a:r>
              <a:rPr lang="en-US" sz="1425" dirty="0">
                <a:solidFill>
                  <a:srgbClr val="A8551F"/>
                </a:solidFill>
                <a:latin typeface="IBM Plex Mono" pitchFamily="34" charset="0"/>
                <a:ea typeface="IBM Plex Mono" pitchFamily="34" charset="-122"/>
                <a:cs typeface="IBM Plex Mono" pitchFamily="34" charset="-120"/>
              </a:rPr>
              <a:t>UNKNOWN</a:t>
            </a:r>
            <a:endParaRPr lang="en-US" sz="1425" dirty="0"/>
          </a:p>
        </p:txBody>
      </p:sp>
      <p:sp>
        <p:nvSpPr>
          <p:cNvPr id="75" name="Text 65"/>
          <p:cNvSpPr/>
          <p:nvPr/>
        </p:nvSpPr>
        <p:spPr>
          <a:xfrm>
            <a:off x="10180439" y="8362950"/>
            <a:ext cx="4544452" cy="276225"/>
          </a:xfrm>
          <a:prstGeom prst="rect">
            <a:avLst/>
          </a:prstGeom>
          <a:noFill/>
          <a:ln/>
        </p:spPr>
        <p:txBody>
          <a:bodyPr wrap="square" lIns="25400" tIns="25400" rIns="25400" bIns="25400" rtlCol="0" anchor="t">
            <a:normAutofit/>
          </a:bodyPr>
          <a:lstStyle/>
          <a:p>
            <a:pPr algn="l" indent="0" marL="0">
              <a:lnSpc>
                <a:spcPct val="106875"/>
              </a:lnSpc>
              <a:buNone/>
            </a:pPr>
            <a:r>
              <a:rPr lang="en-US" sz="1425" dirty="0">
                <a:solidFill>
                  <a:srgbClr val="4D535B"/>
                </a:solidFill>
                <a:latin typeface="IBM Plex Sans" pitchFamily="34" charset="0"/>
                <a:ea typeface="IBM Plex Sans" pitchFamily="34" charset="-122"/>
                <a:cs typeface="IBM Plex Sans" pitchFamily="34" charset="-120"/>
              </a:rPr>
              <a:t>→ hold event → classify → replay — never dropped</a:t>
            </a:r>
            <a:endParaRPr lang="en-US" sz="1425" dirty="0"/>
          </a:p>
        </p:txBody>
      </p:sp>
      <p:sp>
        <p:nvSpPr>
          <p:cNvPr id="76" name="Text 66"/>
          <p:cNvSpPr/>
          <p:nvPr/>
        </p:nvSpPr>
        <p:spPr>
          <a:xfrm>
            <a:off x="762000" y="8829675"/>
            <a:ext cx="18440400" cy="2667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Mono" pitchFamily="34" charset="0"/>
                <a:ea typeface="IBM Plex Mono" pitchFamily="34" charset="-122"/>
                <a:cs typeface="IBM Plex Mono" pitchFamily="34" charset="-120"/>
              </a:rPr>
              <a:t>SOUND EXIT · INVALIDATION IS DETERMINANT-BASED, NOT REACHABILITY-BASED · IDEMPOTENT — CANDIDATE KEYED (REPO, SHA, TOOLCHAINHASH) · CORRELATION-ID PER HOP</a:t>
            </a:r>
            <a:endParaRPr lang="en-US" sz="142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762000" y="342900"/>
            <a:ext cx="18440400" cy="361950"/>
          </a:xfrm>
          <a:prstGeom prst="rect">
            <a:avLst/>
          </a:prstGeom>
          <a:noFill/>
          <a:ln/>
        </p:spPr>
        <p:txBody>
          <a:bodyPr wrap="square" lIns="25400" tIns="25400" rIns="25400" bIns="25400" rtlCol="0" anchor="t">
            <a:normAutofit/>
          </a:bodyPr>
          <a:lstStyle/>
          <a:p>
            <a:pPr algn="l" indent="0" marL="0">
              <a:buNone/>
            </a:pPr>
            <a:r>
              <a:rPr lang="en-US" sz="1950" spc="312" kern="0" dirty="0">
                <a:solidFill>
                  <a:srgbClr val="4D535B"/>
                </a:solidFill>
                <a:latin typeface="IBM Plex Mono" pitchFamily="34" charset="0"/>
                <a:ea typeface="IBM Plex Mono" pitchFamily="34" charset="-122"/>
                <a:cs typeface="IBM Plex Mono" pitchFamily="34" charset="-120"/>
              </a:rPr>
              <a:t>08B · APPENDIX · INCREMENTAL ROUTING — WHAT EACH ROUTE MEANS ON CHANGE</a:t>
            </a:r>
            <a:endParaRPr lang="en-US" sz="1950" dirty="0"/>
          </a:p>
        </p:txBody>
      </p:sp>
      <p:sp>
        <p:nvSpPr>
          <p:cNvPr id="3" name="Text 1"/>
          <p:cNvSpPr/>
          <p:nvPr/>
        </p:nvSpPr>
        <p:spPr>
          <a:xfrm>
            <a:off x="762000" y="762000"/>
            <a:ext cx="18440400" cy="771525"/>
          </a:xfrm>
          <a:prstGeom prst="rect">
            <a:avLst/>
          </a:prstGeom>
          <a:noFill/>
          <a:ln/>
        </p:spPr>
        <p:txBody>
          <a:bodyPr wrap="square" lIns="25400" tIns="25400" rIns="25400" bIns="25400" rtlCol="0" anchor="t">
            <a:normAutofit/>
          </a:bodyPr>
          <a:lstStyle/>
          <a:p>
            <a:pPr algn="l" indent="0" marL="0">
              <a:buNone/>
            </a:pPr>
            <a:r>
              <a:rPr lang="en-US" sz="4500" b="1" dirty="0">
                <a:solidFill>
                  <a:srgbClr val="191C20"/>
                </a:solidFill>
                <a:latin typeface="IBM Plex Sans" pitchFamily="34" charset="0"/>
                <a:ea typeface="IBM Plex Sans" pitchFamily="34" charset="-122"/>
                <a:cs typeface="IBM Plex Sans" pitchFamily="34" charset="-120"/>
              </a:rPr>
              <a:t>Incremental Appendix — Routing Explained</a:t>
            </a:r>
            <a:endParaRPr lang="en-US" sz="4500" dirty="0"/>
          </a:p>
        </p:txBody>
      </p:sp>
      <p:sp>
        <p:nvSpPr>
          <p:cNvPr id="4" name="Shape 2"/>
          <p:cNvSpPr/>
          <p:nvPr/>
        </p:nvSpPr>
        <p:spPr>
          <a:xfrm>
            <a:off x="762000" y="1666875"/>
            <a:ext cx="16764000" cy="19050"/>
          </a:xfrm>
          <a:prstGeom prst="rect">
            <a:avLst/>
          </a:prstGeom>
          <a:solidFill>
            <a:srgbClr val="191C20"/>
          </a:solidFill>
          <a:ln/>
        </p:spPr>
      </p:sp>
      <p:sp>
        <p:nvSpPr>
          <p:cNvPr id="5" name="Shape 3"/>
          <p:cNvSpPr/>
          <p:nvPr/>
        </p:nvSpPr>
        <p:spPr>
          <a:xfrm>
            <a:off x="762000" y="2085975"/>
            <a:ext cx="2381250" cy="9525"/>
          </a:xfrm>
          <a:prstGeom prst="rect">
            <a:avLst/>
          </a:prstGeom>
          <a:solidFill>
            <a:srgbClr val="E0DCD3"/>
          </a:solidFill>
          <a:ln/>
        </p:spPr>
      </p:sp>
      <p:sp>
        <p:nvSpPr>
          <p:cNvPr id="6" name="Text 4"/>
          <p:cNvSpPr/>
          <p:nvPr/>
        </p:nvSpPr>
        <p:spPr>
          <a:xfrm>
            <a:off x="838200" y="1771650"/>
            <a:ext cx="2305050" cy="2667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Mono" pitchFamily="34" charset="0"/>
                <a:ea typeface="IBM Plex Mono" pitchFamily="34" charset="-122"/>
                <a:cs typeface="IBM Plex Mono" pitchFamily="34" charset="-120"/>
              </a:rPr>
              <a:t>CLASS</a:t>
            </a:r>
            <a:endParaRPr lang="en-US" sz="1425" dirty="0"/>
          </a:p>
        </p:txBody>
      </p:sp>
      <p:sp>
        <p:nvSpPr>
          <p:cNvPr id="7" name="Shape 5"/>
          <p:cNvSpPr/>
          <p:nvPr/>
        </p:nvSpPr>
        <p:spPr>
          <a:xfrm>
            <a:off x="3143250" y="2085975"/>
            <a:ext cx="6537573" cy="9525"/>
          </a:xfrm>
          <a:prstGeom prst="rect">
            <a:avLst/>
          </a:prstGeom>
          <a:solidFill>
            <a:srgbClr val="E0DCD3"/>
          </a:solidFill>
          <a:ln/>
        </p:spPr>
      </p:sp>
      <p:sp>
        <p:nvSpPr>
          <p:cNvPr id="8" name="Text 6"/>
          <p:cNvSpPr/>
          <p:nvPr/>
        </p:nvSpPr>
        <p:spPr>
          <a:xfrm>
            <a:off x="3219450" y="1771650"/>
            <a:ext cx="6581300" cy="2667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Mono" pitchFamily="34" charset="0"/>
                <a:ea typeface="IBM Plex Mono" pitchFamily="34" charset="-122"/>
                <a:cs typeface="IBM Plex Mono" pitchFamily="34" charset="-120"/>
              </a:rPr>
              <a:t>ON CHANGE</a:t>
            </a:r>
            <a:endParaRPr lang="en-US" sz="1425" dirty="0"/>
          </a:p>
        </p:txBody>
      </p:sp>
      <p:sp>
        <p:nvSpPr>
          <p:cNvPr id="9" name="Shape 7"/>
          <p:cNvSpPr/>
          <p:nvPr/>
        </p:nvSpPr>
        <p:spPr>
          <a:xfrm>
            <a:off x="9680823" y="2085975"/>
            <a:ext cx="7845028" cy="9525"/>
          </a:xfrm>
          <a:prstGeom prst="rect">
            <a:avLst/>
          </a:prstGeom>
          <a:solidFill>
            <a:srgbClr val="E0DCD3"/>
          </a:solidFill>
          <a:ln/>
        </p:spPr>
      </p:sp>
      <p:sp>
        <p:nvSpPr>
          <p:cNvPr id="10" name="Text 8"/>
          <p:cNvSpPr/>
          <p:nvPr/>
        </p:nvSpPr>
        <p:spPr>
          <a:xfrm>
            <a:off x="9757023" y="1771650"/>
            <a:ext cx="7927979" cy="2667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Mono" pitchFamily="34" charset="0"/>
                <a:ea typeface="IBM Plex Mono" pitchFamily="34" charset="-122"/>
                <a:cs typeface="IBM Plex Mono" pitchFamily="34" charset="-120"/>
              </a:rPr>
              <a:t>WHY IT IS SOUND</a:t>
            </a:r>
            <a:endParaRPr lang="en-US" sz="1425" dirty="0"/>
          </a:p>
        </p:txBody>
      </p:sp>
      <p:sp>
        <p:nvSpPr>
          <p:cNvPr id="11" name="Shape 9"/>
          <p:cNvSpPr/>
          <p:nvPr/>
        </p:nvSpPr>
        <p:spPr>
          <a:xfrm>
            <a:off x="762000" y="2724150"/>
            <a:ext cx="2381250" cy="9525"/>
          </a:xfrm>
          <a:prstGeom prst="rect">
            <a:avLst/>
          </a:prstGeom>
          <a:solidFill>
            <a:srgbClr val="E0DCD3"/>
          </a:solidFill>
          <a:ln/>
        </p:spPr>
      </p:sp>
      <p:sp>
        <p:nvSpPr>
          <p:cNvPr id="12" name="Text 10"/>
          <p:cNvSpPr/>
          <p:nvPr/>
        </p:nvSpPr>
        <p:spPr>
          <a:xfrm>
            <a:off x="838200" y="2181225"/>
            <a:ext cx="2305050" cy="495300"/>
          </a:xfrm>
          <a:prstGeom prst="rect">
            <a:avLst/>
          </a:prstGeom>
          <a:noFill/>
          <a:ln/>
        </p:spPr>
        <p:txBody>
          <a:bodyPr wrap="square" lIns="25400" tIns="25400" rIns="25400" bIns="25400" rtlCol="0" anchor="t">
            <a:normAutofit/>
          </a:bodyPr>
          <a:lstStyle/>
          <a:p>
            <a:pPr algn="l" indent="0" marL="0">
              <a:buNone/>
            </a:pPr>
            <a:r>
              <a:rPr lang="en-US" sz="1425" dirty="0">
                <a:solidFill>
                  <a:srgbClr val="191C20"/>
                </a:solidFill>
                <a:latin typeface="IBM Plex Mono" pitchFamily="34" charset="0"/>
                <a:ea typeface="IBM Plex Mono" pitchFamily="34" charset="-122"/>
                <a:cs typeface="IBM Plex Mono" pitchFamily="34" charset="-120"/>
              </a:rPr>
              <a:t>APP / PIPELINE</a:t>
            </a:r>
            <a:endParaRPr lang="en-US" sz="1425" dirty="0"/>
          </a:p>
        </p:txBody>
      </p:sp>
      <p:sp>
        <p:nvSpPr>
          <p:cNvPr id="13" name="Shape 11"/>
          <p:cNvSpPr/>
          <p:nvPr/>
        </p:nvSpPr>
        <p:spPr>
          <a:xfrm>
            <a:off x="3143250" y="2724150"/>
            <a:ext cx="6537573" cy="9525"/>
          </a:xfrm>
          <a:prstGeom prst="rect">
            <a:avLst/>
          </a:prstGeom>
          <a:solidFill>
            <a:srgbClr val="E0DCD3"/>
          </a:solidFill>
          <a:ln/>
        </p:spPr>
      </p:sp>
      <p:sp>
        <p:nvSpPr>
          <p:cNvPr id="14" name="Text 12"/>
          <p:cNvSpPr/>
          <p:nvPr/>
        </p:nvSpPr>
        <p:spPr>
          <a:xfrm>
            <a:off x="3219450" y="2181225"/>
            <a:ext cx="6581300" cy="4953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Re-derive only edges whose determinant files intersect the changed paths — e.g. orders.sql changed → only orders edges recomputed</a:t>
            </a:r>
            <a:endParaRPr lang="en-US" sz="1425" dirty="0"/>
          </a:p>
        </p:txBody>
      </p:sp>
      <p:sp>
        <p:nvSpPr>
          <p:cNvPr id="15" name="Shape 13"/>
          <p:cNvSpPr/>
          <p:nvPr/>
        </p:nvSpPr>
        <p:spPr>
          <a:xfrm>
            <a:off x="9680823" y="2724150"/>
            <a:ext cx="7845028" cy="9525"/>
          </a:xfrm>
          <a:prstGeom prst="rect">
            <a:avLst/>
          </a:prstGeom>
          <a:solidFill>
            <a:srgbClr val="E0DCD3"/>
          </a:solidFill>
          <a:ln/>
        </p:spPr>
      </p:sp>
      <p:sp>
        <p:nvSpPr>
          <p:cNvPr id="16" name="Text 14"/>
          <p:cNvSpPr/>
          <p:nvPr/>
        </p:nvSpPr>
        <p:spPr>
          <a:xfrm>
            <a:off x="9757023" y="2181225"/>
            <a:ext cx="7927979" cy="4953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Every edge records the exact files it was derived from; untouched determinants cannot change the edge</a:t>
            </a:r>
            <a:endParaRPr lang="en-US" sz="1425" dirty="0"/>
          </a:p>
        </p:txBody>
      </p:sp>
      <p:sp>
        <p:nvSpPr>
          <p:cNvPr id="17" name="Shape 15"/>
          <p:cNvSpPr/>
          <p:nvPr/>
        </p:nvSpPr>
        <p:spPr>
          <a:xfrm>
            <a:off x="762000" y="3362325"/>
            <a:ext cx="2381250" cy="9525"/>
          </a:xfrm>
          <a:prstGeom prst="rect">
            <a:avLst/>
          </a:prstGeom>
          <a:solidFill>
            <a:srgbClr val="E0DCD3"/>
          </a:solidFill>
          <a:ln/>
        </p:spPr>
      </p:sp>
      <p:sp>
        <p:nvSpPr>
          <p:cNvPr id="18" name="Text 16"/>
          <p:cNvSpPr/>
          <p:nvPr/>
        </p:nvSpPr>
        <p:spPr>
          <a:xfrm>
            <a:off x="838200" y="2819400"/>
            <a:ext cx="2305050" cy="495300"/>
          </a:xfrm>
          <a:prstGeom prst="rect">
            <a:avLst/>
          </a:prstGeom>
          <a:noFill/>
          <a:ln/>
        </p:spPr>
        <p:txBody>
          <a:bodyPr wrap="square" lIns="25400" tIns="25400" rIns="25400" bIns="25400" rtlCol="0" anchor="t">
            <a:normAutofit/>
          </a:bodyPr>
          <a:lstStyle/>
          <a:p>
            <a:pPr algn="l" indent="0" marL="0">
              <a:buNone/>
            </a:pPr>
            <a:r>
              <a:rPr lang="en-US" sz="1425" dirty="0">
                <a:solidFill>
                  <a:srgbClr val="191C20"/>
                </a:solidFill>
                <a:latin typeface="IBM Plex Mono" pitchFamily="34" charset="0"/>
                <a:ea typeface="IBM Plex Mono" pitchFamily="34" charset="-122"/>
                <a:cs typeface="IBM Plex Mono" pitchFamily="34" charset="-120"/>
              </a:rPr>
              <a:t>LIBRARY</a:t>
            </a:r>
            <a:endParaRPr lang="en-US" sz="1425" dirty="0"/>
          </a:p>
        </p:txBody>
      </p:sp>
      <p:sp>
        <p:nvSpPr>
          <p:cNvPr id="19" name="Shape 17"/>
          <p:cNvSpPr/>
          <p:nvPr/>
        </p:nvSpPr>
        <p:spPr>
          <a:xfrm>
            <a:off x="3143250" y="3362325"/>
            <a:ext cx="6537573" cy="9525"/>
          </a:xfrm>
          <a:prstGeom prst="rect">
            <a:avLst/>
          </a:prstGeom>
          <a:solidFill>
            <a:srgbClr val="E0DCD3"/>
          </a:solidFill>
          <a:ln/>
        </p:spPr>
      </p:sp>
      <p:sp>
        <p:nvSpPr>
          <p:cNvPr id="20" name="Text 18"/>
          <p:cNvSpPr/>
          <p:nvPr/>
        </p:nvSpPr>
        <p:spPr>
          <a:xfrm>
            <a:off x="3219450" y="2819400"/>
            <a:ext cx="6581300" cy="4953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Bump the library determinant (name, version, digest); re-analyze consumers whose determinant sets include it</a:t>
            </a:r>
            <a:endParaRPr lang="en-US" sz="1425" dirty="0"/>
          </a:p>
        </p:txBody>
      </p:sp>
      <p:sp>
        <p:nvSpPr>
          <p:cNvPr id="21" name="Shape 19"/>
          <p:cNvSpPr/>
          <p:nvPr/>
        </p:nvSpPr>
        <p:spPr>
          <a:xfrm>
            <a:off x="9680823" y="3362325"/>
            <a:ext cx="7845028" cy="9525"/>
          </a:xfrm>
          <a:prstGeom prst="rect">
            <a:avLst/>
          </a:prstGeom>
          <a:solidFill>
            <a:srgbClr val="E0DCD3"/>
          </a:solidFill>
          <a:ln/>
        </p:spPr>
      </p:sp>
      <p:sp>
        <p:nvSpPr>
          <p:cNvPr id="22" name="Text 20"/>
          <p:cNvSpPr/>
          <p:nvPr/>
        </p:nvSpPr>
        <p:spPr>
          <a:xfrm>
            <a:off x="9757023" y="2819400"/>
            <a:ext cx="7927979" cy="4953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The library itself has no edges — impact flows through the dependency index, not guesswork</a:t>
            </a:r>
            <a:endParaRPr lang="en-US" sz="1425" dirty="0"/>
          </a:p>
        </p:txBody>
      </p:sp>
      <p:sp>
        <p:nvSpPr>
          <p:cNvPr id="23" name="Shape 21"/>
          <p:cNvSpPr/>
          <p:nvPr/>
        </p:nvSpPr>
        <p:spPr>
          <a:xfrm>
            <a:off x="762000" y="4000500"/>
            <a:ext cx="2381250" cy="9525"/>
          </a:xfrm>
          <a:prstGeom prst="rect">
            <a:avLst/>
          </a:prstGeom>
          <a:solidFill>
            <a:srgbClr val="E0DCD3"/>
          </a:solidFill>
          <a:ln/>
        </p:spPr>
      </p:sp>
      <p:sp>
        <p:nvSpPr>
          <p:cNvPr id="24" name="Text 22"/>
          <p:cNvSpPr/>
          <p:nvPr/>
        </p:nvSpPr>
        <p:spPr>
          <a:xfrm>
            <a:off x="838200" y="3457575"/>
            <a:ext cx="2305050" cy="495300"/>
          </a:xfrm>
          <a:prstGeom prst="rect">
            <a:avLst/>
          </a:prstGeom>
          <a:noFill/>
          <a:ln/>
        </p:spPr>
        <p:txBody>
          <a:bodyPr wrap="square" lIns="25400" tIns="25400" rIns="25400" bIns="25400" rtlCol="0" anchor="t">
            <a:normAutofit/>
          </a:bodyPr>
          <a:lstStyle/>
          <a:p>
            <a:pPr algn="l" indent="0" marL="0">
              <a:buNone/>
            </a:pPr>
            <a:r>
              <a:rPr lang="en-US" sz="1425" dirty="0">
                <a:solidFill>
                  <a:srgbClr val="191C20"/>
                </a:solidFill>
                <a:latin typeface="IBM Plex Mono" pitchFamily="34" charset="0"/>
                <a:ea typeface="IBM Plex Mono" pitchFamily="34" charset="-122"/>
                <a:cs typeface="IBM Plex Mono" pitchFamily="34" charset="-120"/>
              </a:rPr>
              <a:t>INFRASTRUCTURE</a:t>
            </a:r>
            <a:endParaRPr lang="en-US" sz="1425" dirty="0"/>
          </a:p>
        </p:txBody>
      </p:sp>
      <p:sp>
        <p:nvSpPr>
          <p:cNvPr id="25" name="Shape 23"/>
          <p:cNvSpPr/>
          <p:nvPr/>
        </p:nvSpPr>
        <p:spPr>
          <a:xfrm>
            <a:off x="3143250" y="4000500"/>
            <a:ext cx="6537573" cy="9525"/>
          </a:xfrm>
          <a:prstGeom prst="rect">
            <a:avLst/>
          </a:prstGeom>
          <a:solidFill>
            <a:srgbClr val="E0DCD3"/>
          </a:solidFill>
          <a:ln/>
        </p:spPr>
      </p:sp>
      <p:sp>
        <p:nvSpPr>
          <p:cNvPr id="26" name="Text 24"/>
          <p:cNvSpPr/>
          <p:nvPr/>
        </p:nvSpPr>
        <p:spPr>
          <a:xfrm>
            <a:off x="3219450" y="3457575"/>
            <a:ext cx="6581300" cy="4953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Re-evaluate routes, topics and bindings; capacity-only changes (instance size, replicas) are ignored</a:t>
            </a:r>
            <a:endParaRPr lang="en-US" sz="1425" dirty="0"/>
          </a:p>
        </p:txBody>
      </p:sp>
      <p:sp>
        <p:nvSpPr>
          <p:cNvPr id="27" name="Shape 25"/>
          <p:cNvSpPr/>
          <p:nvPr/>
        </p:nvSpPr>
        <p:spPr>
          <a:xfrm>
            <a:off x="9680823" y="4000500"/>
            <a:ext cx="7845028" cy="9525"/>
          </a:xfrm>
          <a:prstGeom prst="rect">
            <a:avLst/>
          </a:prstGeom>
          <a:solidFill>
            <a:srgbClr val="E0DCD3"/>
          </a:solidFill>
          <a:ln/>
        </p:spPr>
      </p:sp>
      <p:sp>
        <p:nvSpPr>
          <p:cNvPr id="28" name="Text 26"/>
          <p:cNvSpPr/>
          <p:nvPr/>
        </p:nvSpPr>
        <p:spPr>
          <a:xfrm>
            <a:off x="9757023" y="3457575"/>
            <a:ext cx="7927979" cy="4953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Only connectivity declarations can alter lineage; capacity never does</a:t>
            </a:r>
            <a:endParaRPr lang="en-US" sz="1425" dirty="0"/>
          </a:p>
        </p:txBody>
      </p:sp>
      <p:sp>
        <p:nvSpPr>
          <p:cNvPr id="29" name="Shape 27"/>
          <p:cNvSpPr/>
          <p:nvPr/>
        </p:nvSpPr>
        <p:spPr>
          <a:xfrm>
            <a:off x="762000" y="4638675"/>
            <a:ext cx="2381250" cy="9525"/>
          </a:xfrm>
          <a:prstGeom prst="rect">
            <a:avLst/>
          </a:prstGeom>
          <a:solidFill>
            <a:srgbClr val="E0DCD3"/>
          </a:solidFill>
          <a:ln/>
        </p:spPr>
      </p:sp>
      <p:sp>
        <p:nvSpPr>
          <p:cNvPr id="30" name="Text 28"/>
          <p:cNvSpPr/>
          <p:nvPr/>
        </p:nvSpPr>
        <p:spPr>
          <a:xfrm>
            <a:off x="838200" y="4095750"/>
            <a:ext cx="2305050" cy="495300"/>
          </a:xfrm>
          <a:prstGeom prst="rect">
            <a:avLst/>
          </a:prstGeom>
          <a:noFill/>
          <a:ln/>
        </p:spPr>
        <p:txBody>
          <a:bodyPr wrap="square" lIns="25400" tIns="25400" rIns="25400" bIns="25400" rtlCol="0" anchor="t">
            <a:normAutofit/>
          </a:bodyPr>
          <a:lstStyle/>
          <a:p>
            <a:pPr algn="l" indent="0" marL="0">
              <a:buNone/>
            </a:pPr>
            <a:r>
              <a:rPr lang="en-US" sz="1425" dirty="0">
                <a:solidFill>
                  <a:srgbClr val="191C20"/>
                </a:solidFill>
                <a:latin typeface="IBM Plex Mono" pitchFamily="34" charset="0"/>
                <a:ea typeface="IBM Plex Mono" pitchFamily="34" charset="-122"/>
                <a:cs typeface="IBM Plex Mono" pitchFamily="34" charset="-120"/>
              </a:rPr>
              <a:t>CONTRACT SOURCE</a:t>
            </a:r>
            <a:endParaRPr lang="en-US" sz="1425" dirty="0"/>
          </a:p>
        </p:txBody>
      </p:sp>
      <p:sp>
        <p:nvSpPr>
          <p:cNvPr id="31" name="Shape 29"/>
          <p:cNvSpPr/>
          <p:nvPr/>
        </p:nvSpPr>
        <p:spPr>
          <a:xfrm>
            <a:off x="3143250" y="4638675"/>
            <a:ext cx="6537573" cy="9525"/>
          </a:xfrm>
          <a:prstGeom prst="rect">
            <a:avLst/>
          </a:prstGeom>
          <a:solidFill>
            <a:srgbClr val="E0DCD3"/>
          </a:solidFill>
          <a:ln/>
        </p:spPr>
      </p:sp>
      <p:sp>
        <p:nvSpPr>
          <p:cNvPr id="32" name="Text 30"/>
          <p:cNvSpPr/>
          <p:nvPr/>
        </p:nvSpPr>
        <p:spPr>
          <a:xfrm>
            <a:off x="3219450" y="4095750"/>
            <a:ext cx="6581300" cy="4953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Re-evaluate every producer and consumer connected to the changed schema — the registry always wins</a:t>
            </a:r>
            <a:endParaRPr lang="en-US" sz="1425" dirty="0"/>
          </a:p>
        </p:txBody>
      </p:sp>
      <p:sp>
        <p:nvSpPr>
          <p:cNvPr id="33" name="Shape 31"/>
          <p:cNvSpPr/>
          <p:nvPr/>
        </p:nvSpPr>
        <p:spPr>
          <a:xfrm>
            <a:off x="9680823" y="4638675"/>
            <a:ext cx="7845028" cy="9525"/>
          </a:xfrm>
          <a:prstGeom prst="rect">
            <a:avLst/>
          </a:prstGeom>
          <a:solidFill>
            <a:srgbClr val="E0DCD3"/>
          </a:solidFill>
          <a:ln/>
        </p:spPr>
      </p:sp>
      <p:sp>
        <p:nvSpPr>
          <p:cNvPr id="34" name="Text 32"/>
          <p:cNvSpPr/>
          <p:nvPr/>
        </p:nvSpPr>
        <p:spPr>
          <a:xfrm>
            <a:off x="9757023" y="4095750"/>
            <a:ext cx="7927979" cy="4953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A contract change is visible to both sides by definition; the index knows exactly who they are</a:t>
            </a:r>
            <a:endParaRPr lang="en-US" sz="1425" dirty="0"/>
          </a:p>
        </p:txBody>
      </p:sp>
      <p:sp>
        <p:nvSpPr>
          <p:cNvPr id="35" name="Shape 33"/>
          <p:cNvSpPr/>
          <p:nvPr/>
        </p:nvSpPr>
        <p:spPr>
          <a:xfrm>
            <a:off x="762000" y="5276850"/>
            <a:ext cx="2381250" cy="9525"/>
          </a:xfrm>
          <a:prstGeom prst="rect">
            <a:avLst/>
          </a:prstGeom>
          <a:solidFill>
            <a:srgbClr val="E0DCD3"/>
          </a:solidFill>
          <a:ln/>
        </p:spPr>
      </p:sp>
      <p:sp>
        <p:nvSpPr>
          <p:cNvPr id="36" name="Text 34"/>
          <p:cNvSpPr/>
          <p:nvPr/>
        </p:nvSpPr>
        <p:spPr>
          <a:xfrm>
            <a:off x="838200" y="4733925"/>
            <a:ext cx="2305050" cy="495300"/>
          </a:xfrm>
          <a:prstGeom prst="rect">
            <a:avLst/>
          </a:prstGeom>
          <a:noFill/>
          <a:ln/>
        </p:spPr>
        <p:txBody>
          <a:bodyPr wrap="square" lIns="25400" tIns="25400" rIns="25400" bIns="25400" rtlCol="0" anchor="t">
            <a:normAutofit/>
          </a:bodyPr>
          <a:lstStyle/>
          <a:p>
            <a:pPr algn="l" indent="0" marL="0">
              <a:buNone/>
            </a:pPr>
            <a:r>
              <a:rPr lang="en-US" sz="1425" dirty="0">
                <a:solidFill>
                  <a:srgbClr val="191C20"/>
                </a:solidFill>
                <a:latin typeface="IBM Plex Mono" pitchFamily="34" charset="0"/>
                <a:ea typeface="IBM Plex Mono" pitchFamily="34" charset="-122"/>
                <a:cs typeface="IBM Plex Mono" pitchFamily="34" charset="-120"/>
              </a:rPr>
              <a:t>TEST AUTOMATION</a:t>
            </a:r>
            <a:endParaRPr lang="en-US" sz="1425" dirty="0"/>
          </a:p>
        </p:txBody>
      </p:sp>
      <p:sp>
        <p:nvSpPr>
          <p:cNvPr id="37" name="Shape 35"/>
          <p:cNvSpPr/>
          <p:nvPr/>
        </p:nvSpPr>
        <p:spPr>
          <a:xfrm>
            <a:off x="3143250" y="5276850"/>
            <a:ext cx="6537573" cy="9525"/>
          </a:xfrm>
          <a:prstGeom prst="rect">
            <a:avLst/>
          </a:prstGeom>
          <a:solidFill>
            <a:srgbClr val="E0DCD3"/>
          </a:solidFill>
          <a:ln/>
        </p:spPr>
      </p:sp>
      <p:sp>
        <p:nvSpPr>
          <p:cNvPr id="38" name="Text 36"/>
          <p:cNvSpPr/>
          <p:nvPr/>
        </p:nvSpPr>
        <p:spPr>
          <a:xfrm>
            <a:off x="3219450" y="4733925"/>
            <a:ext cx="6581300" cy="4953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Update coverage mappings and evidence freshness; no lineage edges re-derived</a:t>
            </a:r>
            <a:endParaRPr lang="en-US" sz="1425" dirty="0"/>
          </a:p>
        </p:txBody>
      </p:sp>
      <p:sp>
        <p:nvSpPr>
          <p:cNvPr id="39" name="Shape 37"/>
          <p:cNvSpPr/>
          <p:nvPr/>
        </p:nvSpPr>
        <p:spPr>
          <a:xfrm>
            <a:off x="9680823" y="5276850"/>
            <a:ext cx="7845028" cy="9525"/>
          </a:xfrm>
          <a:prstGeom prst="rect">
            <a:avLst/>
          </a:prstGeom>
          <a:solidFill>
            <a:srgbClr val="E0DCD3"/>
          </a:solidFill>
          <a:ln/>
        </p:spPr>
      </p:sp>
      <p:sp>
        <p:nvSpPr>
          <p:cNvPr id="40" name="Text 38"/>
          <p:cNvSpPr/>
          <p:nvPr/>
        </p:nvSpPr>
        <p:spPr>
          <a:xfrm>
            <a:off x="9757023" y="4733925"/>
            <a:ext cx="7927979" cy="4953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Tests corroborate edges but never create them</a:t>
            </a:r>
            <a:endParaRPr lang="en-US" sz="1425" dirty="0"/>
          </a:p>
        </p:txBody>
      </p:sp>
      <p:sp>
        <p:nvSpPr>
          <p:cNvPr id="41" name="Shape 39"/>
          <p:cNvSpPr/>
          <p:nvPr/>
        </p:nvSpPr>
        <p:spPr>
          <a:xfrm>
            <a:off x="762000" y="5686425"/>
            <a:ext cx="2381250" cy="9525"/>
          </a:xfrm>
          <a:prstGeom prst="rect">
            <a:avLst/>
          </a:prstGeom>
          <a:solidFill>
            <a:srgbClr val="E0DCD3"/>
          </a:solidFill>
          <a:ln/>
        </p:spPr>
      </p:sp>
      <p:sp>
        <p:nvSpPr>
          <p:cNvPr id="42" name="Text 40"/>
          <p:cNvSpPr/>
          <p:nvPr/>
        </p:nvSpPr>
        <p:spPr>
          <a:xfrm>
            <a:off x="838200" y="5372100"/>
            <a:ext cx="2305050" cy="266700"/>
          </a:xfrm>
          <a:prstGeom prst="rect">
            <a:avLst/>
          </a:prstGeom>
          <a:noFill/>
          <a:ln/>
        </p:spPr>
        <p:txBody>
          <a:bodyPr wrap="square" lIns="25400" tIns="25400" rIns="25400" bIns="25400" rtlCol="0" anchor="t">
            <a:normAutofit/>
          </a:bodyPr>
          <a:lstStyle/>
          <a:p>
            <a:pPr algn="l" indent="0" marL="0">
              <a:buNone/>
            </a:pPr>
            <a:r>
              <a:rPr lang="en-US" sz="1425" dirty="0">
                <a:solidFill>
                  <a:srgbClr val="191C20"/>
                </a:solidFill>
                <a:latin typeface="IBM Plex Mono" pitchFamily="34" charset="0"/>
                <a:ea typeface="IBM Plex Mono" pitchFamily="34" charset="-122"/>
                <a:cs typeface="IBM Plex Mono" pitchFamily="34" charset="-120"/>
              </a:rPr>
              <a:t>DOCUMENTATION</a:t>
            </a:r>
            <a:endParaRPr lang="en-US" sz="1425" dirty="0"/>
          </a:p>
        </p:txBody>
      </p:sp>
      <p:sp>
        <p:nvSpPr>
          <p:cNvPr id="43" name="Shape 41"/>
          <p:cNvSpPr/>
          <p:nvPr/>
        </p:nvSpPr>
        <p:spPr>
          <a:xfrm>
            <a:off x="3143250" y="5686425"/>
            <a:ext cx="6537573" cy="9525"/>
          </a:xfrm>
          <a:prstGeom prst="rect">
            <a:avLst/>
          </a:prstGeom>
          <a:solidFill>
            <a:srgbClr val="E0DCD3"/>
          </a:solidFill>
          <a:ln/>
        </p:spPr>
      </p:sp>
      <p:sp>
        <p:nvSpPr>
          <p:cNvPr id="44" name="Text 42"/>
          <p:cNvSpPr/>
          <p:nvPr/>
        </p:nvSpPr>
        <p:spPr>
          <a:xfrm>
            <a:off x="3219450" y="5372100"/>
            <a:ext cx="6581300" cy="2667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Record explainable NO_LINEAGE_IMPACT, zero compute</a:t>
            </a:r>
            <a:endParaRPr lang="en-US" sz="1425" dirty="0"/>
          </a:p>
        </p:txBody>
      </p:sp>
      <p:sp>
        <p:nvSpPr>
          <p:cNvPr id="45" name="Shape 43"/>
          <p:cNvSpPr/>
          <p:nvPr/>
        </p:nvSpPr>
        <p:spPr>
          <a:xfrm>
            <a:off x="9680823" y="5686425"/>
            <a:ext cx="7845028" cy="9525"/>
          </a:xfrm>
          <a:prstGeom prst="rect">
            <a:avLst/>
          </a:prstGeom>
          <a:solidFill>
            <a:srgbClr val="E0DCD3"/>
          </a:solidFill>
          <a:ln/>
        </p:spPr>
      </p:sp>
      <p:sp>
        <p:nvSpPr>
          <p:cNvPr id="46" name="Text 44"/>
          <p:cNvSpPr/>
          <p:nvPr/>
        </p:nvSpPr>
        <p:spPr>
          <a:xfrm>
            <a:off x="9757023" y="5372100"/>
            <a:ext cx="7927979" cy="2667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No executable data path exists to change</a:t>
            </a:r>
            <a:endParaRPr lang="en-US" sz="1425" dirty="0"/>
          </a:p>
        </p:txBody>
      </p:sp>
      <p:sp>
        <p:nvSpPr>
          <p:cNvPr id="47" name="Shape 45"/>
          <p:cNvSpPr/>
          <p:nvPr/>
        </p:nvSpPr>
        <p:spPr>
          <a:xfrm>
            <a:off x="762000" y="6096000"/>
            <a:ext cx="2381250" cy="9525"/>
          </a:xfrm>
          <a:prstGeom prst="rect">
            <a:avLst/>
          </a:prstGeom>
          <a:solidFill>
            <a:srgbClr val="E0DCD3"/>
          </a:solidFill>
          <a:ln/>
        </p:spPr>
      </p:sp>
      <p:sp>
        <p:nvSpPr>
          <p:cNvPr id="48" name="Text 46"/>
          <p:cNvSpPr/>
          <p:nvPr/>
        </p:nvSpPr>
        <p:spPr>
          <a:xfrm>
            <a:off x="838200" y="5781675"/>
            <a:ext cx="2305050" cy="266700"/>
          </a:xfrm>
          <a:prstGeom prst="rect">
            <a:avLst/>
          </a:prstGeom>
          <a:noFill/>
          <a:ln/>
        </p:spPr>
        <p:txBody>
          <a:bodyPr wrap="square" lIns="25400" tIns="25400" rIns="25400" bIns="25400" rtlCol="0" anchor="t">
            <a:normAutofit/>
          </a:bodyPr>
          <a:lstStyle/>
          <a:p>
            <a:pPr algn="l" indent="0" marL="0">
              <a:buNone/>
            </a:pPr>
            <a:r>
              <a:rPr lang="en-US" sz="1425" dirty="0">
                <a:solidFill>
                  <a:srgbClr val="191C20"/>
                </a:solidFill>
                <a:latin typeface="IBM Plex Mono" pitchFamily="34" charset="0"/>
                <a:ea typeface="IBM Plex Mono" pitchFamily="34" charset="-122"/>
                <a:cs typeface="IBM Plex Mono" pitchFamily="34" charset="-120"/>
              </a:rPr>
              <a:t>UNKNOWN</a:t>
            </a:r>
            <a:endParaRPr lang="en-US" sz="1425" dirty="0"/>
          </a:p>
        </p:txBody>
      </p:sp>
      <p:sp>
        <p:nvSpPr>
          <p:cNvPr id="49" name="Shape 47"/>
          <p:cNvSpPr/>
          <p:nvPr/>
        </p:nvSpPr>
        <p:spPr>
          <a:xfrm>
            <a:off x="3143250" y="6096000"/>
            <a:ext cx="6537573" cy="9525"/>
          </a:xfrm>
          <a:prstGeom prst="rect">
            <a:avLst/>
          </a:prstGeom>
          <a:solidFill>
            <a:srgbClr val="E0DCD3"/>
          </a:solidFill>
          <a:ln/>
        </p:spPr>
      </p:sp>
      <p:sp>
        <p:nvSpPr>
          <p:cNvPr id="50" name="Text 48"/>
          <p:cNvSpPr/>
          <p:nvPr/>
        </p:nvSpPr>
        <p:spPr>
          <a:xfrm>
            <a:off x="3219450" y="5781675"/>
            <a:ext cx="6581300" cy="2667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Hold the event, run classification, then replay it against the resolved class</a:t>
            </a:r>
            <a:endParaRPr lang="en-US" sz="1425" dirty="0"/>
          </a:p>
        </p:txBody>
      </p:sp>
      <p:sp>
        <p:nvSpPr>
          <p:cNvPr id="51" name="Shape 49"/>
          <p:cNvSpPr/>
          <p:nvPr/>
        </p:nvSpPr>
        <p:spPr>
          <a:xfrm>
            <a:off x="9680823" y="6096000"/>
            <a:ext cx="7845028" cy="9525"/>
          </a:xfrm>
          <a:prstGeom prst="rect">
            <a:avLst/>
          </a:prstGeom>
          <a:solidFill>
            <a:srgbClr val="E0DCD3"/>
          </a:solidFill>
          <a:ln/>
        </p:spPr>
      </p:sp>
      <p:sp>
        <p:nvSpPr>
          <p:cNvPr id="52" name="Text 50"/>
          <p:cNvSpPr/>
          <p:nvPr/>
        </p:nvSpPr>
        <p:spPr>
          <a:xfrm>
            <a:off x="9757023" y="5781675"/>
            <a:ext cx="7927979" cy="2667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Nothing is dropped and nothing expensive runs on an unclassified repo</a:t>
            </a:r>
            <a:endParaRPr lang="en-US" sz="1425" dirty="0"/>
          </a:p>
        </p:txBody>
      </p:sp>
      <p:sp>
        <p:nvSpPr>
          <p:cNvPr id="53" name="Shape 51"/>
          <p:cNvSpPr/>
          <p:nvPr/>
        </p:nvSpPr>
        <p:spPr>
          <a:xfrm>
            <a:off x="762000" y="6238875"/>
            <a:ext cx="8324850" cy="1019175"/>
          </a:xfrm>
          <a:prstGeom prst="rect">
            <a:avLst/>
          </a:prstGeom>
          <a:solidFill>
            <a:srgbClr val="FFFFFF"/>
          </a:solidFill>
          <a:ln w="9525">
            <a:solidFill>
              <a:srgbClr val="E0DCD3"/>
            </a:solidFill>
            <a:prstDash val="solid"/>
          </a:ln>
        </p:spPr>
      </p:sp>
      <p:sp>
        <p:nvSpPr>
          <p:cNvPr id="54" name="Text 52"/>
          <p:cNvSpPr/>
          <p:nvPr/>
        </p:nvSpPr>
        <p:spPr>
          <a:xfrm>
            <a:off x="962025" y="6362700"/>
            <a:ext cx="8174546" cy="809625"/>
          </a:xfrm>
          <a:prstGeom prst="rect">
            <a:avLst/>
          </a:prstGeom>
          <a:noFill/>
          <a:ln/>
        </p:spPr>
        <p:txBody>
          <a:bodyPr wrap="square" lIns="25400" tIns="25400" rIns="25400" bIns="25400" rtlCol="0" anchor="t">
            <a:normAutofit/>
          </a:bodyPr>
          <a:lstStyle/>
          <a:p>
            <a:pPr algn="l" indent="0" marL="0">
              <a:lnSpc>
                <a:spcPct val="114792"/>
              </a:lnSpc>
              <a:buNone/>
            </a:pPr>
            <a:r>
              <a:rPr lang="en-US" sz="1425" dirty="0">
                <a:solidFill>
                  <a:srgbClr val="3D5A48"/>
                </a:solidFill>
                <a:latin typeface="IBM Plex Mono" pitchFamily="34" charset="0"/>
                <a:ea typeface="IBM Plex Mono" pitchFamily="34" charset="-122"/>
                <a:cs typeface="IBM Plex Mono" pitchFamily="34" charset="-120"/>
              </a:rPr>
              <a:t>SOUND NO-IMPACT EXIT </a:t>
            </a:r>
            <a:pPr algn="l" indent="0" marL="0">
              <a:lnSpc>
                <a:spcPct val="114792"/>
              </a:lnSpc>
              <a:buNone/>
            </a:pPr>
            <a:r>
              <a:rPr lang="en-US" sz="1425" dirty="0">
                <a:solidFill>
                  <a:srgbClr val="4D535B"/>
                </a:solidFill>
                <a:highlight>
                  <a:srgbClr val="FFFFFF"/>
                </a:highlight>
                <a:latin typeface="IBM Plex Sans" pitchFamily="34" charset="0"/>
                <a:ea typeface="IBM Plex Sans" pitchFamily="34" charset="-122"/>
                <a:cs typeface="IBM Plex Sans" pitchFamily="34" charset="-120"/>
              </a:rPr>
              <a:t>— analysis required? no → explainable NO_LINEAGE_IMPACT record; verdict + evidence stored in the flow-status record. Sound because invalidation is determinant-based, not reachability-based</a:t>
            </a:r>
            <a:endParaRPr lang="en-US" sz="1425" dirty="0"/>
          </a:p>
        </p:txBody>
      </p:sp>
      <p:sp>
        <p:nvSpPr>
          <p:cNvPr id="55" name="Shape 53"/>
          <p:cNvSpPr/>
          <p:nvPr/>
        </p:nvSpPr>
        <p:spPr>
          <a:xfrm>
            <a:off x="9201150" y="6238875"/>
            <a:ext cx="8324850" cy="1019175"/>
          </a:xfrm>
          <a:prstGeom prst="rect">
            <a:avLst/>
          </a:prstGeom>
          <a:solidFill>
            <a:srgbClr val="FFFFFF"/>
          </a:solidFill>
          <a:ln w="9525">
            <a:solidFill>
              <a:srgbClr val="E0DCD3"/>
            </a:solidFill>
            <a:prstDash val="solid"/>
          </a:ln>
        </p:spPr>
      </p:sp>
      <p:sp>
        <p:nvSpPr>
          <p:cNvPr id="56" name="Text 54"/>
          <p:cNvSpPr/>
          <p:nvPr/>
        </p:nvSpPr>
        <p:spPr>
          <a:xfrm>
            <a:off x="9401175" y="6362700"/>
            <a:ext cx="8174546" cy="809625"/>
          </a:xfrm>
          <a:prstGeom prst="rect">
            <a:avLst/>
          </a:prstGeom>
          <a:noFill/>
          <a:ln/>
        </p:spPr>
        <p:txBody>
          <a:bodyPr wrap="square" lIns="25400" tIns="25400" rIns="25400" bIns="25400" rtlCol="0" anchor="t">
            <a:normAutofit/>
          </a:bodyPr>
          <a:lstStyle/>
          <a:p>
            <a:pPr algn="l" indent="0" marL="0">
              <a:lnSpc>
                <a:spcPct val="114792"/>
              </a:lnSpc>
              <a:buNone/>
            </a:pPr>
            <a:r>
              <a:rPr lang="en-US" sz="1425" dirty="0">
                <a:solidFill>
                  <a:srgbClr val="3D5A48"/>
                </a:solidFill>
                <a:latin typeface="IBM Plex Mono" pitchFamily="34" charset="0"/>
                <a:ea typeface="IBM Plex Mono" pitchFamily="34" charset="-122"/>
                <a:cs typeface="IBM Plex Mono" pitchFamily="34" charset="-120"/>
              </a:rPr>
              <a:t>SAFETY NET </a:t>
            </a:r>
            <a:pPr algn="l" indent="0" marL="0">
              <a:lnSpc>
                <a:spcPct val="114792"/>
              </a:lnSpc>
              <a:buNone/>
            </a:pPr>
            <a:r>
              <a:rPr lang="en-US" sz="1425" dirty="0">
                <a:solidFill>
                  <a:srgbClr val="4D535B"/>
                </a:solidFill>
                <a:highlight>
                  <a:srgbClr val="FFFFFF"/>
                </a:highlight>
                <a:latin typeface="IBM Plex Sans" pitchFamily="34" charset="0"/>
                <a:ea typeface="IBM Plex Sans" pitchFamily="34" charset="-122"/>
                <a:cs typeface="IBM Plex Sans" pitchFamily="34" charset="-120"/>
              </a:rPr>
              <a:t>— nightly full rescan publishes the incremental-vs-full divergence metric · every hop stamps the correlationId · candidate artifacts keyed (repo, sha, toolchainHash) make retries idempotent</a:t>
            </a:r>
            <a:endParaRPr lang="en-US" sz="142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57250" y="666750"/>
            <a:ext cx="17070705" cy="685800"/>
          </a:xfrm>
          <a:prstGeom prst="rect">
            <a:avLst/>
          </a:prstGeom>
          <a:noFill/>
          <a:ln/>
        </p:spPr>
        <p:txBody>
          <a:bodyPr wrap="square" lIns="25400" tIns="25400" rIns="25400" bIns="25400" rtlCol="0" anchor="t">
            <a:normAutofit/>
          </a:bodyPr>
          <a:lstStyle/>
          <a:p>
            <a:pPr algn="l" indent="0" marL="0">
              <a:buNone/>
            </a:pPr>
            <a:r>
              <a:rPr lang="en-US" sz="1950" spc="312" kern="0" dirty="0">
                <a:solidFill>
                  <a:srgbClr val="4D535B"/>
                </a:solidFill>
                <a:latin typeface="IBM Plex Mono" pitchFamily="34" charset="0"/>
                <a:ea typeface="IBM Plex Mono" pitchFamily="34" charset="-122"/>
                <a:cs typeface="IBM Plex Mono" pitchFamily="34" charset="-120"/>
              </a:rPr>
              <a:t>09 · RUNTIME · CORROBORATES BASELINE &amp; INCREMENTAL · INTEGRATION TESTS ONLY · 5 ARCHITECTURAL STEPS</a:t>
            </a:r>
            <a:endParaRPr lang="en-US" sz="1950" dirty="0"/>
          </a:p>
        </p:txBody>
      </p:sp>
      <p:sp>
        <p:nvSpPr>
          <p:cNvPr id="3" name="Text 1"/>
          <p:cNvSpPr/>
          <p:nvPr/>
        </p:nvSpPr>
        <p:spPr>
          <a:xfrm>
            <a:off x="857250" y="1447800"/>
            <a:ext cx="18230850" cy="771525"/>
          </a:xfrm>
          <a:prstGeom prst="rect">
            <a:avLst/>
          </a:prstGeom>
          <a:noFill/>
          <a:ln/>
        </p:spPr>
        <p:txBody>
          <a:bodyPr wrap="square" lIns="25400" tIns="25400" rIns="25400" bIns="25400" rtlCol="0" anchor="t">
            <a:normAutofit/>
          </a:bodyPr>
          <a:lstStyle/>
          <a:p>
            <a:pPr algn="l" indent="0" marL="0">
              <a:buNone/>
            </a:pPr>
            <a:r>
              <a:rPr lang="en-US" sz="4500" b="1" dirty="0">
                <a:solidFill>
                  <a:srgbClr val="191C20"/>
                </a:solidFill>
                <a:latin typeface="IBM Plex Sans" pitchFamily="34" charset="0"/>
                <a:ea typeface="IBM Plex Sans" pitchFamily="34" charset="-122"/>
                <a:cs typeface="IBM Plex Sans" pitchFamily="34" charset="-120"/>
              </a:rPr>
              <a:t>Runtime Evidence Session</a:t>
            </a:r>
            <a:endParaRPr lang="en-US" sz="4500" dirty="0"/>
          </a:p>
        </p:txBody>
      </p:sp>
      <p:sp>
        <p:nvSpPr>
          <p:cNvPr id="4" name="Shape 2"/>
          <p:cNvSpPr/>
          <p:nvPr/>
        </p:nvSpPr>
        <p:spPr>
          <a:xfrm>
            <a:off x="857250" y="2505075"/>
            <a:ext cx="3207990" cy="2305050"/>
          </a:xfrm>
          <a:prstGeom prst="rect">
            <a:avLst/>
          </a:prstGeom>
          <a:solidFill>
            <a:srgbClr val="FFFFFF"/>
          </a:solidFill>
          <a:ln w="9525">
            <a:solidFill>
              <a:srgbClr val="E0DCD3"/>
            </a:solidFill>
            <a:prstDash val="solid"/>
          </a:ln>
        </p:spPr>
      </p:sp>
      <p:sp>
        <p:nvSpPr>
          <p:cNvPr id="5" name="Text 3"/>
          <p:cNvSpPr/>
          <p:nvPr/>
        </p:nvSpPr>
        <p:spPr>
          <a:xfrm>
            <a:off x="1076325" y="2695575"/>
            <a:ext cx="213360" cy="34290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2F6B80"/>
                </a:solidFill>
                <a:latin typeface="IBM Plex Mono" pitchFamily="34" charset="0"/>
                <a:ea typeface="IBM Plex Mono" pitchFamily="34" charset="-122"/>
                <a:cs typeface="IBM Plex Mono" pitchFamily="34" charset="-120"/>
              </a:rPr>
              <a:t>1</a:t>
            </a:r>
            <a:endParaRPr lang="en-US" sz="1800" dirty="0"/>
          </a:p>
        </p:txBody>
      </p:sp>
      <p:pic>
        <p:nvPicPr>
          <p:cNvPr id="6" name="Image 0" descr="preencoded.png">    </p:cNvPr>
          <p:cNvPicPr>
            <a:picLocks noChangeAspect="1"/>
          </p:cNvPicPr>
          <p:nvPr/>
        </p:nvPicPr>
        <p:blipFill>
          <a:blip r:embed="rId1"/>
          <a:stretch>
            <a:fillRect/>
          </a:stretch>
        </p:blipFill>
        <p:spPr>
          <a:xfrm>
            <a:off x="1267420" y="2724150"/>
            <a:ext cx="285750" cy="285750"/>
          </a:xfrm>
          <a:prstGeom prst="rect">
            <a:avLst/>
          </a:prstGeom>
        </p:spPr>
      </p:pic>
      <p:pic>
        <p:nvPicPr>
          <p:cNvPr id="7" name="Image 1" descr="preencoded.png">    </p:cNvPr>
          <p:cNvPicPr>
            <a:picLocks noChangeAspect="1"/>
          </p:cNvPicPr>
          <p:nvPr/>
        </p:nvPicPr>
        <p:blipFill>
          <a:blip r:embed="rId2"/>
          <a:stretch>
            <a:fillRect/>
          </a:stretch>
        </p:blipFill>
        <p:spPr>
          <a:xfrm>
            <a:off x="1607046" y="2724150"/>
            <a:ext cx="285750" cy="285750"/>
          </a:xfrm>
          <a:prstGeom prst="rect">
            <a:avLst/>
          </a:prstGeom>
        </p:spPr>
      </p:pic>
      <p:sp>
        <p:nvSpPr>
          <p:cNvPr id="8" name="Text 4"/>
          <p:cNvSpPr/>
          <p:nvPr/>
        </p:nvSpPr>
        <p:spPr>
          <a:xfrm>
            <a:off x="1076325" y="2695575"/>
            <a:ext cx="2586914" cy="1638300"/>
          </a:xfrm>
          <a:prstGeom prst="rect">
            <a:avLst/>
          </a:prstGeom>
          <a:noFill/>
          <a:ln/>
        </p:spPr>
        <p:txBody>
          <a:bodyPr wrap="square" lIns="0" tIns="0" rIns="0" bIns="0" rtlCol="0" anchor="t">
            <a:normAutofit/>
          </a:bodyPr>
          <a:lstStyle/>
          <a:p>
            <a:pPr algn="l" indent="0" marL="0">
              <a:lnSpc>
                <a:spcPct val="108750"/>
              </a:lnSpc>
              <a:buNone/>
            </a:pPr>
            <a:r>
              <a:rPr lang="en-US" sz="1800" dirty="0">
                <a:solidFill>
                  <a:srgbClr val="191C20"/>
                </a:solidFill>
                <a:latin typeface="IBM Plex Sans" pitchFamily="34" charset="0"/>
                <a:ea typeface="IBM Plex Sans" pitchFamily="34" charset="-122"/>
                <a:cs typeface="IBM Plex Sans" pitchFamily="34" charset="-120"/>
              </a:rPr>
              <a:t>Signed, time-boxed, artifact-bound session — the AppConfig validator rejects production targets</a:t>
            </a:r>
            <a:endParaRPr lang="en-US" sz="1800" dirty="0"/>
          </a:p>
        </p:txBody>
      </p:sp>
      <p:sp>
        <p:nvSpPr>
          <p:cNvPr id="9" name="Shape 5"/>
          <p:cNvSpPr/>
          <p:nvPr/>
        </p:nvSpPr>
        <p:spPr>
          <a:xfrm>
            <a:off x="4198590" y="2505075"/>
            <a:ext cx="3207990" cy="2305050"/>
          </a:xfrm>
          <a:prstGeom prst="rect">
            <a:avLst/>
          </a:prstGeom>
          <a:solidFill>
            <a:srgbClr val="FFFFFF"/>
          </a:solidFill>
          <a:ln w="9525">
            <a:solidFill>
              <a:srgbClr val="E0DCD3"/>
            </a:solidFill>
            <a:prstDash val="solid"/>
          </a:ln>
        </p:spPr>
      </p:sp>
      <p:sp>
        <p:nvSpPr>
          <p:cNvPr id="10" name="Text 6"/>
          <p:cNvSpPr/>
          <p:nvPr/>
        </p:nvSpPr>
        <p:spPr>
          <a:xfrm>
            <a:off x="4417665" y="2686050"/>
            <a:ext cx="2866080" cy="198120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2F6B80"/>
                </a:solidFill>
                <a:latin typeface="IBM Plex Mono" pitchFamily="34" charset="0"/>
                <a:ea typeface="IBM Plex Mono" pitchFamily="34" charset="-122"/>
                <a:cs typeface="IBM Plex Mono" pitchFamily="34" charset="-120"/>
              </a:rPr>
              <a:t>2 </a:t>
            </a:r>
            <a:pPr algn="l" indent="0" marL="0">
              <a:lnSpc>
                <a:spcPct val="108750"/>
              </a:lnSpc>
              <a:buNone/>
            </a:pPr>
            <a:r>
              <a:rPr lang="en-US" sz="1800" dirty="0">
                <a:solidFill>
                  <a:srgbClr val="191C20"/>
                </a:solidFill>
                <a:highlight>
                  <a:srgbClr val="FFFFFF"/>
                </a:highlight>
                <a:latin typeface="IBM Plex Sans" pitchFamily="34" charset="0"/>
                <a:ea typeface="IBM Plex Sans" pitchFamily="34" charset="-122"/>
                <a:cs typeface="IBM Plex Sans" pitchFamily="34" charset="-120"/>
              </a:rPr>
              <a:t>OTel element-attribute sidecars / custom-config SDKs report READY → tests emit </a:t>
            </a:r>
            <a:pPr algn="l" indent="0" marL="0">
              <a:lnSpc>
                <a:spcPct val="108750"/>
              </a:lnSpc>
              <a:buNone/>
            </a:pPr>
            <a:r>
              <a:rPr lang="en-US" sz="1800" b="1" dirty="0">
                <a:solidFill>
                  <a:srgbClr val="191C20"/>
                </a:solidFill>
                <a:latin typeface="IBM Plex Sans" pitchFamily="34" charset="0"/>
                <a:ea typeface="IBM Plex Sans" pitchFamily="34" charset="-122"/>
                <a:cs typeface="IBM Plex Sans" pitchFamily="34" charset="-120"/>
              </a:rPr>
              <a:t>metadata only </a:t>
            </a:r>
            <a:pPr algn="l" indent="0" marL="0">
              <a:lnSpc>
                <a:spcPct val="108750"/>
              </a:lnSpc>
              <a:buNone/>
            </a:pPr>
            <a:r>
              <a:rPr lang="en-US" sz="1800" dirty="0">
                <a:solidFill>
                  <a:srgbClr val="191C20"/>
                </a:solidFill>
                <a:highlight>
                  <a:srgbClr val="FFFFFF"/>
                </a:highlight>
                <a:latin typeface="IBM Plex Sans" pitchFamily="34" charset="0"/>
                <a:ea typeface="IBM Plex Sans" pitchFamily="34" charset="-122"/>
                <a:cs typeface="IBM Plex Sans" pitchFamily="34" charset="-120"/>
              </a:rPr>
              <a:t>: schema hash, field path, fingerprint</a:t>
            </a:r>
            <a:endParaRPr lang="en-US" sz="1800" dirty="0"/>
          </a:p>
        </p:txBody>
      </p:sp>
      <p:sp>
        <p:nvSpPr>
          <p:cNvPr id="11" name="Shape 7"/>
          <p:cNvSpPr/>
          <p:nvPr/>
        </p:nvSpPr>
        <p:spPr>
          <a:xfrm>
            <a:off x="7539930" y="2505075"/>
            <a:ext cx="3207990" cy="2305050"/>
          </a:xfrm>
          <a:prstGeom prst="rect">
            <a:avLst/>
          </a:prstGeom>
          <a:solidFill>
            <a:srgbClr val="FFFFFF"/>
          </a:solidFill>
          <a:ln w="9525">
            <a:solidFill>
              <a:srgbClr val="E0DCD3"/>
            </a:solidFill>
            <a:prstDash val="solid"/>
          </a:ln>
        </p:spPr>
      </p:sp>
      <p:sp>
        <p:nvSpPr>
          <p:cNvPr id="12" name="Text 8"/>
          <p:cNvSpPr/>
          <p:nvPr/>
        </p:nvSpPr>
        <p:spPr>
          <a:xfrm>
            <a:off x="7759005" y="2695575"/>
            <a:ext cx="213360" cy="34290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2F6B80"/>
                </a:solidFill>
                <a:latin typeface="IBM Plex Mono" pitchFamily="34" charset="0"/>
                <a:ea typeface="IBM Plex Mono" pitchFamily="34" charset="-122"/>
                <a:cs typeface="IBM Plex Mono" pitchFamily="34" charset="-120"/>
              </a:rPr>
              <a:t>3</a:t>
            </a:r>
            <a:endParaRPr lang="en-US" sz="1800" dirty="0"/>
          </a:p>
        </p:txBody>
      </p:sp>
      <p:pic>
        <p:nvPicPr>
          <p:cNvPr id="13" name="Image 2" descr="preencoded.png">    </p:cNvPr>
          <p:cNvPicPr>
            <a:picLocks noChangeAspect="1"/>
          </p:cNvPicPr>
          <p:nvPr/>
        </p:nvPicPr>
        <p:blipFill>
          <a:blip r:embed="rId3"/>
          <a:stretch>
            <a:fillRect/>
          </a:stretch>
        </p:blipFill>
        <p:spPr>
          <a:xfrm>
            <a:off x="7950101" y="2724150"/>
            <a:ext cx="285750" cy="285750"/>
          </a:xfrm>
          <a:prstGeom prst="rect">
            <a:avLst/>
          </a:prstGeom>
        </p:spPr>
      </p:pic>
      <p:sp>
        <p:nvSpPr>
          <p:cNvPr id="14" name="Text 9"/>
          <p:cNvSpPr/>
          <p:nvPr/>
        </p:nvSpPr>
        <p:spPr>
          <a:xfrm>
            <a:off x="7759005" y="2695575"/>
            <a:ext cx="2852338" cy="1314450"/>
          </a:xfrm>
          <a:prstGeom prst="rect">
            <a:avLst/>
          </a:prstGeom>
          <a:noFill/>
          <a:ln/>
        </p:spPr>
        <p:txBody>
          <a:bodyPr wrap="square" lIns="0" tIns="0" rIns="0" bIns="0" rtlCol="0" anchor="t">
            <a:normAutofit/>
          </a:bodyPr>
          <a:lstStyle/>
          <a:p>
            <a:pPr algn="l" indent="0" marL="0">
              <a:lnSpc>
                <a:spcPct val="108750"/>
              </a:lnSpc>
              <a:buNone/>
            </a:pPr>
            <a:r>
              <a:rPr lang="en-US" sz="1800" dirty="0">
                <a:solidFill>
                  <a:srgbClr val="191C20"/>
                </a:solidFill>
                <a:latin typeface="IBM Plex Sans" pitchFamily="34" charset="0"/>
                <a:ea typeface="IBM Plex Sans" pitchFamily="34" charset="-122"/>
                <a:cs typeface="IBM Plex Sans" pitchFamily="34" charset="-120"/>
              </a:rPr>
              <a:t>Validator λ → evidence stream — ordered per sidecar; duplicates expected &amp; safe</a:t>
            </a:r>
            <a:endParaRPr lang="en-US" sz="1800" dirty="0"/>
          </a:p>
        </p:txBody>
      </p:sp>
      <p:sp>
        <p:nvSpPr>
          <p:cNvPr id="15" name="Shape 10"/>
          <p:cNvSpPr/>
          <p:nvPr/>
        </p:nvSpPr>
        <p:spPr>
          <a:xfrm>
            <a:off x="10881271" y="2505075"/>
            <a:ext cx="3207990" cy="2305050"/>
          </a:xfrm>
          <a:prstGeom prst="rect">
            <a:avLst/>
          </a:prstGeom>
          <a:solidFill>
            <a:srgbClr val="FFFFFF"/>
          </a:solidFill>
          <a:ln w="9525">
            <a:solidFill>
              <a:srgbClr val="E0DCD3"/>
            </a:solidFill>
            <a:prstDash val="solid"/>
          </a:ln>
        </p:spPr>
      </p:sp>
      <p:sp>
        <p:nvSpPr>
          <p:cNvPr id="16" name="Text 11"/>
          <p:cNvSpPr/>
          <p:nvPr/>
        </p:nvSpPr>
        <p:spPr>
          <a:xfrm>
            <a:off x="11100346" y="2695575"/>
            <a:ext cx="213360" cy="34290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2F6B80"/>
                </a:solidFill>
                <a:latin typeface="IBM Plex Mono" pitchFamily="34" charset="0"/>
                <a:ea typeface="IBM Plex Mono" pitchFamily="34" charset="-122"/>
                <a:cs typeface="IBM Plex Mono" pitchFamily="34" charset="-120"/>
              </a:rPr>
              <a:t>4</a:t>
            </a:r>
            <a:endParaRPr lang="en-US" sz="1800" dirty="0"/>
          </a:p>
        </p:txBody>
      </p:sp>
      <p:pic>
        <p:nvPicPr>
          <p:cNvPr id="17" name="Image 3" descr="preencoded.png">    </p:cNvPr>
          <p:cNvPicPr>
            <a:picLocks noChangeAspect="1"/>
          </p:cNvPicPr>
          <p:nvPr/>
        </p:nvPicPr>
        <p:blipFill>
          <a:blip r:embed="rId4"/>
          <a:stretch>
            <a:fillRect/>
          </a:stretch>
        </p:blipFill>
        <p:spPr>
          <a:xfrm>
            <a:off x="11291441" y="2724150"/>
            <a:ext cx="285750" cy="285750"/>
          </a:xfrm>
          <a:prstGeom prst="rect">
            <a:avLst/>
          </a:prstGeom>
        </p:spPr>
      </p:pic>
      <p:sp>
        <p:nvSpPr>
          <p:cNvPr id="18" name="Text 12"/>
          <p:cNvSpPr/>
          <p:nvPr/>
        </p:nvSpPr>
        <p:spPr>
          <a:xfrm>
            <a:off x="11100346" y="2695575"/>
            <a:ext cx="2563564" cy="1314450"/>
          </a:xfrm>
          <a:prstGeom prst="rect">
            <a:avLst/>
          </a:prstGeom>
          <a:noFill/>
          <a:ln/>
        </p:spPr>
        <p:txBody>
          <a:bodyPr wrap="square" lIns="0" tIns="0" rIns="0" bIns="0" rtlCol="0" anchor="t">
            <a:normAutofit/>
          </a:bodyPr>
          <a:lstStyle/>
          <a:p>
            <a:pPr algn="l" indent="0" marL="0">
              <a:lnSpc>
                <a:spcPct val="108750"/>
              </a:lnSpc>
              <a:buNone/>
            </a:pPr>
            <a:r>
              <a:rPr lang="en-US" sz="1800" dirty="0">
                <a:solidFill>
                  <a:srgbClr val="191C20"/>
                </a:solidFill>
                <a:latin typeface="IBM Plex Sans" pitchFamily="34" charset="0"/>
                <a:ea typeface="IBM Plex Sans" pitchFamily="34" charset="-122"/>
                <a:cs typeface="IBM Plex Sans" pitchFamily="34" charset="-120"/>
              </a:rPr>
              <a:t>Reconcile: dedupe, correlate, verify closing manifests → immutable S3 evidence</a:t>
            </a:r>
            <a:endParaRPr lang="en-US" sz="1800" dirty="0"/>
          </a:p>
        </p:txBody>
      </p:sp>
      <p:sp>
        <p:nvSpPr>
          <p:cNvPr id="19" name="Shape 13"/>
          <p:cNvSpPr/>
          <p:nvPr/>
        </p:nvSpPr>
        <p:spPr>
          <a:xfrm>
            <a:off x="14222611" y="2505075"/>
            <a:ext cx="3208139" cy="2305050"/>
          </a:xfrm>
          <a:prstGeom prst="rect">
            <a:avLst/>
          </a:prstGeom>
          <a:solidFill>
            <a:srgbClr val="191C20"/>
          </a:solidFill>
          <a:ln/>
        </p:spPr>
      </p:sp>
      <p:sp>
        <p:nvSpPr>
          <p:cNvPr id="20" name="Text 14"/>
          <p:cNvSpPr/>
          <p:nvPr/>
        </p:nvSpPr>
        <p:spPr>
          <a:xfrm>
            <a:off x="14432161" y="2676525"/>
            <a:ext cx="2885283" cy="200025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8FB3BF"/>
                </a:solidFill>
                <a:latin typeface="IBM Plex Mono" pitchFamily="34" charset="0"/>
                <a:ea typeface="IBM Plex Mono" pitchFamily="34" charset="-122"/>
                <a:cs typeface="IBM Plex Mono" pitchFamily="34" charset="-120"/>
              </a:rPr>
              <a:t>5 · COMPLETE </a:t>
            </a:r>
            <a:pPr algn="l" indent="0" marL="0">
              <a:lnSpc>
                <a:spcPct val="108750"/>
              </a:lnSpc>
              <a:buNone/>
            </a:pPr>
            <a:r>
              <a:rPr lang="en-US" sz="1800" dirty="0">
                <a:solidFill>
                  <a:srgbClr val="F2EFE9"/>
                </a:solidFill>
                <a:highlight>
                  <a:srgbClr val="191C20"/>
                </a:highlight>
                <a:latin typeface="IBM Plex Sans" pitchFamily="34" charset="0"/>
                <a:ea typeface="IBM Plex Sans" pitchFamily="34" charset="-122"/>
                <a:cs typeface="IBM Plex Sans" pitchFamily="34" charset="-120"/>
              </a:rPr>
              <a:t>— corroboration joins the URN merge; agreement with static edges raises the bands used at validation, before proposal</a:t>
            </a:r>
            <a:endParaRPr lang="en-US" sz="1800" dirty="0"/>
          </a:p>
        </p:txBody>
      </p:sp>
      <p:sp>
        <p:nvSpPr>
          <p:cNvPr id="21" name="Shape 15"/>
          <p:cNvSpPr/>
          <p:nvPr/>
        </p:nvSpPr>
        <p:spPr>
          <a:xfrm>
            <a:off x="857250" y="5057775"/>
            <a:ext cx="9281368" cy="2228850"/>
          </a:xfrm>
          <a:prstGeom prst="rect">
            <a:avLst/>
          </a:prstGeom>
          <a:solidFill>
            <a:srgbClr val="FFFFFF"/>
          </a:solidFill>
          <a:ln w="9525">
            <a:solidFill>
              <a:srgbClr val="E0DCD3"/>
            </a:solidFill>
            <a:prstDash val="solid"/>
          </a:ln>
        </p:spPr>
      </p:sp>
      <p:sp>
        <p:nvSpPr>
          <p:cNvPr id="22" name="Text 16"/>
          <p:cNvSpPr/>
          <p:nvPr/>
        </p:nvSpPr>
        <p:spPr>
          <a:xfrm>
            <a:off x="1133475" y="5276850"/>
            <a:ext cx="9007359" cy="182880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4D535B"/>
                </a:solidFill>
                <a:latin typeface="IBM Plex Mono" pitchFamily="34" charset="0"/>
                <a:ea typeface="IBM Plex Mono" pitchFamily="34" charset="-122"/>
                <a:cs typeface="IBM Plex Mono" pitchFamily="34" charset="-120"/>
              </a:rPr>
              <a:t>LIFECYCLE — RUNBOOK APPENDIX </a:t>
            </a:r>
            <a:pPr algn="l" indent="0" marL="0">
              <a:lnSpc>
                <a:spcPct val="120000"/>
              </a:lnSpc>
              <a:buNone/>
            </a:pPr>
            <a:r>
              <a:rPr lang="en-US" sz="1800" dirty="0">
                <a:solidFill>
                  <a:srgbClr val="4D535B"/>
                </a:solidFill>
                <a:latin typeface="IBM Plex Sans" pitchFamily="34" charset="0"/>
                <a:ea typeface="IBM Plex Sans" pitchFamily="34" charset="-122"/>
                <a:cs typeface="IBM Plex Sans" pitchFamily="34" charset="-120"/>
              </a:rPr>
              <a:t>The full state machine (REQUESTED → … → COMPLETE plus 5 failure terminals) is operational detail: the flag is always disabled in a finally path, and session expiry is an independent kill switch.</a:t>
            </a:r>
            <a:endParaRPr lang="en-US" sz="1800" dirty="0"/>
          </a:p>
        </p:txBody>
      </p:sp>
      <p:sp>
        <p:nvSpPr>
          <p:cNvPr id="23" name="Shape 17"/>
          <p:cNvSpPr/>
          <p:nvPr/>
        </p:nvSpPr>
        <p:spPr>
          <a:xfrm>
            <a:off x="10291018" y="5057775"/>
            <a:ext cx="7139732" cy="2228850"/>
          </a:xfrm>
          <a:prstGeom prst="rect">
            <a:avLst/>
          </a:prstGeom>
          <a:solidFill>
            <a:srgbClr val="3D2B22"/>
          </a:solidFill>
          <a:ln/>
        </p:spPr>
      </p:sp>
      <p:sp>
        <p:nvSpPr>
          <p:cNvPr id="24" name="Text 18"/>
          <p:cNvSpPr/>
          <p:nvPr/>
        </p:nvSpPr>
        <p:spPr>
          <a:xfrm>
            <a:off x="10557718" y="5267325"/>
            <a:ext cx="6820524" cy="1847850"/>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D9A37C"/>
                </a:solidFill>
                <a:latin typeface="IBM Plex Mono" pitchFamily="34" charset="0"/>
                <a:ea typeface="IBM Plex Mono" pitchFamily="34" charset="-122"/>
                <a:cs typeface="IBM Plex Mono" pitchFamily="34" charset="-120"/>
              </a:rPr>
              <a:t>PRODUCTION HARD-DENY </a:t>
            </a:r>
            <a:pPr algn="l" indent="0" marL="0">
              <a:lnSpc>
                <a:spcPct val="120000"/>
              </a:lnSpc>
              <a:buNone/>
            </a:pPr>
            <a:r>
              <a:rPr lang="en-US" sz="1800" dirty="0">
                <a:solidFill>
                  <a:srgbClr val="F0E2D6"/>
                </a:solidFill>
                <a:highlight>
                  <a:srgbClr val="3D2B22"/>
                </a:highlight>
                <a:latin typeface="IBM Plex Sans" pitchFamily="34" charset="0"/>
                <a:ea typeface="IBM Plex Sans" pitchFamily="34" charset="-122"/>
                <a:cs typeface="IBM Plex Sans" pitchFamily="34" charset="-120"/>
              </a:rPr>
              <a:t>AppConfig validator rejects production sessions · IAM &amp; resource policies deny evidence writes · sidecars attest integration identity · no grant without a registered test run + matching digest · CloudTrail audits every flag change.</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57250" y="666750"/>
            <a:ext cx="17070705" cy="685800"/>
          </a:xfrm>
          <a:prstGeom prst="rect">
            <a:avLst/>
          </a:prstGeom>
          <a:noFill/>
          <a:ln/>
        </p:spPr>
        <p:txBody>
          <a:bodyPr wrap="square" lIns="25400" tIns="25400" rIns="25400" bIns="25400" rtlCol="0" anchor="t">
            <a:normAutofit/>
          </a:bodyPr>
          <a:lstStyle/>
          <a:p>
            <a:pPr algn="l" indent="0" marL="0">
              <a:buNone/>
            </a:pPr>
            <a:r>
              <a:rPr lang="en-US" sz="1950" spc="312" kern="0" dirty="0">
                <a:solidFill>
                  <a:srgbClr val="4D535B"/>
                </a:solidFill>
                <a:latin typeface="IBM Plex Mono" pitchFamily="34" charset="0"/>
                <a:ea typeface="IBM Plex Mono" pitchFamily="34" charset="-122"/>
                <a:cs typeface="IBM Plex Mono" pitchFamily="34" charset="-120"/>
              </a:rPr>
              <a:t>10 · THE VALIDATION STAGE — RUNS IN EVERY PROPOSING WORKFLOW BETWEEN URN MERGE AND PROPOSAL · TWO INDEPENDENT AXES</a:t>
            </a:r>
            <a:endParaRPr lang="en-US" sz="1950" dirty="0"/>
          </a:p>
        </p:txBody>
      </p:sp>
      <p:sp>
        <p:nvSpPr>
          <p:cNvPr id="3" name="Text 1"/>
          <p:cNvSpPr/>
          <p:nvPr/>
        </p:nvSpPr>
        <p:spPr>
          <a:xfrm>
            <a:off x="857250" y="1447800"/>
            <a:ext cx="18230850" cy="771525"/>
          </a:xfrm>
          <a:prstGeom prst="rect">
            <a:avLst/>
          </a:prstGeom>
          <a:noFill/>
          <a:ln/>
        </p:spPr>
        <p:txBody>
          <a:bodyPr wrap="square" lIns="25400" tIns="25400" rIns="25400" bIns="25400" rtlCol="0" anchor="t">
            <a:normAutofit/>
          </a:bodyPr>
          <a:lstStyle/>
          <a:p>
            <a:pPr algn="l" indent="0" marL="0">
              <a:buNone/>
            </a:pPr>
            <a:r>
              <a:rPr lang="en-US" sz="4500" b="1" dirty="0">
                <a:solidFill>
                  <a:srgbClr val="191C20"/>
                </a:solidFill>
                <a:latin typeface="IBM Plex Sans" pitchFamily="34" charset="0"/>
                <a:ea typeface="IBM Plex Sans" pitchFamily="34" charset="-122"/>
                <a:cs typeface="IBM Plex Sans" pitchFamily="34" charset="-120"/>
              </a:rPr>
              <a:t>Evidence &amp; Confidence Model</a:t>
            </a:r>
            <a:endParaRPr lang="en-US" sz="4500" dirty="0"/>
          </a:p>
        </p:txBody>
      </p:sp>
      <p:sp>
        <p:nvSpPr>
          <p:cNvPr id="4" name="Shape 2"/>
          <p:cNvSpPr/>
          <p:nvPr/>
        </p:nvSpPr>
        <p:spPr>
          <a:xfrm>
            <a:off x="857250" y="2466975"/>
            <a:ext cx="8201025" cy="1419225"/>
          </a:xfrm>
          <a:prstGeom prst="rect">
            <a:avLst/>
          </a:prstGeom>
          <a:solidFill>
            <a:srgbClr val="FFFFFF"/>
          </a:solidFill>
          <a:ln/>
        </p:spPr>
      </p:sp>
      <p:sp>
        <p:nvSpPr>
          <p:cNvPr id="5" name="Shape 3"/>
          <p:cNvSpPr/>
          <p:nvPr/>
        </p:nvSpPr>
        <p:spPr>
          <a:xfrm>
            <a:off x="857250" y="3876675"/>
            <a:ext cx="8201025" cy="9525"/>
          </a:xfrm>
          <a:prstGeom prst="rect">
            <a:avLst/>
          </a:prstGeom>
          <a:solidFill>
            <a:srgbClr val="E0DCD3"/>
          </a:solidFill>
          <a:ln/>
        </p:spPr>
      </p:sp>
      <p:sp>
        <p:nvSpPr>
          <p:cNvPr id="6" name="Shape 4"/>
          <p:cNvSpPr/>
          <p:nvPr/>
        </p:nvSpPr>
        <p:spPr>
          <a:xfrm>
            <a:off x="857250" y="2466975"/>
            <a:ext cx="8201025" cy="38100"/>
          </a:xfrm>
          <a:prstGeom prst="rect">
            <a:avLst/>
          </a:prstGeom>
          <a:solidFill>
            <a:srgbClr val="2F6B80"/>
          </a:solidFill>
          <a:ln/>
        </p:spPr>
      </p:sp>
      <p:sp>
        <p:nvSpPr>
          <p:cNvPr id="7" name="Shape 5"/>
          <p:cNvSpPr/>
          <p:nvPr/>
        </p:nvSpPr>
        <p:spPr>
          <a:xfrm>
            <a:off x="857250" y="2466975"/>
            <a:ext cx="9525" cy="1419225"/>
          </a:xfrm>
          <a:prstGeom prst="rect">
            <a:avLst/>
          </a:prstGeom>
          <a:solidFill>
            <a:srgbClr val="E0DCD3"/>
          </a:solidFill>
          <a:ln/>
        </p:spPr>
      </p:sp>
      <p:sp>
        <p:nvSpPr>
          <p:cNvPr id="8" name="Shape 6"/>
          <p:cNvSpPr/>
          <p:nvPr/>
        </p:nvSpPr>
        <p:spPr>
          <a:xfrm>
            <a:off x="9048750" y="2466975"/>
            <a:ext cx="9525" cy="1419225"/>
          </a:xfrm>
          <a:prstGeom prst="rect">
            <a:avLst/>
          </a:prstGeom>
          <a:solidFill>
            <a:srgbClr val="E0DCD3"/>
          </a:solidFill>
          <a:ln/>
        </p:spPr>
      </p:sp>
      <p:sp>
        <p:nvSpPr>
          <p:cNvPr id="9" name="Text 7"/>
          <p:cNvSpPr/>
          <p:nvPr/>
        </p:nvSpPr>
        <p:spPr>
          <a:xfrm>
            <a:off x="1114425" y="2676525"/>
            <a:ext cx="7932706" cy="1066800"/>
          </a:xfrm>
          <a:prstGeom prst="rect">
            <a:avLst/>
          </a:prstGeom>
          <a:noFill/>
          <a:ln/>
        </p:spPr>
        <p:txBody>
          <a:bodyPr wrap="square" lIns="25400" tIns="25400" rIns="25400" bIns="25400" rtlCol="0" anchor="t">
            <a:normAutofit/>
          </a:bodyPr>
          <a:lstStyle/>
          <a:p>
            <a:pPr algn="l" indent="0" marL="0">
              <a:lnSpc>
                <a:spcPct val="112500"/>
              </a:lnSpc>
              <a:buNone/>
            </a:pPr>
            <a:r>
              <a:rPr lang="en-US" sz="1800" b="1" dirty="0">
                <a:solidFill>
                  <a:srgbClr val="191C20"/>
                </a:solidFill>
                <a:latin typeface="IBM Plex Sans" pitchFamily="34" charset="0"/>
                <a:ea typeface="IBM Plex Sans" pitchFamily="34" charset="-122"/>
                <a:cs typeface="IBM Plex Sans" pitchFamily="34" charset="-120"/>
              </a:rPr>
              <a:t>Structural confidence </a:t>
            </a:r>
            <a:pPr algn="l" indent="0" marL="0">
              <a:lnSpc>
                <a:spcPct val="112500"/>
              </a:lnSpc>
              <a:buNone/>
            </a:pPr>
            <a:r>
              <a:rPr lang="en-US" sz="1800" dirty="0">
                <a:solidFill>
                  <a:srgbClr val="4D535B"/>
                </a:solidFill>
                <a:latin typeface="IBM Plex Sans" pitchFamily="34" charset="0"/>
                <a:ea typeface="IBM Plex Sans" pitchFamily="34" charset="-122"/>
                <a:cs typeface="IBM Plex Sans" pitchFamily="34" charset="-120"/>
              </a:rPr>
              <a:t>Does the relationship EXIST for this artifact version — e.g. does orders.py really write the orders table?</a:t>
            </a:r>
            <a:endParaRPr lang="en-US" sz="1800" dirty="0"/>
          </a:p>
        </p:txBody>
      </p:sp>
      <p:sp>
        <p:nvSpPr>
          <p:cNvPr id="10" name="Shape 8"/>
          <p:cNvSpPr/>
          <p:nvPr/>
        </p:nvSpPr>
        <p:spPr>
          <a:xfrm>
            <a:off x="9229725" y="2466975"/>
            <a:ext cx="8201025" cy="1419225"/>
          </a:xfrm>
          <a:prstGeom prst="rect">
            <a:avLst/>
          </a:prstGeom>
          <a:solidFill>
            <a:srgbClr val="FFFFFF"/>
          </a:solidFill>
          <a:ln/>
        </p:spPr>
      </p:sp>
      <p:sp>
        <p:nvSpPr>
          <p:cNvPr id="11" name="Shape 9"/>
          <p:cNvSpPr/>
          <p:nvPr/>
        </p:nvSpPr>
        <p:spPr>
          <a:xfrm>
            <a:off x="9229725" y="3876675"/>
            <a:ext cx="8201025" cy="9525"/>
          </a:xfrm>
          <a:prstGeom prst="rect">
            <a:avLst/>
          </a:prstGeom>
          <a:solidFill>
            <a:srgbClr val="E0DCD3"/>
          </a:solidFill>
          <a:ln/>
        </p:spPr>
      </p:sp>
      <p:sp>
        <p:nvSpPr>
          <p:cNvPr id="12" name="Shape 10"/>
          <p:cNvSpPr/>
          <p:nvPr/>
        </p:nvSpPr>
        <p:spPr>
          <a:xfrm>
            <a:off x="9229725" y="2466975"/>
            <a:ext cx="8201025" cy="38100"/>
          </a:xfrm>
          <a:prstGeom prst="rect">
            <a:avLst/>
          </a:prstGeom>
          <a:solidFill>
            <a:srgbClr val="A8551F"/>
          </a:solidFill>
          <a:ln/>
        </p:spPr>
      </p:sp>
      <p:sp>
        <p:nvSpPr>
          <p:cNvPr id="13" name="Shape 11"/>
          <p:cNvSpPr/>
          <p:nvPr/>
        </p:nvSpPr>
        <p:spPr>
          <a:xfrm>
            <a:off x="9229725" y="2466975"/>
            <a:ext cx="9525" cy="1419225"/>
          </a:xfrm>
          <a:prstGeom prst="rect">
            <a:avLst/>
          </a:prstGeom>
          <a:solidFill>
            <a:srgbClr val="E0DCD3"/>
          </a:solidFill>
          <a:ln/>
        </p:spPr>
      </p:sp>
      <p:sp>
        <p:nvSpPr>
          <p:cNvPr id="14" name="Shape 12"/>
          <p:cNvSpPr/>
          <p:nvPr/>
        </p:nvSpPr>
        <p:spPr>
          <a:xfrm>
            <a:off x="17421225" y="2466975"/>
            <a:ext cx="9525" cy="1419225"/>
          </a:xfrm>
          <a:prstGeom prst="rect">
            <a:avLst/>
          </a:prstGeom>
          <a:solidFill>
            <a:srgbClr val="E0DCD3"/>
          </a:solidFill>
          <a:ln/>
        </p:spPr>
      </p:sp>
      <p:sp>
        <p:nvSpPr>
          <p:cNvPr id="15" name="Text 13"/>
          <p:cNvSpPr/>
          <p:nvPr/>
        </p:nvSpPr>
        <p:spPr>
          <a:xfrm>
            <a:off x="9486900" y="2676525"/>
            <a:ext cx="7932706" cy="1066800"/>
          </a:xfrm>
          <a:prstGeom prst="rect">
            <a:avLst/>
          </a:prstGeom>
          <a:noFill/>
          <a:ln/>
        </p:spPr>
        <p:txBody>
          <a:bodyPr wrap="square" lIns="25400" tIns="25400" rIns="25400" bIns="25400" rtlCol="0" anchor="t">
            <a:normAutofit/>
          </a:bodyPr>
          <a:lstStyle/>
          <a:p>
            <a:pPr algn="l" indent="0" marL="0">
              <a:lnSpc>
                <a:spcPct val="112500"/>
              </a:lnSpc>
              <a:buNone/>
            </a:pPr>
            <a:r>
              <a:rPr lang="en-US" sz="1800" b="1" dirty="0">
                <a:solidFill>
                  <a:srgbClr val="191C20"/>
                </a:solidFill>
                <a:latin typeface="IBM Plex Sans" pitchFamily="34" charset="0"/>
                <a:ea typeface="IBM Plex Sans" pitchFamily="34" charset="-122"/>
                <a:cs typeface="IBM Plex Sans" pitchFamily="34" charset="-120"/>
              </a:rPr>
              <a:t>Derivational confidence </a:t>
            </a:r>
            <a:pPr algn="l" indent="0" marL="0">
              <a:lnSpc>
                <a:spcPct val="112500"/>
              </a:lnSpc>
              <a:buNone/>
            </a:pPr>
            <a:r>
              <a:rPr lang="en-US" sz="1800" dirty="0">
                <a:solidFill>
                  <a:srgbClr val="4D535B"/>
                </a:solidFill>
                <a:latin typeface="IBM Plex Sans" pitchFamily="34" charset="0"/>
                <a:ea typeface="IBM Plex Sans" pitchFamily="34" charset="-122"/>
                <a:cs typeface="IBM Plex Sans" pitchFamily="34" charset="-120"/>
              </a:rPr>
              <a:t>Is the mapping itself CORRECT — e.g. is total really computed as price × qty?</a:t>
            </a:r>
            <a:endParaRPr lang="en-US" sz="1800" dirty="0"/>
          </a:p>
        </p:txBody>
      </p:sp>
      <p:sp>
        <p:nvSpPr>
          <p:cNvPr id="16" name="Shape 14"/>
          <p:cNvSpPr/>
          <p:nvPr/>
        </p:nvSpPr>
        <p:spPr>
          <a:xfrm>
            <a:off x="857250" y="4133850"/>
            <a:ext cx="16573500" cy="19050"/>
          </a:xfrm>
          <a:prstGeom prst="rect">
            <a:avLst/>
          </a:prstGeom>
          <a:solidFill>
            <a:srgbClr val="191C20"/>
          </a:solidFill>
          <a:ln/>
        </p:spPr>
      </p:sp>
      <p:sp>
        <p:nvSpPr>
          <p:cNvPr id="17" name="Shape 15"/>
          <p:cNvSpPr/>
          <p:nvPr/>
        </p:nvSpPr>
        <p:spPr>
          <a:xfrm>
            <a:off x="857250" y="4686300"/>
            <a:ext cx="6528941" cy="9525"/>
          </a:xfrm>
          <a:prstGeom prst="rect">
            <a:avLst/>
          </a:prstGeom>
          <a:solidFill>
            <a:srgbClr val="E0DCD3"/>
          </a:solidFill>
          <a:ln/>
        </p:spPr>
      </p:sp>
      <p:sp>
        <p:nvSpPr>
          <p:cNvPr id="18" name="Text 16"/>
          <p:cNvSpPr/>
          <p:nvPr/>
        </p:nvSpPr>
        <p:spPr>
          <a:xfrm>
            <a:off x="933450" y="4267200"/>
            <a:ext cx="657240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EVIDENCE</a:t>
            </a:r>
            <a:endParaRPr lang="en-US" sz="1800" dirty="0"/>
          </a:p>
        </p:txBody>
      </p:sp>
      <p:sp>
        <p:nvSpPr>
          <p:cNvPr id="19" name="Shape 17"/>
          <p:cNvSpPr/>
          <p:nvPr/>
        </p:nvSpPr>
        <p:spPr>
          <a:xfrm>
            <a:off x="7386191" y="4686300"/>
            <a:ext cx="5022205" cy="9525"/>
          </a:xfrm>
          <a:prstGeom prst="rect">
            <a:avLst/>
          </a:prstGeom>
          <a:solidFill>
            <a:srgbClr val="E0DCD3"/>
          </a:solidFill>
          <a:ln/>
        </p:spPr>
      </p:sp>
      <p:sp>
        <p:nvSpPr>
          <p:cNvPr id="20" name="Text 18"/>
          <p:cNvSpPr/>
          <p:nvPr/>
        </p:nvSpPr>
        <p:spPr>
          <a:xfrm>
            <a:off x="7462391" y="4267200"/>
            <a:ext cx="502047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2F6B80"/>
                </a:solidFill>
                <a:latin typeface="IBM Plex Mono" pitchFamily="34" charset="0"/>
                <a:ea typeface="IBM Plex Mono" pitchFamily="34" charset="-122"/>
                <a:cs typeface="IBM Plex Mono" pitchFamily="34" charset="-120"/>
              </a:rPr>
              <a:t>STRUCTURAL VALUE</a:t>
            </a:r>
            <a:endParaRPr lang="en-US" sz="1800" dirty="0"/>
          </a:p>
        </p:txBody>
      </p:sp>
      <p:sp>
        <p:nvSpPr>
          <p:cNvPr id="21" name="Shape 19"/>
          <p:cNvSpPr/>
          <p:nvPr/>
        </p:nvSpPr>
        <p:spPr>
          <a:xfrm>
            <a:off x="12408396" y="4686300"/>
            <a:ext cx="5022354" cy="9525"/>
          </a:xfrm>
          <a:prstGeom prst="rect">
            <a:avLst/>
          </a:prstGeom>
          <a:solidFill>
            <a:srgbClr val="E0DCD3"/>
          </a:solidFill>
          <a:ln/>
        </p:spPr>
      </p:sp>
      <p:sp>
        <p:nvSpPr>
          <p:cNvPr id="22" name="Text 20"/>
          <p:cNvSpPr/>
          <p:nvPr/>
        </p:nvSpPr>
        <p:spPr>
          <a:xfrm>
            <a:off x="12484596" y="4267200"/>
            <a:ext cx="502062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A8551F"/>
                </a:solidFill>
                <a:latin typeface="IBM Plex Mono" pitchFamily="34" charset="0"/>
                <a:ea typeface="IBM Plex Mono" pitchFamily="34" charset="-122"/>
                <a:cs typeface="IBM Plex Mono" pitchFamily="34" charset="-120"/>
              </a:rPr>
              <a:t>DERIVATIONAL VALUE</a:t>
            </a:r>
            <a:endParaRPr lang="en-US" sz="1800" dirty="0"/>
          </a:p>
        </p:txBody>
      </p:sp>
      <p:sp>
        <p:nvSpPr>
          <p:cNvPr id="23" name="Shape 21"/>
          <p:cNvSpPr/>
          <p:nvPr/>
        </p:nvSpPr>
        <p:spPr>
          <a:xfrm>
            <a:off x="857250" y="5248275"/>
            <a:ext cx="6528941" cy="9525"/>
          </a:xfrm>
          <a:prstGeom prst="rect">
            <a:avLst/>
          </a:prstGeom>
          <a:solidFill>
            <a:srgbClr val="E0DCD3"/>
          </a:solidFill>
          <a:ln/>
        </p:spPr>
      </p:sp>
      <p:sp>
        <p:nvSpPr>
          <p:cNvPr id="24" name="Text 22"/>
          <p:cNvSpPr/>
          <p:nvPr/>
        </p:nvSpPr>
        <p:spPr>
          <a:xfrm>
            <a:off x="933450" y="4819650"/>
            <a:ext cx="657240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191C20"/>
                </a:solidFill>
                <a:latin typeface="IBM Plex Sans" pitchFamily="34" charset="0"/>
                <a:ea typeface="IBM Plex Sans" pitchFamily="34" charset="-122"/>
                <a:cs typeface="IBM Plex Sans" pitchFamily="34" charset="-120"/>
              </a:rPr>
              <a:t>Native Spark / dbt / OpenLineage plan</a:t>
            </a:r>
            <a:endParaRPr lang="en-US" sz="1800" dirty="0"/>
          </a:p>
        </p:txBody>
      </p:sp>
      <p:sp>
        <p:nvSpPr>
          <p:cNvPr id="25" name="Shape 23"/>
          <p:cNvSpPr/>
          <p:nvPr/>
        </p:nvSpPr>
        <p:spPr>
          <a:xfrm>
            <a:off x="7386191" y="5248275"/>
            <a:ext cx="5022205" cy="9525"/>
          </a:xfrm>
          <a:prstGeom prst="rect">
            <a:avLst/>
          </a:prstGeom>
          <a:solidFill>
            <a:srgbClr val="E0DCD3"/>
          </a:solidFill>
          <a:ln/>
        </p:spPr>
      </p:sp>
      <p:sp>
        <p:nvSpPr>
          <p:cNvPr id="26" name="Text 24"/>
          <p:cNvSpPr/>
          <p:nvPr/>
        </p:nvSpPr>
        <p:spPr>
          <a:xfrm>
            <a:off x="7462391" y="4819650"/>
            <a:ext cx="502047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Sans" pitchFamily="34" charset="0"/>
                <a:ea typeface="IBM Plex Sans" pitchFamily="34" charset="-122"/>
                <a:cs typeface="IBM Plex Sans" pitchFamily="34" charset="-120"/>
              </a:rPr>
              <a:t>Strong</a:t>
            </a:r>
            <a:endParaRPr lang="en-US" sz="1800" dirty="0"/>
          </a:p>
        </p:txBody>
      </p:sp>
      <p:sp>
        <p:nvSpPr>
          <p:cNvPr id="27" name="Shape 25"/>
          <p:cNvSpPr/>
          <p:nvPr/>
        </p:nvSpPr>
        <p:spPr>
          <a:xfrm>
            <a:off x="12408396" y="5248275"/>
            <a:ext cx="5022354" cy="9525"/>
          </a:xfrm>
          <a:prstGeom prst="rect">
            <a:avLst/>
          </a:prstGeom>
          <a:solidFill>
            <a:srgbClr val="E0DCD3"/>
          </a:solidFill>
          <a:ln/>
        </p:spPr>
      </p:sp>
      <p:sp>
        <p:nvSpPr>
          <p:cNvPr id="28" name="Text 26"/>
          <p:cNvSpPr/>
          <p:nvPr/>
        </p:nvSpPr>
        <p:spPr>
          <a:xfrm>
            <a:off x="12484596" y="4819650"/>
            <a:ext cx="502062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Sans" pitchFamily="34" charset="0"/>
                <a:ea typeface="IBM Plex Sans" pitchFamily="34" charset="-122"/>
                <a:cs typeface="IBM Plex Sans" pitchFamily="34" charset="-120"/>
              </a:rPr>
              <a:t>Oracle where exact</a:t>
            </a:r>
            <a:endParaRPr lang="en-US" sz="1800" dirty="0"/>
          </a:p>
        </p:txBody>
      </p:sp>
      <p:sp>
        <p:nvSpPr>
          <p:cNvPr id="29" name="Shape 27"/>
          <p:cNvSpPr/>
          <p:nvPr/>
        </p:nvSpPr>
        <p:spPr>
          <a:xfrm>
            <a:off x="857250" y="5810250"/>
            <a:ext cx="6528941" cy="9525"/>
          </a:xfrm>
          <a:prstGeom prst="rect">
            <a:avLst/>
          </a:prstGeom>
          <a:solidFill>
            <a:srgbClr val="E0DCD3"/>
          </a:solidFill>
          <a:ln/>
        </p:spPr>
      </p:sp>
      <p:sp>
        <p:nvSpPr>
          <p:cNvPr id="30" name="Text 28"/>
          <p:cNvSpPr/>
          <p:nvPr/>
        </p:nvSpPr>
        <p:spPr>
          <a:xfrm>
            <a:off x="933450" y="5381625"/>
            <a:ext cx="657240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191C20"/>
                </a:solidFill>
                <a:latin typeface="IBM Plex Sans" pitchFamily="34" charset="0"/>
                <a:ea typeface="IBM Plex Sans" pitchFamily="34" charset="-122"/>
                <a:cs typeface="IBM Plex Sans" pitchFamily="34" charset="-120"/>
              </a:rPr>
              <a:t>Deterministic SCA</a:t>
            </a:r>
            <a:endParaRPr lang="en-US" sz="1800" dirty="0"/>
          </a:p>
        </p:txBody>
      </p:sp>
      <p:sp>
        <p:nvSpPr>
          <p:cNvPr id="31" name="Shape 29"/>
          <p:cNvSpPr/>
          <p:nvPr/>
        </p:nvSpPr>
        <p:spPr>
          <a:xfrm>
            <a:off x="7386191" y="5810250"/>
            <a:ext cx="5022205" cy="9525"/>
          </a:xfrm>
          <a:prstGeom prst="rect">
            <a:avLst/>
          </a:prstGeom>
          <a:solidFill>
            <a:srgbClr val="E0DCD3"/>
          </a:solidFill>
          <a:ln/>
        </p:spPr>
      </p:sp>
      <p:sp>
        <p:nvSpPr>
          <p:cNvPr id="32" name="Text 30"/>
          <p:cNvSpPr/>
          <p:nvPr/>
        </p:nvSpPr>
        <p:spPr>
          <a:xfrm>
            <a:off x="7462391" y="5381625"/>
            <a:ext cx="502047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Sans" pitchFamily="34" charset="0"/>
                <a:ea typeface="IBM Plex Sans" pitchFamily="34" charset="-122"/>
                <a:cs typeface="IBM Plex Sans" pitchFamily="34" charset="-120"/>
              </a:rPr>
              <a:t>Provable reachability</a:t>
            </a:r>
            <a:endParaRPr lang="en-US" sz="1800" dirty="0"/>
          </a:p>
        </p:txBody>
      </p:sp>
      <p:sp>
        <p:nvSpPr>
          <p:cNvPr id="33" name="Shape 31"/>
          <p:cNvSpPr/>
          <p:nvPr/>
        </p:nvSpPr>
        <p:spPr>
          <a:xfrm>
            <a:off x="12408396" y="5810250"/>
            <a:ext cx="5022354" cy="9525"/>
          </a:xfrm>
          <a:prstGeom prst="rect">
            <a:avLst/>
          </a:prstGeom>
          <a:solidFill>
            <a:srgbClr val="E0DCD3"/>
          </a:solidFill>
          <a:ln/>
        </p:spPr>
      </p:sp>
      <p:sp>
        <p:nvSpPr>
          <p:cNvPr id="34" name="Text 32"/>
          <p:cNvSpPr/>
          <p:nvPr/>
        </p:nvSpPr>
        <p:spPr>
          <a:xfrm>
            <a:off x="12484596" y="5381625"/>
            <a:ext cx="502062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Sans" pitchFamily="34" charset="0"/>
                <a:ea typeface="IBM Plex Sans" pitchFamily="34" charset="-122"/>
                <a:cs typeface="IBM Plex Sans" pitchFamily="34" charset="-120"/>
              </a:rPr>
              <a:t>Strong where deterministic</a:t>
            </a:r>
            <a:endParaRPr lang="en-US" sz="1800" dirty="0"/>
          </a:p>
        </p:txBody>
      </p:sp>
      <p:sp>
        <p:nvSpPr>
          <p:cNvPr id="35" name="Shape 33"/>
          <p:cNvSpPr/>
          <p:nvPr/>
        </p:nvSpPr>
        <p:spPr>
          <a:xfrm>
            <a:off x="857250" y="6372225"/>
            <a:ext cx="6528941" cy="9525"/>
          </a:xfrm>
          <a:prstGeom prst="rect">
            <a:avLst/>
          </a:prstGeom>
          <a:solidFill>
            <a:srgbClr val="E0DCD3"/>
          </a:solidFill>
          <a:ln/>
        </p:spPr>
      </p:sp>
      <p:sp>
        <p:nvSpPr>
          <p:cNvPr id="36" name="Text 34"/>
          <p:cNvSpPr/>
          <p:nvPr/>
        </p:nvSpPr>
        <p:spPr>
          <a:xfrm>
            <a:off x="933450" y="5943600"/>
            <a:ext cx="657240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191C20"/>
                </a:solidFill>
                <a:latin typeface="IBM Plex Sans" pitchFamily="34" charset="0"/>
                <a:ea typeface="IBM Plex Sans" pitchFamily="34" charset="-122"/>
                <a:cs typeface="IBM Plex Sans" pitchFamily="34" charset="-120"/>
              </a:rPr>
              <a:t>LLM with cited evidence</a:t>
            </a:r>
            <a:endParaRPr lang="en-US" sz="1800" dirty="0"/>
          </a:p>
        </p:txBody>
      </p:sp>
      <p:sp>
        <p:nvSpPr>
          <p:cNvPr id="37" name="Shape 35"/>
          <p:cNvSpPr/>
          <p:nvPr/>
        </p:nvSpPr>
        <p:spPr>
          <a:xfrm>
            <a:off x="7386191" y="6372225"/>
            <a:ext cx="5022205" cy="9525"/>
          </a:xfrm>
          <a:prstGeom prst="rect">
            <a:avLst/>
          </a:prstGeom>
          <a:solidFill>
            <a:srgbClr val="E0DCD3"/>
          </a:solidFill>
          <a:ln/>
        </p:spPr>
      </p:sp>
      <p:sp>
        <p:nvSpPr>
          <p:cNvPr id="38" name="Text 36"/>
          <p:cNvSpPr/>
          <p:nvPr/>
        </p:nvSpPr>
        <p:spPr>
          <a:xfrm>
            <a:off x="7462391" y="5943600"/>
            <a:ext cx="502047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Sans" pitchFamily="34" charset="0"/>
                <a:ea typeface="IBM Plex Sans" pitchFamily="34" charset="-122"/>
                <a:cs typeface="IBM Plex Sans" pitchFamily="34" charset="-120"/>
              </a:rPr>
              <a:t>Inferred — capped</a:t>
            </a:r>
            <a:endParaRPr lang="en-US" sz="1800" dirty="0"/>
          </a:p>
        </p:txBody>
      </p:sp>
      <p:sp>
        <p:nvSpPr>
          <p:cNvPr id="39" name="Shape 37"/>
          <p:cNvSpPr/>
          <p:nvPr/>
        </p:nvSpPr>
        <p:spPr>
          <a:xfrm>
            <a:off x="12408396" y="6372225"/>
            <a:ext cx="5022354" cy="9525"/>
          </a:xfrm>
          <a:prstGeom prst="rect">
            <a:avLst/>
          </a:prstGeom>
          <a:solidFill>
            <a:srgbClr val="E0DCD3"/>
          </a:solidFill>
          <a:ln/>
        </p:spPr>
      </p:sp>
      <p:sp>
        <p:nvSpPr>
          <p:cNvPr id="40" name="Text 38"/>
          <p:cNvSpPr/>
          <p:nvPr/>
        </p:nvSpPr>
        <p:spPr>
          <a:xfrm>
            <a:off x="12484596" y="5943600"/>
            <a:ext cx="502062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Sans" pitchFamily="34" charset="0"/>
                <a:ea typeface="IBM Plex Sans" pitchFamily="34" charset="-122"/>
                <a:cs typeface="IBM Plex Sans" pitchFamily="34" charset="-120"/>
              </a:rPr>
              <a:t>Probable — capped</a:t>
            </a:r>
            <a:endParaRPr lang="en-US" sz="1800" dirty="0"/>
          </a:p>
        </p:txBody>
      </p:sp>
      <p:sp>
        <p:nvSpPr>
          <p:cNvPr id="41" name="Shape 39"/>
          <p:cNvSpPr/>
          <p:nvPr/>
        </p:nvSpPr>
        <p:spPr>
          <a:xfrm>
            <a:off x="857250" y="6934200"/>
            <a:ext cx="6528941" cy="9525"/>
          </a:xfrm>
          <a:prstGeom prst="rect">
            <a:avLst/>
          </a:prstGeom>
          <a:solidFill>
            <a:srgbClr val="E0DCD3"/>
          </a:solidFill>
          <a:ln/>
        </p:spPr>
      </p:sp>
      <p:sp>
        <p:nvSpPr>
          <p:cNvPr id="42" name="Text 40"/>
          <p:cNvSpPr/>
          <p:nvPr/>
        </p:nvSpPr>
        <p:spPr>
          <a:xfrm>
            <a:off x="933450" y="6505575"/>
            <a:ext cx="657240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191C20"/>
                </a:solidFill>
                <a:latin typeface="IBM Plex Sans" pitchFamily="34" charset="0"/>
                <a:ea typeface="IBM Plex Sans" pitchFamily="34" charset="-122"/>
                <a:cs typeface="IBM Plex Sans" pitchFamily="34" charset="-120"/>
              </a:rPr>
              <a:t>Integration-test sidecar</a:t>
            </a:r>
            <a:endParaRPr lang="en-US" sz="1800" dirty="0"/>
          </a:p>
        </p:txBody>
      </p:sp>
      <p:sp>
        <p:nvSpPr>
          <p:cNvPr id="43" name="Shape 41"/>
          <p:cNvSpPr/>
          <p:nvPr/>
        </p:nvSpPr>
        <p:spPr>
          <a:xfrm>
            <a:off x="7386191" y="6934200"/>
            <a:ext cx="5022205" cy="9525"/>
          </a:xfrm>
          <a:prstGeom prst="rect">
            <a:avLst/>
          </a:prstGeom>
          <a:solidFill>
            <a:srgbClr val="E0DCD3"/>
          </a:solidFill>
          <a:ln/>
        </p:spPr>
      </p:sp>
      <p:sp>
        <p:nvSpPr>
          <p:cNvPr id="44" name="Text 42"/>
          <p:cNvSpPr/>
          <p:nvPr/>
        </p:nvSpPr>
        <p:spPr>
          <a:xfrm>
            <a:off x="7462391" y="6505575"/>
            <a:ext cx="502047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Sans" pitchFamily="34" charset="0"/>
                <a:ea typeface="IBM Plex Sans" pitchFamily="34" charset="-122"/>
                <a:cs typeface="IBM Plex Sans" pitchFamily="34" charset="-120"/>
              </a:rPr>
              <a:t>Executed-path corroboration</a:t>
            </a:r>
            <a:endParaRPr lang="en-US" sz="1800" dirty="0"/>
          </a:p>
        </p:txBody>
      </p:sp>
      <p:sp>
        <p:nvSpPr>
          <p:cNvPr id="45" name="Shape 43"/>
          <p:cNvSpPr/>
          <p:nvPr/>
        </p:nvSpPr>
        <p:spPr>
          <a:xfrm>
            <a:off x="12408396" y="6934200"/>
            <a:ext cx="5022354" cy="9525"/>
          </a:xfrm>
          <a:prstGeom prst="rect">
            <a:avLst/>
          </a:prstGeom>
          <a:solidFill>
            <a:srgbClr val="E0DCD3"/>
          </a:solidFill>
          <a:ln/>
        </p:spPr>
      </p:sp>
      <p:sp>
        <p:nvSpPr>
          <p:cNvPr id="46" name="Text 44"/>
          <p:cNvSpPr/>
          <p:nvPr/>
        </p:nvSpPr>
        <p:spPr>
          <a:xfrm>
            <a:off x="12484596" y="6505575"/>
            <a:ext cx="502062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Sans" pitchFamily="34" charset="0"/>
                <a:ea typeface="IBM Plex Sans" pitchFamily="34" charset="-122"/>
                <a:cs typeface="IBM Plex Sans" pitchFamily="34" charset="-120"/>
              </a:rPr>
              <a:t>Does not prove transformation</a:t>
            </a:r>
            <a:endParaRPr lang="en-US" sz="1800" dirty="0"/>
          </a:p>
        </p:txBody>
      </p:sp>
      <p:sp>
        <p:nvSpPr>
          <p:cNvPr id="47" name="Shape 45"/>
          <p:cNvSpPr/>
          <p:nvPr/>
        </p:nvSpPr>
        <p:spPr>
          <a:xfrm>
            <a:off x="857250" y="7496175"/>
            <a:ext cx="6528941" cy="9525"/>
          </a:xfrm>
          <a:prstGeom prst="rect">
            <a:avLst/>
          </a:prstGeom>
          <a:solidFill>
            <a:srgbClr val="E0DCD3"/>
          </a:solidFill>
          <a:ln/>
        </p:spPr>
      </p:sp>
      <p:sp>
        <p:nvSpPr>
          <p:cNvPr id="48" name="Text 46"/>
          <p:cNvSpPr/>
          <p:nvPr/>
        </p:nvSpPr>
        <p:spPr>
          <a:xfrm>
            <a:off x="933450" y="7067550"/>
            <a:ext cx="657240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191C20"/>
                </a:solidFill>
                <a:latin typeface="IBM Plex Sans" pitchFamily="34" charset="0"/>
                <a:ea typeface="IBM Plex Sans" pitchFamily="34" charset="-122"/>
                <a:cs typeface="IBM Plex Sans" pitchFamily="34" charset="-120"/>
              </a:rPr>
              <a:t>Production CloudWatch interaction</a:t>
            </a:r>
            <a:endParaRPr lang="en-US" sz="1800" dirty="0"/>
          </a:p>
        </p:txBody>
      </p:sp>
      <p:sp>
        <p:nvSpPr>
          <p:cNvPr id="49" name="Shape 47"/>
          <p:cNvSpPr/>
          <p:nvPr/>
        </p:nvSpPr>
        <p:spPr>
          <a:xfrm>
            <a:off x="7386191" y="7496175"/>
            <a:ext cx="5022205" cy="9525"/>
          </a:xfrm>
          <a:prstGeom prst="rect">
            <a:avLst/>
          </a:prstGeom>
          <a:solidFill>
            <a:srgbClr val="E0DCD3"/>
          </a:solidFill>
          <a:ln/>
        </p:spPr>
      </p:sp>
      <p:sp>
        <p:nvSpPr>
          <p:cNvPr id="50" name="Text 48"/>
          <p:cNvSpPr/>
          <p:nvPr/>
        </p:nvSpPr>
        <p:spPr>
          <a:xfrm>
            <a:off x="7462391" y="7067550"/>
            <a:ext cx="502047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Sans" pitchFamily="34" charset="0"/>
                <a:ea typeface="IBM Plex Sans" pitchFamily="34" charset="-122"/>
                <a:cs typeface="IBM Plex Sans" pitchFamily="34" charset="-120"/>
              </a:rPr>
              <a:t>Interaction context only</a:t>
            </a:r>
            <a:endParaRPr lang="en-US" sz="1800" dirty="0"/>
          </a:p>
        </p:txBody>
      </p:sp>
      <p:sp>
        <p:nvSpPr>
          <p:cNvPr id="51" name="Shape 49"/>
          <p:cNvSpPr/>
          <p:nvPr/>
        </p:nvSpPr>
        <p:spPr>
          <a:xfrm>
            <a:off x="12408396" y="7496175"/>
            <a:ext cx="5022354" cy="9525"/>
          </a:xfrm>
          <a:prstGeom prst="rect">
            <a:avLst/>
          </a:prstGeom>
          <a:solidFill>
            <a:srgbClr val="E0DCD3"/>
          </a:solidFill>
          <a:ln/>
        </p:spPr>
      </p:sp>
      <p:sp>
        <p:nvSpPr>
          <p:cNvPr id="52" name="Text 50"/>
          <p:cNvSpPr/>
          <p:nvPr/>
        </p:nvSpPr>
        <p:spPr>
          <a:xfrm>
            <a:off x="12484596" y="7067550"/>
            <a:ext cx="502062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Sans" pitchFamily="34" charset="0"/>
                <a:ea typeface="IBM Plex Sans" pitchFamily="34" charset="-122"/>
                <a:cs typeface="IBM Plex Sans" pitchFamily="34" charset="-120"/>
              </a:rPr>
              <a:t>None</a:t>
            </a:r>
            <a:endParaRPr lang="en-US" sz="1800" dirty="0"/>
          </a:p>
        </p:txBody>
      </p:sp>
      <p:sp>
        <p:nvSpPr>
          <p:cNvPr id="53" name="Shape 51"/>
          <p:cNvSpPr/>
          <p:nvPr/>
        </p:nvSpPr>
        <p:spPr>
          <a:xfrm>
            <a:off x="857250" y="8058150"/>
            <a:ext cx="6528941" cy="9525"/>
          </a:xfrm>
          <a:prstGeom prst="rect">
            <a:avLst/>
          </a:prstGeom>
          <a:solidFill>
            <a:srgbClr val="E0DCD3"/>
          </a:solidFill>
          <a:ln/>
        </p:spPr>
      </p:sp>
      <p:sp>
        <p:nvSpPr>
          <p:cNvPr id="54" name="Text 52"/>
          <p:cNvSpPr/>
          <p:nvPr/>
        </p:nvSpPr>
        <p:spPr>
          <a:xfrm>
            <a:off x="933450" y="7629525"/>
            <a:ext cx="657240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191C20"/>
                </a:solidFill>
                <a:latin typeface="IBM Plex Sans" pitchFamily="34" charset="0"/>
                <a:ea typeface="IBM Plex Sans" pitchFamily="34" charset="-122"/>
                <a:cs typeface="IBM Plex Sans" pitchFamily="34" charset="-120"/>
              </a:rPr>
              <a:t>Human acceptance / correction</a:t>
            </a:r>
            <a:endParaRPr lang="en-US" sz="1800" dirty="0"/>
          </a:p>
        </p:txBody>
      </p:sp>
      <p:sp>
        <p:nvSpPr>
          <p:cNvPr id="55" name="Shape 53"/>
          <p:cNvSpPr/>
          <p:nvPr/>
        </p:nvSpPr>
        <p:spPr>
          <a:xfrm>
            <a:off x="7386191" y="8058150"/>
            <a:ext cx="5022205" cy="9525"/>
          </a:xfrm>
          <a:prstGeom prst="rect">
            <a:avLst/>
          </a:prstGeom>
          <a:solidFill>
            <a:srgbClr val="E0DCD3"/>
          </a:solidFill>
          <a:ln/>
        </p:spPr>
      </p:sp>
      <p:sp>
        <p:nvSpPr>
          <p:cNvPr id="56" name="Text 54"/>
          <p:cNvSpPr/>
          <p:nvPr/>
        </p:nvSpPr>
        <p:spPr>
          <a:xfrm>
            <a:off x="7462391" y="7629525"/>
            <a:ext cx="502047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Sans" pitchFamily="34" charset="0"/>
                <a:ea typeface="IBM Plex Sans" pitchFamily="34" charset="-122"/>
                <a:cs typeface="IBM Plex Sans" pitchFamily="34" charset="-120"/>
              </a:rPr>
              <a:t>Governed accepted state</a:t>
            </a:r>
            <a:endParaRPr lang="en-US" sz="1800" dirty="0"/>
          </a:p>
        </p:txBody>
      </p:sp>
      <p:sp>
        <p:nvSpPr>
          <p:cNvPr id="57" name="Shape 55"/>
          <p:cNvSpPr/>
          <p:nvPr/>
        </p:nvSpPr>
        <p:spPr>
          <a:xfrm>
            <a:off x="12408396" y="8058150"/>
            <a:ext cx="5022354" cy="9525"/>
          </a:xfrm>
          <a:prstGeom prst="rect">
            <a:avLst/>
          </a:prstGeom>
          <a:solidFill>
            <a:srgbClr val="E0DCD3"/>
          </a:solidFill>
          <a:ln/>
        </p:spPr>
      </p:sp>
      <p:sp>
        <p:nvSpPr>
          <p:cNvPr id="58" name="Text 56"/>
          <p:cNvSpPr/>
          <p:nvPr/>
        </p:nvSpPr>
        <p:spPr>
          <a:xfrm>
            <a:off x="12484596" y="7629525"/>
            <a:ext cx="502062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Sans" pitchFamily="34" charset="0"/>
                <a:ea typeface="IBM Plex Sans" pitchFamily="34" charset="-122"/>
                <a:cs typeface="IBM Plex Sans" pitchFamily="34" charset="-120"/>
              </a:rPr>
              <a:t>Calibration label, not an oracle</a:t>
            </a:r>
            <a:endParaRPr lang="en-US" sz="1800" dirty="0"/>
          </a:p>
        </p:txBody>
      </p:sp>
      <p:sp>
        <p:nvSpPr>
          <p:cNvPr id="59" name="Text 57"/>
          <p:cNvSpPr/>
          <p:nvPr/>
        </p:nvSpPr>
        <p:spPr>
          <a:xfrm>
            <a:off x="857250" y="8705850"/>
            <a:ext cx="17070705" cy="9525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MERGE RULE · EDGES UNION BY URN IN AN OPENLINEAGE-STYLE SCHEMA — SCA+LLM+RUNTIME HIGHEST · SCA+RUNTIME HIGH · LLM-ONLY LOWEST, NEVER GATES · ONLY HIGH-CONFIDENCE EDGES BLOCK PRS · BANDS RENDER UNCALIBRATED UNTIL MEASURED · EVERY REVIEW FEEDS THE CALIBRATION CORPUS</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57250" y="666750"/>
            <a:ext cx="18230850" cy="361950"/>
          </a:xfrm>
          <a:prstGeom prst="rect">
            <a:avLst/>
          </a:prstGeom>
          <a:noFill/>
          <a:ln/>
        </p:spPr>
        <p:txBody>
          <a:bodyPr wrap="square" lIns="25400" tIns="25400" rIns="25400" bIns="25400" rtlCol="0" anchor="t">
            <a:normAutofit/>
          </a:bodyPr>
          <a:lstStyle/>
          <a:p>
            <a:pPr algn="l" indent="0" marL="0">
              <a:buNone/>
            </a:pPr>
            <a:r>
              <a:rPr lang="en-US" sz="1950" spc="312" kern="0" dirty="0">
                <a:solidFill>
                  <a:srgbClr val="4D535B"/>
                </a:solidFill>
                <a:latin typeface="IBM Plex Mono" pitchFamily="34" charset="0"/>
                <a:ea typeface="IBM Plex Mono" pitchFamily="34" charset="-122"/>
                <a:cs typeface="IBM Plex Mono" pitchFamily="34" charset="-120"/>
              </a:rPr>
              <a:t>11 · STATE MACHINE</a:t>
            </a:r>
            <a:endParaRPr lang="en-US" sz="1950" dirty="0"/>
          </a:p>
        </p:txBody>
      </p:sp>
      <p:sp>
        <p:nvSpPr>
          <p:cNvPr id="3" name="Text 1"/>
          <p:cNvSpPr/>
          <p:nvPr/>
        </p:nvSpPr>
        <p:spPr>
          <a:xfrm>
            <a:off x="857250" y="1123950"/>
            <a:ext cx="18230850" cy="771525"/>
          </a:xfrm>
          <a:prstGeom prst="rect">
            <a:avLst/>
          </a:prstGeom>
          <a:noFill/>
          <a:ln/>
        </p:spPr>
        <p:txBody>
          <a:bodyPr wrap="square" lIns="25400" tIns="25400" rIns="25400" bIns="25400" rtlCol="0" anchor="t">
            <a:normAutofit/>
          </a:bodyPr>
          <a:lstStyle/>
          <a:p>
            <a:pPr algn="l" indent="0" marL="0">
              <a:buNone/>
            </a:pPr>
            <a:r>
              <a:rPr lang="en-US" sz="4500" b="1" dirty="0">
                <a:solidFill>
                  <a:srgbClr val="191C20"/>
                </a:solidFill>
                <a:latin typeface="IBM Plex Sans" pitchFamily="34" charset="0"/>
                <a:ea typeface="IBM Plex Sans" pitchFamily="34" charset="-122"/>
                <a:cs typeface="IBM Plex Sans" pitchFamily="34" charset="-120"/>
              </a:rPr>
              <a:t>Proposal Lifecycle</a:t>
            </a:r>
            <a:endParaRPr lang="en-US" sz="4500" dirty="0"/>
          </a:p>
        </p:txBody>
      </p:sp>
      <p:sp>
        <p:nvSpPr>
          <p:cNvPr id="4" name="Shape 2"/>
          <p:cNvSpPr/>
          <p:nvPr/>
        </p:nvSpPr>
        <p:spPr>
          <a:xfrm>
            <a:off x="857250" y="2419350"/>
            <a:ext cx="2683073" cy="781050"/>
          </a:xfrm>
          <a:prstGeom prst="rect">
            <a:avLst/>
          </a:prstGeom>
          <a:solidFill>
            <a:srgbClr val="FFFFFF"/>
          </a:solidFill>
          <a:ln w="9525">
            <a:solidFill>
              <a:srgbClr val="E0DCD3"/>
            </a:solidFill>
            <a:prstDash val="solid"/>
          </a:ln>
        </p:spPr>
      </p:sp>
      <p:sp>
        <p:nvSpPr>
          <p:cNvPr id="5" name="Text 3"/>
          <p:cNvSpPr/>
          <p:nvPr/>
        </p:nvSpPr>
        <p:spPr>
          <a:xfrm>
            <a:off x="1074179" y="2657475"/>
            <a:ext cx="2249216"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191C20"/>
                </a:solidFill>
                <a:latin typeface="IBM Plex Mono" pitchFamily="34" charset="0"/>
                <a:ea typeface="IBM Plex Mono" pitchFamily="34" charset="-122"/>
                <a:cs typeface="IBM Plex Mono" pitchFamily="34" charset="-120"/>
              </a:rPr>
              <a:t>DRAFT</a:t>
            </a:r>
            <a:endParaRPr lang="en-US" sz="1800" dirty="0"/>
          </a:p>
        </p:txBody>
      </p:sp>
      <p:sp>
        <p:nvSpPr>
          <p:cNvPr id="6" name="Text 4"/>
          <p:cNvSpPr/>
          <p:nvPr/>
        </p:nvSpPr>
        <p:spPr>
          <a:xfrm>
            <a:off x="3502223" y="2609850"/>
            <a:ext cx="609600" cy="438150"/>
          </a:xfrm>
          <a:prstGeom prst="rect">
            <a:avLst/>
          </a:prstGeom>
          <a:noFill/>
          <a:ln/>
        </p:spPr>
        <p:txBody>
          <a:bodyPr wrap="square" lIns="25400" tIns="25400" rIns="25400" bIns="25400" rtlCol="0" anchor="t">
            <a:normAutofit/>
          </a:bodyPr>
          <a:lstStyle/>
          <a:p>
            <a:pPr algn="ctr" indent="0" marL="0">
              <a:buNone/>
            </a:pPr>
            <a:r>
              <a:rPr lang="en-US" sz="2400" dirty="0">
                <a:solidFill>
                  <a:srgbClr val="9AA0A8"/>
                </a:solidFill>
                <a:latin typeface="IBM Plex Sans" pitchFamily="34" charset="0"/>
                <a:ea typeface="IBM Plex Sans" pitchFamily="34" charset="-122"/>
                <a:cs typeface="IBM Plex Sans" pitchFamily="34" charset="-120"/>
              </a:rPr>
              <a:t>→</a:t>
            </a:r>
            <a:endParaRPr lang="en-US" sz="2400" dirty="0"/>
          </a:p>
        </p:txBody>
      </p:sp>
      <p:sp>
        <p:nvSpPr>
          <p:cNvPr id="7" name="Shape 5"/>
          <p:cNvSpPr/>
          <p:nvPr/>
        </p:nvSpPr>
        <p:spPr>
          <a:xfrm>
            <a:off x="4073723" y="2419350"/>
            <a:ext cx="3116907" cy="781050"/>
          </a:xfrm>
          <a:prstGeom prst="rect">
            <a:avLst/>
          </a:prstGeom>
          <a:solidFill>
            <a:srgbClr val="FFFFFF"/>
          </a:solidFill>
          <a:ln w="9525">
            <a:solidFill>
              <a:srgbClr val="E0DCD3"/>
            </a:solidFill>
            <a:prstDash val="solid"/>
          </a:ln>
        </p:spPr>
      </p:sp>
      <p:sp>
        <p:nvSpPr>
          <p:cNvPr id="8" name="Text 6"/>
          <p:cNvSpPr/>
          <p:nvPr/>
        </p:nvSpPr>
        <p:spPr>
          <a:xfrm>
            <a:off x="4284145" y="2657475"/>
            <a:ext cx="2696065"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191C20"/>
                </a:solidFill>
                <a:latin typeface="IBM Plex Mono" pitchFamily="34" charset="0"/>
                <a:ea typeface="IBM Plex Mono" pitchFamily="34" charset="-122"/>
                <a:cs typeface="IBM Plex Mono" pitchFamily="34" charset="-120"/>
              </a:rPr>
              <a:t>AWAITING_REVIEW</a:t>
            </a:r>
            <a:endParaRPr lang="en-US" sz="1800" dirty="0"/>
          </a:p>
        </p:txBody>
      </p:sp>
      <p:sp>
        <p:nvSpPr>
          <p:cNvPr id="9" name="Text 7"/>
          <p:cNvSpPr/>
          <p:nvPr/>
        </p:nvSpPr>
        <p:spPr>
          <a:xfrm>
            <a:off x="7152531" y="2352675"/>
            <a:ext cx="1219200" cy="952500"/>
          </a:xfrm>
          <a:prstGeom prst="rect">
            <a:avLst/>
          </a:prstGeom>
          <a:noFill/>
          <a:ln/>
        </p:spPr>
        <p:txBody>
          <a:bodyPr wrap="square" lIns="25400" tIns="25400" rIns="25400" bIns="25400" rtlCol="0" anchor="t">
            <a:normAutofit/>
          </a:bodyPr>
          <a:lstStyle/>
          <a:p>
            <a:pPr algn="ctr" indent="0" marL="0">
              <a:buNone/>
            </a:pPr>
            <a:r>
              <a:rPr lang="en-US" sz="1800" dirty="0">
                <a:solidFill>
                  <a:srgbClr val="4D535B"/>
                </a:solidFill>
                <a:latin typeface="IBM Plex Mono" pitchFamily="34" charset="0"/>
                <a:ea typeface="IBM Plex Mono" pitchFamily="34" charset="-122"/>
                <a:cs typeface="IBM Plex Mono" pitchFamily="34" charset="-120"/>
              </a:rPr>
              <a:t>HUMAN approve →</a:t>
            </a:r>
            <a:endParaRPr lang="en-US" sz="1800" dirty="0"/>
          </a:p>
        </p:txBody>
      </p:sp>
      <p:sp>
        <p:nvSpPr>
          <p:cNvPr id="10" name="Shape 8"/>
          <p:cNvSpPr/>
          <p:nvPr/>
        </p:nvSpPr>
        <p:spPr>
          <a:xfrm>
            <a:off x="8333631" y="2419350"/>
            <a:ext cx="2683073" cy="781050"/>
          </a:xfrm>
          <a:prstGeom prst="rect">
            <a:avLst/>
          </a:prstGeom>
          <a:solidFill>
            <a:srgbClr val="FFFFFF"/>
          </a:solidFill>
          <a:ln w="9525">
            <a:solidFill>
              <a:srgbClr val="E0DCD3"/>
            </a:solidFill>
            <a:prstDash val="solid"/>
          </a:ln>
        </p:spPr>
      </p:sp>
      <p:sp>
        <p:nvSpPr>
          <p:cNvPr id="11" name="Text 9"/>
          <p:cNvSpPr/>
          <p:nvPr/>
        </p:nvSpPr>
        <p:spPr>
          <a:xfrm>
            <a:off x="8550560" y="2657475"/>
            <a:ext cx="2249216"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191C20"/>
                </a:solidFill>
                <a:latin typeface="IBM Plex Mono" pitchFamily="34" charset="0"/>
                <a:ea typeface="IBM Plex Mono" pitchFamily="34" charset="-122"/>
                <a:cs typeface="IBM Plex Mono" pitchFamily="34" charset="-120"/>
              </a:rPr>
              <a:t>APPROVED</a:t>
            </a:r>
            <a:endParaRPr lang="en-US" sz="1800" dirty="0"/>
          </a:p>
        </p:txBody>
      </p:sp>
      <p:sp>
        <p:nvSpPr>
          <p:cNvPr id="12" name="Text 10"/>
          <p:cNvSpPr/>
          <p:nvPr/>
        </p:nvSpPr>
        <p:spPr>
          <a:xfrm>
            <a:off x="10978604" y="2609850"/>
            <a:ext cx="609600" cy="438150"/>
          </a:xfrm>
          <a:prstGeom prst="rect">
            <a:avLst/>
          </a:prstGeom>
          <a:noFill/>
          <a:ln/>
        </p:spPr>
        <p:txBody>
          <a:bodyPr wrap="square" lIns="25400" tIns="25400" rIns="25400" bIns="25400" rtlCol="0" anchor="t">
            <a:normAutofit/>
          </a:bodyPr>
          <a:lstStyle/>
          <a:p>
            <a:pPr algn="ctr" indent="0" marL="0">
              <a:buNone/>
            </a:pPr>
            <a:r>
              <a:rPr lang="en-US" sz="2400" dirty="0">
                <a:solidFill>
                  <a:srgbClr val="9AA0A8"/>
                </a:solidFill>
                <a:latin typeface="IBM Plex Sans" pitchFamily="34" charset="0"/>
                <a:ea typeface="IBM Plex Sans" pitchFamily="34" charset="-122"/>
                <a:cs typeface="IBM Plex Sans" pitchFamily="34" charset="-120"/>
              </a:rPr>
              <a:t>→</a:t>
            </a:r>
            <a:endParaRPr lang="en-US" sz="2400" dirty="0"/>
          </a:p>
        </p:txBody>
      </p:sp>
      <p:sp>
        <p:nvSpPr>
          <p:cNvPr id="13" name="Shape 11"/>
          <p:cNvSpPr/>
          <p:nvPr/>
        </p:nvSpPr>
        <p:spPr>
          <a:xfrm>
            <a:off x="11550104" y="2419350"/>
            <a:ext cx="2683073" cy="781050"/>
          </a:xfrm>
          <a:prstGeom prst="rect">
            <a:avLst/>
          </a:prstGeom>
          <a:solidFill>
            <a:srgbClr val="FFFFFF"/>
          </a:solidFill>
          <a:ln w="9525">
            <a:solidFill>
              <a:srgbClr val="E0DCD3"/>
            </a:solidFill>
            <a:prstDash val="solid"/>
          </a:ln>
        </p:spPr>
      </p:sp>
      <p:sp>
        <p:nvSpPr>
          <p:cNvPr id="14" name="Text 12"/>
          <p:cNvSpPr/>
          <p:nvPr/>
        </p:nvSpPr>
        <p:spPr>
          <a:xfrm>
            <a:off x="11767033" y="2657475"/>
            <a:ext cx="2249216"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191C20"/>
                </a:solidFill>
                <a:latin typeface="IBM Plex Mono" pitchFamily="34" charset="0"/>
                <a:ea typeface="IBM Plex Mono" pitchFamily="34" charset="-122"/>
                <a:cs typeface="IBM Plex Mono" pitchFamily="34" charset="-120"/>
              </a:rPr>
              <a:t>PUBLISHING</a:t>
            </a:r>
            <a:endParaRPr lang="en-US" sz="1800" dirty="0"/>
          </a:p>
        </p:txBody>
      </p:sp>
      <p:sp>
        <p:nvSpPr>
          <p:cNvPr id="15" name="Text 13"/>
          <p:cNvSpPr/>
          <p:nvPr/>
        </p:nvSpPr>
        <p:spPr>
          <a:xfrm>
            <a:off x="14195078" y="2609850"/>
            <a:ext cx="609600" cy="438150"/>
          </a:xfrm>
          <a:prstGeom prst="rect">
            <a:avLst/>
          </a:prstGeom>
          <a:noFill/>
          <a:ln/>
        </p:spPr>
        <p:txBody>
          <a:bodyPr wrap="square" lIns="25400" tIns="25400" rIns="25400" bIns="25400" rtlCol="0" anchor="t">
            <a:normAutofit/>
          </a:bodyPr>
          <a:lstStyle/>
          <a:p>
            <a:pPr algn="ctr" indent="0" marL="0">
              <a:buNone/>
            </a:pPr>
            <a:r>
              <a:rPr lang="en-US" sz="2400" dirty="0">
                <a:solidFill>
                  <a:srgbClr val="9AA0A8"/>
                </a:solidFill>
                <a:latin typeface="IBM Plex Sans" pitchFamily="34" charset="0"/>
                <a:ea typeface="IBM Plex Sans" pitchFamily="34" charset="-122"/>
                <a:cs typeface="IBM Plex Sans" pitchFamily="34" charset="-120"/>
              </a:rPr>
              <a:t>→</a:t>
            </a:r>
            <a:endParaRPr lang="en-US" sz="2400" dirty="0"/>
          </a:p>
        </p:txBody>
      </p:sp>
      <p:sp>
        <p:nvSpPr>
          <p:cNvPr id="16" name="Shape 14"/>
          <p:cNvSpPr/>
          <p:nvPr/>
        </p:nvSpPr>
        <p:spPr>
          <a:xfrm>
            <a:off x="14766578" y="2428875"/>
            <a:ext cx="2664023" cy="762000"/>
          </a:xfrm>
          <a:prstGeom prst="rect">
            <a:avLst/>
          </a:prstGeom>
          <a:solidFill>
            <a:srgbClr val="191C20"/>
          </a:solidFill>
          <a:ln/>
        </p:spPr>
      </p:sp>
      <p:sp>
        <p:nvSpPr>
          <p:cNvPr id="17" name="Text 15"/>
          <p:cNvSpPr/>
          <p:nvPr/>
        </p:nvSpPr>
        <p:spPr>
          <a:xfrm>
            <a:off x="14974267" y="2657475"/>
            <a:ext cx="2248644"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F2EFE9"/>
                </a:solidFill>
                <a:latin typeface="IBM Plex Mono" pitchFamily="34" charset="0"/>
                <a:ea typeface="IBM Plex Mono" pitchFamily="34" charset="-122"/>
                <a:cs typeface="IBM Plex Mono" pitchFamily="34" charset="-120"/>
              </a:rPr>
              <a:t>ACTIVE</a:t>
            </a:r>
            <a:endParaRPr lang="en-US" sz="1800" dirty="0"/>
          </a:p>
        </p:txBody>
      </p:sp>
      <p:sp>
        <p:nvSpPr>
          <p:cNvPr id="18" name="Shape 16"/>
          <p:cNvSpPr/>
          <p:nvPr/>
        </p:nvSpPr>
        <p:spPr>
          <a:xfrm>
            <a:off x="857250" y="3686175"/>
            <a:ext cx="5410200" cy="1885950"/>
          </a:xfrm>
          <a:prstGeom prst="rect">
            <a:avLst/>
          </a:prstGeom>
          <a:solidFill>
            <a:srgbClr val="FFFFFF"/>
          </a:solidFill>
          <a:ln w="9525">
            <a:solidFill>
              <a:srgbClr val="E0DCD3"/>
            </a:solidFill>
            <a:prstDash val="solid"/>
          </a:ln>
        </p:spPr>
      </p:sp>
      <p:sp>
        <p:nvSpPr>
          <p:cNvPr id="19" name="Text 17"/>
          <p:cNvSpPr/>
          <p:nvPr/>
        </p:nvSpPr>
        <p:spPr>
          <a:xfrm>
            <a:off x="1133475" y="3924300"/>
            <a:ext cx="5020056" cy="1447800"/>
          </a:xfrm>
          <a:prstGeom prst="rect">
            <a:avLst/>
          </a:prstGeom>
          <a:noFill/>
          <a:ln/>
        </p:spPr>
        <p:txBody>
          <a:bodyPr wrap="square" lIns="25400" tIns="25400" rIns="25400" bIns="25400" rtlCol="0" anchor="t">
            <a:normAutofit/>
          </a:bodyPr>
          <a:lstStyle/>
          <a:p>
            <a:pPr algn="l" indent="0" marL="0">
              <a:lnSpc>
                <a:spcPct val="116250"/>
              </a:lnSpc>
              <a:buNone/>
            </a:pPr>
            <a:r>
              <a:rPr lang="en-US" sz="1800" dirty="0">
                <a:solidFill>
                  <a:srgbClr val="3D5A48"/>
                </a:solidFill>
                <a:latin typeface="IBM Plex Mono" pitchFamily="34" charset="0"/>
                <a:ea typeface="IBM Plex Mono" pitchFamily="34" charset="-122"/>
                <a:cs typeface="IBM Plex Mono" pitchFamily="34" charset="-120"/>
              </a:rPr>
              <a:t>CORRECTION </a:t>
            </a:r>
            <a:pPr algn="l" indent="0" marL="0">
              <a:lnSpc>
                <a:spcPct val="116250"/>
              </a:lnSpc>
              <a:buNone/>
            </a:pPr>
            <a:r>
              <a:rPr lang="en-US" sz="1800" dirty="0">
                <a:solidFill>
                  <a:srgbClr val="4D535B"/>
                </a:solidFill>
                <a:latin typeface="IBM Plex Sans" pitchFamily="34" charset="0"/>
                <a:ea typeface="IBM Plex Sans" pitchFamily="34" charset="-122"/>
                <a:cs typeface="IBM Plex Sans" pitchFamily="34" charset="-120"/>
              </a:rPr>
              <a:t>AWAITING_REVIEW → DRAFT (v+1) — a correction creates a new immutable version; the original is never mutated.</a:t>
            </a:r>
            <a:endParaRPr lang="en-US" sz="1800" dirty="0"/>
          </a:p>
        </p:txBody>
      </p:sp>
      <p:sp>
        <p:nvSpPr>
          <p:cNvPr id="20" name="Shape 18"/>
          <p:cNvSpPr/>
          <p:nvPr/>
        </p:nvSpPr>
        <p:spPr>
          <a:xfrm>
            <a:off x="6438900" y="3686175"/>
            <a:ext cx="5410200" cy="1885950"/>
          </a:xfrm>
          <a:prstGeom prst="rect">
            <a:avLst/>
          </a:prstGeom>
          <a:solidFill>
            <a:srgbClr val="FFFFFF"/>
          </a:solidFill>
          <a:ln w="9525">
            <a:solidFill>
              <a:srgbClr val="E0DCD3"/>
            </a:solidFill>
            <a:prstDash val="solid"/>
          </a:ln>
        </p:spPr>
      </p:sp>
      <p:sp>
        <p:nvSpPr>
          <p:cNvPr id="21" name="Text 19"/>
          <p:cNvSpPr/>
          <p:nvPr/>
        </p:nvSpPr>
        <p:spPr>
          <a:xfrm>
            <a:off x="6715125" y="3924300"/>
            <a:ext cx="5020056" cy="1447800"/>
          </a:xfrm>
          <a:prstGeom prst="rect">
            <a:avLst/>
          </a:prstGeom>
          <a:noFill/>
          <a:ln/>
        </p:spPr>
        <p:txBody>
          <a:bodyPr wrap="square" lIns="25400" tIns="25400" rIns="25400" bIns="25400" rtlCol="0" anchor="t">
            <a:normAutofit/>
          </a:bodyPr>
          <a:lstStyle/>
          <a:p>
            <a:pPr algn="l" indent="0" marL="0">
              <a:lnSpc>
                <a:spcPct val="116250"/>
              </a:lnSpc>
              <a:buNone/>
            </a:pPr>
            <a:r>
              <a:rPr lang="en-US" sz="1800" dirty="0">
                <a:solidFill>
                  <a:srgbClr val="A8551F"/>
                </a:solidFill>
                <a:latin typeface="IBM Plex Mono" pitchFamily="34" charset="0"/>
                <a:ea typeface="IBM Plex Mono" pitchFamily="34" charset="-122"/>
                <a:cs typeface="IBM Plex Mono" pitchFamily="34" charset="-120"/>
              </a:rPr>
              <a:t>REJECT / SUPERSEDE </a:t>
            </a:r>
            <a:pPr algn="l" indent="0" marL="0">
              <a:lnSpc>
                <a:spcPct val="116250"/>
              </a:lnSpc>
              <a:buNone/>
            </a:pPr>
            <a:r>
              <a:rPr lang="en-US" sz="1800" dirty="0">
                <a:solidFill>
                  <a:srgbClr val="4D535B"/>
                </a:solidFill>
                <a:latin typeface="IBM Plex Sans" pitchFamily="34" charset="0"/>
                <a:ea typeface="IBM Plex Sans" pitchFamily="34" charset="-122"/>
                <a:cs typeface="IBM Plex Sans" pitchFamily="34" charset="-120"/>
              </a:rPr>
              <a:t>→ REJECTED · SUPERSEDED — retained with full audit, never published.</a:t>
            </a:r>
            <a:endParaRPr lang="en-US" sz="1800" dirty="0"/>
          </a:p>
        </p:txBody>
      </p:sp>
      <p:sp>
        <p:nvSpPr>
          <p:cNvPr id="22" name="Shape 20"/>
          <p:cNvSpPr/>
          <p:nvPr/>
        </p:nvSpPr>
        <p:spPr>
          <a:xfrm>
            <a:off x="12020550" y="3686175"/>
            <a:ext cx="5410200" cy="1885950"/>
          </a:xfrm>
          <a:prstGeom prst="rect">
            <a:avLst/>
          </a:prstGeom>
          <a:solidFill>
            <a:srgbClr val="FFFFFF"/>
          </a:solidFill>
          <a:ln w="9525">
            <a:solidFill>
              <a:srgbClr val="E0DCD3"/>
            </a:solidFill>
            <a:prstDash val="solid"/>
          </a:ln>
        </p:spPr>
      </p:sp>
      <p:sp>
        <p:nvSpPr>
          <p:cNvPr id="23" name="Text 21"/>
          <p:cNvSpPr/>
          <p:nvPr/>
        </p:nvSpPr>
        <p:spPr>
          <a:xfrm>
            <a:off x="12296775" y="3924300"/>
            <a:ext cx="5020056" cy="1447800"/>
          </a:xfrm>
          <a:prstGeom prst="rect">
            <a:avLst/>
          </a:prstGeom>
          <a:noFill/>
          <a:ln/>
        </p:spPr>
        <p:txBody>
          <a:bodyPr wrap="square" lIns="25400" tIns="25400" rIns="25400" bIns="25400" rtlCol="0" anchor="t">
            <a:normAutofit/>
          </a:bodyPr>
          <a:lstStyle/>
          <a:p>
            <a:pPr algn="l" indent="0" marL="0">
              <a:lnSpc>
                <a:spcPct val="116250"/>
              </a:lnSpc>
              <a:buNone/>
            </a:pPr>
            <a:r>
              <a:rPr lang="en-US" sz="1800" dirty="0">
                <a:solidFill>
                  <a:srgbClr val="2F6B80"/>
                </a:solidFill>
                <a:latin typeface="IBM Plex Mono" pitchFamily="34" charset="0"/>
                <a:ea typeface="IBM Plex Mono" pitchFamily="34" charset="-122"/>
                <a:cs typeface="IBM Plex Mono" pitchFamily="34" charset="-120"/>
              </a:rPr>
              <a:t>PUBLISH FAILURE </a:t>
            </a:r>
            <a:pPr algn="l" indent="0" marL="0">
              <a:lnSpc>
                <a:spcPct val="116250"/>
              </a:lnSpc>
              <a:buNone/>
            </a:pPr>
            <a:r>
              <a:rPr lang="en-US" sz="1800" dirty="0">
                <a:solidFill>
                  <a:srgbClr val="4D535B"/>
                </a:solidFill>
                <a:latin typeface="IBM Plex Sans" pitchFamily="34" charset="0"/>
                <a:ea typeface="IBM Plex Sans" pitchFamily="34" charset="-122"/>
                <a:cs typeface="IBM Plex Sans" pitchFamily="34" charset="-120"/>
              </a:rPr>
              <a:t>PUBLISHING → FAILED ⟲ redrive resumes the failed stage; the active pointer never moves on failure.</a:t>
            </a:r>
            <a:endParaRPr lang="en-US" sz="1800" dirty="0"/>
          </a:p>
        </p:txBody>
      </p:sp>
      <p:sp>
        <p:nvSpPr>
          <p:cNvPr id="24" name="Text 22"/>
          <p:cNvSpPr/>
          <p:nvPr/>
        </p:nvSpPr>
        <p:spPr>
          <a:xfrm>
            <a:off x="857250" y="9010650"/>
            <a:ext cx="17070705" cy="6477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MATERIAL PROPOSALS REQUIRE REVIEWER IDENTITY + EXPECTED BASE VERSION · EVERY VERSION, DECISION AND RATIONALE IS RETAINED IMMUTABLY</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762000" y="419100"/>
            <a:ext cx="18440400" cy="361950"/>
          </a:xfrm>
          <a:prstGeom prst="rect">
            <a:avLst/>
          </a:prstGeom>
          <a:noFill/>
          <a:ln/>
        </p:spPr>
        <p:txBody>
          <a:bodyPr wrap="square" lIns="25400" tIns="25400" rIns="25400" bIns="25400" rtlCol="0" anchor="t">
            <a:normAutofit/>
          </a:bodyPr>
          <a:lstStyle/>
          <a:p>
            <a:pPr algn="l" indent="0" marL="0">
              <a:buNone/>
            </a:pPr>
            <a:r>
              <a:rPr lang="en-US" sz="1950" spc="312" kern="0" dirty="0">
                <a:solidFill>
                  <a:srgbClr val="4D535B"/>
                </a:solidFill>
                <a:latin typeface="IBM Plex Mono" pitchFamily="34" charset="0"/>
                <a:ea typeface="IBM Plex Mono" pitchFamily="34" charset="-122"/>
                <a:cs typeface="IBM Plex Mono" pitchFamily="34" charset="-120"/>
              </a:rPr>
              <a:t>12 · SINGLE-WRITER, FENCED · THE TAIL OF EVERY PROPOSING WORKFLOW</a:t>
            </a:r>
            <a:endParaRPr lang="en-US" sz="1950" dirty="0"/>
          </a:p>
        </p:txBody>
      </p:sp>
      <p:sp>
        <p:nvSpPr>
          <p:cNvPr id="3" name="Text 1"/>
          <p:cNvSpPr/>
          <p:nvPr/>
        </p:nvSpPr>
        <p:spPr>
          <a:xfrm>
            <a:off x="762000" y="857250"/>
            <a:ext cx="18440400" cy="771525"/>
          </a:xfrm>
          <a:prstGeom prst="rect">
            <a:avLst/>
          </a:prstGeom>
          <a:noFill/>
          <a:ln/>
        </p:spPr>
        <p:txBody>
          <a:bodyPr wrap="square" lIns="25400" tIns="25400" rIns="25400" bIns="25400" rtlCol="0" anchor="t">
            <a:normAutofit/>
          </a:bodyPr>
          <a:lstStyle/>
          <a:p>
            <a:pPr algn="l" indent="0" marL="0">
              <a:buNone/>
            </a:pPr>
            <a:r>
              <a:rPr lang="en-US" sz="4500" b="1" dirty="0">
                <a:solidFill>
                  <a:srgbClr val="191C20"/>
                </a:solidFill>
                <a:latin typeface="IBM Plex Sans" pitchFamily="34" charset="0"/>
                <a:ea typeface="IBM Plex Sans" pitchFamily="34" charset="-122"/>
                <a:cs typeface="IBM Plex Sans" pitchFamily="34" charset="-120"/>
              </a:rPr>
              <a:t>Fenced Publication Protocol</a:t>
            </a:r>
            <a:endParaRPr lang="en-US" sz="4500" dirty="0"/>
          </a:p>
        </p:txBody>
      </p:sp>
      <p:sp>
        <p:nvSpPr>
          <p:cNvPr id="4" name="Shape 2"/>
          <p:cNvSpPr/>
          <p:nvPr/>
        </p:nvSpPr>
        <p:spPr>
          <a:xfrm>
            <a:off x="762000" y="1876425"/>
            <a:ext cx="3093690" cy="2171700"/>
          </a:xfrm>
          <a:prstGeom prst="rect">
            <a:avLst/>
          </a:prstGeom>
          <a:solidFill>
            <a:srgbClr val="FFFFFF"/>
          </a:solidFill>
          <a:ln w="9525">
            <a:solidFill>
              <a:srgbClr val="E0DCD3"/>
            </a:solidFill>
            <a:prstDash val="solid"/>
          </a:ln>
        </p:spPr>
      </p:sp>
      <p:pic>
        <p:nvPicPr>
          <p:cNvPr id="5" name="Image 0" descr="preencoded.png">    </p:cNvPr>
          <p:cNvPicPr>
            <a:picLocks noChangeAspect="1"/>
          </p:cNvPicPr>
          <p:nvPr/>
        </p:nvPicPr>
        <p:blipFill>
          <a:blip r:embed="rId1"/>
          <a:stretch>
            <a:fillRect/>
          </a:stretch>
        </p:blipFill>
        <p:spPr>
          <a:xfrm>
            <a:off x="942975" y="2038350"/>
            <a:ext cx="361950" cy="361950"/>
          </a:xfrm>
          <a:prstGeom prst="rect">
            <a:avLst/>
          </a:prstGeom>
        </p:spPr>
      </p:pic>
      <p:sp>
        <p:nvSpPr>
          <p:cNvPr id="6" name="Text 3"/>
          <p:cNvSpPr/>
          <p:nvPr/>
        </p:nvSpPr>
        <p:spPr>
          <a:xfrm>
            <a:off x="1400175" y="2066925"/>
            <a:ext cx="2134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A8551F"/>
                </a:solidFill>
                <a:latin typeface="IBM Plex Mono" pitchFamily="34" charset="0"/>
                <a:ea typeface="IBM Plex Mono" pitchFamily="34" charset="-122"/>
                <a:cs typeface="IBM Plex Mono" pitchFamily="34" charset="-120"/>
              </a:rPr>
              <a:t>1</a:t>
            </a:r>
            <a:endParaRPr lang="en-US" sz="1800" dirty="0"/>
          </a:p>
        </p:txBody>
      </p:sp>
      <p:sp>
        <p:nvSpPr>
          <p:cNvPr id="7" name="Text 4"/>
          <p:cNvSpPr/>
          <p:nvPr/>
        </p:nvSpPr>
        <p:spPr>
          <a:xfrm>
            <a:off x="942975" y="2476500"/>
            <a:ext cx="3004914" cy="323850"/>
          </a:xfrm>
          <a:prstGeom prst="rect">
            <a:avLst/>
          </a:prstGeom>
          <a:noFill/>
          <a:ln/>
        </p:spPr>
        <p:txBody>
          <a:bodyPr wrap="square" lIns="25400" tIns="25400" rIns="25400" bIns="25400" rtlCol="0" anchor="t">
            <a:normAutofit/>
          </a:bodyPr>
          <a:lstStyle/>
          <a:p>
            <a:pPr algn="l" indent="0" marL="0">
              <a:lnSpc>
                <a:spcPct val="93750"/>
              </a:lnSpc>
              <a:buNone/>
            </a:pPr>
            <a:r>
              <a:rPr lang="en-US" sz="1800" b="1" dirty="0">
                <a:solidFill>
                  <a:srgbClr val="191C20"/>
                </a:solidFill>
                <a:latin typeface="IBM Plex Sans" pitchFamily="34" charset="0"/>
                <a:ea typeface="IBM Plex Sans" pitchFamily="34" charset="-122"/>
                <a:cs typeface="IBM Plex Sans" pitchFamily="34" charset="-120"/>
              </a:rPr>
              <a:t>Write manifest</a:t>
            </a:r>
            <a:endParaRPr lang="en-US" sz="1800" dirty="0"/>
          </a:p>
        </p:txBody>
      </p:sp>
      <p:sp>
        <p:nvSpPr>
          <p:cNvPr id="8" name="Text 5"/>
          <p:cNvSpPr/>
          <p:nvPr/>
        </p:nvSpPr>
        <p:spPr>
          <a:xfrm>
            <a:off x="942975" y="2838450"/>
            <a:ext cx="2813692" cy="533400"/>
          </a:xfrm>
          <a:prstGeom prst="rect">
            <a:avLst/>
          </a:prstGeom>
          <a:noFill/>
          <a:ln/>
        </p:spPr>
        <p:txBody>
          <a:bodyPr wrap="square" lIns="25400" tIns="25400" rIns="25400" bIns="25400" rtlCol="0" anchor="t">
            <a:normAutofit/>
          </a:bodyPr>
          <a:lstStyle/>
          <a:p>
            <a:pPr algn="l" indent="0" marL="0">
              <a:lnSpc>
                <a:spcPct val="110833"/>
              </a:lnSpc>
              <a:buNone/>
            </a:pPr>
            <a:r>
              <a:rPr lang="en-US" sz="1425" dirty="0">
                <a:solidFill>
                  <a:srgbClr val="4D535B"/>
                </a:solidFill>
                <a:latin typeface="IBM Plex Sans" pitchFamily="34" charset="0"/>
                <a:ea typeface="IBM Plex Sans" pitchFamily="34" charset="-122"/>
                <a:cs typeface="IBM Plex Sans" pitchFamily="34" charset="-120"/>
              </a:rPr>
              <a:t>the approved node + edge list → S3, Object Lock — immutable</a:t>
            </a:r>
            <a:endParaRPr lang="en-US" sz="1425" dirty="0"/>
          </a:p>
        </p:txBody>
      </p:sp>
      <p:sp>
        <p:nvSpPr>
          <p:cNvPr id="9" name="Text 6"/>
          <p:cNvSpPr/>
          <p:nvPr/>
        </p:nvSpPr>
        <p:spPr>
          <a:xfrm>
            <a:off x="3817590" y="1876425"/>
            <a:ext cx="400050" cy="2209800"/>
          </a:xfrm>
          <a:prstGeom prst="rect">
            <a:avLst/>
          </a:prstGeom>
          <a:noFill/>
          <a:ln/>
        </p:spPr>
        <p:txBody>
          <a:bodyPr wrap="square" lIns="25400" tIns="25400" rIns="25400" bIns="25400" rtlCol="0" anchor="ctr">
            <a:normAutofit/>
          </a:bodyPr>
          <a:lstStyle/>
          <a:p>
            <a:pPr algn="ctr" indent="0" marL="0">
              <a:buNone/>
            </a:pPr>
            <a:r>
              <a:rPr lang="en-US" sz="2250" dirty="0">
                <a:solidFill>
                  <a:srgbClr val="9AA0A8"/>
                </a:solidFill>
                <a:latin typeface="IBM Plex Sans" pitchFamily="34" charset="0"/>
                <a:ea typeface="IBM Plex Sans" pitchFamily="34" charset="-122"/>
                <a:cs typeface="IBM Plex Sans" pitchFamily="34" charset="-120"/>
              </a:rPr>
              <a:t>→</a:t>
            </a:r>
            <a:endParaRPr lang="en-US" sz="2250" dirty="0"/>
          </a:p>
        </p:txBody>
      </p:sp>
      <p:sp>
        <p:nvSpPr>
          <p:cNvPr id="10" name="Shape 7"/>
          <p:cNvSpPr/>
          <p:nvPr/>
        </p:nvSpPr>
        <p:spPr>
          <a:xfrm>
            <a:off x="4179540" y="1876425"/>
            <a:ext cx="3093690" cy="2171700"/>
          </a:xfrm>
          <a:prstGeom prst="rect">
            <a:avLst/>
          </a:prstGeom>
          <a:solidFill>
            <a:srgbClr val="FFFFFF"/>
          </a:solidFill>
          <a:ln w="9525">
            <a:solidFill>
              <a:srgbClr val="E0DCD3"/>
            </a:solidFill>
            <a:prstDash val="solid"/>
          </a:ln>
        </p:spPr>
      </p:sp>
      <p:pic>
        <p:nvPicPr>
          <p:cNvPr id="11" name="Image 1" descr="preencoded.png">    </p:cNvPr>
          <p:cNvPicPr>
            <a:picLocks noChangeAspect="1"/>
          </p:cNvPicPr>
          <p:nvPr/>
        </p:nvPicPr>
        <p:blipFill>
          <a:blip r:embed="rId2"/>
          <a:stretch>
            <a:fillRect/>
          </a:stretch>
        </p:blipFill>
        <p:spPr>
          <a:xfrm>
            <a:off x="4360515" y="2038350"/>
            <a:ext cx="361950" cy="361950"/>
          </a:xfrm>
          <a:prstGeom prst="rect">
            <a:avLst/>
          </a:prstGeom>
        </p:spPr>
      </p:pic>
      <p:sp>
        <p:nvSpPr>
          <p:cNvPr id="12" name="Text 8"/>
          <p:cNvSpPr/>
          <p:nvPr/>
        </p:nvSpPr>
        <p:spPr>
          <a:xfrm>
            <a:off x="4817715" y="2066925"/>
            <a:ext cx="2134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A8551F"/>
                </a:solidFill>
                <a:latin typeface="IBM Plex Mono" pitchFamily="34" charset="0"/>
                <a:ea typeface="IBM Plex Mono" pitchFamily="34" charset="-122"/>
                <a:cs typeface="IBM Plex Mono" pitchFamily="34" charset="-120"/>
              </a:rPr>
              <a:t>2</a:t>
            </a:r>
            <a:endParaRPr lang="en-US" sz="1800" dirty="0"/>
          </a:p>
        </p:txBody>
      </p:sp>
      <p:sp>
        <p:nvSpPr>
          <p:cNvPr id="13" name="Text 9"/>
          <p:cNvSpPr/>
          <p:nvPr/>
        </p:nvSpPr>
        <p:spPr>
          <a:xfrm>
            <a:off x="4360515" y="2476500"/>
            <a:ext cx="3004914" cy="323850"/>
          </a:xfrm>
          <a:prstGeom prst="rect">
            <a:avLst/>
          </a:prstGeom>
          <a:noFill/>
          <a:ln/>
        </p:spPr>
        <p:txBody>
          <a:bodyPr wrap="square" lIns="25400" tIns="25400" rIns="25400" bIns="25400" rtlCol="0" anchor="t">
            <a:normAutofit/>
          </a:bodyPr>
          <a:lstStyle/>
          <a:p>
            <a:pPr algn="l" indent="0" marL="0">
              <a:lnSpc>
                <a:spcPct val="93750"/>
              </a:lnSpc>
              <a:buNone/>
            </a:pPr>
            <a:r>
              <a:rPr lang="en-US" sz="1800" b="1" dirty="0">
                <a:solidFill>
                  <a:srgbClr val="191C20"/>
                </a:solidFill>
                <a:latin typeface="IBM Plex Sans" pitchFamily="34" charset="0"/>
                <a:ea typeface="IBM Plex Sans" pitchFamily="34" charset="-122"/>
                <a:cs typeface="IBM Plex Sans" pitchFamily="34" charset="-120"/>
              </a:rPr>
              <a:t>Reserve + fence</a:t>
            </a:r>
            <a:endParaRPr lang="en-US" sz="1800" dirty="0"/>
          </a:p>
        </p:txBody>
      </p:sp>
      <p:sp>
        <p:nvSpPr>
          <p:cNvPr id="14" name="Text 10"/>
          <p:cNvSpPr/>
          <p:nvPr/>
        </p:nvSpPr>
        <p:spPr>
          <a:xfrm>
            <a:off x="4360515" y="2838450"/>
            <a:ext cx="2813692" cy="781050"/>
          </a:xfrm>
          <a:prstGeom prst="rect">
            <a:avLst/>
          </a:prstGeom>
          <a:noFill/>
          <a:ln/>
        </p:spPr>
        <p:txBody>
          <a:bodyPr wrap="square" lIns="25400" tIns="25400" rIns="25400" bIns="25400" rtlCol="0" anchor="t">
            <a:normAutofit/>
          </a:bodyPr>
          <a:lstStyle/>
          <a:p>
            <a:pPr algn="l" indent="0" marL="0">
              <a:lnSpc>
                <a:spcPct val="110833"/>
              </a:lnSpc>
              <a:buNone/>
            </a:pPr>
            <a:r>
              <a:rPr lang="en-US" sz="1425" dirty="0">
                <a:solidFill>
                  <a:srgbClr val="4D535B"/>
                </a:solidFill>
                <a:latin typeface="IBM Plex Sans" pitchFamily="34" charset="0"/>
                <a:ea typeface="IBM Plex Sans" pitchFamily="34" charset="-122"/>
                <a:cs typeface="IBM Plex Sans" pitchFamily="34" charset="-120"/>
              </a:rPr>
              <a:t>app-scoped reservation on the expected active version → lease + fencing token</a:t>
            </a:r>
            <a:endParaRPr lang="en-US" sz="1425" dirty="0"/>
          </a:p>
        </p:txBody>
      </p:sp>
      <p:sp>
        <p:nvSpPr>
          <p:cNvPr id="15" name="Text 11"/>
          <p:cNvSpPr/>
          <p:nvPr/>
        </p:nvSpPr>
        <p:spPr>
          <a:xfrm>
            <a:off x="7235130" y="1876425"/>
            <a:ext cx="400050" cy="2209800"/>
          </a:xfrm>
          <a:prstGeom prst="rect">
            <a:avLst/>
          </a:prstGeom>
          <a:noFill/>
          <a:ln/>
        </p:spPr>
        <p:txBody>
          <a:bodyPr wrap="square" lIns="25400" tIns="25400" rIns="25400" bIns="25400" rtlCol="0" anchor="ctr">
            <a:normAutofit/>
          </a:bodyPr>
          <a:lstStyle/>
          <a:p>
            <a:pPr algn="ctr" indent="0" marL="0">
              <a:buNone/>
            </a:pPr>
            <a:r>
              <a:rPr lang="en-US" sz="2250" dirty="0">
                <a:solidFill>
                  <a:srgbClr val="9AA0A8"/>
                </a:solidFill>
                <a:latin typeface="IBM Plex Sans" pitchFamily="34" charset="0"/>
                <a:ea typeface="IBM Plex Sans" pitchFamily="34" charset="-122"/>
                <a:cs typeface="IBM Plex Sans" pitchFamily="34" charset="-120"/>
              </a:rPr>
              <a:t>→</a:t>
            </a:r>
            <a:endParaRPr lang="en-US" sz="2250" dirty="0"/>
          </a:p>
        </p:txBody>
      </p:sp>
      <p:sp>
        <p:nvSpPr>
          <p:cNvPr id="16" name="Shape 12"/>
          <p:cNvSpPr/>
          <p:nvPr/>
        </p:nvSpPr>
        <p:spPr>
          <a:xfrm>
            <a:off x="7597080" y="1876425"/>
            <a:ext cx="3112740" cy="2171700"/>
          </a:xfrm>
          <a:prstGeom prst="rect">
            <a:avLst/>
          </a:prstGeom>
          <a:solidFill>
            <a:srgbClr val="FFFFFF"/>
          </a:solidFill>
          <a:ln w="19050">
            <a:solidFill>
              <a:srgbClr val="A8551F"/>
            </a:solidFill>
            <a:prstDash val="solid"/>
          </a:ln>
        </p:spPr>
      </p:sp>
      <p:pic>
        <p:nvPicPr>
          <p:cNvPr id="17" name="Image 2" descr="preencoded.png">    </p:cNvPr>
          <p:cNvPicPr>
            <a:picLocks noChangeAspect="1"/>
          </p:cNvPicPr>
          <p:nvPr/>
        </p:nvPicPr>
        <p:blipFill>
          <a:blip r:embed="rId3"/>
          <a:stretch>
            <a:fillRect/>
          </a:stretch>
        </p:blipFill>
        <p:spPr>
          <a:xfrm>
            <a:off x="7787580" y="2047875"/>
            <a:ext cx="361950" cy="361950"/>
          </a:xfrm>
          <a:prstGeom prst="rect">
            <a:avLst/>
          </a:prstGeom>
        </p:spPr>
      </p:pic>
      <p:sp>
        <p:nvSpPr>
          <p:cNvPr id="18" name="Text 13"/>
          <p:cNvSpPr/>
          <p:nvPr/>
        </p:nvSpPr>
        <p:spPr>
          <a:xfrm>
            <a:off x="8244780" y="2076450"/>
            <a:ext cx="2134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A8551F"/>
                </a:solidFill>
                <a:latin typeface="IBM Plex Mono" pitchFamily="34" charset="0"/>
                <a:ea typeface="IBM Plex Mono" pitchFamily="34" charset="-122"/>
                <a:cs typeface="IBM Plex Mono" pitchFamily="34" charset="-120"/>
              </a:rPr>
              <a:t>3</a:t>
            </a:r>
            <a:endParaRPr lang="en-US" sz="1800" dirty="0"/>
          </a:p>
        </p:txBody>
      </p:sp>
      <p:sp>
        <p:nvSpPr>
          <p:cNvPr id="19" name="Text 14"/>
          <p:cNvSpPr/>
          <p:nvPr/>
        </p:nvSpPr>
        <p:spPr>
          <a:xfrm>
            <a:off x="7787580" y="2486025"/>
            <a:ext cx="2813692" cy="609600"/>
          </a:xfrm>
          <a:prstGeom prst="rect">
            <a:avLst/>
          </a:prstGeom>
          <a:noFill/>
          <a:ln/>
        </p:spPr>
        <p:txBody>
          <a:bodyPr wrap="square" lIns="25400" tIns="25400" rIns="25400" bIns="25400" rtlCol="0" anchor="t">
            <a:normAutofit/>
          </a:bodyPr>
          <a:lstStyle/>
          <a:p>
            <a:pPr algn="l" indent="0" marL="0">
              <a:lnSpc>
                <a:spcPct val="93750"/>
              </a:lnSpc>
              <a:buNone/>
            </a:pPr>
            <a:r>
              <a:rPr lang="en-US" sz="1800" b="1" dirty="0">
                <a:solidFill>
                  <a:srgbClr val="191C20"/>
                </a:solidFill>
                <a:latin typeface="IBM Plex Sans" pitchFamily="34" charset="0"/>
                <a:ea typeface="IBM Plex Sans" pitchFamily="34" charset="-122"/>
                <a:cs typeface="IBM Plex Sans" pitchFamily="34" charset="-120"/>
              </a:rPr>
              <a:t>Stage inactive namespace</a:t>
            </a:r>
            <a:endParaRPr lang="en-US" sz="1800" dirty="0"/>
          </a:p>
        </p:txBody>
      </p:sp>
      <p:sp>
        <p:nvSpPr>
          <p:cNvPr id="20" name="Text 15"/>
          <p:cNvSpPr/>
          <p:nvPr/>
        </p:nvSpPr>
        <p:spPr>
          <a:xfrm>
            <a:off x="7787580" y="3133725"/>
            <a:ext cx="2813692" cy="781050"/>
          </a:xfrm>
          <a:prstGeom prst="rect">
            <a:avLst/>
          </a:prstGeom>
          <a:noFill/>
          <a:ln/>
        </p:spPr>
        <p:txBody>
          <a:bodyPr wrap="square" lIns="25400" tIns="25400" rIns="25400" bIns="25400" rtlCol="0" anchor="t">
            <a:normAutofit/>
          </a:bodyPr>
          <a:lstStyle/>
          <a:p>
            <a:pPr algn="l" indent="0" marL="0">
              <a:lnSpc>
                <a:spcPct val="110833"/>
              </a:lnSpc>
              <a:buNone/>
            </a:pPr>
            <a:r>
              <a:rPr lang="en-US" sz="1425" dirty="0">
                <a:solidFill>
                  <a:srgbClr val="4D535B"/>
                </a:solidFill>
                <a:latin typeface="IBM Plex Sans" pitchFamily="34" charset="0"/>
                <a:ea typeface="IBM Plex Sans" pitchFamily="34" charset="-122"/>
                <a:cs typeface="IBM Plex Sans" pitchFamily="34" charset="-120"/>
              </a:rPr>
              <a:t>build the new graph version beside the live one — never mutate the active</a:t>
            </a:r>
            <a:endParaRPr lang="en-US" sz="1425" dirty="0"/>
          </a:p>
        </p:txBody>
      </p:sp>
      <p:sp>
        <p:nvSpPr>
          <p:cNvPr id="21" name="Text 16"/>
          <p:cNvSpPr/>
          <p:nvPr/>
        </p:nvSpPr>
        <p:spPr>
          <a:xfrm>
            <a:off x="10671721" y="1876425"/>
            <a:ext cx="400050" cy="2209800"/>
          </a:xfrm>
          <a:prstGeom prst="rect">
            <a:avLst/>
          </a:prstGeom>
          <a:noFill/>
          <a:ln/>
        </p:spPr>
        <p:txBody>
          <a:bodyPr wrap="square" lIns="25400" tIns="25400" rIns="25400" bIns="25400" rtlCol="0" anchor="ctr">
            <a:normAutofit/>
          </a:bodyPr>
          <a:lstStyle/>
          <a:p>
            <a:pPr algn="ctr" indent="0" marL="0">
              <a:buNone/>
            </a:pPr>
            <a:r>
              <a:rPr lang="en-US" sz="2250" dirty="0">
                <a:solidFill>
                  <a:srgbClr val="9AA0A8"/>
                </a:solidFill>
                <a:latin typeface="IBM Plex Sans" pitchFamily="34" charset="0"/>
                <a:ea typeface="IBM Plex Sans" pitchFamily="34" charset="-122"/>
                <a:cs typeface="IBM Plex Sans" pitchFamily="34" charset="-120"/>
              </a:rPr>
              <a:t>→</a:t>
            </a:r>
            <a:endParaRPr lang="en-US" sz="2250" dirty="0"/>
          </a:p>
        </p:txBody>
      </p:sp>
      <p:sp>
        <p:nvSpPr>
          <p:cNvPr id="22" name="Shape 17"/>
          <p:cNvSpPr/>
          <p:nvPr/>
        </p:nvSpPr>
        <p:spPr>
          <a:xfrm>
            <a:off x="11033671" y="1876425"/>
            <a:ext cx="3093690" cy="2171700"/>
          </a:xfrm>
          <a:prstGeom prst="rect">
            <a:avLst/>
          </a:prstGeom>
          <a:solidFill>
            <a:srgbClr val="FFFFFF"/>
          </a:solidFill>
          <a:ln w="9525">
            <a:solidFill>
              <a:srgbClr val="E0DCD3"/>
            </a:solidFill>
            <a:prstDash val="solid"/>
          </a:ln>
        </p:spPr>
      </p:sp>
      <p:pic>
        <p:nvPicPr>
          <p:cNvPr id="23" name="Image 3" descr="preencoded.png">    </p:cNvPr>
          <p:cNvPicPr>
            <a:picLocks noChangeAspect="1"/>
          </p:cNvPicPr>
          <p:nvPr/>
        </p:nvPicPr>
        <p:blipFill>
          <a:blip r:embed="rId4"/>
          <a:stretch>
            <a:fillRect/>
          </a:stretch>
        </p:blipFill>
        <p:spPr>
          <a:xfrm>
            <a:off x="11214646" y="2038350"/>
            <a:ext cx="361950" cy="361950"/>
          </a:xfrm>
          <a:prstGeom prst="rect">
            <a:avLst/>
          </a:prstGeom>
        </p:spPr>
      </p:pic>
      <p:sp>
        <p:nvSpPr>
          <p:cNvPr id="24" name="Text 18"/>
          <p:cNvSpPr/>
          <p:nvPr/>
        </p:nvSpPr>
        <p:spPr>
          <a:xfrm>
            <a:off x="11671846" y="2066925"/>
            <a:ext cx="2134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A8551F"/>
                </a:solidFill>
                <a:latin typeface="IBM Plex Mono" pitchFamily="34" charset="0"/>
                <a:ea typeface="IBM Plex Mono" pitchFamily="34" charset="-122"/>
                <a:cs typeface="IBM Plex Mono" pitchFamily="34" charset="-120"/>
              </a:rPr>
              <a:t>4</a:t>
            </a:r>
            <a:endParaRPr lang="en-US" sz="1800" dirty="0"/>
          </a:p>
        </p:txBody>
      </p:sp>
      <p:sp>
        <p:nvSpPr>
          <p:cNvPr id="25" name="Text 19"/>
          <p:cNvSpPr/>
          <p:nvPr/>
        </p:nvSpPr>
        <p:spPr>
          <a:xfrm>
            <a:off x="11214646" y="2476500"/>
            <a:ext cx="3004914" cy="323850"/>
          </a:xfrm>
          <a:prstGeom prst="rect">
            <a:avLst/>
          </a:prstGeom>
          <a:noFill/>
          <a:ln/>
        </p:spPr>
        <p:txBody>
          <a:bodyPr wrap="square" lIns="25400" tIns="25400" rIns="25400" bIns="25400" rtlCol="0" anchor="t">
            <a:normAutofit/>
          </a:bodyPr>
          <a:lstStyle/>
          <a:p>
            <a:pPr algn="l" indent="0" marL="0">
              <a:lnSpc>
                <a:spcPct val="93750"/>
              </a:lnSpc>
              <a:buNone/>
            </a:pPr>
            <a:r>
              <a:rPr lang="en-US" sz="1800" b="1" dirty="0">
                <a:solidFill>
                  <a:srgbClr val="191C20"/>
                </a:solidFill>
                <a:latin typeface="IBM Plex Sans" pitchFamily="34" charset="0"/>
                <a:ea typeface="IBM Plex Sans" pitchFamily="34" charset="-122"/>
                <a:cs typeface="IBM Plex Sans" pitchFamily="34" charset="-120"/>
              </a:rPr>
              <a:t>Verify</a:t>
            </a:r>
            <a:endParaRPr lang="en-US" sz="1800" dirty="0"/>
          </a:p>
        </p:txBody>
      </p:sp>
      <p:sp>
        <p:nvSpPr>
          <p:cNvPr id="26" name="Text 20"/>
          <p:cNvSpPr/>
          <p:nvPr/>
        </p:nvSpPr>
        <p:spPr>
          <a:xfrm>
            <a:off x="11214646" y="2838450"/>
            <a:ext cx="2813692" cy="533400"/>
          </a:xfrm>
          <a:prstGeom prst="rect">
            <a:avLst/>
          </a:prstGeom>
          <a:noFill/>
          <a:ln/>
        </p:spPr>
        <p:txBody>
          <a:bodyPr wrap="square" lIns="25400" tIns="25400" rIns="25400" bIns="25400" rtlCol="0" anchor="t">
            <a:normAutofit/>
          </a:bodyPr>
          <a:lstStyle/>
          <a:p>
            <a:pPr algn="l" indent="0" marL="0">
              <a:lnSpc>
                <a:spcPct val="110833"/>
              </a:lnSpc>
              <a:buNone/>
            </a:pPr>
            <a:r>
              <a:rPr lang="en-US" sz="1425" dirty="0">
                <a:solidFill>
                  <a:srgbClr val="4D535B"/>
                </a:solidFill>
                <a:latin typeface="IBM Plex Sans" pitchFamily="34" charset="0"/>
                <a:ea typeface="IBM Plex Sans" pitchFamily="34" charset="-122"/>
                <a:cs typeface="IBM Plex Sans" pitchFamily="34" charset="-120"/>
              </a:rPr>
              <a:t>expected prior version · target counts · checksums</a:t>
            </a:r>
            <a:endParaRPr lang="en-US" sz="1425" dirty="0"/>
          </a:p>
        </p:txBody>
      </p:sp>
      <p:sp>
        <p:nvSpPr>
          <p:cNvPr id="27" name="Text 21"/>
          <p:cNvSpPr/>
          <p:nvPr/>
        </p:nvSpPr>
        <p:spPr>
          <a:xfrm>
            <a:off x="14089261" y="1876425"/>
            <a:ext cx="400050" cy="2209800"/>
          </a:xfrm>
          <a:prstGeom prst="rect">
            <a:avLst/>
          </a:prstGeom>
          <a:noFill/>
          <a:ln/>
        </p:spPr>
        <p:txBody>
          <a:bodyPr wrap="square" lIns="25400" tIns="25400" rIns="25400" bIns="25400" rtlCol="0" anchor="ctr">
            <a:normAutofit/>
          </a:bodyPr>
          <a:lstStyle/>
          <a:p>
            <a:pPr algn="ctr" indent="0" marL="0">
              <a:buNone/>
            </a:pPr>
            <a:r>
              <a:rPr lang="en-US" sz="2250" dirty="0">
                <a:solidFill>
                  <a:srgbClr val="9AA0A8"/>
                </a:solidFill>
                <a:latin typeface="IBM Plex Sans" pitchFamily="34" charset="0"/>
                <a:ea typeface="IBM Plex Sans" pitchFamily="34" charset="-122"/>
                <a:cs typeface="IBM Plex Sans" pitchFamily="34" charset="-120"/>
              </a:rPr>
              <a:t>→</a:t>
            </a:r>
            <a:endParaRPr lang="en-US" sz="2250" dirty="0"/>
          </a:p>
        </p:txBody>
      </p:sp>
      <p:sp>
        <p:nvSpPr>
          <p:cNvPr id="28" name="Shape 22"/>
          <p:cNvSpPr/>
          <p:nvPr/>
        </p:nvSpPr>
        <p:spPr>
          <a:xfrm>
            <a:off x="14451211" y="1876425"/>
            <a:ext cx="3074640" cy="2171700"/>
          </a:xfrm>
          <a:prstGeom prst="rect">
            <a:avLst/>
          </a:prstGeom>
          <a:solidFill>
            <a:srgbClr val="191C20"/>
          </a:solidFill>
          <a:ln/>
        </p:spPr>
      </p:sp>
      <p:pic>
        <p:nvPicPr>
          <p:cNvPr id="29" name="Image 4" descr="preencoded.png">    </p:cNvPr>
          <p:cNvPicPr>
            <a:picLocks noChangeAspect="1"/>
          </p:cNvPicPr>
          <p:nvPr/>
        </p:nvPicPr>
        <p:blipFill>
          <a:blip r:embed="rId5"/>
          <a:stretch>
            <a:fillRect/>
          </a:stretch>
        </p:blipFill>
        <p:spPr>
          <a:xfrm>
            <a:off x="14622661" y="2028825"/>
            <a:ext cx="361950" cy="361950"/>
          </a:xfrm>
          <a:prstGeom prst="rect">
            <a:avLst/>
          </a:prstGeom>
        </p:spPr>
      </p:pic>
      <p:sp>
        <p:nvSpPr>
          <p:cNvPr id="30" name="Text 23"/>
          <p:cNvSpPr/>
          <p:nvPr/>
        </p:nvSpPr>
        <p:spPr>
          <a:xfrm>
            <a:off x="15079861" y="2057400"/>
            <a:ext cx="2134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FB3BF"/>
                </a:solidFill>
                <a:latin typeface="IBM Plex Mono" pitchFamily="34" charset="0"/>
                <a:ea typeface="IBM Plex Mono" pitchFamily="34" charset="-122"/>
                <a:cs typeface="IBM Plex Mono" pitchFamily="34" charset="-120"/>
              </a:rPr>
              <a:t>5</a:t>
            </a:r>
            <a:endParaRPr lang="en-US" sz="1800" dirty="0"/>
          </a:p>
        </p:txBody>
      </p:sp>
      <p:sp>
        <p:nvSpPr>
          <p:cNvPr id="31" name="Text 24"/>
          <p:cNvSpPr/>
          <p:nvPr/>
        </p:nvSpPr>
        <p:spPr>
          <a:xfrm>
            <a:off x="14622661" y="2466975"/>
            <a:ext cx="3004914" cy="323850"/>
          </a:xfrm>
          <a:prstGeom prst="rect">
            <a:avLst/>
          </a:prstGeom>
          <a:noFill/>
          <a:ln/>
        </p:spPr>
        <p:txBody>
          <a:bodyPr wrap="square" lIns="25400" tIns="25400" rIns="25400" bIns="25400" rtlCol="0" anchor="t">
            <a:normAutofit/>
          </a:bodyPr>
          <a:lstStyle/>
          <a:p>
            <a:pPr algn="l" indent="0" marL="0">
              <a:lnSpc>
                <a:spcPct val="93750"/>
              </a:lnSpc>
              <a:buNone/>
            </a:pPr>
            <a:r>
              <a:rPr lang="en-US" sz="1800" b="1" dirty="0">
                <a:solidFill>
                  <a:srgbClr val="F2EFE9"/>
                </a:solidFill>
                <a:latin typeface="IBM Plex Sans" pitchFamily="34" charset="0"/>
                <a:ea typeface="IBM Plex Sans" pitchFamily="34" charset="-122"/>
                <a:cs typeface="IBM Plex Sans" pitchFamily="34" charset="-120"/>
              </a:rPr>
              <a:t>Fenced pointer flip</a:t>
            </a:r>
            <a:endParaRPr lang="en-US" sz="1800" dirty="0"/>
          </a:p>
        </p:txBody>
      </p:sp>
      <p:sp>
        <p:nvSpPr>
          <p:cNvPr id="32" name="Text 25"/>
          <p:cNvSpPr/>
          <p:nvPr/>
        </p:nvSpPr>
        <p:spPr>
          <a:xfrm>
            <a:off x="14622661" y="2828925"/>
            <a:ext cx="2813692" cy="1028700"/>
          </a:xfrm>
          <a:prstGeom prst="rect">
            <a:avLst/>
          </a:prstGeom>
          <a:noFill/>
          <a:ln/>
        </p:spPr>
        <p:txBody>
          <a:bodyPr wrap="square" lIns="25400" tIns="25400" rIns="25400" bIns="25400" rtlCol="0" anchor="t">
            <a:normAutofit/>
          </a:bodyPr>
          <a:lstStyle/>
          <a:p>
            <a:pPr algn="l" indent="0" marL="0">
              <a:lnSpc>
                <a:spcPct val="110833"/>
              </a:lnSpc>
              <a:buNone/>
            </a:pPr>
            <a:r>
              <a:rPr lang="en-US" sz="1425" dirty="0">
                <a:solidFill>
                  <a:srgbClr val="B8BDC4"/>
                </a:solidFill>
                <a:latin typeface="IBM Plex Sans" pitchFamily="34" charset="0"/>
                <a:ea typeface="IBM Plex Sans" pitchFamily="34" charset="-122"/>
                <a:cs typeface="IBM Plex Sans" pitchFamily="34" charset="-120"/>
              </a:rPr>
              <a:t>one transaction on the live token → version ACTIVE · audit + release · Phase 1: OpenSearch refresh</a:t>
            </a:r>
            <a:endParaRPr lang="en-US" sz="1425" dirty="0"/>
          </a:p>
        </p:txBody>
      </p:sp>
      <p:sp>
        <p:nvSpPr>
          <p:cNvPr id="33" name="Shape 26"/>
          <p:cNvSpPr/>
          <p:nvPr/>
        </p:nvSpPr>
        <p:spPr>
          <a:xfrm>
            <a:off x="762000" y="4257675"/>
            <a:ext cx="16764000" cy="1400175"/>
          </a:xfrm>
          <a:prstGeom prst="rect">
            <a:avLst/>
          </a:prstGeom>
          <a:solidFill>
            <a:srgbClr val="191C20"/>
          </a:solidFill>
          <a:ln/>
        </p:spPr>
      </p:sp>
      <p:sp>
        <p:nvSpPr>
          <p:cNvPr id="34" name="Text 27"/>
          <p:cNvSpPr/>
          <p:nvPr/>
        </p:nvSpPr>
        <p:spPr>
          <a:xfrm>
            <a:off x="1009650" y="4429125"/>
            <a:ext cx="16771620" cy="1095375"/>
          </a:xfrm>
          <a:prstGeom prst="rect">
            <a:avLst/>
          </a:prstGeom>
          <a:noFill/>
          <a:ln/>
        </p:spPr>
        <p:txBody>
          <a:bodyPr wrap="square" lIns="25400" tIns="25400" rIns="25400" bIns="25400" rtlCol="0" anchor="t">
            <a:normAutofit/>
          </a:bodyPr>
          <a:lstStyle/>
          <a:p>
            <a:pPr algn="l" indent="0" marL="0">
              <a:lnSpc>
                <a:spcPct val="116250"/>
              </a:lnSpc>
              <a:buNone/>
            </a:pPr>
            <a:r>
              <a:rPr lang="en-US" sz="1800" dirty="0">
                <a:solidFill>
                  <a:srgbClr val="8FB3BF"/>
                </a:solidFill>
                <a:latin typeface="IBM Plex Mono" pitchFamily="34" charset="0"/>
                <a:ea typeface="IBM Plex Mono" pitchFamily="34" charset="-122"/>
                <a:cs typeface="IBM Plex Mono" pitchFamily="34" charset="-120"/>
              </a:rPr>
              <a:t>DESIGNED FAILURES, NOT ACCIDENTS </a:t>
            </a:r>
            <a:pPr algn="l" indent="0" marL="0">
              <a:lnSpc>
                <a:spcPct val="116250"/>
              </a:lnSpc>
              <a:buNone/>
            </a:pPr>
            <a:r>
              <a:rPr lang="en-US" sz="1800" dirty="0">
                <a:solidFill>
                  <a:srgbClr val="E8E4DC"/>
                </a:solidFill>
                <a:highlight>
                  <a:srgbClr val="191C20"/>
                </a:highlight>
                <a:latin typeface="IBM Plex Sans" pitchFamily="34" charset="0"/>
                <a:ea typeface="IBM Plex Sans" pitchFamily="34" charset="-122"/>
                <a:cs typeface="IBM Plex Sans" pitchFamily="34" charset="-120"/>
              </a:rPr>
              <a:t>— </a:t>
            </a:r>
            <a:pPr algn="l" indent="0" marL="0">
              <a:lnSpc>
                <a:spcPct val="116250"/>
              </a:lnSpc>
              <a:buNone/>
            </a:pPr>
            <a:r>
              <a:rPr lang="en-US" sz="1800" b="1" dirty="0">
                <a:solidFill>
                  <a:srgbClr val="E8E4DC"/>
                </a:solidFill>
                <a:latin typeface="IBM Plex Sans" pitchFamily="34" charset="0"/>
                <a:ea typeface="IBM Plex Sans" pitchFamily="34" charset="-122"/>
                <a:cs typeface="IBM Plex Sans" pitchFamily="34" charset="-120"/>
              </a:rPr>
              <a:t>REBASE_REQUIRED </a:t>
            </a:r>
            <a:pPr algn="l" indent="0" marL="0">
              <a:lnSpc>
                <a:spcPct val="116250"/>
              </a:lnSpc>
              <a:buNone/>
            </a:pPr>
            <a:r>
              <a:rPr lang="en-US" sz="1800" dirty="0">
                <a:solidFill>
                  <a:srgbClr val="E8E4DC"/>
                </a:solidFill>
                <a:highlight>
                  <a:srgbClr val="191C20"/>
                </a:highlight>
                <a:latin typeface="IBM Plex Sans" pitchFamily="34" charset="0"/>
                <a:ea typeface="IBM Plex Sans" pitchFamily="34" charset="-122"/>
                <a:cs typeface="IBM Plex Sans" pitchFamily="34" charset="-120"/>
              </a:rPr>
              <a:t>: another proposal advanced the base first → stop, rebase or supersede, never apply blindly · </a:t>
            </a:r>
            <a:pPr algn="l" indent="0" marL="0">
              <a:lnSpc>
                <a:spcPct val="116250"/>
              </a:lnSpc>
              <a:buNone/>
            </a:pPr>
            <a:r>
              <a:rPr lang="en-US" sz="1800" b="1" dirty="0">
                <a:solidFill>
                  <a:srgbClr val="E8E4DC"/>
                </a:solidFill>
                <a:latin typeface="IBM Plex Sans" pitchFamily="34" charset="0"/>
                <a:ea typeface="IBM Plex Sans" pitchFamily="34" charset="-122"/>
                <a:cs typeface="IBM Plex Sans" pitchFamily="34" charset="-120"/>
              </a:rPr>
              <a:t>LOST LEASE</a:t>
            </a:r>
            <a:pPr algn="l" indent="0" marL="0">
              <a:lnSpc>
                <a:spcPct val="116250"/>
              </a:lnSpc>
              <a:buNone/>
            </a:pPr>
            <a:r>
              <a:rPr lang="en-US" sz="1800" dirty="0">
                <a:solidFill>
                  <a:srgbClr val="E8E4DC"/>
                </a:solidFill>
                <a:highlight>
                  <a:srgbClr val="191C20"/>
                </a:highlight>
                <a:latin typeface="IBM Plex Sans" pitchFamily="34" charset="0"/>
                <a:ea typeface="IBM Plex Sans" pitchFamily="34" charset="-122"/>
                <a:cs typeface="IBM Plex Sans" pitchFamily="34" charset="-120"/>
              </a:rPr>
              <a:t>: an expired worker can never activate its namespace — orphans are cleaned up, never readable through the active pointer · </a:t>
            </a:r>
            <a:pPr algn="l" indent="0" marL="0">
              <a:lnSpc>
                <a:spcPct val="116250"/>
              </a:lnSpc>
              <a:buNone/>
            </a:pPr>
            <a:r>
              <a:rPr lang="en-US" sz="1800" b="1" dirty="0">
                <a:solidFill>
                  <a:srgbClr val="E8E4DC"/>
                </a:solidFill>
                <a:latin typeface="IBM Plex Sans" pitchFamily="34" charset="0"/>
                <a:ea typeface="IBM Plex Sans" pitchFamily="34" charset="-122"/>
                <a:cs typeface="IBM Plex Sans" pitchFamily="34" charset="-120"/>
              </a:rPr>
              <a:t>CONCURRENCY </a:t>
            </a:r>
            <a:pPr algn="l" indent="0" marL="0">
              <a:lnSpc>
                <a:spcPct val="116250"/>
              </a:lnSpc>
              <a:buNone/>
            </a:pPr>
            <a:r>
              <a:rPr lang="en-US" sz="1800" dirty="0">
                <a:solidFill>
                  <a:srgbClr val="E8E4DC"/>
                </a:solidFill>
                <a:highlight>
                  <a:srgbClr val="191C20"/>
                </a:highlight>
                <a:latin typeface="IBM Plex Sans" pitchFamily="34" charset="0"/>
                <a:ea typeface="IBM Plex Sans" pitchFamily="34" charset="-122"/>
                <a:cs typeface="IBM Plex Sans" pitchFamily="34" charset="-120"/>
              </a:rPr>
              <a:t>: one reservation per application — one publishes, the other rebases</a:t>
            </a:r>
            <a:endParaRPr lang="en-US" sz="1800" dirty="0"/>
          </a:p>
        </p:txBody>
      </p:sp>
      <p:sp>
        <p:nvSpPr>
          <p:cNvPr id="35" name="Text 28"/>
          <p:cNvSpPr/>
          <p:nvPr/>
        </p:nvSpPr>
        <p:spPr>
          <a:xfrm>
            <a:off x="762000" y="5810250"/>
            <a:ext cx="17266920" cy="6477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IN PLAIN TERMS · MANIFEST = THE APPROVED NODE + EDGE LIST · FENCING TOKEN = A LOCK A STALE WORKER CANNOT REUSE · NAMESPACE = A GRAPH VERSION STAGED BESIDE THE LIVE ONE</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762000" y="342900"/>
            <a:ext cx="18440400" cy="361950"/>
          </a:xfrm>
          <a:prstGeom prst="rect">
            <a:avLst/>
          </a:prstGeom>
          <a:noFill/>
          <a:ln/>
        </p:spPr>
        <p:txBody>
          <a:bodyPr wrap="square" lIns="25400" tIns="25400" rIns="25400" bIns="25400" rtlCol="0" anchor="t">
            <a:normAutofit/>
          </a:bodyPr>
          <a:lstStyle/>
          <a:p>
            <a:pPr algn="l" indent="0" marL="0">
              <a:buNone/>
            </a:pPr>
            <a:r>
              <a:rPr lang="en-US" sz="1950" spc="312" kern="0" dirty="0">
                <a:solidFill>
                  <a:srgbClr val="4D535B"/>
                </a:solidFill>
                <a:latin typeface="IBM Plex Mono" pitchFamily="34" charset="0"/>
                <a:ea typeface="IBM Plex Mono" pitchFamily="34" charset="-122"/>
                <a:cs typeface="IBM Plex Mono" pitchFamily="34" charset="-120"/>
              </a:rPr>
              <a:t>13 · PR GATE · QUEUE interactive, NEVER STARVED · READ-ONLY · VS THE ENVIRONMENT BASELINE</a:t>
            </a:r>
            <a:endParaRPr lang="en-US" sz="1950" dirty="0"/>
          </a:p>
        </p:txBody>
      </p:sp>
      <p:sp>
        <p:nvSpPr>
          <p:cNvPr id="3" name="Text 1"/>
          <p:cNvSpPr/>
          <p:nvPr/>
        </p:nvSpPr>
        <p:spPr>
          <a:xfrm>
            <a:off x="762000" y="762000"/>
            <a:ext cx="18440400" cy="771525"/>
          </a:xfrm>
          <a:prstGeom prst="rect">
            <a:avLst/>
          </a:prstGeom>
          <a:noFill/>
          <a:ln/>
        </p:spPr>
        <p:txBody>
          <a:bodyPr wrap="square" lIns="25400" tIns="25400" rIns="25400" bIns="25400" rtlCol="0" anchor="t">
            <a:normAutofit/>
          </a:bodyPr>
          <a:lstStyle/>
          <a:p>
            <a:pPr algn="l" indent="0" marL="0">
              <a:buNone/>
            </a:pPr>
            <a:r>
              <a:rPr lang="en-US" sz="4500" b="1" dirty="0">
                <a:solidFill>
                  <a:srgbClr val="191C20"/>
                </a:solidFill>
                <a:latin typeface="IBM Plex Sans" pitchFamily="34" charset="0"/>
                <a:ea typeface="IBM Plex Sans" pitchFamily="34" charset="-122"/>
                <a:cs typeface="IBM Plex Sans" pitchFamily="34" charset="-120"/>
              </a:rPr>
              <a:t>PR Gate Flow</a:t>
            </a:r>
            <a:endParaRPr lang="en-US" sz="4500" dirty="0"/>
          </a:p>
        </p:txBody>
      </p:sp>
      <p:sp>
        <p:nvSpPr>
          <p:cNvPr id="4" name="Shape 2"/>
          <p:cNvSpPr/>
          <p:nvPr/>
        </p:nvSpPr>
        <p:spPr>
          <a:xfrm>
            <a:off x="762000" y="1685925"/>
            <a:ext cx="3948112" cy="1504950"/>
          </a:xfrm>
          <a:prstGeom prst="rect">
            <a:avLst/>
          </a:prstGeom>
          <a:solidFill>
            <a:srgbClr val="FFFFFF"/>
          </a:solidFill>
          <a:ln w="9525">
            <a:solidFill>
              <a:srgbClr val="E0DCD3"/>
            </a:solidFill>
            <a:prstDash val="solid"/>
          </a:ln>
        </p:spPr>
      </p:sp>
      <p:pic>
        <p:nvPicPr>
          <p:cNvPr id="5" name="Image 0" descr="preencoded.png">    </p:cNvPr>
          <p:cNvPicPr>
            <a:picLocks noChangeAspect="1"/>
          </p:cNvPicPr>
          <p:nvPr/>
        </p:nvPicPr>
        <p:blipFill>
          <a:blip r:embed="rId1"/>
          <a:stretch>
            <a:fillRect/>
          </a:stretch>
        </p:blipFill>
        <p:spPr>
          <a:xfrm>
            <a:off x="923925" y="1828800"/>
            <a:ext cx="342900" cy="342900"/>
          </a:xfrm>
          <a:prstGeom prst="rect">
            <a:avLst/>
          </a:prstGeom>
        </p:spPr>
      </p:pic>
      <p:sp>
        <p:nvSpPr>
          <p:cNvPr id="6" name="Text 3"/>
          <p:cNvSpPr/>
          <p:nvPr/>
        </p:nvSpPr>
        <p:spPr>
          <a:xfrm>
            <a:off x="1362075" y="1847850"/>
            <a:ext cx="2134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A8551F"/>
                </a:solidFill>
                <a:latin typeface="IBM Plex Mono" pitchFamily="34" charset="0"/>
                <a:ea typeface="IBM Plex Mono" pitchFamily="34" charset="-122"/>
                <a:cs typeface="IBM Plex Mono" pitchFamily="34" charset="-120"/>
              </a:rPr>
              <a:t>1</a:t>
            </a:r>
            <a:endParaRPr lang="en-US" sz="1800" dirty="0"/>
          </a:p>
        </p:txBody>
      </p:sp>
      <p:sp>
        <p:nvSpPr>
          <p:cNvPr id="7" name="Text 4"/>
          <p:cNvSpPr/>
          <p:nvPr/>
        </p:nvSpPr>
        <p:spPr>
          <a:xfrm>
            <a:off x="923925" y="2228850"/>
            <a:ext cx="3986689" cy="323850"/>
          </a:xfrm>
          <a:prstGeom prst="rect">
            <a:avLst/>
          </a:prstGeom>
          <a:noFill/>
          <a:ln/>
        </p:spPr>
        <p:txBody>
          <a:bodyPr wrap="square" lIns="25400" tIns="25400" rIns="25400" bIns="25400" rtlCol="0" anchor="t">
            <a:normAutofit/>
          </a:bodyPr>
          <a:lstStyle/>
          <a:p>
            <a:pPr algn="l" indent="0" marL="0">
              <a:lnSpc>
                <a:spcPct val="93750"/>
              </a:lnSpc>
              <a:buNone/>
            </a:pPr>
            <a:r>
              <a:rPr lang="en-US" sz="1800" b="1" dirty="0">
                <a:solidFill>
                  <a:srgbClr val="191C20"/>
                </a:solidFill>
                <a:latin typeface="IBM Plex Sans" pitchFamily="34" charset="0"/>
                <a:ea typeface="IBM Plex Sans" pitchFamily="34" charset="-122"/>
                <a:cs typeface="IBM Plex Sans" pitchFamily="34" charset="-120"/>
              </a:rPr>
              <a:t>PR opened / updated</a:t>
            </a:r>
            <a:endParaRPr lang="en-US" sz="1800" dirty="0"/>
          </a:p>
        </p:txBody>
      </p:sp>
      <p:sp>
        <p:nvSpPr>
          <p:cNvPr id="8" name="Text 5"/>
          <p:cNvSpPr/>
          <p:nvPr/>
        </p:nvSpPr>
        <p:spPr>
          <a:xfrm>
            <a:off x="923925" y="2571750"/>
            <a:ext cx="3732990" cy="514350"/>
          </a:xfrm>
          <a:prstGeom prst="rect">
            <a:avLst/>
          </a:prstGeom>
          <a:noFill/>
          <a:ln/>
        </p:spPr>
        <p:txBody>
          <a:bodyPr wrap="square" lIns="25400" tIns="25400" rIns="25400" bIns="25400" rtlCol="0" anchor="t">
            <a:normAutofit/>
          </a:bodyPr>
          <a:lstStyle/>
          <a:p>
            <a:pPr algn="l" indent="0" marL="0">
              <a:lnSpc>
                <a:spcPct val="106875"/>
              </a:lnSpc>
              <a:buNone/>
            </a:pPr>
            <a:r>
              <a:rPr lang="en-US" sz="1425" dirty="0">
                <a:solidFill>
                  <a:srgbClr val="4D535B"/>
                </a:solidFill>
                <a:latin typeface="IBM Plex Sans" pitchFamily="34" charset="0"/>
                <a:ea typeface="IBM Plex Sans" pitchFamily="34" charset="-122"/>
                <a:cs typeface="IBM Plex Sans" pitchFamily="34" charset="-120"/>
              </a:rPr>
              <a:t>GitHub webhook · queue interactive · FIFO by repo</a:t>
            </a:r>
            <a:endParaRPr lang="en-US" sz="1425" dirty="0"/>
          </a:p>
        </p:txBody>
      </p:sp>
      <p:sp>
        <p:nvSpPr>
          <p:cNvPr id="9" name="Text 6"/>
          <p:cNvSpPr/>
          <p:nvPr/>
        </p:nvSpPr>
        <p:spPr>
          <a:xfrm>
            <a:off x="4672013" y="1685925"/>
            <a:ext cx="400050" cy="1543050"/>
          </a:xfrm>
          <a:prstGeom prst="rect">
            <a:avLst/>
          </a:prstGeom>
          <a:noFill/>
          <a:ln/>
        </p:spPr>
        <p:txBody>
          <a:bodyPr wrap="square" lIns="25400" tIns="25400" rIns="25400" bIns="25400" rtlCol="0" anchor="ctr">
            <a:normAutofit/>
          </a:bodyPr>
          <a:lstStyle/>
          <a:p>
            <a:pPr algn="ctr" indent="0" marL="0">
              <a:buNone/>
            </a:pPr>
            <a:r>
              <a:rPr lang="en-US" sz="2250" dirty="0">
                <a:solidFill>
                  <a:srgbClr val="9AA0A8"/>
                </a:solidFill>
                <a:latin typeface="IBM Plex Sans" pitchFamily="34" charset="0"/>
                <a:ea typeface="IBM Plex Sans" pitchFamily="34" charset="-122"/>
                <a:cs typeface="IBM Plex Sans" pitchFamily="34" charset="-120"/>
              </a:rPr>
              <a:t>→</a:t>
            </a:r>
            <a:endParaRPr lang="en-US" sz="2250" dirty="0"/>
          </a:p>
        </p:txBody>
      </p:sp>
      <p:sp>
        <p:nvSpPr>
          <p:cNvPr id="10" name="Shape 7"/>
          <p:cNvSpPr/>
          <p:nvPr/>
        </p:nvSpPr>
        <p:spPr>
          <a:xfrm>
            <a:off x="5033963" y="1685925"/>
            <a:ext cx="3948112" cy="1504950"/>
          </a:xfrm>
          <a:prstGeom prst="rect">
            <a:avLst/>
          </a:prstGeom>
          <a:solidFill>
            <a:srgbClr val="FFFFFF"/>
          </a:solidFill>
          <a:ln w="9525">
            <a:solidFill>
              <a:srgbClr val="E0DCD3"/>
            </a:solidFill>
            <a:prstDash val="solid"/>
          </a:ln>
        </p:spPr>
      </p:sp>
      <p:pic>
        <p:nvPicPr>
          <p:cNvPr id="11" name="Image 1" descr="preencoded.png">    </p:cNvPr>
          <p:cNvPicPr>
            <a:picLocks noChangeAspect="1"/>
          </p:cNvPicPr>
          <p:nvPr/>
        </p:nvPicPr>
        <p:blipFill>
          <a:blip r:embed="rId2"/>
          <a:stretch>
            <a:fillRect/>
          </a:stretch>
        </p:blipFill>
        <p:spPr>
          <a:xfrm>
            <a:off x="5195888" y="1828800"/>
            <a:ext cx="342900" cy="342900"/>
          </a:xfrm>
          <a:prstGeom prst="rect">
            <a:avLst/>
          </a:prstGeom>
        </p:spPr>
      </p:pic>
      <p:sp>
        <p:nvSpPr>
          <p:cNvPr id="12" name="Text 8"/>
          <p:cNvSpPr/>
          <p:nvPr/>
        </p:nvSpPr>
        <p:spPr>
          <a:xfrm>
            <a:off x="5634038" y="1847850"/>
            <a:ext cx="2134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A8551F"/>
                </a:solidFill>
                <a:latin typeface="IBM Plex Mono" pitchFamily="34" charset="0"/>
                <a:ea typeface="IBM Plex Mono" pitchFamily="34" charset="-122"/>
                <a:cs typeface="IBM Plex Mono" pitchFamily="34" charset="-120"/>
              </a:rPr>
              <a:t>2</a:t>
            </a:r>
            <a:endParaRPr lang="en-US" sz="1800" dirty="0"/>
          </a:p>
        </p:txBody>
      </p:sp>
      <p:sp>
        <p:nvSpPr>
          <p:cNvPr id="13" name="Text 9"/>
          <p:cNvSpPr/>
          <p:nvPr/>
        </p:nvSpPr>
        <p:spPr>
          <a:xfrm>
            <a:off x="5195888" y="2228850"/>
            <a:ext cx="3986689" cy="323850"/>
          </a:xfrm>
          <a:prstGeom prst="rect">
            <a:avLst/>
          </a:prstGeom>
          <a:noFill/>
          <a:ln/>
        </p:spPr>
        <p:txBody>
          <a:bodyPr wrap="square" lIns="25400" tIns="25400" rIns="25400" bIns="25400" rtlCol="0" anchor="t">
            <a:normAutofit/>
          </a:bodyPr>
          <a:lstStyle/>
          <a:p>
            <a:pPr algn="l" indent="0" marL="0">
              <a:lnSpc>
                <a:spcPct val="93750"/>
              </a:lnSpc>
              <a:buNone/>
            </a:pPr>
            <a:r>
              <a:rPr lang="en-US" sz="1800" b="1" dirty="0">
                <a:solidFill>
                  <a:srgbClr val="191C20"/>
                </a:solidFill>
                <a:latin typeface="IBM Plex Sans" pitchFamily="34" charset="0"/>
                <a:ea typeface="IBM Plex Sans" pitchFamily="34" charset="-122"/>
                <a:cs typeface="IBM Plex Sans" pitchFamily="34" charset="-120"/>
              </a:rPr>
              <a:t>Head candidate</a:t>
            </a:r>
            <a:endParaRPr lang="en-US" sz="1800" dirty="0"/>
          </a:p>
        </p:txBody>
      </p:sp>
      <p:sp>
        <p:nvSpPr>
          <p:cNvPr id="14" name="Text 10"/>
          <p:cNvSpPr/>
          <p:nvPr/>
        </p:nvSpPr>
        <p:spPr>
          <a:xfrm>
            <a:off x="5195888" y="2571750"/>
            <a:ext cx="3986689" cy="276225"/>
          </a:xfrm>
          <a:prstGeom prst="rect">
            <a:avLst/>
          </a:prstGeom>
          <a:noFill/>
          <a:ln/>
        </p:spPr>
        <p:txBody>
          <a:bodyPr wrap="square" lIns="25400" tIns="25400" rIns="25400" bIns="25400" rtlCol="0" anchor="t">
            <a:normAutofit/>
          </a:bodyPr>
          <a:lstStyle/>
          <a:p>
            <a:pPr algn="l" indent="0" marL="0">
              <a:lnSpc>
                <a:spcPct val="106875"/>
              </a:lnSpc>
              <a:buNone/>
            </a:pPr>
            <a:r>
              <a:rPr lang="en-US" sz="1425" dirty="0">
                <a:solidFill>
                  <a:srgbClr val="4D535B"/>
                </a:solidFill>
                <a:latin typeface="IBM Plex Sans" pitchFamily="34" charset="0"/>
                <a:ea typeface="IBM Plex Sans" pitchFamily="34" charset="-122"/>
                <a:cs typeface="IBM Plex Sans" pitchFamily="34" charset="-120"/>
              </a:rPr>
              <a:t>build or fetch · shallow, cached layers · ~5 s</a:t>
            </a:r>
            <a:endParaRPr lang="en-US" sz="1425" dirty="0"/>
          </a:p>
        </p:txBody>
      </p:sp>
      <p:sp>
        <p:nvSpPr>
          <p:cNvPr id="15" name="Text 11"/>
          <p:cNvSpPr/>
          <p:nvPr/>
        </p:nvSpPr>
        <p:spPr>
          <a:xfrm>
            <a:off x="8943975" y="1685925"/>
            <a:ext cx="400050" cy="1543050"/>
          </a:xfrm>
          <a:prstGeom prst="rect">
            <a:avLst/>
          </a:prstGeom>
          <a:noFill/>
          <a:ln/>
        </p:spPr>
        <p:txBody>
          <a:bodyPr wrap="square" lIns="25400" tIns="25400" rIns="25400" bIns="25400" rtlCol="0" anchor="ctr">
            <a:normAutofit/>
          </a:bodyPr>
          <a:lstStyle/>
          <a:p>
            <a:pPr algn="ctr" indent="0" marL="0">
              <a:buNone/>
            </a:pPr>
            <a:r>
              <a:rPr lang="en-US" sz="2250" dirty="0">
                <a:solidFill>
                  <a:srgbClr val="9AA0A8"/>
                </a:solidFill>
                <a:latin typeface="IBM Plex Sans" pitchFamily="34" charset="0"/>
                <a:ea typeface="IBM Plex Sans" pitchFamily="34" charset="-122"/>
                <a:cs typeface="IBM Plex Sans" pitchFamily="34" charset="-120"/>
              </a:rPr>
              <a:t>→</a:t>
            </a:r>
            <a:endParaRPr lang="en-US" sz="2250" dirty="0"/>
          </a:p>
        </p:txBody>
      </p:sp>
      <p:sp>
        <p:nvSpPr>
          <p:cNvPr id="16" name="Shape 12"/>
          <p:cNvSpPr/>
          <p:nvPr/>
        </p:nvSpPr>
        <p:spPr>
          <a:xfrm>
            <a:off x="9305925" y="1685925"/>
            <a:ext cx="3948112" cy="1504950"/>
          </a:xfrm>
          <a:prstGeom prst="rect">
            <a:avLst/>
          </a:prstGeom>
          <a:solidFill>
            <a:srgbClr val="FFFFFF"/>
          </a:solidFill>
          <a:ln w="9525">
            <a:solidFill>
              <a:srgbClr val="E0DCD3"/>
            </a:solidFill>
            <a:prstDash val="solid"/>
          </a:ln>
        </p:spPr>
      </p:sp>
      <p:pic>
        <p:nvPicPr>
          <p:cNvPr id="17" name="Image 2" descr="preencoded.png">    </p:cNvPr>
          <p:cNvPicPr>
            <a:picLocks noChangeAspect="1"/>
          </p:cNvPicPr>
          <p:nvPr/>
        </p:nvPicPr>
        <p:blipFill>
          <a:blip r:embed="rId3"/>
          <a:stretch>
            <a:fillRect/>
          </a:stretch>
        </p:blipFill>
        <p:spPr>
          <a:xfrm>
            <a:off x="9467850" y="1828800"/>
            <a:ext cx="342900" cy="342900"/>
          </a:xfrm>
          <a:prstGeom prst="rect">
            <a:avLst/>
          </a:prstGeom>
        </p:spPr>
      </p:pic>
      <p:sp>
        <p:nvSpPr>
          <p:cNvPr id="18" name="Text 13"/>
          <p:cNvSpPr/>
          <p:nvPr/>
        </p:nvSpPr>
        <p:spPr>
          <a:xfrm>
            <a:off x="9906000" y="1847850"/>
            <a:ext cx="2134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A8551F"/>
                </a:solidFill>
                <a:latin typeface="IBM Plex Mono" pitchFamily="34" charset="0"/>
                <a:ea typeface="IBM Plex Mono" pitchFamily="34" charset="-122"/>
                <a:cs typeface="IBM Plex Mono" pitchFamily="34" charset="-120"/>
              </a:rPr>
              <a:t>3</a:t>
            </a:r>
            <a:endParaRPr lang="en-US" sz="1800" dirty="0"/>
          </a:p>
        </p:txBody>
      </p:sp>
      <p:sp>
        <p:nvSpPr>
          <p:cNvPr id="19" name="Text 14"/>
          <p:cNvSpPr/>
          <p:nvPr/>
        </p:nvSpPr>
        <p:spPr>
          <a:xfrm>
            <a:off x="9467850" y="2228850"/>
            <a:ext cx="3986689" cy="323850"/>
          </a:xfrm>
          <a:prstGeom prst="rect">
            <a:avLst/>
          </a:prstGeom>
          <a:noFill/>
          <a:ln/>
        </p:spPr>
        <p:txBody>
          <a:bodyPr wrap="square" lIns="25400" tIns="25400" rIns="25400" bIns="25400" rtlCol="0" anchor="t">
            <a:normAutofit/>
          </a:bodyPr>
          <a:lstStyle/>
          <a:p>
            <a:pPr algn="l" indent="0" marL="0">
              <a:lnSpc>
                <a:spcPct val="93750"/>
              </a:lnSpc>
              <a:buNone/>
            </a:pPr>
            <a:r>
              <a:rPr lang="en-US" sz="1800" b="1" dirty="0">
                <a:solidFill>
                  <a:srgbClr val="191C20"/>
                </a:solidFill>
                <a:latin typeface="IBM Plex Sans" pitchFamily="34" charset="0"/>
                <a:ea typeface="IBM Plex Sans" pitchFamily="34" charset="-122"/>
                <a:cs typeface="IBM Plex Sans" pitchFamily="34" charset="-120"/>
              </a:rPr>
              <a:t>Environment baseline</a:t>
            </a:r>
            <a:endParaRPr lang="en-US" sz="1800" dirty="0"/>
          </a:p>
        </p:txBody>
      </p:sp>
      <p:sp>
        <p:nvSpPr>
          <p:cNvPr id="20" name="Text 15"/>
          <p:cNvSpPr/>
          <p:nvPr/>
        </p:nvSpPr>
        <p:spPr>
          <a:xfrm>
            <a:off x="9467850" y="2571750"/>
            <a:ext cx="3732990" cy="514350"/>
          </a:xfrm>
          <a:prstGeom prst="rect">
            <a:avLst/>
          </a:prstGeom>
          <a:noFill/>
          <a:ln/>
        </p:spPr>
        <p:txBody>
          <a:bodyPr wrap="square" lIns="25400" tIns="25400" rIns="25400" bIns="25400" rtlCol="0" anchor="t">
            <a:normAutofit/>
          </a:bodyPr>
          <a:lstStyle/>
          <a:p>
            <a:pPr algn="l" indent="0" marL="0">
              <a:lnSpc>
                <a:spcPct val="106875"/>
              </a:lnSpc>
              <a:buNone/>
            </a:pPr>
            <a:r>
              <a:rPr lang="en-US" sz="1425" dirty="0">
                <a:solidFill>
                  <a:srgbClr val="4D535B"/>
                </a:solidFill>
                <a:latin typeface="IBM Plex Sans" pitchFamily="34" charset="0"/>
                <a:ea typeface="IBM Plex Sans" pitchFamily="34" charset="-122"/>
                <a:cs typeface="IBM Plex Sans" pitchFamily="34" charset="-120"/>
              </a:rPr>
              <a:t>digest of the last successful deploy (env, service) · ~2 s</a:t>
            </a:r>
            <a:endParaRPr lang="en-US" sz="1425" dirty="0"/>
          </a:p>
        </p:txBody>
      </p:sp>
      <p:sp>
        <p:nvSpPr>
          <p:cNvPr id="21" name="Text 16"/>
          <p:cNvSpPr/>
          <p:nvPr/>
        </p:nvSpPr>
        <p:spPr>
          <a:xfrm>
            <a:off x="13215938" y="1685925"/>
            <a:ext cx="400050" cy="1543050"/>
          </a:xfrm>
          <a:prstGeom prst="rect">
            <a:avLst/>
          </a:prstGeom>
          <a:noFill/>
          <a:ln/>
        </p:spPr>
        <p:txBody>
          <a:bodyPr wrap="square" lIns="25400" tIns="25400" rIns="25400" bIns="25400" rtlCol="0" anchor="ctr">
            <a:normAutofit/>
          </a:bodyPr>
          <a:lstStyle/>
          <a:p>
            <a:pPr algn="ctr" indent="0" marL="0">
              <a:buNone/>
            </a:pPr>
            <a:r>
              <a:rPr lang="en-US" sz="2250" dirty="0">
                <a:solidFill>
                  <a:srgbClr val="9AA0A8"/>
                </a:solidFill>
                <a:latin typeface="IBM Plex Sans" pitchFamily="34" charset="0"/>
                <a:ea typeface="IBM Plex Sans" pitchFamily="34" charset="-122"/>
                <a:cs typeface="IBM Plex Sans" pitchFamily="34" charset="-120"/>
              </a:rPr>
              <a:t>→</a:t>
            </a:r>
            <a:endParaRPr lang="en-US" sz="2250" dirty="0"/>
          </a:p>
        </p:txBody>
      </p:sp>
      <p:sp>
        <p:nvSpPr>
          <p:cNvPr id="22" name="Shape 17"/>
          <p:cNvSpPr/>
          <p:nvPr/>
        </p:nvSpPr>
        <p:spPr>
          <a:xfrm>
            <a:off x="13577888" y="1685925"/>
            <a:ext cx="3948112" cy="1504950"/>
          </a:xfrm>
          <a:prstGeom prst="rect">
            <a:avLst/>
          </a:prstGeom>
          <a:solidFill>
            <a:srgbClr val="FFFFFF"/>
          </a:solidFill>
          <a:ln w="9525">
            <a:solidFill>
              <a:srgbClr val="E0DCD3"/>
            </a:solidFill>
            <a:prstDash val="solid"/>
          </a:ln>
        </p:spPr>
      </p:sp>
      <p:pic>
        <p:nvPicPr>
          <p:cNvPr id="23" name="Image 3" descr="preencoded.png">    </p:cNvPr>
          <p:cNvPicPr>
            <a:picLocks noChangeAspect="1"/>
          </p:cNvPicPr>
          <p:nvPr/>
        </p:nvPicPr>
        <p:blipFill>
          <a:blip r:embed="rId4"/>
          <a:stretch>
            <a:fillRect/>
          </a:stretch>
        </p:blipFill>
        <p:spPr>
          <a:xfrm>
            <a:off x="13739813" y="1828800"/>
            <a:ext cx="342900" cy="342900"/>
          </a:xfrm>
          <a:prstGeom prst="rect">
            <a:avLst/>
          </a:prstGeom>
        </p:spPr>
      </p:pic>
      <p:sp>
        <p:nvSpPr>
          <p:cNvPr id="24" name="Text 18"/>
          <p:cNvSpPr/>
          <p:nvPr/>
        </p:nvSpPr>
        <p:spPr>
          <a:xfrm>
            <a:off x="14177963" y="1847850"/>
            <a:ext cx="2134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A8551F"/>
                </a:solidFill>
                <a:latin typeface="IBM Plex Mono" pitchFamily="34" charset="0"/>
                <a:ea typeface="IBM Plex Mono" pitchFamily="34" charset="-122"/>
                <a:cs typeface="IBM Plex Mono" pitchFamily="34" charset="-120"/>
              </a:rPr>
              <a:t>4</a:t>
            </a:r>
            <a:endParaRPr lang="en-US" sz="1800" dirty="0"/>
          </a:p>
        </p:txBody>
      </p:sp>
      <p:sp>
        <p:nvSpPr>
          <p:cNvPr id="25" name="Text 19"/>
          <p:cNvSpPr/>
          <p:nvPr/>
        </p:nvSpPr>
        <p:spPr>
          <a:xfrm>
            <a:off x="13739813" y="2228850"/>
            <a:ext cx="3986689" cy="323850"/>
          </a:xfrm>
          <a:prstGeom prst="rect">
            <a:avLst/>
          </a:prstGeom>
          <a:noFill/>
          <a:ln/>
        </p:spPr>
        <p:txBody>
          <a:bodyPr wrap="square" lIns="25400" tIns="25400" rIns="25400" bIns="25400" rtlCol="0" anchor="t">
            <a:normAutofit/>
          </a:bodyPr>
          <a:lstStyle/>
          <a:p>
            <a:pPr algn="l" indent="0" marL="0">
              <a:lnSpc>
                <a:spcPct val="93750"/>
              </a:lnSpc>
              <a:buNone/>
            </a:pPr>
            <a:r>
              <a:rPr lang="en-US" sz="1800" b="1" dirty="0">
                <a:solidFill>
                  <a:srgbClr val="191C20"/>
                </a:solidFill>
                <a:latin typeface="IBM Plex Sans" pitchFamily="34" charset="0"/>
                <a:ea typeface="IBM Plex Sans" pitchFamily="34" charset="-122"/>
                <a:cs typeface="IBM Plex Sans" pitchFamily="34" charset="-120"/>
              </a:rPr>
              <a:t>Versioned diff</a:t>
            </a:r>
            <a:endParaRPr lang="en-US" sz="1800" dirty="0"/>
          </a:p>
        </p:txBody>
      </p:sp>
      <p:sp>
        <p:nvSpPr>
          <p:cNvPr id="26" name="Text 20"/>
          <p:cNvSpPr/>
          <p:nvPr/>
        </p:nvSpPr>
        <p:spPr>
          <a:xfrm>
            <a:off x="13739813" y="2571750"/>
            <a:ext cx="3986689" cy="276225"/>
          </a:xfrm>
          <a:prstGeom prst="rect">
            <a:avLst/>
          </a:prstGeom>
          <a:noFill/>
          <a:ln/>
        </p:spPr>
        <p:txBody>
          <a:bodyPr wrap="square" lIns="25400" tIns="25400" rIns="25400" bIns="25400" rtlCol="0" anchor="t">
            <a:normAutofit/>
          </a:bodyPr>
          <a:lstStyle/>
          <a:p>
            <a:pPr algn="l" indent="0" marL="0">
              <a:lnSpc>
                <a:spcPct val="106875"/>
              </a:lnSpc>
              <a:buNone/>
            </a:pPr>
            <a:r>
              <a:rPr lang="en-US" sz="1425" dirty="0">
                <a:solidFill>
                  <a:srgbClr val="4D535B"/>
                </a:solidFill>
                <a:latin typeface="IBM Plex Sans" pitchFamily="34" charset="0"/>
                <a:ea typeface="IBM Plex Sans" pitchFamily="34" charset="-122"/>
                <a:cs typeface="IBM Plex Sans" pitchFamily="34" charset="-120"/>
              </a:rPr>
              <a:t>added · changed · removed + schema deltas</a:t>
            </a:r>
            <a:endParaRPr lang="en-US" sz="1425" dirty="0"/>
          </a:p>
        </p:txBody>
      </p:sp>
      <p:sp>
        <p:nvSpPr>
          <p:cNvPr id="27" name="Text 21"/>
          <p:cNvSpPr/>
          <p:nvPr/>
        </p:nvSpPr>
        <p:spPr>
          <a:xfrm>
            <a:off x="-857250" y="3286125"/>
            <a:ext cx="17811750" cy="323850"/>
          </a:xfrm>
          <a:prstGeom prst="rect">
            <a:avLst/>
          </a:prstGeom>
          <a:noFill/>
          <a:ln/>
        </p:spPr>
        <p:txBody>
          <a:bodyPr wrap="square" lIns="25400" tIns="25400" rIns="25400" bIns="25400" rtlCol="0" anchor="t">
            <a:normAutofit/>
          </a:bodyPr>
          <a:lstStyle/>
          <a:p>
            <a:pPr algn="r" indent="0" marL="0">
              <a:lnSpc>
                <a:spcPct val="76923"/>
              </a:lnSpc>
              <a:buNone/>
            </a:pPr>
            <a:r>
              <a:rPr lang="en-US" sz="2250" dirty="0">
                <a:solidFill>
                  <a:srgbClr val="9AA0A8"/>
                </a:solidFill>
                <a:latin typeface="IBM Plex Sans" pitchFamily="34" charset="0"/>
                <a:ea typeface="IBM Plex Sans" pitchFamily="34" charset="-122"/>
                <a:cs typeface="IBM Plex Sans" pitchFamily="34" charset="-120"/>
              </a:rPr>
              <a:t>↓</a:t>
            </a:r>
            <a:endParaRPr lang="en-US" sz="2250" dirty="0"/>
          </a:p>
        </p:txBody>
      </p:sp>
      <p:sp>
        <p:nvSpPr>
          <p:cNvPr id="28" name="Shape 22"/>
          <p:cNvSpPr/>
          <p:nvPr/>
        </p:nvSpPr>
        <p:spPr>
          <a:xfrm>
            <a:off x="762000" y="3667125"/>
            <a:ext cx="5391150" cy="1504950"/>
          </a:xfrm>
          <a:prstGeom prst="rect">
            <a:avLst/>
          </a:prstGeom>
          <a:solidFill>
            <a:srgbClr val="FFFFFF"/>
          </a:solidFill>
          <a:ln w="19050">
            <a:solidFill>
              <a:srgbClr val="A8551F"/>
            </a:solidFill>
            <a:prstDash val="solid"/>
          </a:ln>
        </p:spPr>
      </p:sp>
      <p:pic>
        <p:nvPicPr>
          <p:cNvPr id="29" name="Image 4" descr="preencoded.png">    </p:cNvPr>
          <p:cNvPicPr>
            <a:picLocks noChangeAspect="1"/>
          </p:cNvPicPr>
          <p:nvPr/>
        </p:nvPicPr>
        <p:blipFill>
          <a:blip r:embed="rId5"/>
          <a:stretch>
            <a:fillRect/>
          </a:stretch>
        </p:blipFill>
        <p:spPr>
          <a:xfrm>
            <a:off x="933450" y="3819525"/>
            <a:ext cx="342900" cy="342900"/>
          </a:xfrm>
          <a:prstGeom prst="rect">
            <a:avLst/>
          </a:prstGeom>
        </p:spPr>
      </p:pic>
      <p:sp>
        <p:nvSpPr>
          <p:cNvPr id="30" name="Text 23"/>
          <p:cNvSpPr/>
          <p:nvPr/>
        </p:nvSpPr>
        <p:spPr>
          <a:xfrm>
            <a:off x="1371600" y="3838575"/>
            <a:ext cx="2134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A8551F"/>
                </a:solidFill>
                <a:latin typeface="IBM Plex Mono" pitchFamily="34" charset="0"/>
                <a:ea typeface="IBM Plex Mono" pitchFamily="34" charset="-122"/>
                <a:cs typeface="IBM Plex Mono" pitchFamily="34" charset="-120"/>
              </a:rPr>
              <a:t>5</a:t>
            </a:r>
            <a:endParaRPr lang="en-US" sz="1800" dirty="0"/>
          </a:p>
        </p:txBody>
      </p:sp>
      <p:sp>
        <p:nvSpPr>
          <p:cNvPr id="31" name="Text 24"/>
          <p:cNvSpPr/>
          <p:nvPr/>
        </p:nvSpPr>
        <p:spPr>
          <a:xfrm>
            <a:off x="933450" y="4219575"/>
            <a:ext cx="5553075" cy="323850"/>
          </a:xfrm>
          <a:prstGeom prst="rect">
            <a:avLst/>
          </a:prstGeom>
          <a:noFill/>
          <a:ln/>
        </p:spPr>
        <p:txBody>
          <a:bodyPr wrap="square" lIns="25400" tIns="25400" rIns="25400" bIns="25400" rtlCol="0" anchor="t">
            <a:normAutofit/>
          </a:bodyPr>
          <a:lstStyle/>
          <a:p>
            <a:pPr algn="l" indent="0" marL="0">
              <a:lnSpc>
                <a:spcPct val="93750"/>
              </a:lnSpc>
              <a:buNone/>
            </a:pPr>
            <a:r>
              <a:rPr lang="en-US" sz="1800" b="1" dirty="0">
                <a:solidFill>
                  <a:srgbClr val="191C20"/>
                </a:solidFill>
                <a:latin typeface="IBM Plex Sans" pitchFamily="34" charset="0"/>
                <a:ea typeface="IBM Plex Sans" pitchFamily="34" charset="-122"/>
                <a:cs typeface="IBM Plex Sans" pitchFamily="34" charset="-120"/>
              </a:rPr>
              <a:t>Pinned impact walk</a:t>
            </a:r>
            <a:endParaRPr lang="en-US" sz="1800" dirty="0"/>
          </a:p>
        </p:txBody>
      </p:sp>
      <p:sp>
        <p:nvSpPr>
          <p:cNvPr id="32" name="Text 25"/>
          <p:cNvSpPr/>
          <p:nvPr/>
        </p:nvSpPr>
        <p:spPr>
          <a:xfrm>
            <a:off x="933450" y="4562475"/>
            <a:ext cx="5553075" cy="276225"/>
          </a:xfrm>
          <a:prstGeom prst="rect">
            <a:avLst/>
          </a:prstGeom>
          <a:noFill/>
          <a:ln/>
        </p:spPr>
        <p:txBody>
          <a:bodyPr wrap="square" lIns="25400" tIns="25400" rIns="25400" bIns="25400" rtlCol="0" anchor="t">
            <a:normAutofit/>
          </a:bodyPr>
          <a:lstStyle/>
          <a:p>
            <a:pPr algn="l" indent="0" marL="0">
              <a:lnSpc>
                <a:spcPct val="106875"/>
              </a:lnSpc>
              <a:buNone/>
            </a:pPr>
            <a:r>
              <a:rPr lang="en-US" sz="1425" dirty="0">
                <a:solidFill>
                  <a:srgbClr val="4D535B"/>
                </a:solidFill>
                <a:latin typeface="IBM Plex Sans" pitchFamily="34" charset="0"/>
                <a:ea typeface="IBM Plex Sans" pitchFamily="34" charset="-122"/>
                <a:cs typeface="IBM Plex Sans" pitchFamily="34" charset="-120"/>
              </a:rPr>
              <a:t>bounded traversal on the pinned graph version · ~10 s</a:t>
            </a:r>
            <a:endParaRPr lang="en-US" sz="1425" dirty="0"/>
          </a:p>
        </p:txBody>
      </p:sp>
      <p:sp>
        <p:nvSpPr>
          <p:cNvPr id="33" name="Text 26"/>
          <p:cNvSpPr/>
          <p:nvPr/>
        </p:nvSpPr>
        <p:spPr>
          <a:xfrm>
            <a:off x="6115050" y="3667125"/>
            <a:ext cx="400050" cy="1543050"/>
          </a:xfrm>
          <a:prstGeom prst="rect">
            <a:avLst/>
          </a:prstGeom>
          <a:noFill/>
          <a:ln/>
        </p:spPr>
        <p:txBody>
          <a:bodyPr wrap="square" lIns="25400" tIns="25400" rIns="25400" bIns="25400" rtlCol="0" anchor="ctr">
            <a:normAutofit/>
          </a:bodyPr>
          <a:lstStyle/>
          <a:p>
            <a:pPr algn="ctr" indent="0" marL="0">
              <a:buNone/>
            </a:pPr>
            <a:r>
              <a:rPr lang="en-US" sz="2250" dirty="0">
                <a:solidFill>
                  <a:srgbClr val="9AA0A8"/>
                </a:solidFill>
                <a:latin typeface="IBM Plex Sans" pitchFamily="34" charset="0"/>
                <a:ea typeface="IBM Plex Sans" pitchFamily="34" charset="-122"/>
                <a:cs typeface="IBM Plex Sans" pitchFamily="34" charset="-120"/>
              </a:rPr>
              <a:t>→</a:t>
            </a:r>
            <a:endParaRPr lang="en-US" sz="2250" dirty="0"/>
          </a:p>
        </p:txBody>
      </p:sp>
      <p:sp>
        <p:nvSpPr>
          <p:cNvPr id="34" name="Shape 27"/>
          <p:cNvSpPr/>
          <p:nvPr/>
        </p:nvSpPr>
        <p:spPr>
          <a:xfrm>
            <a:off x="6477000" y="3667125"/>
            <a:ext cx="5372100" cy="1504950"/>
          </a:xfrm>
          <a:prstGeom prst="rect">
            <a:avLst/>
          </a:prstGeom>
          <a:solidFill>
            <a:srgbClr val="FFFFFF"/>
          </a:solidFill>
          <a:ln w="9525">
            <a:solidFill>
              <a:srgbClr val="E0DCD3"/>
            </a:solidFill>
            <a:prstDash val="solid"/>
          </a:ln>
        </p:spPr>
      </p:sp>
      <p:pic>
        <p:nvPicPr>
          <p:cNvPr id="35" name="Image 5" descr="preencoded.png">    </p:cNvPr>
          <p:cNvPicPr>
            <a:picLocks noChangeAspect="1"/>
          </p:cNvPicPr>
          <p:nvPr/>
        </p:nvPicPr>
        <p:blipFill>
          <a:blip r:embed="rId6"/>
          <a:stretch>
            <a:fillRect/>
          </a:stretch>
        </p:blipFill>
        <p:spPr>
          <a:xfrm>
            <a:off x="6638925" y="3810000"/>
            <a:ext cx="342900" cy="342900"/>
          </a:xfrm>
          <a:prstGeom prst="rect">
            <a:avLst/>
          </a:prstGeom>
        </p:spPr>
      </p:pic>
      <p:sp>
        <p:nvSpPr>
          <p:cNvPr id="36" name="Text 28"/>
          <p:cNvSpPr/>
          <p:nvPr/>
        </p:nvSpPr>
        <p:spPr>
          <a:xfrm>
            <a:off x="7077075" y="3829050"/>
            <a:ext cx="2134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A8551F"/>
                </a:solidFill>
                <a:latin typeface="IBM Plex Mono" pitchFamily="34" charset="0"/>
                <a:ea typeface="IBM Plex Mono" pitchFamily="34" charset="-122"/>
                <a:cs typeface="IBM Plex Mono" pitchFamily="34" charset="-120"/>
              </a:rPr>
              <a:t>6</a:t>
            </a:r>
            <a:endParaRPr lang="en-US" sz="1800" dirty="0"/>
          </a:p>
        </p:txBody>
      </p:sp>
      <p:sp>
        <p:nvSpPr>
          <p:cNvPr id="37" name="Text 29"/>
          <p:cNvSpPr/>
          <p:nvPr/>
        </p:nvSpPr>
        <p:spPr>
          <a:xfrm>
            <a:off x="6638925" y="4210050"/>
            <a:ext cx="5553075" cy="323850"/>
          </a:xfrm>
          <a:prstGeom prst="rect">
            <a:avLst/>
          </a:prstGeom>
          <a:noFill/>
          <a:ln/>
        </p:spPr>
        <p:txBody>
          <a:bodyPr wrap="square" lIns="25400" tIns="25400" rIns="25400" bIns="25400" rtlCol="0" anchor="t">
            <a:normAutofit/>
          </a:bodyPr>
          <a:lstStyle/>
          <a:p>
            <a:pPr algn="l" indent="0" marL="0">
              <a:lnSpc>
                <a:spcPct val="93750"/>
              </a:lnSpc>
              <a:buNone/>
            </a:pPr>
            <a:r>
              <a:rPr lang="en-US" sz="1800" b="1" dirty="0">
                <a:solidFill>
                  <a:srgbClr val="191C20"/>
                </a:solidFill>
                <a:latin typeface="IBM Plex Sans" pitchFamily="34" charset="0"/>
                <a:ea typeface="IBM Plex Sans" pitchFamily="34" charset="-122"/>
                <a:cs typeface="IBM Plex Sans" pitchFamily="34" charset="-120"/>
              </a:rPr>
              <a:t>OPA verdict</a:t>
            </a:r>
            <a:endParaRPr lang="en-US" sz="1800" dirty="0"/>
          </a:p>
        </p:txBody>
      </p:sp>
      <p:sp>
        <p:nvSpPr>
          <p:cNvPr id="38" name="Text 30"/>
          <p:cNvSpPr/>
          <p:nvPr/>
        </p:nvSpPr>
        <p:spPr>
          <a:xfrm>
            <a:off x="6638925" y="4552950"/>
            <a:ext cx="5199698" cy="514350"/>
          </a:xfrm>
          <a:prstGeom prst="rect">
            <a:avLst/>
          </a:prstGeom>
          <a:noFill/>
          <a:ln/>
        </p:spPr>
        <p:txBody>
          <a:bodyPr wrap="square" lIns="25400" tIns="25400" rIns="25400" bIns="25400" rtlCol="0" anchor="t">
            <a:normAutofit/>
          </a:bodyPr>
          <a:lstStyle/>
          <a:p>
            <a:pPr algn="l" indent="0" marL="0">
              <a:lnSpc>
                <a:spcPct val="106875"/>
              </a:lnSpc>
              <a:buNone/>
            </a:pPr>
            <a:r>
              <a:rPr lang="en-US" sz="1425" dirty="0">
                <a:solidFill>
                  <a:srgbClr val="4D535B"/>
                </a:solidFill>
                <a:latin typeface="IBM Plex Sans" pitchFamily="34" charset="0"/>
                <a:ea typeface="IBM Plex Sans" pitchFamily="34" charset="-122"/>
                <a:cs typeface="IBM Plex Sans" pitchFamily="34" charset="-120"/>
              </a:rPr>
              <a:t>pass | warn | block + waiver refs · decision pinned to the exact graph version it evaluated</a:t>
            </a:r>
            <a:endParaRPr lang="en-US" sz="1425" dirty="0"/>
          </a:p>
        </p:txBody>
      </p:sp>
      <p:sp>
        <p:nvSpPr>
          <p:cNvPr id="39" name="Text 31"/>
          <p:cNvSpPr/>
          <p:nvPr/>
        </p:nvSpPr>
        <p:spPr>
          <a:xfrm>
            <a:off x="11811000" y="3667125"/>
            <a:ext cx="400050" cy="1543050"/>
          </a:xfrm>
          <a:prstGeom prst="rect">
            <a:avLst/>
          </a:prstGeom>
          <a:noFill/>
          <a:ln/>
        </p:spPr>
        <p:txBody>
          <a:bodyPr wrap="square" lIns="25400" tIns="25400" rIns="25400" bIns="25400" rtlCol="0" anchor="ctr">
            <a:normAutofit/>
          </a:bodyPr>
          <a:lstStyle/>
          <a:p>
            <a:pPr algn="ctr" indent="0" marL="0">
              <a:buNone/>
            </a:pPr>
            <a:r>
              <a:rPr lang="en-US" sz="2250" dirty="0">
                <a:solidFill>
                  <a:srgbClr val="9AA0A8"/>
                </a:solidFill>
                <a:latin typeface="IBM Plex Sans" pitchFamily="34" charset="0"/>
                <a:ea typeface="IBM Plex Sans" pitchFamily="34" charset="-122"/>
                <a:cs typeface="IBM Plex Sans" pitchFamily="34" charset="-120"/>
              </a:rPr>
              <a:t>→</a:t>
            </a:r>
            <a:endParaRPr lang="en-US" sz="2250" dirty="0"/>
          </a:p>
        </p:txBody>
      </p:sp>
      <p:sp>
        <p:nvSpPr>
          <p:cNvPr id="40" name="Shape 32"/>
          <p:cNvSpPr/>
          <p:nvPr/>
        </p:nvSpPr>
        <p:spPr>
          <a:xfrm>
            <a:off x="12172950" y="3667125"/>
            <a:ext cx="5353050" cy="1504950"/>
          </a:xfrm>
          <a:prstGeom prst="rect">
            <a:avLst/>
          </a:prstGeom>
          <a:solidFill>
            <a:srgbClr val="191C20"/>
          </a:solidFill>
          <a:ln/>
        </p:spPr>
      </p:sp>
      <p:pic>
        <p:nvPicPr>
          <p:cNvPr id="41" name="Image 6" descr="preencoded.png">    </p:cNvPr>
          <p:cNvPicPr>
            <a:picLocks noChangeAspect="1"/>
          </p:cNvPicPr>
          <p:nvPr/>
        </p:nvPicPr>
        <p:blipFill>
          <a:blip r:embed="rId7"/>
          <a:stretch>
            <a:fillRect/>
          </a:stretch>
        </p:blipFill>
        <p:spPr>
          <a:xfrm>
            <a:off x="12325350" y="3800475"/>
            <a:ext cx="342900" cy="342900"/>
          </a:xfrm>
          <a:prstGeom prst="rect">
            <a:avLst/>
          </a:prstGeom>
        </p:spPr>
      </p:pic>
      <p:sp>
        <p:nvSpPr>
          <p:cNvPr id="42" name="Text 33"/>
          <p:cNvSpPr/>
          <p:nvPr/>
        </p:nvSpPr>
        <p:spPr>
          <a:xfrm>
            <a:off x="12763500" y="3819525"/>
            <a:ext cx="2134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FB3BF"/>
                </a:solidFill>
                <a:latin typeface="IBM Plex Mono" pitchFamily="34" charset="0"/>
                <a:ea typeface="IBM Plex Mono" pitchFamily="34" charset="-122"/>
                <a:cs typeface="IBM Plex Mono" pitchFamily="34" charset="-120"/>
              </a:rPr>
              <a:t>7</a:t>
            </a:r>
            <a:endParaRPr lang="en-US" sz="1800" dirty="0"/>
          </a:p>
        </p:txBody>
      </p:sp>
      <p:sp>
        <p:nvSpPr>
          <p:cNvPr id="43" name="Text 34"/>
          <p:cNvSpPr/>
          <p:nvPr/>
        </p:nvSpPr>
        <p:spPr>
          <a:xfrm>
            <a:off x="12325350" y="4200525"/>
            <a:ext cx="5553075" cy="323850"/>
          </a:xfrm>
          <a:prstGeom prst="rect">
            <a:avLst/>
          </a:prstGeom>
          <a:noFill/>
          <a:ln/>
        </p:spPr>
        <p:txBody>
          <a:bodyPr wrap="square" lIns="25400" tIns="25400" rIns="25400" bIns="25400" rtlCol="0" anchor="t">
            <a:normAutofit/>
          </a:bodyPr>
          <a:lstStyle/>
          <a:p>
            <a:pPr algn="l" indent="0" marL="0">
              <a:lnSpc>
                <a:spcPct val="93750"/>
              </a:lnSpc>
              <a:buNone/>
            </a:pPr>
            <a:r>
              <a:rPr lang="en-US" sz="1800" b="1" dirty="0">
                <a:solidFill>
                  <a:srgbClr val="F2EFE9"/>
                </a:solidFill>
                <a:latin typeface="IBM Plex Sans" pitchFamily="34" charset="0"/>
                <a:ea typeface="IBM Plex Sans" pitchFamily="34" charset="-122"/>
                <a:cs typeface="IBM Plex Sans" pitchFamily="34" charset="-120"/>
              </a:rPr>
              <a:t>Checks renderer</a:t>
            </a:r>
            <a:endParaRPr lang="en-US" sz="1800" dirty="0"/>
          </a:p>
        </p:txBody>
      </p:sp>
      <p:sp>
        <p:nvSpPr>
          <p:cNvPr id="44" name="Text 35"/>
          <p:cNvSpPr/>
          <p:nvPr/>
        </p:nvSpPr>
        <p:spPr>
          <a:xfrm>
            <a:off x="12325350" y="4543425"/>
            <a:ext cx="5199698" cy="514350"/>
          </a:xfrm>
          <a:prstGeom prst="rect">
            <a:avLst/>
          </a:prstGeom>
          <a:noFill/>
          <a:ln/>
        </p:spPr>
        <p:txBody>
          <a:bodyPr wrap="square" lIns="25400" tIns="25400" rIns="25400" bIns="25400" rtlCol="0" anchor="t">
            <a:normAutofit/>
          </a:bodyPr>
          <a:lstStyle/>
          <a:p>
            <a:pPr algn="l" indent="0" marL="0">
              <a:lnSpc>
                <a:spcPct val="106875"/>
              </a:lnSpc>
              <a:buNone/>
            </a:pPr>
            <a:r>
              <a:rPr lang="en-US" sz="1425" dirty="0">
                <a:solidFill>
                  <a:srgbClr val="B8BDC4"/>
                </a:solidFill>
                <a:latin typeface="IBM Plex Sans" pitchFamily="34" charset="0"/>
                <a:ea typeface="IBM Plex Sans" pitchFamily="34" charset="-122"/>
                <a:cs typeface="IBM Plex Sans" pitchFamily="34" charset="-120"/>
              </a:rPr>
              <a:t>status check + one stable comment · delta highlighted · accept / correct link — no spam</a:t>
            </a:r>
            <a:endParaRPr lang="en-US" sz="1425" dirty="0"/>
          </a:p>
        </p:txBody>
      </p:sp>
      <p:sp>
        <p:nvSpPr>
          <p:cNvPr id="45" name="Text 36"/>
          <p:cNvSpPr/>
          <p:nvPr/>
        </p:nvSpPr>
        <p:spPr>
          <a:xfrm>
            <a:off x="762000" y="5362575"/>
            <a:ext cx="17266920" cy="4953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Mono" pitchFamily="34" charset="0"/>
                <a:ea typeface="IBM Plex Mono" pitchFamily="34" charset="-122"/>
                <a:cs typeface="IBM Plex Mono" pitchFamily="34" charset="-120"/>
              </a:rPr>
              <a:t>BUDGET · p95 &lt; 30 s · 120 s → FAIL-OPEN + WARN · PARSERS + CACHE ONLY — THE LLM NEVER RUNS HERE · READ-ONLY — NEVER WRITES THE GRAPH · VERDICTS EXPLAINED ON THE NEXT SLIDE</a:t>
            </a:r>
            <a:endParaRPr lang="en-US" sz="142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762000" y="342900"/>
            <a:ext cx="18440400" cy="361950"/>
          </a:xfrm>
          <a:prstGeom prst="rect">
            <a:avLst/>
          </a:prstGeom>
          <a:noFill/>
          <a:ln/>
        </p:spPr>
        <p:txBody>
          <a:bodyPr wrap="square" lIns="25400" tIns="25400" rIns="25400" bIns="25400" rtlCol="0" anchor="t">
            <a:normAutofit/>
          </a:bodyPr>
          <a:lstStyle/>
          <a:p>
            <a:pPr algn="l" indent="0" marL="0">
              <a:buNone/>
            </a:pPr>
            <a:r>
              <a:rPr lang="en-US" sz="1950" spc="312" kern="0" dirty="0">
                <a:solidFill>
                  <a:srgbClr val="4D535B"/>
                </a:solidFill>
                <a:latin typeface="IBM Plex Mono" pitchFamily="34" charset="0"/>
                <a:ea typeface="IBM Plex Mono" pitchFamily="34" charset="-122"/>
                <a:cs typeface="IBM Plex Mono" pitchFamily="34" charset="-120"/>
              </a:rPr>
              <a:t>13B · APPENDIX · PR GATE — WHAT EACH VERDICT MEANS</a:t>
            </a:r>
            <a:endParaRPr lang="en-US" sz="1950" dirty="0"/>
          </a:p>
        </p:txBody>
      </p:sp>
      <p:sp>
        <p:nvSpPr>
          <p:cNvPr id="3" name="Text 1"/>
          <p:cNvSpPr/>
          <p:nvPr/>
        </p:nvSpPr>
        <p:spPr>
          <a:xfrm>
            <a:off x="762000" y="762000"/>
            <a:ext cx="18440400" cy="771525"/>
          </a:xfrm>
          <a:prstGeom prst="rect">
            <a:avLst/>
          </a:prstGeom>
          <a:noFill/>
          <a:ln/>
        </p:spPr>
        <p:txBody>
          <a:bodyPr wrap="square" lIns="25400" tIns="25400" rIns="25400" bIns="25400" rtlCol="0" anchor="t">
            <a:normAutofit/>
          </a:bodyPr>
          <a:lstStyle/>
          <a:p>
            <a:pPr algn="l" indent="0" marL="0">
              <a:buNone/>
            </a:pPr>
            <a:r>
              <a:rPr lang="en-US" sz="4500" b="1" dirty="0">
                <a:solidFill>
                  <a:srgbClr val="191C20"/>
                </a:solidFill>
                <a:latin typeface="IBM Plex Sans" pitchFamily="34" charset="0"/>
                <a:ea typeface="IBM Plex Sans" pitchFamily="34" charset="-122"/>
                <a:cs typeface="IBM Plex Sans" pitchFamily="34" charset="-120"/>
              </a:rPr>
              <a:t>PR Gate Appendix — Verdicts Explained</a:t>
            </a:r>
            <a:endParaRPr lang="en-US" sz="4500" dirty="0"/>
          </a:p>
        </p:txBody>
      </p:sp>
      <p:sp>
        <p:nvSpPr>
          <p:cNvPr id="4" name="Shape 2"/>
          <p:cNvSpPr/>
          <p:nvPr/>
        </p:nvSpPr>
        <p:spPr>
          <a:xfrm>
            <a:off x="762000" y="1666875"/>
            <a:ext cx="16764000" cy="19050"/>
          </a:xfrm>
          <a:prstGeom prst="rect">
            <a:avLst/>
          </a:prstGeom>
          <a:solidFill>
            <a:srgbClr val="191C20"/>
          </a:solidFill>
          <a:ln/>
        </p:spPr>
      </p:sp>
      <p:sp>
        <p:nvSpPr>
          <p:cNvPr id="5" name="Shape 3"/>
          <p:cNvSpPr/>
          <p:nvPr/>
        </p:nvSpPr>
        <p:spPr>
          <a:xfrm>
            <a:off x="762000" y="2085975"/>
            <a:ext cx="2190750" cy="9525"/>
          </a:xfrm>
          <a:prstGeom prst="rect">
            <a:avLst/>
          </a:prstGeom>
          <a:solidFill>
            <a:srgbClr val="E0DCD3"/>
          </a:solidFill>
          <a:ln/>
        </p:spPr>
      </p:sp>
      <p:sp>
        <p:nvSpPr>
          <p:cNvPr id="6" name="Text 4"/>
          <p:cNvSpPr/>
          <p:nvPr/>
        </p:nvSpPr>
        <p:spPr>
          <a:xfrm>
            <a:off x="838200" y="1771650"/>
            <a:ext cx="2114550" cy="2667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Mono" pitchFamily="34" charset="0"/>
                <a:ea typeface="IBM Plex Mono" pitchFamily="34" charset="-122"/>
                <a:cs typeface="IBM Plex Mono" pitchFamily="34" charset="-120"/>
              </a:rPr>
              <a:t>VERDICT</a:t>
            </a:r>
            <a:endParaRPr lang="en-US" sz="1425" dirty="0"/>
          </a:p>
        </p:txBody>
      </p:sp>
      <p:sp>
        <p:nvSpPr>
          <p:cNvPr id="7" name="Shape 5"/>
          <p:cNvSpPr/>
          <p:nvPr/>
        </p:nvSpPr>
        <p:spPr>
          <a:xfrm>
            <a:off x="2952750" y="2085975"/>
            <a:ext cx="6624191" cy="9525"/>
          </a:xfrm>
          <a:prstGeom prst="rect">
            <a:avLst/>
          </a:prstGeom>
          <a:solidFill>
            <a:srgbClr val="E0DCD3"/>
          </a:solidFill>
          <a:ln/>
        </p:spPr>
      </p:sp>
      <p:sp>
        <p:nvSpPr>
          <p:cNvPr id="8" name="Text 6"/>
          <p:cNvSpPr/>
          <p:nvPr/>
        </p:nvSpPr>
        <p:spPr>
          <a:xfrm>
            <a:off x="3028950" y="1771650"/>
            <a:ext cx="6670517" cy="2667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Mono" pitchFamily="34" charset="0"/>
                <a:ea typeface="IBM Plex Mono" pitchFamily="34" charset="-122"/>
                <a:cs typeface="IBM Plex Mono" pitchFamily="34" charset="-120"/>
              </a:rPr>
              <a:t>WHEN IT FIRES</a:t>
            </a:r>
            <a:endParaRPr lang="en-US" sz="1425" dirty="0"/>
          </a:p>
        </p:txBody>
      </p:sp>
      <p:sp>
        <p:nvSpPr>
          <p:cNvPr id="9" name="Shape 7"/>
          <p:cNvSpPr/>
          <p:nvPr/>
        </p:nvSpPr>
        <p:spPr>
          <a:xfrm>
            <a:off x="9576941" y="2085975"/>
            <a:ext cx="7948910" cy="9525"/>
          </a:xfrm>
          <a:prstGeom prst="rect">
            <a:avLst/>
          </a:prstGeom>
          <a:solidFill>
            <a:srgbClr val="E0DCD3"/>
          </a:solidFill>
          <a:ln/>
        </p:spPr>
      </p:sp>
      <p:sp>
        <p:nvSpPr>
          <p:cNvPr id="10" name="Text 8"/>
          <p:cNvSpPr/>
          <p:nvPr/>
        </p:nvSpPr>
        <p:spPr>
          <a:xfrm>
            <a:off x="9653141" y="1771650"/>
            <a:ext cx="8034977" cy="2667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Mono" pitchFamily="34" charset="0"/>
                <a:ea typeface="IBM Plex Mono" pitchFamily="34" charset="-122"/>
                <a:cs typeface="IBM Plex Mono" pitchFamily="34" charset="-120"/>
              </a:rPr>
              <a:t>WHAT THE AUTHOR SEES</a:t>
            </a:r>
            <a:endParaRPr lang="en-US" sz="1425" dirty="0"/>
          </a:p>
        </p:txBody>
      </p:sp>
      <p:sp>
        <p:nvSpPr>
          <p:cNvPr id="11" name="Shape 9"/>
          <p:cNvSpPr/>
          <p:nvPr/>
        </p:nvSpPr>
        <p:spPr>
          <a:xfrm>
            <a:off x="762000" y="2724150"/>
            <a:ext cx="2190750" cy="9525"/>
          </a:xfrm>
          <a:prstGeom prst="rect">
            <a:avLst/>
          </a:prstGeom>
          <a:solidFill>
            <a:srgbClr val="E0DCD3"/>
          </a:solidFill>
          <a:ln/>
        </p:spPr>
      </p:sp>
      <p:sp>
        <p:nvSpPr>
          <p:cNvPr id="12" name="Text 10"/>
          <p:cNvSpPr/>
          <p:nvPr/>
        </p:nvSpPr>
        <p:spPr>
          <a:xfrm>
            <a:off x="838200" y="2181225"/>
            <a:ext cx="2114550" cy="495300"/>
          </a:xfrm>
          <a:prstGeom prst="rect">
            <a:avLst/>
          </a:prstGeom>
          <a:noFill/>
          <a:ln/>
        </p:spPr>
        <p:txBody>
          <a:bodyPr wrap="square" lIns="25400" tIns="25400" rIns="25400" bIns="25400" rtlCol="0" anchor="t">
            <a:normAutofit/>
          </a:bodyPr>
          <a:lstStyle/>
          <a:p>
            <a:pPr algn="l" indent="0" marL="0">
              <a:buNone/>
            </a:pPr>
            <a:r>
              <a:rPr lang="en-US" sz="1425" dirty="0">
                <a:solidFill>
                  <a:srgbClr val="191C20"/>
                </a:solidFill>
                <a:latin typeface="IBM Plex Mono" pitchFamily="34" charset="0"/>
                <a:ea typeface="IBM Plex Mono" pitchFamily="34" charset="-122"/>
                <a:cs typeface="IBM Plex Mono" pitchFamily="34" charset="-120"/>
              </a:rPr>
              <a:t>PASS</a:t>
            </a:r>
            <a:endParaRPr lang="en-US" sz="1425" dirty="0"/>
          </a:p>
        </p:txBody>
      </p:sp>
      <p:sp>
        <p:nvSpPr>
          <p:cNvPr id="13" name="Shape 11"/>
          <p:cNvSpPr/>
          <p:nvPr/>
        </p:nvSpPr>
        <p:spPr>
          <a:xfrm>
            <a:off x="2952750" y="2724150"/>
            <a:ext cx="6624191" cy="9525"/>
          </a:xfrm>
          <a:prstGeom prst="rect">
            <a:avLst/>
          </a:prstGeom>
          <a:solidFill>
            <a:srgbClr val="E0DCD3"/>
          </a:solidFill>
          <a:ln/>
        </p:spPr>
      </p:sp>
      <p:sp>
        <p:nvSpPr>
          <p:cNvPr id="14" name="Text 12"/>
          <p:cNvSpPr/>
          <p:nvPr/>
        </p:nvSpPr>
        <p:spPr>
          <a:xfrm>
            <a:off x="3028950" y="2181225"/>
            <a:ext cx="6670517" cy="4953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The diff touches no published lineage, or impact is confined to the changing service</a:t>
            </a:r>
            <a:endParaRPr lang="en-US" sz="1425" dirty="0"/>
          </a:p>
        </p:txBody>
      </p:sp>
      <p:sp>
        <p:nvSpPr>
          <p:cNvPr id="15" name="Shape 13"/>
          <p:cNvSpPr/>
          <p:nvPr/>
        </p:nvSpPr>
        <p:spPr>
          <a:xfrm>
            <a:off x="9576941" y="2724150"/>
            <a:ext cx="7948910" cy="9525"/>
          </a:xfrm>
          <a:prstGeom prst="rect">
            <a:avLst/>
          </a:prstGeom>
          <a:solidFill>
            <a:srgbClr val="E0DCD3"/>
          </a:solidFill>
          <a:ln/>
        </p:spPr>
      </p:sp>
      <p:sp>
        <p:nvSpPr>
          <p:cNvPr id="16" name="Text 14"/>
          <p:cNvSpPr/>
          <p:nvPr/>
        </p:nvSpPr>
        <p:spPr>
          <a:xfrm>
            <a:off x="9653141" y="2181225"/>
            <a:ext cx="8034977" cy="4953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Green check — no comment noise</a:t>
            </a:r>
            <a:endParaRPr lang="en-US" sz="1425" dirty="0"/>
          </a:p>
        </p:txBody>
      </p:sp>
      <p:sp>
        <p:nvSpPr>
          <p:cNvPr id="17" name="Shape 15"/>
          <p:cNvSpPr/>
          <p:nvPr/>
        </p:nvSpPr>
        <p:spPr>
          <a:xfrm>
            <a:off x="762000" y="3362325"/>
            <a:ext cx="2190750" cy="9525"/>
          </a:xfrm>
          <a:prstGeom prst="rect">
            <a:avLst/>
          </a:prstGeom>
          <a:solidFill>
            <a:srgbClr val="E0DCD3"/>
          </a:solidFill>
          <a:ln/>
        </p:spPr>
      </p:sp>
      <p:sp>
        <p:nvSpPr>
          <p:cNvPr id="18" name="Text 16"/>
          <p:cNvSpPr/>
          <p:nvPr/>
        </p:nvSpPr>
        <p:spPr>
          <a:xfrm>
            <a:off x="838200" y="2819400"/>
            <a:ext cx="2114550" cy="495300"/>
          </a:xfrm>
          <a:prstGeom prst="rect">
            <a:avLst/>
          </a:prstGeom>
          <a:noFill/>
          <a:ln/>
        </p:spPr>
        <p:txBody>
          <a:bodyPr wrap="square" lIns="25400" tIns="25400" rIns="25400" bIns="25400" rtlCol="0" anchor="t">
            <a:normAutofit/>
          </a:bodyPr>
          <a:lstStyle/>
          <a:p>
            <a:pPr algn="l" indent="0" marL="0">
              <a:buNone/>
            </a:pPr>
            <a:r>
              <a:rPr lang="en-US" sz="1425" dirty="0">
                <a:solidFill>
                  <a:srgbClr val="191C20"/>
                </a:solidFill>
                <a:latin typeface="IBM Plex Mono" pitchFamily="34" charset="0"/>
                <a:ea typeface="IBM Plex Mono" pitchFamily="34" charset="-122"/>
                <a:cs typeface="IBM Plex Mono" pitchFamily="34" charset="-120"/>
              </a:rPr>
              <a:t>WARN</a:t>
            </a:r>
            <a:endParaRPr lang="en-US" sz="1425" dirty="0"/>
          </a:p>
        </p:txBody>
      </p:sp>
      <p:sp>
        <p:nvSpPr>
          <p:cNvPr id="19" name="Shape 17"/>
          <p:cNvSpPr/>
          <p:nvPr/>
        </p:nvSpPr>
        <p:spPr>
          <a:xfrm>
            <a:off x="2952750" y="3362325"/>
            <a:ext cx="6624191" cy="9525"/>
          </a:xfrm>
          <a:prstGeom prst="rect">
            <a:avLst/>
          </a:prstGeom>
          <a:solidFill>
            <a:srgbClr val="E0DCD3"/>
          </a:solidFill>
          <a:ln/>
        </p:spPr>
      </p:sp>
      <p:sp>
        <p:nvSpPr>
          <p:cNvPr id="20" name="Text 18"/>
          <p:cNvSpPr/>
          <p:nvPr/>
        </p:nvSpPr>
        <p:spPr>
          <a:xfrm>
            <a:off x="3028950" y="2819400"/>
            <a:ext cx="6670517" cy="4953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Material impact found, but the edge is single-mechanism confidence — or the repo is in the observe/warn ramp phase</a:t>
            </a:r>
            <a:endParaRPr lang="en-US" sz="1425" dirty="0"/>
          </a:p>
        </p:txBody>
      </p:sp>
      <p:sp>
        <p:nvSpPr>
          <p:cNvPr id="21" name="Shape 19"/>
          <p:cNvSpPr/>
          <p:nvPr/>
        </p:nvSpPr>
        <p:spPr>
          <a:xfrm>
            <a:off x="9576941" y="3362325"/>
            <a:ext cx="7948910" cy="9525"/>
          </a:xfrm>
          <a:prstGeom prst="rect">
            <a:avLst/>
          </a:prstGeom>
          <a:solidFill>
            <a:srgbClr val="E0DCD3"/>
          </a:solidFill>
          <a:ln/>
        </p:spPr>
      </p:sp>
      <p:sp>
        <p:nvSpPr>
          <p:cNvPr id="22" name="Text 20"/>
          <p:cNvSpPr/>
          <p:nvPr/>
        </p:nvSpPr>
        <p:spPr>
          <a:xfrm>
            <a:off x="9653141" y="2819400"/>
            <a:ext cx="8034977" cy="4953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Yellow check + comment listing affected consumers and the evidence behind each edge</a:t>
            </a:r>
            <a:endParaRPr lang="en-US" sz="1425" dirty="0"/>
          </a:p>
        </p:txBody>
      </p:sp>
      <p:sp>
        <p:nvSpPr>
          <p:cNvPr id="23" name="Shape 21"/>
          <p:cNvSpPr/>
          <p:nvPr/>
        </p:nvSpPr>
        <p:spPr>
          <a:xfrm>
            <a:off x="762000" y="4000500"/>
            <a:ext cx="2190750" cy="9525"/>
          </a:xfrm>
          <a:prstGeom prst="rect">
            <a:avLst/>
          </a:prstGeom>
          <a:solidFill>
            <a:srgbClr val="E0DCD3"/>
          </a:solidFill>
          <a:ln/>
        </p:spPr>
      </p:sp>
      <p:sp>
        <p:nvSpPr>
          <p:cNvPr id="24" name="Text 22"/>
          <p:cNvSpPr/>
          <p:nvPr/>
        </p:nvSpPr>
        <p:spPr>
          <a:xfrm>
            <a:off x="838200" y="3457575"/>
            <a:ext cx="2114550" cy="495300"/>
          </a:xfrm>
          <a:prstGeom prst="rect">
            <a:avLst/>
          </a:prstGeom>
          <a:noFill/>
          <a:ln/>
        </p:spPr>
        <p:txBody>
          <a:bodyPr wrap="square" lIns="25400" tIns="25400" rIns="25400" bIns="25400" rtlCol="0" anchor="t">
            <a:normAutofit/>
          </a:bodyPr>
          <a:lstStyle/>
          <a:p>
            <a:pPr algn="l" indent="0" marL="0">
              <a:buNone/>
            </a:pPr>
            <a:r>
              <a:rPr lang="en-US" sz="1425" dirty="0">
                <a:solidFill>
                  <a:srgbClr val="191C20"/>
                </a:solidFill>
                <a:latin typeface="IBM Plex Mono" pitchFamily="34" charset="0"/>
                <a:ea typeface="IBM Plex Mono" pitchFamily="34" charset="-122"/>
                <a:cs typeface="IBM Plex Mono" pitchFamily="34" charset="-120"/>
              </a:rPr>
              <a:t>BLOCK</a:t>
            </a:r>
            <a:endParaRPr lang="en-US" sz="1425" dirty="0"/>
          </a:p>
        </p:txBody>
      </p:sp>
      <p:sp>
        <p:nvSpPr>
          <p:cNvPr id="25" name="Shape 23"/>
          <p:cNvSpPr/>
          <p:nvPr/>
        </p:nvSpPr>
        <p:spPr>
          <a:xfrm>
            <a:off x="2952750" y="4000500"/>
            <a:ext cx="6624191" cy="9525"/>
          </a:xfrm>
          <a:prstGeom prst="rect">
            <a:avLst/>
          </a:prstGeom>
          <a:solidFill>
            <a:srgbClr val="E0DCD3"/>
          </a:solidFill>
          <a:ln/>
        </p:spPr>
      </p:sp>
      <p:sp>
        <p:nvSpPr>
          <p:cNvPr id="26" name="Text 24"/>
          <p:cNvSpPr/>
          <p:nvPr/>
        </p:nvSpPr>
        <p:spPr>
          <a:xfrm>
            <a:off x="3028950" y="3457575"/>
            <a:ext cx="6670517" cy="4953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A high-confidence edge (mapped by multiple independent mechanisms, e.g. SCA + runtime) is broken — e.g. a column consumers still read is dropped</a:t>
            </a:r>
            <a:endParaRPr lang="en-US" sz="1425" dirty="0"/>
          </a:p>
        </p:txBody>
      </p:sp>
      <p:sp>
        <p:nvSpPr>
          <p:cNvPr id="27" name="Shape 25"/>
          <p:cNvSpPr/>
          <p:nvPr/>
        </p:nvSpPr>
        <p:spPr>
          <a:xfrm>
            <a:off x="9576941" y="4000500"/>
            <a:ext cx="7948910" cy="9525"/>
          </a:xfrm>
          <a:prstGeom prst="rect">
            <a:avLst/>
          </a:prstGeom>
          <a:solidFill>
            <a:srgbClr val="E0DCD3"/>
          </a:solidFill>
          <a:ln/>
        </p:spPr>
      </p:sp>
      <p:sp>
        <p:nvSpPr>
          <p:cNvPr id="28" name="Text 26"/>
          <p:cNvSpPr/>
          <p:nvPr/>
        </p:nvSpPr>
        <p:spPr>
          <a:xfrm>
            <a:off x="9653141" y="3457575"/>
            <a:ext cx="8034977" cy="4953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Red check + affected consumers · waiver path: time-boxed, owner + reason, audited</a:t>
            </a:r>
            <a:endParaRPr lang="en-US" sz="1425" dirty="0"/>
          </a:p>
        </p:txBody>
      </p:sp>
      <p:sp>
        <p:nvSpPr>
          <p:cNvPr id="29" name="Shape 27"/>
          <p:cNvSpPr/>
          <p:nvPr/>
        </p:nvSpPr>
        <p:spPr>
          <a:xfrm>
            <a:off x="762000" y="4410075"/>
            <a:ext cx="2190750" cy="9525"/>
          </a:xfrm>
          <a:prstGeom prst="rect">
            <a:avLst/>
          </a:prstGeom>
          <a:solidFill>
            <a:srgbClr val="E0DCD3"/>
          </a:solidFill>
          <a:ln/>
        </p:spPr>
      </p:sp>
      <p:sp>
        <p:nvSpPr>
          <p:cNvPr id="30" name="Text 28"/>
          <p:cNvSpPr/>
          <p:nvPr/>
        </p:nvSpPr>
        <p:spPr>
          <a:xfrm>
            <a:off x="838200" y="4095750"/>
            <a:ext cx="2114550" cy="266700"/>
          </a:xfrm>
          <a:prstGeom prst="rect">
            <a:avLst/>
          </a:prstGeom>
          <a:noFill/>
          <a:ln/>
        </p:spPr>
        <p:txBody>
          <a:bodyPr wrap="square" lIns="25400" tIns="25400" rIns="25400" bIns="25400" rtlCol="0" anchor="t">
            <a:normAutofit/>
          </a:bodyPr>
          <a:lstStyle/>
          <a:p>
            <a:pPr algn="l" indent="0" marL="0">
              <a:buNone/>
            </a:pPr>
            <a:r>
              <a:rPr lang="en-US" sz="1425" dirty="0">
                <a:solidFill>
                  <a:srgbClr val="191C20"/>
                </a:solidFill>
                <a:latin typeface="IBM Plex Mono" pitchFamily="34" charset="0"/>
                <a:ea typeface="IBM Plex Mono" pitchFamily="34" charset="-122"/>
                <a:cs typeface="IBM Plex Mono" pitchFamily="34" charset="-120"/>
              </a:rPr>
              <a:t>FAIL-OPEN</a:t>
            </a:r>
            <a:endParaRPr lang="en-US" sz="1425" dirty="0"/>
          </a:p>
        </p:txBody>
      </p:sp>
      <p:sp>
        <p:nvSpPr>
          <p:cNvPr id="31" name="Shape 29"/>
          <p:cNvSpPr/>
          <p:nvPr/>
        </p:nvSpPr>
        <p:spPr>
          <a:xfrm>
            <a:off x="2952750" y="4410075"/>
            <a:ext cx="6624191" cy="9525"/>
          </a:xfrm>
          <a:prstGeom prst="rect">
            <a:avLst/>
          </a:prstGeom>
          <a:solidFill>
            <a:srgbClr val="E0DCD3"/>
          </a:solidFill>
          <a:ln/>
        </p:spPr>
      </p:sp>
      <p:sp>
        <p:nvSpPr>
          <p:cNvPr id="32" name="Text 30"/>
          <p:cNvSpPr/>
          <p:nvPr/>
        </p:nvSpPr>
        <p:spPr>
          <a:xfrm>
            <a:off x="3028950" y="4095750"/>
            <a:ext cx="6670517" cy="2667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The 120 s hard budget is exceeded (p95 target is 30 s)</a:t>
            </a:r>
            <a:endParaRPr lang="en-US" sz="1425" dirty="0"/>
          </a:p>
        </p:txBody>
      </p:sp>
      <p:sp>
        <p:nvSpPr>
          <p:cNvPr id="33" name="Shape 31"/>
          <p:cNvSpPr/>
          <p:nvPr/>
        </p:nvSpPr>
        <p:spPr>
          <a:xfrm>
            <a:off x="9576941" y="4410075"/>
            <a:ext cx="7948910" cy="9525"/>
          </a:xfrm>
          <a:prstGeom prst="rect">
            <a:avLst/>
          </a:prstGeom>
          <a:solidFill>
            <a:srgbClr val="E0DCD3"/>
          </a:solidFill>
          <a:ln/>
        </p:spPr>
      </p:sp>
      <p:sp>
        <p:nvSpPr>
          <p:cNvPr id="34" name="Text 32"/>
          <p:cNvSpPr/>
          <p:nvPr/>
        </p:nvSpPr>
        <p:spPr>
          <a:xfrm>
            <a:off x="9653141" y="4095750"/>
            <a:ext cx="8034977" cy="2667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Warn verdict + audit record — a slow gate must never block delivery</a:t>
            </a:r>
            <a:endParaRPr lang="en-US" sz="1425" dirty="0"/>
          </a:p>
        </p:txBody>
      </p:sp>
      <p:sp>
        <p:nvSpPr>
          <p:cNvPr id="35" name="Shape 33"/>
          <p:cNvSpPr/>
          <p:nvPr/>
        </p:nvSpPr>
        <p:spPr>
          <a:xfrm>
            <a:off x="762000" y="4819650"/>
            <a:ext cx="2190750" cy="9525"/>
          </a:xfrm>
          <a:prstGeom prst="rect">
            <a:avLst/>
          </a:prstGeom>
          <a:solidFill>
            <a:srgbClr val="E0DCD3"/>
          </a:solidFill>
          <a:ln/>
        </p:spPr>
      </p:sp>
      <p:sp>
        <p:nvSpPr>
          <p:cNvPr id="36" name="Text 34"/>
          <p:cNvSpPr/>
          <p:nvPr/>
        </p:nvSpPr>
        <p:spPr>
          <a:xfrm>
            <a:off x="838200" y="4505325"/>
            <a:ext cx="2114550" cy="266700"/>
          </a:xfrm>
          <a:prstGeom prst="rect">
            <a:avLst/>
          </a:prstGeom>
          <a:noFill/>
          <a:ln/>
        </p:spPr>
        <p:txBody>
          <a:bodyPr wrap="square" lIns="25400" tIns="25400" rIns="25400" bIns="25400" rtlCol="0" anchor="t">
            <a:normAutofit/>
          </a:bodyPr>
          <a:lstStyle/>
          <a:p>
            <a:pPr algn="l" indent="0" marL="0">
              <a:buNone/>
            </a:pPr>
            <a:r>
              <a:rPr lang="en-US" sz="1425" dirty="0">
                <a:solidFill>
                  <a:srgbClr val="191C20"/>
                </a:solidFill>
                <a:latin typeface="IBM Plex Mono" pitchFamily="34" charset="0"/>
                <a:ea typeface="IBM Plex Mono" pitchFamily="34" charset="-122"/>
                <a:cs typeface="IBM Plex Mono" pitchFamily="34" charset="-120"/>
              </a:rPr>
              <a:t>SUPERSEDED</a:t>
            </a:r>
            <a:endParaRPr lang="en-US" sz="1425" dirty="0"/>
          </a:p>
        </p:txBody>
      </p:sp>
      <p:sp>
        <p:nvSpPr>
          <p:cNvPr id="37" name="Shape 35"/>
          <p:cNvSpPr/>
          <p:nvPr/>
        </p:nvSpPr>
        <p:spPr>
          <a:xfrm>
            <a:off x="2952750" y="4819650"/>
            <a:ext cx="6624191" cy="9525"/>
          </a:xfrm>
          <a:prstGeom prst="rect">
            <a:avLst/>
          </a:prstGeom>
          <a:solidFill>
            <a:srgbClr val="E0DCD3"/>
          </a:solidFill>
          <a:ln/>
        </p:spPr>
      </p:sp>
      <p:sp>
        <p:nvSpPr>
          <p:cNvPr id="38" name="Text 36"/>
          <p:cNvSpPr/>
          <p:nvPr/>
        </p:nvSpPr>
        <p:spPr>
          <a:xfrm>
            <a:off x="3028950" y="4505325"/>
            <a:ext cx="6670517" cy="2667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Rebase / force-push replaces the head candidate</a:t>
            </a:r>
            <a:endParaRPr lang="en-US" sz="1425" dirty="0"/>
          </a:p>
        </p:txBody>
      </p:sp>
      <p:sp>
        <p:nvSpPr>
          <p:cNvPr id="39" name="Shape 37"/>
          <p:cNvSpPr/>
          <p:nvPr/>
        </p:nvSpPr>
        <p:spPr>
          <a:xfrm>
            <a:off x="9576941" y="4819650"/>
            <a:ext cx="7948910" cy="9525"/>
          </a:xfrm>
          <a:prstGeom prst="rect">
            <a:avLst/>
          </a:prstGeom>
          <a:solidFill>
            <a:srgbClr val="E0DCD3"/>
          </a:solidFill>
          <a:ln/>
        </p:spPr>
      </p:sp>
      <p:sp>
        <p:nvSpPr>
          <p:cNvPr id="40" name="Text 38"/>
          <p:cNvSpPr/>
          <p:nvPr/>
        </p:nvSpPr>
        <p:spPr>
          <a:xfrm>
            <a:off x="9653141" y="4505325"/>
            <a:ext cx="8034977" cy="2667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Prior result kept for audit; the new head is evaluated fresh</a:t>
            </a:r>
            <a:endParaRPr lang="en-US" sz="1425" dirty="0"/>
          </a:p>
        </p:txBody>
      </p:sp>
      <p:sp>
        <p:nvSpPr>
          <p:cNvPr id="41" name="Shape 39"/>
          <p:cNvSpPr/>
          <p:nvPr/>
        </p:nvSpPr>
        <p:spPr>
          <a:xfrm>
            <a:off x="762000" y="4962525"/>
            <a:ext cx="5511701" cy="1019175"/>
          </a:xfrm>
          <a:prstGeom prst="rect">
            <a:avLst/>
          </a:prstGeom>
          <a:solidFill>
            <a:srgbClr val="FFFFFF"/>
          </a:solidFill>
          <a:ln w="9525">
            <a:solidFill>
              <a:srgbClr val="E0DCD3"/>
            </a:solidFill>
            <a:prstDash val="solid"/>
          </a:ln>
        </p:spPr>
      </p:sp>
      <p:sp>
        <p:nvSpPr>
          <p:cNvPr id="42" name="Text 40"/>
          <p:cNvSpPr/>
          <p:nvPr/>
        </p:nvSpPr>
        <p:spPr>
          <a:xfrm>
            <a:off x="962025" y="5086350"/>
            <a:ext cx="5277002" cy="809625"/>
          </a:xfrm>
          <a:prstGeom prst="rect">
            <a:avLst/>
          </a:prstGeom>
          <a:noFill/>
          <a:ln/>
        </p:spPr>
        <p:txBody>
          <a:bodyPr wrap="square" lIns="25400" tIns="25400" rIns="25400" bIns="25400" rtlCol="0" anchor="t">
            <a:normAutofit/>
          </a:bodyPr>
          <a:lstStyle/>
          <a:p>
            <a:pPr algn="l" indent="0" marL="0">
              <a:lnSpc>
                <a:spcPct val="114792"/>
              </a:lnSpc>
              <a:buNone/>
            </a:pPr>
            <a:r>
              <a:rPr lang="en-US" sz="1425" dirty="0">
                <a:solidFill>
                  <a:srgbClr val="3D5A48"/>
                </a:solidFill>
                <a:latin typeface="IBM Plex Mono" pitchFamily="34" charset="0"/>
                <a:ea typeface="IBM Plex Mono" pitchFamily="34" charset="-122"/>
                <a:cs typeface="IBM Plex Mono" pitchFamily="34" charset="-120"/>
              </a:rPr>
              <a:t>GATE POLICY </a:t>
            </a:r>
            <a:pPr algn="l" indent="0" marL="0">
              <a:lnSpc>
                <a:spcPct val="114792"/>
              </a:lnSpc>
              <a:buNone/>
            </a:pPr>
            <a:r>
              <a:rPr lang="en-US" sz="1425" dirty="0">
                <a:solidFill>
                  <a:srgbClr val="4D535B"/>
                </a:solidFill>
                <a:highlight>
                  <a:srgbClr val="FFFFFF"/>
                </a:highlight>
                <a:latin typeface="IBM Plex Sans" pitchFamily="34" charset="0"/>
                <a:ea typeface="IBM Plex Sans" pitchFamily="34" charset="-122"/>
                <a:cs typeface="IBM Plex Sans" pitchFamily="34" charset="-120"/>
              </a:rPr>
              <a:t>— only high-confidence, multi-mechanism edges can block · single-mechanism edges inform, never gate · LLM-only edges never gate</a:t>
            </a:r>
            <a:endParaRPr lang="en-US" sz="1425" dirty="0"/>
          </a:p>
        </p:txBody>
      </p:sp>
      <p:sp>
        <p:nvSpPr>
          <p:cNvPr id="43" name="Shape 41"/>
          <p:cNvSpPr/>
          <p:nvPr/>
        </p:nvSpPr>
        <p:spPr>
          <a:xfrm>
            <a:off x="6388001" y="4962525"/>
            <a:ext cx="5511850" cy="1019175"/>
          </a:xfrm>
          <a:prstGeom prst="rect">
            <a:avLst/>
          </a:prstGeom>
          <a:solidFill>
            <a:srgbClr val="FFFFFF"/>
          </a:solidFill>
          <a:ln w="9525">
            <a:solidFill>
              <a:srgbClr val="E0DCD3"/>
            </a:solidFill>
            <a:prstDash val="solid"/>
          </a:ln>
        </p:spPr>
      </p:sp>
      <p:sp>
        <p:nvSpPr>
          <p:cNvPr id="44" name="Text 42"/>
          <p:cNvSpPr/>
          <p:nvPr/>
        </p:nvSpPr>
        <p:spPr>
          <a:xfrm>
            <a:off x="6588026" y="5086350"/>
            <a:ext cx="5277155" cy="809625"/>
          </a:xfrm>
          <a:prstGeom prst="rect">
            <a:avLst/>
          </a:prstGeom>
          <a:noFill/>
          <a:ln/>
        </p:spPr>
        <p:txBody>
          <a:bodyPr wrap="square" lIns="25400" tIns="25400" rIns="25400" bIns="25400" rtlCol="0" anchor="t">
            <a:normAutofit/>
          </a:bodyPr>
          <a:lstStyle/>
          <a:p>
            <a:pPr algn="l" indent="0" marL="0">
              <a:lnSpc>
                <a:spcPct val="114792"/>
              </a:lnSpc>
              <a:buNone/>
            </a:pPr>
            <a:r>
              <a:rPr lang="en-US" sz="1425" dirty="0">
                <a:solidFill>
                  <a:srgbClr val="3D5A48"/>
                </a:solidFill>
                <a:latin typeface="IBM Plex Mono" pitchFamily="34" charset="0"/>
                <a:ea typeface="IBM Plex Mono" pitchFamily="34" charset="-122"/>
                <a:cs typeface="IBM Plex Mono" pitchFamily="34" charset="-120"/>
              </a:rPr>
              <a:t>BUDGET </a:t>
            </a:r>
            <a:pPr algn="l" indent="0" marL="0">
              <a:lnSpc>
                <a:spcPct val="114792"/>
              </a:lnSpc>
              <a:buNone/>
            </a:pPr>
            <a:r>
              <a:rPr lang="en-US" sz="1425" dirty="0">
                <a:solidFill>
                  <a:srgbClr val="4D535B"/>
                </a:solidFill>
                <a:highlight>
                  <a:srgbClr val="FFFFFF"/>
                </a:highlight>
                <a:latin typeface="IBM Plex Sans" pitchFamily="34" charset="0"/>
                <a:ea typeface="IBM Plex Sans" pitchFamily="34" charset="-122"/>
                <a:cs typeface="IBM Plex Sans" pitchFamily="34" charset="-120"/>
              </a:rPr>
              <a:t>— ~5 s head candidate · ~2 s baseline lookup · ~10 s impact walk · versus the environment baseline — what is deployed, never default-branch HEAD</a:t>
            </a:r>
            <a:endParaRPr lang="en-US" sz="1425" dirty="0"/>
          </a:p>
        </p:txBody>
      </p:sp>
      <p:sp>
        <p:nvSpPr>
          <p:cNvPr id="45" name="Shape 43"/>
          <p:cNvSpPr/>
          <p:nvPr/>
        </p:nvSpPr>
        <p:spPr>
          <a:xfrm>
            <a:off x="12014150" y="4962525"/>
            <a:ext cx="5511701" cy="1019175"/>
          </a:xfrm>
          <a:prstGeom prst="rect">
            <a:avLst/>
          </a:prstGeom>
          <a:solidFill>
            <a:srgbClr val="FFFFFF"/>
          </a:solidFill>
          <a:ln w="9525">
            <a:solidFill>
              <a:srgbClr val="E0DCD3"/>
            </a:solidFill>
            <a:prstDash val="solid"/>
          </a:ln>
        </p:spPr>
      </p:sp>
      <p:sp>
        <p:nvSpPr>
          <p:cNvPr id="46" name="Text 44"/>
          <p:cNvSpPr/>
          <p:nvPr/>
        </p:nvSpPr>
        <p:spPr>
          <a:xfrm>
            <a:off x="12214175" y="5086350"/>
            <a:ext cx="5277002" cy="809625"/>
          </a:xfrm>
          <a:prstGeom prst="rect">
            <a:avLst/>
          </a:prstGeom>
          <a:noFill/>
          <a:ln/>
        </p:spPr>
        <p:txBody>
          <a:bodyPr wrap="square" lIns="25400" tIns="25400" rIns="25400" bIns="25400" rtlCol="0" anchor="t">
            <a:normAutofit/>
          </a:bodyPr>
          <a:lstStyle/>
          <a:p>
            <a:pPr algn="l" indent="0" marL="0">
              <a:lnSpc>
                <a:spcPct val="114792"/>
              </a:lnSpc>
              <a:buNone/>
            </a:pPr>
            <a:r>
              <a:rPr lang="en-US" sz="1425" dirty="0">
                <a:solidFill>
                  <a:srgbClr val="3D5A48"/>
                </a:solidFill>
                <a:latin typeface="IBM Plex Mono" pitchFamily="34" charset="0"/>
                <a:ea typeface="IBM Plex Mono" pitchFamily="34" charset="-122"/>
                <a:cs typeface="IBM Plex Mono" pitchFamily="34" charset="-120"/>
              </a:rPr>
              <a:t>RAMP </a:t>
            </a:r>
            <a:pPr algn="l" indent="0" marL="0">
              <a:lnSpc>
                <a:spcPct val="114792"/>
              </a:lnSpc>
              <a:buNone/>
            </a:pPr>
            <a:r>
              <a:rPr lang="en-US" sz="1425" dirty="0">
                <a:solidFill>
                  <a:srgbClr val="4D535B"/>
                </a:solidFill>
                <a:highlight>
                  <a:srgbClr val="FFFFFF"/>
                </a:highlight>
                <a:latin typeface="IBM Plex Sans" pitchFamily="34" charset="0"/>
                <a:ea typeface="IBM Plex Sans" pitchFamily="34" charset="-122"/>
                <a:cs typeface="IBM Plex Sans" pitchFamily="34" charset="-120"/>
              </a:rPr>
              <a:t>— observe → warn → block, per repo cohort · each stage requires evidence from the prior · the gate is read-only at every stage</a:t>
            </a:r>
            <a:endParaRPr lang="en-US" sz="142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762000" y="342900"/>
            <a:ext cx="17266920" cy="685800"/>
          </a:xfrm>
          <a:prstGeom prst="rect">
            <a:avLst/>
          </a:prstGeom>
          <a:noFill/>
          <a:ln/>
        </p:spPr>
        <p:txBody>
          <a:bodyPr wrap="square" lIns="25400" tIns="25400" rIns="25400" bIns="25400" rtlCol="0" anchor="t">
            <a:normAutofit/>
          </a:bodyPr>
          <a:lstStyle/>
          <a:p>
            <a:pPr algn="l" indent="0" marL="0">
              <a:buNone/>
            </a:pPr>
            <a:r>
              <a:rPr lang="en-US" sz="1950" spc="312" kern="0" dirty="0">
                <a:solidFill>
                  <a:srgbClr val="4D535B"/>
                </a:solidFill>
                <a:latin typeface="IBM Plex Mono" pitchFamily="34" charset="0"/>
                <a:ea typeface="IBM Plex Mono" pitchFamily="34" charset="-122"/>
                <a:cs typeface="IBM Plex Mono" pitchFamily="34" charset="-120"/>
              </a:rPr>
              <a:t>14 · DEPLOYMENT AUTHORITY · λ STEP ON THE EVENTS LANE · POINTER UPDATE ONLY · MERGED ≠ RUNNING</a:t>
            </a:r>
            <a:endParaRPr lang="en-US" sz="1950" dirty="0"/>
          </a:p>
        </p:txBody>
      </p:sp>
      <p:sp>
        <p:nvSpPr>
          <p:cNvPr id="3" name="Text 1"/>
          <p:cNvSpPr/>
          <p:nvPr/>
        </p:nvSpPr>
        <p:spPr>
          <a:xfrm>
            <a:off x="762000" y="1085850"/>
            <a:ext cx="18440400" cy="771525"/>
          </a:xfrm>
          <a:prstGeom prst="rect">
            <a:avLst/>
          </a:prstGeom>
          <a:noFill/>
          <a:ln/>
        </p:spPr>
        <p:txBody>
          <a:bodyPr wrap="square" lIns="25400" tIns="25400" rIns="25400" bIns="25400" rtlCol="0" anchor="t">
            <a:normAutofit/>
          </a:bodyPr>
          <a:lstStyle/>
          <a:p>
            <a:pPr algn="l" indent="0" marL="0">
              <a:buNone/>
            </a:pPr>
            <a:r>
              <a:rPr lang="en-US" sz="4500" b="1" dirty="0">
                <a:solidFill>
                  <a:srgbClr val="191C20"/>
                </a:solidFill>
                <a:latin typeface="IBM Plex Sans" pitchFamily="34" charset="0"/>
                <a:ea typeface="IBM Plex Sans" pitchFamily="34" charset="-122"/>
                <a:cs typeface="IBM Plex Sans" pitchFamily="34" charset="-120"/>
              </a:rPr>
              <a:t>Deployment Promotion Flow</a:t>
            </a:r>
            <a:endParaRPr lang="en-US" sz="4500" dirty="0"/>
          </a:p>
        </p:txBody>
      </p:sp>
      <p:sp>
        <p:nvSpPr>
          <p:cNvPr id="4" name="Shape 2"/>
          <p:cNvSpPr/>
          <p:nvPr/>
        </p:nvSpPr>
        <p:spPr>
          <a:xfrm>
            <a:off x="762000" y="2009775"/>
            <a:ext cx="3952875" cy="1504950"/>
          </a:xfrm>
          <a:prstGeom prst="rect">
            <a:avLst/>
          </a:prstGeom>
          <a:solidFill>
            <a:srgbClr val="FFFFFF"/>
          </a:solidFill>
          <a:ln w="9525">
            <a:solidFill>
              <a:srgbClr val="E0DCD3"/>
            </a:solidFill>
            <a:prstDash val="solid"/>
          </a:ln>
        </p:spPr>
      </p:sp>
      <p:pic>
        <p:nvPicPr>
          <p:cNvPr id="5" name="Image 0" descr="preencoded.png">    </p:cNvPr>
          <p:cNvPicPr>
            <a:picLocks noChangeAspect="1"/>
          </p:cNvPicPr>
          <p:nvPr/>
        </p:nvPicPr>
        <p:blipFill>
          <a:blip r:embed="rId1"/>
          <a:stretch>
            <a:fillRect/>
          </a:stretch>
        </p:blipFill>
        <p:spPr>
          <a:xfrm>
            <a:off x="923925" y="2152650"/>
            <a:ext cx="342900" cy="342900"/>
          </a:xfrm>
          <a:prstGeom prst="rect">
            <a:avLst/>
          </a:prstGeom>
        </p:spPr>
      </p:pic>
      <p:sp>
        <p:nvSpPr>
          <p:cNvPr id="6" name="Text 3"/>
          <p:cNvSpPr/>
          <p:nvPr/>
        </p:nvSpPr>
        <p:spPr>
          <a:xfrm>
            <a:off x="1362075" y="2171700"/>
            <a:ext cx="2134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A8551F"/>
                </a:solidFill>
                <a:latin typeface="IBM Plex Mono" pitchFamily="34" charset="0"/>
                <a:ea typeface="IBM Plex Mono" pitchFamily="34" charset="-122"/>
                <a:cs typeface="IBM Plex Mono" pitchFamily="34" charset="-120"/>
              </a:rPr>
              <a:t>1</a:t>
            </a:r>
            <a:endParaRPr lang="en-US" sz="1800" dirty="0"/>
          </a:p>
        </p:txBody>
      </p:sp>
      <p:sp>
        <p:nvSpPr>
          <p:cNvPr id="7" name="Text 4"/>
          <p:cNvSpPr/>
          <p:nvPr/>
        </p:nvSpPr>
        <p:spPr>
          <a:xfrm>
            <a:off x="923925" y="2552700"/>
            <a:ext cx="3991927" cy="323850"/>
          </a:xfrm>
          <a:prstGeom prst="rect">
            <a:avLst/>
          </a:prstGeom>
          <a:noFill/>
          <a:ln/>
        </p:spPr>
        <p:txBody>
          <a:bodyPr wrap="square" lIns="25400" tIns="25400" rIns="25400" bIns="25400" rtlCol="0" anchor="t">
            <a:normAutofit/>
          </a:bodyPr>
          <a:lstStyle/>
          <a:p>
            <a:pPr algn="l" indent="0" marL="0">
              <a:lnSpc>
                <a:spcPct val="93750"/>
              </a:lnSpc>
              <a:buNone/>
            </a:pPr>
            <a:r>
              <a:rPr lang="en-US" sz="1800" b="1" dirty="0">
                <a:solidFill>
                  <a:srgbClr val="191C20"/>
                </a:solidFill>
                <a:latin typeface="IBM Plex Sans" pitchFamily="34" charset="0"/>
                <a:ea typeface="IBM Plex Sans" pitchFamily="34" charset="-122"/>
                <a:cs typeface="IBM Plex Sans" pitchFamily="34" charset="-120"/>
              </a:rPr>
              <a:t>PR merged</a:t>
            </a:r>
            <a:endParaRPr lang="en-US" sz="1800" dirty="0"/>
          </a:p>
        </p:txBody>
      </p:sp>
      <p:sp>
        <p:nvSpPr>
          <p:cNvPr id="8" name="Text 5"/>
          <p:cNvSpPr/>
          <p:nvPr/>
        </p:nvSpPr>
        <p:spPr>
          <a:xfrm>
            <a:off x="923925" y="2895600"/>
            <a:ext cx="3737896" cy="514350"/>
          </a:xfrm>
          <a:prstGeom prst="rect">
            <a:avLst/>
          </a:prstGeom>
          <a:noFill/>
          <a:ln/>
        </p:spPr>
        <p:txBody>
          <a:bodyPr wrap="square" lIns="25400" tIns="25400" rIns="25400" bIns="25400" rtlCol="0" anchor="t">
            <a:normAutofit/>
          </a:bodyPr>
          <a:lstStyle/>
          <a:p>
            <a:pPr algn="l" indent="0" marL="0">
              <a:lnSpc>
                <a:spcPct val="106875"/>
              </a:lnSpc>
              <a:buNone/>
            </a:pPr>
            <a:r>
              <a:rPr lang="en-US" sz="1425" dirty="0">
                <a:solidFill>
                  <a:srgbClr val="4D535B"/>
                </a:solidFill>
                <a:latin typeface="IBM Plex Sans" pitchFamily="34" charset="0"/>
                <a:ea typeface="IBM Plex Sans" pitchFamily="34" charset="-122"/>
                <a:cs typeface="IBM Plex Sans" pitchFamily="34" charset="-120"/>
              </a:rPr>
              <a:t>MergedCandidate recorded — still NOT environment-authoritative</a:t>
            </a:r>
            <a:endParaRPr lang="en-US" sz="1425" dirty="0"/>
          </a:p>
        </p:txBody>
      </p:sp>
      <p:sp>
        <p:nvSpPr>
          <p:cNvPr id="9" name="Text 6"/>
          <p:cNvSpPr/>
          <p:nvPr/>
        </p:nvSpPr>
        <p:spPr>
          <a:xfrm>
            <a:off x="4676775" y="2009775"/>
            <a:ext cx="400050" cy="1543050"/>
          </a:xfrm>
          <a:prstGeom prst="rect">
            <a:avLst/>
          </a:prstGeom>
          <a:noFill/>
          <a:ln/>
        </p:spPr>
        <p:txBody>
          <a:bodyPr wrap="square" lIns="25400" tIns="25400" rIns="25400" bIns="25400" rtlCol="0" anchor="ctr">
            <a:normAutofit/>
          </a:bodyPr>
          <a:lstStyle/>
          <a:p>
            <a:pPr algn="ctr" indent="0" marL="0">
              <a:buNone/>
            </a:pPr>
            <a:r>
              <a:rPr lang="en-US" sz="2250" dirty="0">
                <a:solidFill>
                  <a:srgbClr val="9AA0A8"/>
                </a:solidFill>
                <a:latin typeface="IBM Plex Sans" pitchFamily="34" charset="0"/>
                <a:ea typeface="IBM Plex Sans" pitchFamily="34" charset="-122"/>
                <a:cs typeface="IBM Plex Sans" pitchFamily="34" charset="-120"/>
              </a:rPr>
              <a:t>→</a:t>
            </a:r>
            <a:endParaRPr lang="en-US" sz="2250" dirty="0"/>
          </a:p>
        </p:txBody>
      </p:sp>
      <p:sp>
        <p:nvSpPr>
          <p:cNvPr id="10" name="Shape 7"/>
          <p:cNvSpPr/>
          <p:nvPr/>
        </p:nvSpPr>
        <p:spPr>
          <a:xfrm>
            <a:off x="5038725" y="2009775"/>
            <a:ext cx="3952875" cy="1504950"/>
          </a:xfrm>
          <a:prstGeom prst="rect">
            <a:avLst/>
          </a:prstGeom>
          <a:solidFill>
            <a:srgbClr val="FFFFFF"/>
          </a:solidFill>
          <a:ln w="9525">
            <a:solidFill>
              <a:srgbClr val="E0DCD3"/>
            </a:solidFill>
            <a:prstDash val="solid"/>
          </a:ln>
        </p:spPr>
      </p:sp>
      <p:pic>
        <p:nvPicPr>
          <p:cNvPr id="11" name="Image 1" descr="preencoded.png">    </p:cNvPr>
          <p:cNvPicPr>
            <a:picLocks noChangeAspect="1"/>
          </p:cNvPicPr>
          <p:nvPr/>
        </p:nvPicPr>
        <p:blipFill>
          <a:blip r:embed="rId2"/>
          <a:stretch>
            <a:fillRect/>
          </a:stretch>
        </p:blipFill>
        <p:spPr>
          <a:xfrm>
            <a:off x="5200650" y="2152650"/>
            <a:ext cx="342900" cy="342900"/>
          </a:xfrm>
          <a:prstGeom prst="rect">
            <a:avLst/>
          </a:prstGeom>
        </p:spPr>
      </p:pic>
      <p:sp>
        <p:nvSpPr>
          <p:cNvPr id="12" name="Text 8"/>
          <p:cNvSpPr/>
          <p:nvPr/>
        </p:nvSpPr>
        <p:spPr>
          <a:xfrm>
            <a:off x="5638800" y="2171700"/>
            <a:ext cx="2134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A8551F"/>
                </a:solidFill>
                <a:latin typeface="IBM Plex Mono" pitchFamily="34" charset="0"/>
                <a:ea typeface="IBM Plex Mono" pitchFamily="34" charset="-122"/>
                <a:cs typeface="IBM Plex Mono" pitchFamily="34" charset="-120"/>
              </a:rPr>
              <a:t>2</a:t>
            </a:r>
            <a:endParaRPr lang="en-US" sz="1800" dirty="0"/>
          </a:p>
        </p:txBody>
      </p:sp>
      <p:sp>
        <p:nvSpPr>
          <p:cNvPr id="13" name="Text 9"/>
          <p:cNvSpPr/>
          <p:nvPr/>
        </p:nvSpPr>
        <p:spPr>
          <a:xfrm>
            <a:off x="5200650" y="2552700"/>
            <a:ext cx="3991927" cy="323850"/>
          </a:xfrm>
          <a:prstGeom prst="rect">
            <a:avLst/>
          </a:prstGeom>
          <a:noFill/>
          <a:ln/>
        </p:spPr>
        <p:txBody>
          <a:bodyPr wrap="square" lIns="25400" tIns="25400" rIns="25400" bIns="25400" rtlCol="0" anchor="t">
            <a:normAutofit/>
          </a:bodyPr>
          <a:lstStyle/>
          <a:p>
            <a:pPr algn="l" indent="0" marL="0">
              <a:lnSpc>
                <a:spcPct val="93750"/>
              </a:lnSpc>
              <a:buNone/>
            </a:pPr>
            <a:r>
              <a:rPr lang="en-US" sz="1800" b="1" dirty="0">
                <a:solidFill>
                  <a:srgbClr val="191C20"/>
                </a:solidFill>
                <a:latin typeface="IBM Plex Sans" pitchFamily="34" charset="0"/>
                <a:ea typeface="IBM Plex Sans" pitchFamily="34" charset="-122"/>
                <a:cs typeface="IBM Plex Sans" pitchFamily="34" charset="-120"/>
              </a:rPr>
              <a:t>Deploy event</a:t>
            </a:r>
            <a:endParaRPr lang="en-US" sz="1800" dirty="0"/>
          </a:p>
        </p:txBody>
      </p:sp>
      <p:sp>
        <p:nvSpPr>
          <p:cNvPr id="14" name="Text 10"/>
          <p:cNvSpPr/>
          <p:nvPr/>
        </p:nvSpPr>
        <p:spPr>
          <a:xfrm>
            <a:off x="5200650" y="2895600"/>
            <a:ext cx="3737896" cy="514350"/>
          </a:xfrm>
          <a:prstGeom prst="rect">
            <a:avLst/>
          </a:prstGeom>
          <a:noFill/>
          <a:ln/>
        </p:spPr>
        <p:txBody>
          <a:bodyPr wrap="square" lIns="25400" tIns="25400" rIns="25400" bIns="25400" rtlCol="0" anchor="t">
            <a:normAutofit/>
          </a:bodyPr>
          <a:lstStyle/>
          <a:p>
            <a:pPr algn="l" indent="0" marL="0">
              <a:lnSpc>
                <a:spcPct val="106875"/>
              </a:lnSpc>
              <a:buNone/>
            </a:pPr>
            <a:r>
              <a:rPr lang="en-US" sz="1425" dirty="0">
                <a:solidFill>
                  <a:srgbClr val="4D535B"/>
                </a:solidFill>
                <a:latin typeface="IBM Plex Sans" pitchFamily="34" charset="0"/>
                <a:ea typeface="IBM Plex Sans" pitchFamily="34" charset="-122"/>
                <a:cs typeface="IBM Plex Sans" pitchFamily="34" charset="-120"/>
              </a:rPr>
              <a:t>Jenkins: succeeded · failed · rolled back — queue events</a:t>
            </a:r>
            <a:endParaRPr lang="en-US" sz="1425" dirty="0"/>
          </a:p>
        </p:txBody>
      </p:sp>
      <p:sp>
        <p:nvSpPr>
          <p:cNvPr id="15" name="Text 11"/>
          <p:cNvSpPr/>
          <p:nvPr/>
        </p:nvSpPr>
        <p:spPr>
          <a:xfrm>
            <a:off x="8953500" y="2009775"/>
            <a:ext cx="400050" cy="1543050"/>
          </a:xfrm>
          <a:prstGeom prst="rect">
            <a:avLst/>
          </a:prstGeom>
          <a:noFill/>
          <a:ln/>
        </p:spPr>
        <p:txBody>
          <a:bodyPr wrap="square" lIns="25400" tIns="25400" rIns="25400" bIns="25400" rtlCol="0" anchor="ctr">
            <a:normAutofit/>
          </a:bodyPr>
          <a:lstStyle/>
          <a:p>
            <a:pPr algn="ctr" indent="0" marL="0">
              <a:buNone/>
            </a:pPr>
            <a:r>
              <a:rPr lang="en-US" sz="2250" dirty="0">
                <a:solidFill>
                  <a:srgbClr val="9AA0A8"/>
                </a:solidFill>
                <a:latin typeface="IBM Plex Sans" pitchFamily="34" charset="0"/>
                <a:ea typeface="IBM Plex Sans" pitchFamily="34" charset="-122"/>
                <a:cs typeface="IBM Plex Sans" pitchFamily="34" charset="-120"/>
              </a:rPr>
              <a:t>→</a:t>
            </a:r>
            <a:endParaRPr lang="en-US" sz="2250" dirty="0"/>
          </a:p>
        </p:txBody>
      </p:sp>
      <p:sp>
        <p:nvSpPr>
          <p:cNvPr id="16" name="Shape 12"/>
          <p:cNvSpPr/>
          <p:nvPr/>
        </p:nvSpPr>
        <p:spPr>
          <a:xfrm>
            <a:off x="9315450" y="2009775"/>
            <a:ext cx="3952875" cy="1504950"/>
          </a:xfrm>
          <a:prstGeom prst="rect">
            <a:avLst/>
          </a:prstGeom>
          <a:solidFill>
            <a:srgbClr val="FFFFFF"/>
          </a:solidFill>
          <a:ln w="9525">
            <a:solidFill>
              <a:srgbClr val="E0DCD3"/>
            </a:solidFill>
            <a:prstDash val="solid"/>
          </a:ln>
        </p:spPr>
      </p:sp>
      <p:pic>
        <p:nvPicPr>
          <p:cNvPr id="17" name="Image 2" descr="preencoded.png">    </p:cNvPr>
          <p:cNvPicPr>
            <a:picLocks noChangeAspect="1"/>
          </p:cNvPicPr>
          <p:nvPr/>
        </p:nvPicPr>
        <p:blipFill>
          <a:blip r:embed="rId3"/>
          <a:stretch>
            <a:fillRect/>
          </a:stretch>
        </p:blipFill>
        <p:spPr>
          <a:xfrm>
            <a:off x="9477375" y="2152650"/>
            <a:ext cx="342900" cy="342900"/>
          </a:xfrm>
          <a:prstGeom prst="rect">
            <a:avLst/>
          </a:prstGeom>
        </p:spPr>
      </p:pic>
      <p:sp>
        <p:nvSpPr>
          <p:cNvPr id="18" name="Text 13"/>
          <p:cNvSpPr/>
          <p:nvPr/>
        </p:nvSpPr>
        <p:spPr>
          <a:xfrm>
            <a:off x="9915525" y="2171700"/>
            <a:ext cx="2134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A8551F"/>
                </a:solidFill>
                <a:latin typeface="IBM Plex Mono" pitchFamily="34" charset="0"/>
                <a:ea typeface="IBM Plex Mono" pitchFamily="34" charset="-122"/>
                <a:cs typeface="IBM Plex Mono" pitchFamily="34" charset="-120"/>
              </a:rPr>
              <a:t>3</a:t>
            </a:r>
            <a:endParaRPr lang="en-US" sz="1800" dirty="0"/>
          </a:p>
        </p:txBody>
      </p:sp>
      <p:sp>
        <p:nvSpPr>
          <p:cNvPr id="19" name="Text 14"/>
          <p:cNvSpPr/>
          <p:nvPr/>
        </p:nvSpPr>
        <p:spPr>
          <a:xfrm>
            <a:off x="9477375" y="2552700"/>
            <a:ext cx="3991927" cy="323850"/>
          </a:xfrm>
          <a:prstGeom prst="rect">
            <a:avLst/>
          </a:prstGeom>
          <a:noFill/>
          <a:ln/>
        </p:spPr>
        <p:txBody>
          <a:bodyPr wrap="square" lIns="25400" tIns="25400" rIns="25400" bIns="25400" rtlCol="0" anchor="t">
            <a:normAutofit/>
          </a:bodyPr>
          <a:lstStyle/>
          <a:p>
            <a:pPr algn="l" indent="0" marL="0">
              <a:lnSpc>
                <a:spcPct val="93750"/>
              </a:lnSpc>
              <a:buNone/>
            </a:pPr>
            <a:r>
              <a:rPr lang="en-US" sz="1800" b="1" dirty="0">
                <a:solidFill>
                  <a:srgbClr val="191C20"/>
                </a:solidFill>
                <a:latin typeface="IBM Plex Sans" pitchFamily="34" charset="0"/>
                <a:ea typeface="IBM Plex Sans" pitchFamily="34" charset="-122"/>
                <a:cs typeface="IBM Plex Sans" pitchFamily="34" charset="-120"/>
              </a:rPr>
              <a:t>Match exact digest</a:t>
            </a:r>
            <a:endParaRPr lang="en-US" sz="1800" dirty="0"/>
          </a:p>
        </p:txBody>
      </p:sp>
      <p:sp>
        <p:nvSpPr>
          <p:cNvPr id="20" name="Text 15"/>
          <p:cNvSpPr/>
          <p:nvPr/>
        </p:nvSpPr>
        <p:spPr>
          <a:xfrm>
            <a:off x="9477375" y="2895600"/>
            <a:ext cx="3737896" cy="514350"/>
          </a:xfrm>
          <a:prstGeom prst="rect">
            <a:avLst/>
          </a:prstGeom>
          <a:noFill/>
          <a:ln/>
        </p:spPr>
        <p:txBody>
          <a:bodyPr wrap="square" lIns="25400" tIns="25400" rIns="25400" bIns="25400" rtlCol="0" anchor="t">
            <a:normAutofit/>
          </a:bodyPr>
          <a:lstStyle/>
          <a:p>
            <a:pPr algn="l" indent="0" marL="0">
              <a:lnSpc>
                <a:spcPct val="106875"/>
              </a:lnSpc>
              <a:buNone/>
            </a:pPr>
            <a:r>
              <a:rPr lang="en-US" sz="1425" dirty="0">
                <a:solidFill>
                  <a:srgbClr val="4D535B"/>
                </a:solidFill>
                <a:latin typeface="IBM Plex Sans" pitchFamily="34" charset="0"/>
                <a:ea typeface="IBM Plex Sans" pitchFamily="34" charset="-122"/>
                <a:cs typeface="IBM Plex Sans" pitchFamily="34" charset="-120"/>
              </a:rPr>
              <a:t>deployed artifactDigest ↔ merged candidate lineage package</a:t>
            </a:r>
            <a:endParaRPr lang="en-US" sz="1425" dirty="0"/>
          </a:p>
        </p:txBody>
      </p:sp>
      <p:sp>
        <p:nvSpPr>
          <p:cNvPr id="21" name="Text 16"/>
          <p:cNvSpPr/>
          <p:nvPr/>
        </p:nvSpPr>
        <p:spPr>
          <a:xfrm>
            <a:off x="13230225" y="2009775"/>
            <a:ext cx="400050" cy="1543050"/>
          </a:xfrm>
          <a:prstGeom prst="rect">
            <a:avLst/>
          </a:prstGeom>
          <a:noFill/>
          <a:ln/>
        </p:spPr>
        <p:txBody>
          <a:bodyPr wrap="square" lIns="25400" tIns="25400" rIns="25400" bIns="25400" rtlCol="0" anchor="ctr">
            <a:normAutofit/>
          </a:bodyPr>
          <a:lstStyle/>
          <a:p>
            <a:pPr algn="ctr" indent="0" marL="0">
              <a:buNone/>
            </a:pPr>
            <a:r>
              <a:rPr lang="en-US" sz="2250" dirty="0">
                <a:solidFill>
                  <a:srgbClr val="9AA0A8"/>
                </a:solidFill>
                <a:latin typeface="IBM Plex Sans" pitchFamily="34" charset="0"/>
                <a:ea typeface="IBM Plex Sans" pitchFamily="34" charset="-122"/>
                <a:cs typeface="IBM Plex Sans" pitchFamily="34" charset="-120"/>
              </a:rPr>
              <a:t>→</a:t>
            </a:r>
            <a:endParaRPr lang="en-US" sz="2250" dirty="0"/>
          </a:p>
        </p:txBody>
      </p:sp>
      <p:sp>
        <p:nvSpPr>
          <p:cNvPr id="22" name="Shape 17"/>
          <p:cNvSpPr/>
          <p:nvPr/>
        </p:nvSpPr>
        <p:spPr>
          <a:xfrm>
            <a:off x="13592175" y="2009775"/>
            <a:ext cx="3933825" cy="1504950"/>
          </a:xfrm>
          <a:prstGeom prst="rect">
            <a:avLst/>
          </a:prstGeom>
          <a:solidFill>
            <a:srgbClr val="191C20"/>
          </a:solidFill>
          <a:ln/>
        </p:spPr>
      </p:sp>
      <p:pic>
        <p:nvPicPr>
          <p:cNvPr id="23" name="Image 3" descr="preencoded.png">    </p:cNvPr>
          <p:cNvPicPr>
            <a:picLocks noChangeAspect="1"/>
          </p:cNvPicPr>
          <p:nvPr/>
        </p:nvPicPr>
        <p:blipFill>
          <a:blip r:embed="rId4"/>
          <a:stretch>
            <a:fillRect/>
          </a:stretch>
        </p:blipFill>
        <p:spPr>
          <a:xfrm>
            <a:off x="13744575" y="2143125"/>
            <a:ext cx="342900" cy="342900"/>
          </a:xfrm>
          <a:prstGeom prst="rect">
            <a:avLst/>
          </a:prstGeom>
        </p:spPr>
      </p:pic>
      <p:sp>
        <p:nvSpPr>
          <p:cNvPr id="24" name="Text 18"/>
          <p:cNvSpPr/>
          <p:nvPr/>
        </p:nvSpPr>
        <p:spPr>
          <a:xfrm>
            <a:off x="14182725" y="2162175"/>
            <a:ext cx="2134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FB3BF"/>
                </a:solidFill>
                <a:latin typeface="IBM Plex Mono" pitchFamily="34" charset="0"/>
                <a:ea typeface="IBM Plex Mono" pitchFamily="34" charset="-122"/>
                <a:cs typeface="IBM Plex Mono" pitchFamily="34" charset="-120"/>
              </a:rPr>
              <a:t>4</a:t>
            </a:r>
            <a:endParaRPr lang="en-US" sz="1800" dirty="0"/>
          </a:p>
        </p:txBody>
      </p:sp>
      <p:sp>
        <p:nvSpPr>
          <p:cNvPr id="25" name="Text 19"/>
          <p:cNvSpPr/>
          <p:nvPr/>
        </p:nvSpPr>
        <p:spPr>
          <a:xfrm>
            <a:off x="13744575" y="2543175"/>
            <a:ext cx="3991927" cy="323850"/>
          </a:xfrm>
          <a:prstGeom prst="rect">
            <a:avLst/>
          </a:prstGeom>
          <a:noFill/>
          <a:ln/>
        </p:spPr>
        <p:txBody>
          <a:bodyPr wrap="square" lIns="25400" tIns="25400" rIns="25400" bIns="25400" rtlCol="0" anchor="t">
            <a:normAutofit/>
          </a:bodyPr>
          <a:lstStyle/>
          <a:p>
            <a:pPr algn="l" indent="0" marL="0">
              <a:lnSpc>
                <a:spcPct val="93750"/>
              </a:lnSpc>
              <a:buNone/>
            </a:pPr>
            <a:r>
              <a:rPr lang="en-US" sz="1800" b="1" dirty="0">
                <a:solidFill>
                  <a:srgbClr val="F2EFE9"/>
                </a:solidFill>
                <a:latin typeface="IBM Plex Sans" pitchFamily="34" charset="0"/>
                <a:ea typeface="IBM Plex Sans" pitchFamily="34" charset="-122"/>
                <a:cs typeface="IBM Plex Sans" pitchFamily="34" charset="-120"/>
              </a:rPr>
              <a:t>Promote pointer</a:t>
            </a:r>
            <a:endParaRPr lang="en-US" sz="1800" dirty="0"/>
          </a:p>
        </p:txBody>
      </p:sp>
      <p:sp>
        <p:nvSpPr>
          <p:cNvPr id="26" name="Text 20"/>
          <p:cNvSpPr/>
          <p:nvPr/>
        </p:nvSpPr>
        <p:spPr>
          <a:xfrm>
            <a:off x="13744575" y="2886075"/>
            <a:ext cx="3737896" cy="514350"/>
          </a:xfrm>
          <a:prstGeom prst="rect">
            <a:avLst/>
          </a:prstGeom>
          <a:noFill/>
          <a:ln/>
        </p:spPr>
        <p:txBody>
          <a:bodyPr wrap="square" lIns="25400" tIns="25400" rIns="25400" bIns="25400" rtlCol="0" anchor="t">
            <a:normAutofit/>
          </a:bodyPr>
          <a:lstStyle/>
          <a:p>
            <a:pPr algn="l" indent="0" marL="0">
              <a:lnSpc>
                <a:spcPct val="106875"/>
              </a:lnSpc>
              <a:buNone/>
            </a:pPr>
            <a:r>
              <a:rPr lang="en-US" sz="1425" dirty="0">
                <a:solidFill>
                  <a:srgbClr val="B8BDC4"/>
                </a:solidFill>
                <a:latin typeface="IBM Plex Sans" pitchFamily="34" charset="0"/>
                <a:ea typeface="IBM Plex Sans" pitchFamily="34" charset="-122"/>
                <a:cs typeface="IBM Plex Sans" pitchFamily="34" charset="-120"/>
              </a:rPr>
              <a:t>environment-authoritative version flips · bitemporal record, nothing deleted</a:t>
            </a:r>
            <a:endParaRPr lang="en-US" sz="1425" dirty="0"/>
          </a:p>
        </p:txBody>
      </p:sp>
      <p:sp>
        <p:nvSpPr>
          <p:cNvPr id="27" name="Text 21"/>
          <p:cNvSpPr/>
          <p:nvPr/>
        </p:nvSpPr>
        <p:spPr>
          <a:xfrm>
            <a:off x="762000" y="3743325"/>
            <a:ext cx="18440400" cy="266700"/>
          </a:xfrm>
          <a:prstGeom prst="rect">
            <a:avLst/>
          </a:prstGeom>
          <a:noFill/>
          <a:ln/>
        </p:spPr>
        <p:txBody>
          <a:bodyPr wrap="square" lIns="25400" tIns="25400" rIns="25400" bIns="25400" rtlCol="0" anchor="t">
            <a:normAutofit/>
          </a:bodyPr>
          <a:lstStyle/>
          <a:p>
            <a:pPr algn="l" indent="0" marL="0">
              <a:buNone/>
            </a:pPr>
            <a:r>
              <a:rPr lang="en-US" sz="1425" spc="114" kern="0" dirty="0">
                <a:solidFill>
                  <a:srgbClr val="4D535B"/>
                </a:solidFill>
                <a:latin typeface="IBM Plex Mono" pitchFamily="34" charset="0"/>
                <a:ea typeface="IBM Plex Mono" pitchFamily="34" charset="-122"/>
                <a:cs typeface="IBM Plex Mono" pitchFamily="34" charset="-120"/>
              </a:rPr>
              <a:t>BRANCHES · NOT THE HAPPY PATH</a:t>
            </a:r>
            <a:endParaRPr lang="en-US" sz="1425" dirty="0"/>
          </a:p>
        </p:txBody>
      </p:sp>
      <p:sp>
        <p:nvSpPr>
          <p:cNvPr id="28" name="Shape 22"/>
          <p:cNvSpPr/>
          <p:nvPr/>
        </p:nvSpPr>
        <p:spPr>
          <a:xfrm>
            <a:off x="762000" y="4067175"/>
            <a:ext cx="5511701" cy="1276350"/>
          </a:xfrm>
          <a:prstGeom prst="rect">
            <a:avLst/>
          </a:prstGeom>
          <a:solidFill>
            <a:srgbClr val="FFFFFF"/>
          </a:solidFill>
          <a:ln w="9525">
            <a:solidFill>
              <a:srgbClr val="E0DCD3"/>
            </a:solidFill>
            <a:prstDash val="solid"/>
          </a:ln>
        </p:spPr>
      </p:sp>
      <p:sp>
        <p:nvSpPr>
          <p:cNvPr id="29" name="Text 23"/>
          <p:cNvSpPr/>
          <p:nvPr/>
        </p:nvSpPr>
        <p:spPr>
          <a:xfrm>
            <a:off x="962025" y="4191000"/>
            <a:ext cx="5277002" cy="1066800"/>
          </a:xfrm>
          <a:prstGeom prst="rect">
            <a:avLst/>
          </a:prstGeom>
          <a:noFill/>
          <a:ln/>
        </p:spPr>
        <p:txBody>
          <a:bodyPr wrap="square" lIns="25400" tIns="25400" rIns="25400" bIns="25400" rtlCol="0" anchor="t">
            <a:normAutofit/>
          </a:bodyPr>
          <a:lstStyle/>
          <a:p>
            <a:pPr algn="l" indent="0" marL="0">
              <a:lnSpc>
                <a:spcPct val="114792"/>
              </a:lnSpc>
              <a:buNone/>
            </a:pPr>
            <a:r>
              <a:rPr lang="en-US" sz="1425" dirty="0">
                <a:solidFill>
                  <a:srgbClr val="3D5A48"/>
                </a:solidFill>
                <a:latin typeface="IBM Plex Mono" pitchFamily="34" charset="0"/>
                <a:ea typeface="IBM Plex Mono" pitchFamily="34" charset="-122"/>
                <a:cs typeface="IBM Plex Mono" pitchFamily="34" charset="-120"/>
              </a:rPr>
              <a:t>DEPLOY FAILED </a:t>
            </a:r>
            <a:pPr algn="l" indent="0" marL="0">
              <a:lnSpc>
                <a:spcPct val="114792"/>
              </a:lnSpc>
              <a:buNone/>
            </a:pPr>
            <a:r>
              <a:rPr lang="en-US" sz="1425" dirty="0">
                <a:solidFill>
                  <a:srgbClr val="4D535B"/>
                </a:solidFill>
                <a:highlight>
                  <a:srgbClr val="FFFFFF"/>
                </a:highlight>
                <a:latin typeface="IBM Plex Sans" pitchFamily="34" charset="0"/>
                <a:ea typeface="IBM Plex Sans" pitchFamily="34" charset="-122"/>
                <a:cs typeface="IBM Plex Sans" pitchFamily="34" charset="-120"/>
              </a:rPr>
              <a:t>— no change to the active version — the environment keeps asserting what is actually running</a:t>
            </a:r>
            <a:endParaRPr lang="en-US" sz="1425" dirty="0"/>
          </a:p>
        </p:txBody>
      </p:sp>
      <p:sp>
        <p:nvSpPr>
          <p:cNvPr id="30" name="Shape 24"/>
          <p:cNvSpPr/>
          <p:nvPr/>
        </p:nvSpPr>
        <p:spPr>
          <a:xfrm>
            <a:off x="6388001" y="4067175"/>
            <a:ext cx="5511850" cy="1276350"/>
          </a:xfrm>
          <a:prstGeom prst="rect">
            <a:avLst/>
          </a:prstGeom>
          <a:solidFill>
            <a:srgbClr val="FFFFFF"/>
          </a:solidFill>
          <a:ln w="9525">
            <a:solidFill>
              <a:srgbClr val="E0DCD3"/>
            </a:solidFill>
            <a:prstDash val="solid"/>
          </a:ln>
        </p:spPr>
      </p:sp>
      <p:sp>
        <p:nvSpPr>
          <p:cNvPr id="31" name="Text 25"/>
          <p:cNvSpPr/>
          <p:nvPr/>
        </p:nvSpPr>
        <p:spPr>
          <a:xfrm>
            <a:off x="6588026" y="4191000"/>
            <a:ext cx="5277155" cy="1066800"/>
          </a:xfrm>
          <a:prstGeom prst="rect">
            <a:avLst/>
          </a:prstGeom>
          <a:noFill/>
          <a:ln/>
        </p:spPr>
        <p:txBody>
          <a:bodyPr wrap="square" lIns="25400" tIns="25400" rIns="25400" bIns="25400" rtlCol="0" anchor="t">
            <a:normAutofit/>
          </a:bodyPr>
          <a:lstStyle/>
          <a:p>
            <a:pPr algn="l" indent="0" marL="0">
              <a:lnSpc>
                <a:spcPct val="114792"/>
              </a:lnSpc>
              <a:buNone/>
            </a:pPr>
            <a:r>
              <a:rPr lang="en-US" sz="1425" dirty="0">
                <a:solidFill>
                  <a:srgbClr val="3D5A48"/>
                </a:solidFill>
                <a:latin typeface="IBM Plex Mono" pitchFamily="34" charset="0"/>
                <a:ea typeface="IBM Plex Mono" pitchFamily="34" charset="-122"/>
                <a:cs typeface="IBM Plex Mono" pitchFamily="34" charset="-120"/>
              </a:rPr>
              <a:t>ROLLBACK </a:t>
            </a:r>
            <a:pPr algn="l" indent="0" marL="0">
              <a:lnSpc>
                <a:spcPct val="114792"/>
              </a:lnSpc>
              <a:buNone/>
            </a:pPr>
            <a:r>
              <a:rPr lang="en-US" sz="1425" dirty="0">
                <a:solidFill>
                  <a:srgbClr val="4D535B"/>
                </a:solidFill>
                <a:highlight>
                  <a:srgbClr val="FFFFFF"/>
                </a:highlight>
                <a:latin typeface="IBM Plex Sans" pitchFamily="34" charset="0"/>
                <a:ea typeface="IBM Plex Sans" pitchFamily="34" charset="-122"/>
                <a:cs typeface="IBM Plex Sans" pitchFamily="34" charset="-120"/>
              </a:rPr>
              <a:t>— prior version reactivated, bitemporally — the record shows both what was believed and when · runtime reconcile follows</a:t>
            </a:r>
            <a:endParaRPr lang="en-US" sz="1425" dirty="0"/>
          </a:p>
        </p:txBody>
      </p:sp>
      <p:sp>
        <p:nvSpPr>
          <p:cNvPr id="32" name="Shape 26"/>
          <p:cNvSpPr/>
          <p:nvPr/>
        </p:nvSpPr>
        <p:spPr>
          <a:xfrm>
            <a:off x="12014150" y="4067175"/>
            <a:ext cx="5511701" cy="1276350"/>
          </a:xfrm>
          <a:prstGeom prst="rect">
            <a:avLst/>
          </a:prstGeom>
          <a:solidFill>
            <a:srgbClr val="FFFFFF"/>
          </a:solidFill>
          <a:ln w="9525">
            <a:solidFill>
              <a:srgbClr val="E0DCD3"/>
            </a:solidFill>
            <a:prstDash val="solid"/>
          </a:ln>
        </p:spPr>
      </p:sp>
      <p:sp>
        <p:nvSpPr>
          <p:cNvPr id="33" name="Text 27"/>
          <p:cNvSpPr/>
          <p:nvPr/>
        </p:nvSpPr>
        <p:spPr>
          <a:xfrm>
            <a:off x="12214175" y="4191000"/>
            <a:ext cx="5277002" cy="1066800"/>
          </a:xfrm>
          <a:prstGeom prst="rect">
            <a:avLst/>
          </a:prstGeom>
          <a:noFill/>
          <a:ln/>
        </p:spPr>
        <p:txBody>
          <a:bodyPr wrap="square" lIns="25400" tIns="25400" rIns="25400" bIns="25400" rtlCol="0" anchor="t">
            <a:normAutofit/>
          </a:bodyPr>
          <a:lstStyle/>
          <a:p>
            <a:pPr algn="l" indent="0" marL="0">
              <a:lnSpc>
                <a:spcPct val="114792"/>
              </a:lnSpc>
              <a:buNone/>
            </a:pPr>
            <a:r>
              <a:rPr lang="en-US" sz="1425" dirty="0">
                <a:solidFill>
                  <a:srgbClr val="3D5A48"/>
                </a:solidFill>
                <a:latin typeface="IBM Plex Mono" pitchFamily="34" charset="0"/>
                <a:ea typeface="IBM Plex Mono" pitchFamily="34" charset="-122"/>
                <a:cs typeface="IBM Plex Mono" pitchFamily="34" charset="-120"/>
              </a:rPr>
              <a:t>HOTFIX INVARIANT </a:t>
            </a:r>
            <a:pPr algn="l" indent="0" marL="0">
              <a:lnSpc>
                <a:spcPct val="114792"/>
              </a:lnSpc>
              <a:buNone/>
            </a:pPr>
            <a:r>
              <a:rPr lang="en-US" sz="1425" dirty="0">
                <a:solidFill>
                  <a:srgbClr val="4D535B"/>
                </a:solidFill>
                <a:highlight>
                  <a:srgbClr val="FFFFFF"/>
                </a:highlight>
                <a:latin typeface="IBM Plex Sans" pitchFamily="34" charset="0"/>
                <a:ea typeface="IBM Plex Sans" pitchFamily="34" charset="-122"/>
                <a:cs typeface="IBM Plex Sans" pitchFamily="34" charset="-120"/>
              </a:rPr>
              <a:t>— a digest observed in production with no lineage package → first-class, unskippable alert + IncrementalCollection starts — promotion itself never creates or reviews edges</a:t>
            </a:r>
            <a:endParaRPr lang="en-US" sz="1425" dirty="0"/>
          </a:p>
        </p:txBody>
      </p:sp>
      <p:sp>
        <p:nvSpPr>
          <p:cNvPr id="34" name="Shape 28"/>
          <p:cNvSpPr/>
          <p:nvPr/>
        </p:nvSpPr>
        <p:spPr>
          <a:xfrm>
            <a:off x="762000" y="5495925"/>
            <a:ext cx="1301204" cy="381000"/>
          </a:xfrm>
          <a:prstGeom prst="rect">
            <a:avLst/>
          </a:prstGeom>
          <a:solidFill>
            <a:srgbClr val="FFFFFF"/>
          </a:solidFill>
          <a:ln w="9525">
            <a:solidFill>
              <a:srgbClr val="E0DCD3"/>
            </a:solidFill>
            <a:prstDash val="solid"/>
          </a:ln>
        </p:spPr>
      </p:sp>
      <p:sp>
        <p:nvSpPr>
          <p:cNvPr id="35" name="Text 29"/>
          <p:cNvSpPr/>
          <p:nvPr/>
        </p:nvSpPr>
        <p:spPr>
          <a:xfrm>
            <a:off x="923925" y="5572125"/>
            <a:ext cx="1053554" cy="2667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Mono" pitchFamily="34" charset="0"/>
                <a:ea typeface="IBM Plex Mono" pitchFamily="34" charset="-122"/>
                <a:cs typeface="IBM Plex Mono" pitchFamily="34" charset="-120"/>
              </a:rPr>
              <a:t>CANDIDATE</a:t>
            </a:r>
            <a:endParaRPr lang="en-US" sz="1425" dirty="0"/>
          </a:p>
        </p:txBody>
      </p:sp>
      <p:sp>
        <p:nvSpPr>
          <p:cNvPr id="36" name="Text 30"/>
          <p:cNvSpPr/>
          <p:nvPr/>
        </p:nvSpPr>
        <p:spPr>
          <a:xfrm>
            <a:off x="2177504" y="5572125"/>
            <a:ext cx="1054298" cy="2667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Mono" pitchFamily="34" charset="0"/>
                <a:ea typeface="IBM Plex Mono" pitchFamily="34" charset="-122"/>
                <a:cs typeface="IBM Plex Mono" pitchFamily="34" charset="-120"/>
              </a:rPr>
              <a:t>→ merge →</a:t>
            </a:r>
            <a:endParaRPr lang="en-US" sz="1425" dirty="0"/>
          </a:p>
        </p:txBody>
      </p:sp>
      <p:sp>
        <p:nvSpPr>
          <p:cNvPr id="37" name="Shape 31"/>
          <p:cNvSpPr/>
          <p:nvPr/>
        </p:nvSpPr>
        <p:spPr>
          <a:xfrm>
            <a:off x="3269903" y="5495925"/>
            <a:ext cx="1952625" cy="381000"/>
          </a:xfrm>
          <a:prstGeom prst="rect">
            <a:avLst/>
          </a:prstGeom>
          <a:solidFill>
            <a:srgbClr val="FFFFFF"/>
          </a:solidFill>
          <a:ln w="9525">
            <a:solidFill>
              <a:srgbClr val="E0DCD3"/>
            </a:solidFill>
            <a:prstDash val="solid"/>
          </a:ln>
        </p:spPr>
      </p:sp>
      <p:sp>
        <p:nvSpPr>
          <p:cNvPr id="38" name="Text 32"/>
          <p:cNvSpPr/>
          <p:nvPr/>
        </p:nvSpPr>
        <p:spPr>
          <a:xfrm>
            <a:off x="3431828" y="5572125"/>
            <a:ext cx="1704975" cy="2667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Mono" pitchFamily="34" charset="0"/>
                <a:ea typeface="IBM Plex Mono" pitchFamily="34" charset="-122"/>
                <a:cs typeface="IBM Plex Mono" pitchFamily="34" charset="-120"/>
              </a:rPr>
              <a:t>MERGED­CANDIDATE</a:t>
            </a:r>
            <a:endParaRPr lang="en-US" sz="1425" dirty="0"/>
          </a:p>
        </p:txBody>
      </p:sp>
      <p:sp>
        <p:nvSpPr>
          <p:cNvPr id="39" name="Text 33"/>
          <p:cNvSpPr/>
          <p:nvPr/>
        </p:nvSpPr>
        <p:spPr>
          <a:xfrm>
            <a:off x="5336828" y="5572125"/>
            <a:ext cx="1553617" cy="2667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Mono" pitchFamily="34" charset="0"/>
                <a:ea typeface="IBM Plex Mono" pitchFamily="34" charset="-122"/>
                <a:cs typeface="IBM Plex Mono" pitchFamily="34" charset="-120"/>
              </a:rPr>
              <a:t>→ deploy ok →</a:t>
            </a:r>
            <a:endParaRPr lang="en-US" sz="1425" dirty="0"/>
          </a:p>
        </p:txBody>
      </p:sp>
      <p:sp>
        <p:nvSpPr>
          <p:cNvPr id="40" name="Shape 34"/>
          <p:cNvSpPr/>
          <p:nvPr/>
        </p:nvSpPr>
        <p:spPr>
          <a:xfrm>
            <a:off x="6863507" y="5505450"/>
            <a:ext cx="1716435" cy="361950"/>
          </a:xfrm>
          <a:prstGeom prst="rect">
            <a:avLst/>
          </a:prstGeom>
          <a:solidFill>
            <a:srgbClr val="191C20"/>
          </a:solidFill>
          <a:ln/>
        </p:spPr>
      </p:sp>
      <p:sp>
        <p:nvSpPr>
          <p:cNvPr id="41" name="Text 35"/>
          <p:cNvSpPr/>
          <p:nvPr/>
        </p:nvSpPr>
        <p:spPr>
          <a:xfrm>
            <a:off x="7015907" y="5572125"/>
            <a:ext cx="1487835" cy="266700"/>
          </a:xfrm>
          <a:prstGeom prst="rect">
            <a:avLst/>
          </a:prstGeom>
          <a:noFill/>
          <a:ln/>
        </p:spPr>
        <p:txBody>
          <a:bodyPr wrap="square" lIns="25400" tIns="25400" rIns="25400" bIns="25400" rtlCol="0" anchor="t">
            <a:normAutofit/>
          </a:bodyPr>
          <a:lstStyle/>
          <a:p>
            <a:pPr algn="l" indent="0" marL="0">
              <a:buNone/>
            </a:pPr>
            <a:r>
              <a:rPr lang="en-US" sz="1425" dirty="0">
                <a:solidFill>
                  <a:srgbClr val="F2EFE9"/>
                </a:solidFill>
                <a:latin typeface="IBM Plex Mono" pitchFamily="34" charset="0"/>
                <a:ea typeface="IBM Plex Mono" pitchFamily="34" charset="-122"/>
                <a:cs typeface="IBM Plex Mono" pitchFamily="34" charset="-120"/>
              </a:rPr>
              <a:t>AUTHORITATIVE</a:t>
            </a:r>
            <a:endParaRPr lang="en-US" sz="1425" dirty="0"/>
          </a:p>
        </p:txBody>
      </p:sp>
      <p:sp>
        <p:nvSpPr>
          <p:cNvPr id="42" name="Text 36"/>
          <p:cNvSpPr/>
          <p:nvPr/>
        </p:nvSpPr>
        <p:spPr>
          <a:xfrm>
            <a:off x="8694241" y="5572125"/>
            <a:ext cx="184845" cy="2667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Mono" pitchFamily="34" charset="0"/>
                <a:ea typeface="IBM Plex Mono" pitchFamily="34" charset="-122"/>
                <a:cs typeface="IBM Plex Mono" pitchFamily="34" charset="-120"/>
              </a:rPr>
              <a:t>·</a:t>
            </a:r>
            <a:endParaRPr lang="en-US" sz="1425" dirty="0"/>
          </a:p>
        </p:txBody>
      </p:sp>
      <p:sp>
        <p:nvSpPr>
          <p:cNvPr id="43" name="Shape 37"/>
          <p:cNvSpPr/>
          <p:nvPr/>
        </p:nvSpPr>
        <p:spPr>
          <a:xfrm>
            <a:off x="8917186" y="5495925"/>
            <a:ext cx="1626989" cy="381000"/>
          </a:xfrm>
          <a:prstGeom prst="rect">
            <a:avLst/>
          </a:prstGeom>
          <a:ln w="9525">
            <a:solidFill>
              <a:srgbClr val="E0DCD3"/>
            </a:solidFill>
            <a:prstDash val="dash"/>
          </a:ln>
        </p:spPr>
      </p:sp>
      <p:sp>
        <p:nvSpPr>
          <p:cNvPr id="44" name="Text 38"/>
          <p:cNvSpPr/>
          <p:nvPr/>
        </p:nvSpPr>
        <p:spPr>
          <a:xfrm>
            <a:off x="9079111" y="5572125"/>
            <a:ext cx="1379339" cy="2667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Mono" pitchFamily="34" charset="0"/>
                <a:ea typeface="IBM Plex Mono" pitchFamily="34" charset="-122"/>
                <a:cs typeface="IBM Plex Mono" pitchFamily="34" charset="-120"/>
              </a:rPr>
              <a:t>FAILED­DEPLOY</a:t>
            </a:r>
            <a:endParaRPr lang="en-US" sz="1425" dirty="0"/>
          </a:p>
        </p:txBody>
      </p:sp>
      <p:sp>
        <p:nvSpPr>
          <p:cNvPr id="45" name="Text 39"/>
          <p:cNvSpPr/>
          <p:nvPr/>
        </p:nvSpPr>
        <p:spPr>
          <a:xfrm>
            <a:off x="10658475" y="5572125"/>
            <a:ext cx="184845" cy="2667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Mono" pitchFamily="34" charset="0"/>
                <a:ea typeface="IBM Plex Mono" pitchFamily="34" charset="-122"/>
                <a:cs typeface="IBM Plex Mono" pitchFamily="34" charset="-120"/>
              </a:rPr>
              <a:t>·</a:t>
            </a:r>
            <a:endParaRPr lang="en-US" sz="1425" dirty="0"/>
          </a:p>
        </p:txBody>
      </p:sp>
      <p:sp>
        <p:nvSpPr>
          <p:cNvPr id="46" name="Shape 40"/>
          <p:cNvSpPr/>
          <p:nvPr/>
        </p:nvSpPr>
        <p:spPr>
          <a:xfrm>
            <a:off x="10881420" y="5495925"/>
            <a:ext cx="2061270" cy="381000"/>
          </a:xfrm>
          <a:prstGeom prst="rect">
            <a:avLst/>
          </a:prstGeom>
          <a:ln w="9525">
            <a:solidFill>
              <a:srgbClr val="E0DCD3"/>
            </a:solidFill>
            <a:prstDash val="dash"/>
          </a:ln>
        </p:spPr>
      </p:sp>
      <p:sp>
        <p:nvSpPr>
          <p:cNvPr id="47" name="Text 41"/>
          <p:cNvSpPr/>
          <p:nvPr/>
        </p:nvSpPr>
        <p:spPr>
          <a:xfrm>
            <a:off x="11043345" y="5572125"/>
            <a:ext cx="1813620" cy="2667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Mono" pitchFamily="34" charset="0"/>
                <a:ea typeface="IBM Plex Mono" pitchFamily="34" charset="-122"/>
                <a:cs typeface="IBM Plex Mono" pitchFamily="34" charset="-120"/>
              </a:rPr>
              <a:t>PRIOR­REACTIVATED</a:t>
            </a:r>
            <a:endParaRPr lang="en-US" sz="1425" dirty="0"/>
          </a:p>
        </p:txBody>
      </p:sp>
      <p:sp>
        <p:nvSpPr>
          <p:cNvPr id="48" name="Text 42"/>
          <p:cNvSpPr/>
          <p:nvPr/>
        </p:nvSpPr>
        <p:spPr>
          <a:xfrm>
            <a:off x="13056989" y="5572125"/>
            <a:ext cx="184845" cy="2667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Mono" pitchFamily="34" charset="0"/>
                <a:ea typeface="IBM Plex Mono" pitchFamily="34" charset="-122"/>
                <a:cs typeface="IBM Plex Mono" pitchFamily="34" charset="-120"/>
              </a:rPr>
              <a:t>·</a:t>
            </a:r>
            <a:endParaRPr lang="en-US" sz="1425" dirty="0"/>
          </a:p>
        </p:txBody>
      </p:sp>
      <p:sp>
        <p:nvSpPr>
          <p:cNvPr id="49" name="Shape 43"/>
          <p:cNvSpPr/>
          <p:nvPr/>
        </p:nvSpPr>
        <p:spPr>
          <a:xfrm>
            <a:off x="13279934" y="5495925"/>
            <a:ext cx="1409849" cy="381000"/>
          </a:xfrm>
          <a:prstGeom prst="rect">
            <a:avLst/>
          </a:prstGeom>
          <a:ln w="9525">
            <a:solidFill>
              <a:srgbClr val="E0DCD3"/>
            </a:solidFill>
            <a:prstDash val="dash"/>
          </a:ln>
        </p:spPr>
      </p:sp>
      <p:sp>
        <p:nvSpPr>
          <p:cNvPr id="50" name="Text 44"/>
          <p:cNvSpPr/>
          <p:nvPr/>
        </p:nvSpPr>
        <p:spPr>
          <a:xfrm>
            <a:off x="13441859" y="5572125"/>
            <a:ext cx="1162199" cy="2667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Mono" pitchFamily="34" charset="0"/>
                <a:ea typeface="IBM Plex Mono" pitchFamily="34" charset="-122"/>
                <a:cs typeface="IBM Plex Mono" pitchFamily="34" charset="-120"/>
              </a:rPr>
              <a:t>SUPERSEDED</a:t>
            </a:r>
            <a:endParaRPr lang="en-US" sz="142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762000" y="342900"/>
            <a:ext cx="18440400" cy="361950"/>
          </a:xfrm>
          <a:prstGeom prst="rect">
            <a:avLst/>
          </a:prstGeom>
          <a:noFill/>
          <a:ln/>
        </p:spPr>
        <p:txBody>
          <a:bodyPr wrap="square" lIns="25400" tIns="25400" rIns="25400" bIns="25400" rtlCol="0" anchor="t">
            <a:normAutofit/>
          </a:bodyPr>
          <a:lstStyle/>
          <a:p>
            <a:pPr algn="l" indent="0" marL="0">
              <a:buNone/>
            </a:pPr>
            <a:r>
              <a:rPr lang="en-US" sz="1950" spc="312" kern="0" dirty="0">
                <a:solidFill>
                  <a:srgbClr val="4D535B"/>
                </a:solidFill>
                <a:latin typeface="IBM Plex Mono" pitchFamily="34" charset="0"/>
                <a:ea typeface="IBM Plex Mono" pitchFamily="34" charset="-122"/>
                <a:cs typeface="IBM Plex Mono" pitchFamily="34" charset="-120"/>
              </a:rPr>
              <a:t>14B · APPENDIX · PROMOTION STATES — WHAT EACH MEANS</a:t>
            </a:r>
            <a:endParaRPr lang="en-US" sz="1950" dirty="0"/>
          </a:p>
        </p:txBody>
      </p:sp>
      <p:sp>
        <p:nvSpPr>
          <p:cNvPr id="3" name="Text 1"/>
          <p:cNvSpPr/>
          <p:nvPr/>
        </p:nvSpPr>
        <p:spPr>
          <a:xfrm>
            <a:off x="762000" y="762000"/>
            <a:ext cx="18440400" cy="771525"/>
          </a:xfrm>
          <a:prstGeom prst="rect">
            <a:avLst/>
          </a:prstGeom>
          <a:noFill/>
          <a:ln/>
        </p:spPr>
        <p:txBody>
          <a:bodyPr wrap="square" lIns="25400" tIns="25400" rIns="25400" bIns="25400" rtlCol="0" anchor="t">
            <a:normAutofit/>
          </a:bodyPr>
          <a:lstStyle/>
          <a:p>
            <a:pPr algn="l" indent="0" marL="0">
              <a:buNone/>
            </a:pPr>
            <a:r>
              <a:rPr lang="en-US" sz="4500" b="1" dirty="0">
                <a:solidFill>
                  <a:srgbClr val="191C20"/>
                </a:solidFill>
                <a:latin typeface="IBM Plex Sans" pitchFamily="34" charset="0"/>
                <a:ea typeface="IBM Plex Sans" pitchFamily="34" charset="-122"/>
                <a:cs typeface="IBM Plex Sans" pitchFamily="34" charset="-120"/>
              </a:rPr>
              <a:t>Deployment Appendix — States Explained</a:t>
            </a:r>
            <a:endParaRPr lang="en-US" sz="4500" dirty="0"/>
          </a:p>
        </p:txBody>
      </p:sp>
      <p:sp>
        <p:nvSpPr>
          <p:cNvPr id="4" name="Shape 2"/>
          <p:cNvSpPr/>
          <p:nvPr/>
        </p:nvSpPr>
        <p:spPr>
          <a:xfrm>
            <a:off x="762000" y="1666875"/>
            <a:ext cx="16764000" cy="19050"/>
          </a:xfrm>
          <a:prstGeom prst="rect">
            <a:avLst/>
          </a:prstGeom>
          <a:solidFill>
            <a:srgbClr val="191C20"/>
          </a:solidFill>
          <a:ln/>
        </p:spPr>
      </p:sp>
      <p:sp>
        <p:nvSpPr>
          <p:cNvPr id="5" name="Shape 3"/>
          <p:cNvSpPr/>
          <p:nvPr/>
        </p:nvSpPr>
        <p:spPr>
          <a:xfrm>
            <a:off x="762000" y="2085975"/>
            <a:ext cx="2667000" cy="9525"/>
          </a:xfrm>
          <a:prstGeom prst="rect">
            <a:avLst/>
          </a:prstGeom>
          <a:solidFill>
            <a:srgbClr val="E0DCD3"/>
          </a:solidFill>
          <a:ln/>
        </p:spPr>
      </p:sp>
      <p:sp>
        <p:nvSpPr>
          <p:cNvPr id="6" name="Text 4"/>
          <p:cNvSpPr/>
          <p:nvPr/>
        </p:nvSpPr>
        <p:spPr>
          <a:xfrm>
            <a:off x="838200" y="1771650"/>
            <a:ext cx="2594610" cy="2667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Mono" pitchFamily="34" charset="0"/>
                <a:ea typeface="IBM Plex Mono" pitchFamily="34" charset="-122"/>
                <a:cs typeface="IBM Plex Mono" pitchFamily="34" charset="-120"/>
              </a:rPr>
              <a:t>STATE</a:t>
            </a:r>
            <a:endParaRPr lang="en-US" sz="1425" dirty="0"/>
          </a:p>
        </p:txBody>
      </p:sp>
      <p:sp>
        <p:nvSpPr>
          <p:cNvPr id="7" name="Shape 5"/>
          <p:cNvSpPr/>
          <p:nvPr/>
        </p:nvSpPr>
        <p:spPr>
          <a:xfrm>
            <a:off x="3429000" y="2085975"/>
            <a:ext cx="6407646" cy="9525"/>
          </a:xfrm>
          <a:prstGeom prst="rect">
            <a:avLst/>
          </a:prstGeom>
          <a:solidFill>
            <a:srgbClr val="E0DCD3"/>
          </a:solidFill>
          <a:ln/>
        </p:spPr>
      </p:sp>
      <p:sp>
        <p:nvSpPr>
          <p:cNvPr id="8" name="Text 6"/>
          <p:cNvSpPr/>
          <p:nvPr/>
        </p:nvSpPr>
        <p:spPr>
          <a:xfrm>
            <a:off x="3505200" y="1771650"/>
            <a:ext cx="6447475" cy="2667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Mono" pitchFamily="34" charset="0"/>
                <a:ea typeface="IBM Plex Mono" pitchFamily="34" charset="-122"/>
                <a:cs typeface="IBM Plex Mono" pitchFamily="34" charset="-120"/>
              </a:rPr>
              <a:t>MEANING</a:t>
            </a:r>
            <a:endParaRPr lang="en-US" sz="1425" dirty="0"/>
          </a:p>
        </p:txBody>
      </p:sp>
      <p:sp>
        <p:nvSpPr>
          <p:cNvPr id="9" name="Shape 7"/>
          <p:cNvSpPr/>
          <p:nvPr/>
        </p:nvSpPr>
        <p:spPr>
          <a:xfrm>
            <a:off x="9836646" y="2085975"/>
            <a:ext cx="7689205" cy="9525"/>
          </a:xfrm>
          <a:prstGeom prst="rect">
            <a:avLst/>
          </a:prstGeom>
          <a:solidFill>
            <a:srgbClr val="E0DCD3"/>
          </a:solidFill>
          <a:ln/>
        </p:spPr>
      </p:sp>
      <p:sp>
        <p:nvSpPr>
          <p:cNvPr id="10" name="Text 8"/>
          <p:cNvSpPr/>
          <p:nvPr/>
        </p:nvSpPr>
        <p:spPr>
          <a:xfrm>
            <a:off x="9912846" y="1771650"/>
            <a:ext cx="7767481" cy="2667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Mono" pitchFamily="34" charset="0"/>
                <a:ea typeface="IBM Plex Mono" pitchFamily="34" charset="-122"/>
                <a:cs typeface="IBM Plex Mono" pitchFamily="34" charset="-120"/>
              </a:rPr>
              <a:t>WHAT MOVES IT</a:t>
            </a:r>
            <a:endParaRPr lang="en-US" sz="1425" dirty="0"/>
          </a:p>
        </p:txBody>
      </p:sp>
      <p:sp>
        <p:nvSpPr>
          <p:cNvPr id="11" name="Shape 9"/>
          <p:cNvSpPr/>
          <p:nvPr/>
        </p:nvSpPr>
        <p:spPr>
          <a:xfrm>
            <a:off x="762000" y="2495550"/>
            <a:ext cx="2667000" cy="9525"/>
          </a:xfrm>
          <a:prstGeom prst="rect">
            <a:avLst/>
          </a:prstGeom>
          <a:solidFill>
            <a:srgbClr val="E0DCD3"/>
          </a:solidFill>
          <a:ln/>
        </p:spPr>
      </p:sp>
      <p:sp>
        <p:nvSpPr>
          <p:cNvPr id="12" name="Text 10"/>
          <p:cNvSpPr/>
          <p:nvPr/>
        </p:nvSpPr>
        <p:spPr>
          <a:xfrm>
            <a:off x="838200" y="2181225"/>
            <a:ext cx="2594610" cy="266700"/>
          </a:xfrm>
          <a:prstGeom prst="rect">
            <a:avLst/>
          </a:prstGeom>
          <a:noFill/>
          <a:ln/>
        </p:spPr>
        <p:txBody>
          <a:bodyPr wrap="square" lIns="25400" tIns="25400" rIns="25400" bIns="25400" rtlCol="0" anchor="t">
            <a:normAutofit/>
          </a:bodyPr>
          <a:lstStyle/>
          <a:p>
            <a:pPr algn="l" indent="0" marL="0">
              <a:buNone/>
            </a:pPr>
            <a:r>
              <a:rPr lang="en-US" sz="1425" dirty="0">
                <a:solidFill>
                  <a:srgbClr val="191C20"/>
                </a:solidFill>
                <a:latin typeface="IBM Plex Mono" pitchFamily="34" charset="0"/>
                <a:ea typeface="IBM Plex Mono" pitchFamily="34" charset="-122"/>
                <a:cs typeface="IBM Plex Mono" pitchFamily="34" charset="-120"/>
              </a:rPr>
              <a:t>CANDIDATE</a:t>
            </a:r>
            <a:endParaRPr lang="en-US" sz="1425" dirty="0"/>
          </a:p>
        </p:txBody>
      </p:sp>
      <p:sp>
        <p:nvSpPr>
          <p:cNvPr id="13" name="Shape 11"/>
          <p:cNvSpPr/>
          <p:nvPr/>
        </p:nvSpPr>
        <p:spPr>
          <a:xfrm>
            <a:off x="3429000" y="2495550"/>
            <a:ext cx="6407646" cy="9525"/>
          </a:xfrm>
          <a:prstGeom prst="rect">
            <a:avLst/>
          </a:prstGeom>
          <a:solidFill>
            <a:srgbClr val="E0DCD3"/>
          </a:solidFill>
          <a:ln/>
        </p:spPr>
      </p:sp>
      <p:sp>
        <p:nvSpPr>
          <p:cNvPr id="14" name="Text 12"/>
          <p:cNvSpPr/>
          <p:nvPr/>
        </p:nvSpPr>
        <p:spPr>
          <a:xfrm>
            <a:off x="3505200" y="2181225"/>
            <a:ext cx="6447475" cy="2667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A PR exists; its lineage package is computed for review only</a:t>
            </a:r>
            <a:endParaRPr lang="en-US" sz="1425" dirty="0"/>
          </a:p>
        </p:txBody>
      </p:sp>
      <p:sp>
        <p:nvSpPr>
          <p:cNvPr id="15" name="Shape 13"/>
          <p:cNvSpPr/>
          <p:nvPr/>
        </p:nvSpPr>
        <p:spPr>
          <a:xfrm>
            <a:off x="9836646" y="2495550"/>
            <a:ext cx="7689205" cy="9525"/>
          </a:xfrm>
          <a:prstGeom prst="rect">
            <a:avLst/>
          </a:prstGeom>
          <a:solidFill>
            <a:srgbClr val="E0DCD3"/>
          </a:solidFill>
          <a:ln/>
        </p:spPr>
      </p:sp>
      <p:sp>
        <p:nvSpPr>
          <p:cNvPr id="16" name="Text 14"/>
          <p:cNvSpPr/>
          <p:nvPr/>
        </p:nvSpPr>
        <p:spPr>
          <a:xfrm>
            <a:off x="9912846" y="2181225"/>
            <a:ext cx="7767481" cy="2667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Merge → MergedCandidate · rebase / force-push → Superseded</a:t>
            </a:r>
            <a:endParaRPr lang="en-US" sz="1425" dirty="0"/>
          </a:p>
        </p:txBody>
      </p:sp>
      <p:sp>
        <p:nvSpPr>
          <p:cNvPr id="17" name="Shape 15"/>
          <p:cNvSpPr/>
          <p:nvPr/>
        </p:nvSpPr>
        <p:spPr>
          <a:xfrm>
            <a:off x="762000" y="3133725"/>
            <a:ext cx="2667000" cy="9525"/>
          </a:xfrm>
          <a:prstGeom prst="rect">
            <a:avLst/>
          </a:prstGeom>
          <a:solidFill>
            <a:srgbClr val="E0DCD3"/>
          </a:solidFill>
          <a:ln/>
        </p:spPr>
      </p:sp>
      <p:sp>
        <p:nvSpPr>
          <p:cNvPr id="18" name="Text 16"/>
          <p:cNvSpPr/>
          <p:nvPr/>
        </p:nvSpPr>
        <p:spPr>
          <a:xfrm>
            <a:off x="838200" y="2590800"/>
            <a:ext cx="2594610" cy="495300"/>
          </a:xfrm>
          <a:prstGeom prst="rect">
            <a:avLst/>
          </a:prstGeom>
          <a:noFill/>
          <a:ln/>
        </p:spPr>
        <p:txBody>
          <a:bodyPr wrap="square" lIns="25400" tIns="25400" rIns="25400" bIns="25400" rtlCol="0" anchor="t">
            <a:normAutofit/>
          </a:bodyPr>
          <a:lstStyle/>
          <a:p>
            <a:pPr algn="l" indent="0" marL="0">
              <a:buNone/>
            </a:pPr>
            <a:r>
              <a:rPr lang="en-US" sz="1425" dirty="0">
                <a:solidFill>
                  <a:srgbClr val="191C20"/>
                </a:solidFill>
                <a:latin typeface="IBM Plex Mono" pitchFamily="34" charset="0"/>
                <a:ea typeface="IBM Plex Mono" pitchFamily="34" charset="-122"/>
                <a:cs typeface="IBM Plex Mono" pitchFamily="34" charset="-120"/>
              </a:rPr>
              <a:t>MERGEDCANDIDATE</a:t>
            </a:r>
            <a:endParaRPr lang="en-US" sz="1425" dirty="0"/>
          </a:p>
        </p:txBody>
      </p:sp>
      <p:sp>
        <p:nvSpPr>
          <p:cNvPr id="19" name="Shape 17"/>
          <p:cNvSpPr/>
          <p:nvPr/>
        </p:nvSpPr>
        <p:spPr>
          <a:xfrm>
            <a:off x="3429000" y="3133725"/>
            <a:ext cx="6407646" cy="9525"/>
          </a:xfrm>
          <a:prstGeom prst="rect">
            <a:avLst/>
          </a:prstGeom>
          <a:solidFill>
            <a:srgbClr val="E0DCD3"/>
          </a:solidFill>
          <a:ln/>
        </p:spPr>
      </p:sp>
      <p:sp>
        <p:nvSpPr>
          <p:cNvPr id="20" name="Text 18"/>
          <p:cNvSpPr/>
          <p:nvPr/>
        </p:nvSpPr>
        <p:spPr>
          <a:xfrm>
            <a:off x="3505200" y="2590800"/>
            <a:ext cx="6447475" cy="4953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Merged to main with a lineage package — but merged ≠ running; truth is untouched</a:t>
            </a:r>
            <a:endParaRPr lang="en-US" sz="1425" dirty="0"/>
          </a:p>
        </p:txBody>
      </p:sp>
      <p:sp>
        <p:nvSpPr>
          <p:cNvPr id="21" name="Shape 19"/>
          <p:cNvSpPr/>
          <p:nvPr/>
        </p:nvSpPr>
        <p:spPr>
          <a:xfrm>
            <a:off x="9836646" y="3133725"/>
            <a:ext cx="7689205" cy="9525"/>
          </a:xfrm>
          <a:prstGeom prst="rect">
            <a:avLst/>
          </a:prstGeom>
          <a:solidFill>
            <a:srgbClr val="E0DCD3"/>
          </a:solidFill>
          <a:ln/>
        </p:spPr>
      </p:sp>
      <p:sp>
        <p:nvSpPr>
          <p:cNvPr id="22" name="Text 20"/>
          <p:cNvSpPr/>
          <p:nvPr/>
        </p:nvSpPr>
        <p:spPr>
          <a:xfrm>
            <a:off x="9912846" y="2590800"/>
            <a:ext cx="7767481" cy="4953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A successful deploy of its exact digest → Authoritative</a:t>
            </a:r>
            <a:endParaRPr lang="en-US" sz="1425" dirty="0"/>
          </a:p>
        </p:txBody>
      </p:sp>
      <p:sp>
        <p:nvSpPr>
          <p:cNvPr id="23" name="Shape 21"/>
          <p:cNvSpPr/>
          <p:nvPr/>
        </p:nvSpPr>
        <p:spPr>
          <a:xfrm>
            <a:off x="762000" y="3771900"/>
            <a:ext cx="2667000" cy="9525"/>
          </a:xfrm>
          <a:prstGeom prst="rect">
            <a:avLst/>
          </a:prstGeom>
          <a:solidFill>
            <a:srgbClr val="E0DCD3"/>
          </a:solidFill>
          <a:ln/>
        </p:spPr>
      </p:sp>
      <p:sp>
        <p:nvSpPr>
          <p:cNvPr id="24" name="Text 22"/>
          <p:cNvSpPr/>
          <p:nvPr/>
        </p:nvSpPr>
        <p:spPr>
          <a:xfrm>
            <a:off x="838200" y="3228975"/>
            <a:ext cx="2594610" cy="495300"/>
          </a:xfrm>
          <a:prstGeom prst="rect">
            <a:avLst/>
          </a:prstGeom>
          <a:noFill/>
          <a:ln/>
        </p:spPr>
        <p:txBody>
          <a:bodyPr wrap="square" lIns="25400" tIns="25400" rIns="25400" bIns="25400" rtlCol="0" anchor="t">
            <a:normAutofit/>
          </a:bodyPr>
          <a:lstStyle/>
          <a:p>
            <a:pPr algn="l" indent="0" marL="0">
              <a:buNone/>
            </a:pPr>
            <a:r>
              <a:rPr lang="en-US" sz="1425" dirty="0">
                <a:solidFill>
                  <a:srgbClr val="191C20"/>
                </a:solidFill>
                <a:latin typeface="IBM Plex Mono" pitchFamily="34" charset="0"/>
                <a:ea typeface="IBM Plex Mono" pitchFamily="34" charset="-122"/>
                <a:cs typeface="IBM Plex Mono" pitchFamily="34" charset="-120"/>
              </a:rPr>
              <a:t>AUTHORITATIVE</a:t>
            </a:r>
            <a:endParaRPr lang="en-US" sz="1425" dirty="0"/>
          </a:p>
        </p:txBody>
      </p:sp>
      <p:sp>
        <p:nvSpPr>
          <p:cNvPr id="25" name="Shape 23"/>
          <p:cNvSpPr/>
          <p:nvPr/>
        </p:nvSpPr>
        <p:spPr>
          <a:xfrm>
            <a:off x="3429000" y="3771900"/>
            <a:ext cx="6407646" cy="9525"/>
          </a:xfrm>
          <a:prstGeom prst="rect">
            <a:avLst/>
          </a:prstGeom>
          <a:solidFill>
            <a:srgbClr val="E0DCD3"/>
          </a:solidFill>
          <a:ln/>
        </p:spPr>
      </p:sp>
      <p:sp>
        <p:nvSpPr>
          <p:cNvPr id="26" name="Text 24"/>
          <p:cNvSpPr/>
          <p:nvPr/>
        </p:nvSpPr>
        <p:spPr>
          <a:xfrm>
            <a:off x="3505200" y="3228975"/>
            <a:ext cx="6447475" cy="4953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The digest is running in the environment; its lineage is what the graph asserts for that environment</a:t>
            </a:r>
            <a:endParaRPr lang="en-US" sz="1425" dirty="0"/>
          </a:p>
        </p:txBody>
      </p:sp>
      <p:sp>
        <p:nvSpPr>
          <p:cNvPr id="27" name="Shape 25"/>
          <p:cNvSpPr/>
          <p:nvPr/>
        </p:nvSpPr>
        <p:spPr>
          <a:xfrm>
            <a:off x="9836646" y="3771900"/>
            <a:ext cx="7689205" cy="9525"/>
          </a:xfrm>
          <a:prstGeom prst="rect">
            <a:avLst/>
          </a:prstGeom>
          <a:solidFill>
            <a:srgbClr val="E0DCD3"/>
          </a:solidFill>
          <a:ln/>
        </p:spPr>
      </p:sp>
      <p:sp>
        <p:nvSpPr>
          <p:cNvPr id="28" name="Text 26"/>
          <p:cNvSpPr/>
          <p:nvPr/>
        </p:nvSpPr>
        <p:spPr>
          <a:xfrm>
            <a:off x="9912846" y="3228975"/>
            <a:ext cx="7767481" cy="4953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A newer successful deploy supersedes it · rollback → PriorReactivated</a:t>
            </a:r>
            <a:endParaRPr lang="en-US" sz="1425" dirty="0"/>
          </a:p>
        </p:txBody>
      </p:sp>
      <p:sp>
        <p:nvSpPr>
          <p:cNvPr id="29" name="Shape 27"/>
          <p:cNvSpPr/>
          <p:nvPr/>
        </p:nvSpPr>
        <p:spPr>
          <a:xfrm>
            <a:off x="762000" y="4181475"/>
            <a:ext cx="2667000" cy="9525"/>
          </a:xfrm>
          <a:prstGeom prst="rect">
            <a:avLst/>
          </a:prstGeom>
          <a:solidFill>
            <a:srgbClr val="E0DCD3"/>
          </a:solidFill>
          <a:ln/>
        </p:spPr>
      </p:sp>
      <p:sp>
        <p:nvSpPr>
          <p:cNvPr id="30" name="Text 28"/>
          <p:cNvSpPr/>
          <p:nvPr/>
        </p:nvSpPr>
        <p:spPr>
          <a:xfrm>
            <a:off x="838200" y="3867150"/>
            <a:ext cx="2594610" cy="266700"/>
          </a:xfrm>
          <a:prstGeom prst="rect">
            <a:avLst/>
          </a:prstGeom>
          <a:noFill/>
          <a:ln/>
        </p:spPr>
        <p:txBody>
          <a:bodyPr wrap="square" lIns="25400" tIns="25400" rIns="25400" bIns="25400" rtlCol="0" anchor="t">
            <a:normAutofit/>
          </a:bodyPr>
          <a:lstStyle/>
          <a:p>
            <a:pPr algn="l" indent="0" marL="0">
              <a:buNone/>
            </a:pPr>
            <a:r>
              <a:rPr lang="en-US" sz="1425" dirty="0">
                <a:solidFill>
                  <a:srgbClr val="191C20"/>
                </a:solidFill>
                <a:latin typeface="IBM Plex Mono" pitchFamily="34" charset="0"/>
                <a:ea typeface="IBM Plex Mono" pitchFamily="34" charset="-122"/>
                <a:cs typeface="IBM Plex Mono" pitchFamily="34" charset="-120"/>
              </a:rPr>
              <a:t>FAILEDDEPLOY</a:t>
            </a:r>
            <a:endParaRPr lang="en-US" sz="1425" dirty="0"/>
          </a:p>
        </p:txBody>
      </p:sp>
      <p:sp>
        <p:nvSpPr>
          <p:cNvPr id="31" name="Shape 29"/>
          <p:cNvSpPr/>
          <p:nvPr/>
        </p:nvSpPr>
        <p:spPr>
          <a:xfrm>
            <a:off x="3429000" y="4181475"/>
            <a:ext cx="6407646" cy="9525"/>
          </a:xfrm>
          <a:prstGeom prst="rect">
            <a:avLst/>
          </a:prstGeom>
          <a:solidFill>
            <a:srgbClr val="E0DCD3"/>
          </a:solidFill>
          <a:ln/>
        </p:spPr>
      </p:sp>
      <p:sp>
        <p:nvSpPr>
          <p:cNvPr id="32" name="Text 30"/>
          <p:cNvSpPr/>
          <p:nvPr/>
        </p:nvSpPr>
        <p:spPr>
          <a:xfrm>
            <a:off x="3505200" y="3867150"/>
            <a:ext cx="6447475" cy="2667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The deploy did not succeed — the environment never changed</a:t>
            </a:r>
            <a:endParaRPr lang="en-US" sz="1425" dirty="0"/>
          </a:p>
        </p:txBody>
      </p:sp>
      <p:sp>
        <p:nvSpPr>
          <p:cNvPr id="33" name="Shape 31"/>
          <p:cNvSpPr/>
          <p:nvPr/>
        </p:nvSpPr>
        <p:spPr>
          <a:xfrm>
            <a:off x="9836646" y="4181475"/>
            <a:ext cx="7689205" cy="9525"/>
          </a:xfrm>
          <a:prstGeom prst="rect">
            <a:avLst/>
          </a:prstGeom>
          <a:solidFill>
            <a:srgbClr val="E0DCD3"/>
          </a:solidFill>
          <a:ln/>
        </p:spPr>
      </p:sp>
      <p:sp>
        <p:nvSpPr>
          <p:cNvPr id="34" name="Text 32"/>
          <p:cNvSpPr/>
          <p:nvPr/>
        </p:nvSpPr>
        <p:spPr>
          <a:xfrm>
            <a:off x="9912846" y="3867150"/>
            <a:ext cx="7767481" cy="2667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Nothing — the active version is untouched; retry produces a fresh event</a:t>
            </a:r>
            <a:endParaRPr lang="en-US" sz="1425" dirty="0"/>
          </a:p>
        </p:txBody>
      </p:sp>
      <p:sp>
        <p:nvSpPr>
          <p:cNvPr id="35" name="Shape 33"/>
          <p:cNvSpPr/>
          <p:nvPr/>
        </p:nvSpPr>
        <p:spPr>
          <a:xfrm>
            <a:off x="762000" y="4819650"/>
            <a:ext cx="2667000" cy="9525"/>
          </a:xfrm>
          <a:prstGeom prst="rect">
            <a:avLst/>
          </a:prstGeom>
          <a:solidFill>
            <a:srgbClr val="E0DCD3"/>
          </a:solidFill>
          <a:ln/>
        </p:spPr>
      </p:sp>
      <p:sp>
        <p:nvSpPr>
          <p:cNvPr id="36" name="Text 34"/>
          <p:cNvSpPr/>
          <p:nvPr/>
        </p:nvSpPr>
        <p:spPr>
          <a:xfrm>
            <a:off x="838200" y="4276725"/>
            <a:ext cx="2594610" cy="495300"/>
          </a:xfrm>
          <a:prstGeom prst="rect">
            <a:avLst/>
          </a:prstGeom>
          <a:noFill/>
          <a:ln/>
        </p:spPr>
        <p:txBody>
          <a:bodyPr wrap="square" lIns="25400" tIns="25400" rIns="25400" bIns="25400" rtlCol="0" anchor="t">
            <a:normAutofit/>
          </a:bodyPr>
          <a:lstStyle/>
          <a:p>
            <a:pPr algn="l" indent="0" marL="0">
              <a:buNone/>
            </a:pPr>
            <a:r>
              <a:rPr lang="en-US" sz="1425" dirty="0">
                <a:solidFill>
                  <a:srgbClr val="191C20"/>
                </a:solidFill>
                <a:latin typeface="IBM Plex Mono" pitchFamily="34" charset="0"/>
                <a:ea typeface="IBM Plex Mono" pitchFamily="34" charset="-122"/>
                <a:cs typeface="IBM Plex Mono" pitchFamily="34" charset="-120"/>
              </a:rPr>
              <a:t>PRIORREACTIVATED</a:t>
            </a:r>
            <a:endParaRPr lang="en-US" sz="1425" dirty="0"/>
          </a:p>
        </p:txBody>
      </p:sp>
      <p:sp>
        <p:nvSpPr>
          <p:cNvPr id="37" name="Shape 35"/>
          <p:cNvSpPr/>
          <p:nvPr/>
        </p:nvSpPr>
        <p:spPr>
          <a:xfrm>
            <a:off x="3429000" y="4819650"/>
            <a:ext cx="6407646" cy="9525"/>
          </a:xfrm>
          <a:prstGeom prst="rect">
            <a:avLst/>
          </a:prstGeom>
          <a:solidFill>
            <a:srgbClr val="E0DCD3"/>
          </a:solidFill>
          <a:ln/>
        </p:spPr>
      </p:sp>
      <p:sp>
        <p:nvSpPr>
          <p:cNvPr id="38" name="Text 36"/>
          <p:cNvSpPr/>
          <p:nvPr/>
        </p:nvSpPr>
        <p:spPr>
          <a:xfrm>
            <a:off x="3505200" y="4276725"/>
            <a:ext cx="6447475" cy="4953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Rollback: the previous version is authoritative again, recorded bitemporally — nothing deleted</a:t>
            </a:r>
            <a:endParaRPr lang="en-US" sz="1425" dirty="0"/>
          </a:p>
        </p:txBody>
      </p:sp>
      <p:sp>
        <p:nvSpPr>
          <p:cNvPr id="39" name="Shape 37"/>
          <p:cNvSpPr/>
          <p:nvPr/>
        </p:nvSpPr>
        <p:spPr>
          <a:xfrm>
            <a:off x="9836646" y="4819650"/>
            <a:ext cx="7689205" cy="9525"/>
          </a:xfrm>
          <a:prstGeom prst="rect">
            <a:avLst/>
          </a:prstGeom>
          <a:solidFill>
            <a:srgbClr val="E0DCD3"/>
          </a:solidFill>
          <a:ln/>
        </p:spPr>
      </p:sp>
      <p:sp>
        <p:nvSpPr>
          <p:cNvPr id="40" name="Text 38"/>
          <p:cNvSpPr/>
          <p:nvPr/>
        </p:nvSpPr>
        <p:spPr>
          <a:xfrm>
            <a:off x="9912846" y="4276725"/>
            <a:ext cx="7767481" cy="4953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Runtime reconcile confirms what is actually serving traffic</a:t>
            </a:r>
            <a:endParaRPr lang="en-US" sz="1425" dirty="0"/>
          </a:p>
        </p:txBody>
      </p:sp>
      <p:sp>
        <p:nvSpPr>
          <p:cNvPr id="41" name="Shape 39"/>
          <p:cNvSpPr/>
          <p:nvPr/>
        </p:nvSpPr>
        <p:spPr>
          <a:xfrm>
            <a:off x="762000" y="5457825"/>
            <a:ext cx="2667000" cy="9525"/>
          </a:xfrm>
          <a:prstGeom prst="rect">
            <a:avLst/>
          </a:prstGeom>
          <a:solidFill>
            <a:srgbClr val="E0DCD3"/>
          </a:solidFill>
          <a:ln/>
        </p:spPr>
      </p:sp>
      <p:sp>
        <p:nvSpPr>
          <p:cNvPr id="42" name="Text 40"/>
          <p:cNvSpPr/>
          <p:nvPr/>
        </p:nvSpPr>
        <p:spPr>
          <a:xfrm>
            <a:off x="838200" y="4914900"/>
            <a:ext cx="2594610" cy="495300"/>
          </a:xfrm>
          <a:prstGeom prst="rect">
            <a:avLst/>
          </a:prstGeom>
          <a:noFill/>
          <a:ln/>
        </p:spPr>
        <p:txBody>
          <a:bodyPr wrap="square" lIns="25400" tIns="25400" rIns="25400" bIns="25400" rtlCol="0" anchor="t">
            <a:normAutofit/>
          </a:bodyPr>
          <a:lstStyle/>
          <a:p>
            <a:pPr algn="l" indent="0" marL="0">
              <a:buNone/>
            </a:pPr>
            <a:r>
              <a:rPr lang="en-US" sz="1425" dirty="0">
                <a:solidFill>
                  <a:srgbClr val="191C20"/>
                </a:solidFill>
                <a:latin typeface="IBM Plex Mono" pitchFamily="34" charset="0"/>
                <a:ea typeface="IBM Plex Mono" pitchFamily="34" charset="-122"/>
                <a:cs typeface="IBM Plex Mono" pitchFamily="34" charset="-120"/>
              </a:rPr>
              <a:t>SUPERSEDED</a:t>
            </a:r>
            <a:endParaRPr lang="en-US" sz="1425" dirty="0"/>
          </a:p>
        </p:txBody>
      </p:sp>
      <p:sp>
        <p:nvSpPr>
          <p:cNvPr id="43" name="Shape 41"/>
          <p:cNvSpPr/>
          <p:nvPr/>
        </p:nvSpPr>
        <p:spPr>
          <a:xfrm>
            <a:off x="3429000" y="5457825"/>
            <a:ext cx="6407646" cy="9525"/>
          </a:xfrm>
          <a:prstGeom prst="rect">
            <a:avLst/>
          </a:prstGeom>
          <a:solidFill>
            <a:srgbClr val="E0DCD3"/>
          </a:solidFill>
          <a:ln/>
        </p:spPr>
      </p:sp>
      <p:sp>
        <p:nvSpPr>
          <p:cNvPr id="44" name="Text 42"/>
          <p:cNvSpPr/>
          <p:nvPr/>
        </p:nvSpPr>
        <p:spPr>
          <a:xfrm>
            <a:off x="3505200" y="4914900"/>
            <a:ext cx="6447475" cy="4953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A rebase / force-push replaced the candidate; the old decision is kept for audit</a:t>
            </a:r>
            <a:endParaRPr lang="en-US" sz="1425" dirty="0"/>
          </a:p>
        </p:txBody>
      </p:sp>
      <p:sp>
        <p:nvSpPr>
          <p:cNvPr id="45" name="Shape 43"/>
          <p:cNvSpPr/>
          <p:nvPr/>
        </p:nvSpPr>
        <p:spPr>
          <a:xfrm>
            <a:off x="9836646" y="5457825"/>
            <a:ext cx="7689205" cy="9525"/>
          </a:xfrm>
          <a:prstGeom prst="rect">
            <a:avLst/>
          </a:prstGeom>
          <a:solidFill>
            <a:srgbClr val="E0DCD3"/>
          </a:solidFill>
          <a:ln/>
        </p:spPr>
      </p:sp>
      <p:sp>
        <p:nvSpPr>
          <p:cNvPr id="46" name="Text 44"/>
          <p:cNvSpPr/>
          <p:nvPr/>
        </p:nvSpPr>
        <p:spPr>
          <a:xfrm>
            <a:off x="9912846" y="4914900"/>
            <a:ext cx="7767481" cy="495300"/>
          </a:xfrm>
          <a:prstGeom prst="rect">
            <a:avLst/>
          </a:prstGeom>
          <a:noFill/>
          <a:ln/>
        </p:spPr>
        <p:txBody>
          <a:bodyPr wrap="square" lIns="25400" tIns="25400" rIns="25400" bIns="25400" rtlCol="0" anchor="t">
            <a:normAutofit/>
          </a:bodyPr>
          <a:lstStyle/>
          <a:p>
            <a:pPr algn="l" indent="0" marL="0">
              <a:buNone/>
            </a:pPr>
            <a:r>
              <a:rPr lang="en-US" sz="1425" dirty="0">
                <a:solidFill>
                  <a:srgbClr val="4D535B"/>
                </a:solidFill>
                <a:latin typeface="IBM Plex Sans" pitchFamily="34" charset="0"/>
                <a:ea typeface="IBM Plex Sans" pitchFamily="34" charset="-122"/>
                <a:cs typeface="IBM Plex Sans" pitchFamily="34" charset="-120"/>
              </a:rPr>
              <a:t>The new head starts its own Candidate lifecycle</a:t>
            </a:r>
            <a:endParaRPr lang="en-US" sz="1425" dirty="0"/>
          </a:p>
        </p:txBody>
      </p:sp>
      <p:sp>
        <p:nvSpPr>
          <p:cNvPr id="47" name="Shape 45"/>
          <p:cNvSpPr/>
          <p:nvPr/>
        </p:nvSpPr>
        <p:spPr>
          <a:xfrm>
            <a:off x="762000" y="5600700"/>
            <a:ext cx="16764000" cy="762000"/>
          </a:xfrm>
          <a:prstGeom prst="rect">
            <a:avLst/>
          </a:prstGeom>
          <a:solidFill>
            <a:srgbClr val="FFFFFF"/>
          </a:solidFill>
          <a:ln w="9525">
            <a:solidFill>
              <a:srgbClr val="E0DCD3"/>
            </a:solidFill>
            <a:prstDash val="solid"/>
          </a:ln>
        </p:spPr>
      </p:sp>
      <p:sp>
        <p:nvSpPr>
          <p:cNvPr id="48" name="Text 46"/>
          <p:cNvSpPr/>
          <p:nvPr/>
        </p:nvSpPr>
        <p:spPr>
          <a:xfrm>
            <a:off x="962025" y="5724525"/>
            <a:ext cx="16866870" cy="552450"/>
          </a:xfrm>
          <a:prstGeom prst="rect">
            <a:avLst/>
          </a:prstGeom>
          <a:noFill/>
          <a:ln/>
        </p:spPr>
        <p:txBody>
          <a:bodyPr wrap="square" lIns="25400" tIns="25400" rIns="25400" bIns="25400" rtlCol="0" anchor="t">
            <a:normAutofit/>
          </a:bodyPr>
          <a:lstStyle/>
          <a:p>
            <a:pPr algn="l" indent="0" marL="0">
              <a:lnSpc>
                <a:spcPct val="114792"/>
              </a:lnSpc>
              <a:buNone/>
            </a:pPr>
            <a:r>
              <a:rPr lang="en-US" sz="1425" dirty="0">
                <a:solidFill>
                  <a:srgbClr val="3D5A48"/>
                </a:solidFill>
                <a:latin typeface="IBM Plex Mono" pitchFamily="34" charset="0"/>
                <a:ea typeface="IBM Plex Mono" pitchFamily="34" charset="-122"/>
                <a:cs typeface="IBM Plex Mono" pitchFamily="34" charset="-120"/>
              </a:rPr>
              <a:t>INVARIANT </a:t>
            </a:r>
            <a:pPr algn="l" indent="0" marL="0">
              <a:lnSpc>
                <a:spcPct val="114792"/>
              </a:lnSpc>
              <a:buNone/>
            </a:pPr>
            <a:r>
              <a:rPr lang="en-US" sz="1425" dirty="0">
                <a:solidFill>
                  <a:srgbClr val="4D535B"/>
                </a:solidFill>
                <a:highlight>
                  <a:srgbClr val="FFFFFF"/>
                </a:highlight>
                <a:latin typeface="IBM Plex Sans" pitchFamily="34" charset="0"/>
                <a:ea typeface="IBM Plex Sans" pitchFamily="34" charset="-122"/>
                <a:cs typeface="IBM Plex Sans" pitchFamily="34" charset="-120"/>
              </a:rPr>
              <a:t>— only a successful deploy of an exact digest changes what an environment asserts · promotion is a pointer update — it never creates, reviews or publishes edges · a production digest with no package alerts and starts IncrementalCollection through normal review &amp; publish</a:t>
            </a:r>
            <a:endParaRPr lang="en-US" sz="142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57250" y="666750"/>
            <a:ext cx="18230850" cy="361950"/>
          </a:xfrm>
          <a:prstGeom prst="rect">
            <a:avLst/>
          </a:prstGeom>
          <a:noFill/>
          <a:ln/>
        </p:spPr>
        <p:txBody>
          <a:bodyPr wrap="square" lIns="25400" tIns="25400" rIns="25400" bIns="25400" rtlCol="0" anchor="t">
            <a:normAutofit/>
          </a:bodyPr>
          <a:lstStyle/>
          <a:p>
            <a:pPr algn="l" indent="0" marL="0">
              <a:buNone/>
            </a:pPr>
            <a:r>
              <a:rPr lang="en-US" sz="1950" spc="312" kern="0" dirty="0">
                <a:solidFill>
                  <a:srgbClr val="4D535B"/>
                </a:solidFill>
                <a:latin typeface="IBM Plex Mono" pitchFamily="34" charset="0"/>
                <a:ea typeface="IBM Plex Mono" pitchFamily="34" charset="-122"/>
                <a:cs typeface="IBM Plex Mono" pitchFamily="34" charset="-120"/>
              </a:rPr>
              <a:t>15 · SEQUENCE · PUSH → PUBLISH</a:t>
            </a:r>
            <a:endParaRPr lang="en-US" sz="1950" dirty="0"/>
          </a:p>
        </p:txBody>
      </p:sp>
      <p:sp>
        <p:nvSpPr>
          <p:cNvPr id="3" name="Text 1"/>
          <p:cNvSpPr/>
          <p:nvPr/>
        </p:nvSpPr>
        <p:spPr>
          <a:xfrm>
            <a:off x="857250" y="1123950"/>
            <a:ext cx="18230850" cy="771525"/>
          </a:xfrm>
          <a:prstGeom prst="rect">
            <a:avLst/>
          </a:prstGeom>
          <a:noFill/>
          <a:ln/>
        </p:spPr>
        <p:txBody>
          <a:bodyPr wrap="square" lIns="25400" tIns="25400" rIns="25400" bIns="25400" rtlCol="0" anchor="t">
            <a:normAutofit/>
          </a:bodyPr>
          <a:lstStyle/>
          <a:p>
            <a:pPr algn="l" indent="0" marL="0">
              <a:buNone/>
            </a:pPr>
            <a:r>
              <a:rPr lang="en-US" sz="4500" b="1" dirty="0">
                <a:solidFill>
                  <a:srgbClr val="191C20"/>
                </a:solidFill>
                <a:latin typeface="IBM Plex Sans" pitchFamily="34" charset="0"/>
                <a:ea typeface="IBM Plex Sans" pitchFamily="34" charset="-122"/>
                <a:cs typeface="IBM Plex Sans" pitchFamily="34" charset="-120"/>
              </a:rPr>
              <a:t>Push-to-Publish Sequence</a:t>
            </a:r>
            <a:endParaRPr lang="en-US" sz="4500" dirty="0"/>
          </a:p>
        </p:txBody>
      </p:sp>
      <p:sp>
        <p:nvSpPr>
          <p:cNvPr id="4" name="Shape 2"/>
          <p:cNvSpPr/>
          <p:nvPr/>
        </p:nvSpPr>
        <p:spPr>
          <a:xfrm>
            <a:off x="857250" y="2162175"/>
            <a:ext cx="16573500" cy="19050"/>
          </a:xfrm>
          <a:prstGeom prst="rect">
            <a:avLst/>
          </a:prstGeom>
          <a:solidFill>
            <a:srgbClr val="191C20"/>
          </a:solidFill>
          <a:ln/>
        </p:spPr>
      </p:sp>
      <p:sp>
        <p:nvSpPr>
          <p:cNvPr id="5" name="Shape 3"/>
          <p:cNvSpPr/>
          <p:nvPr/>
        </p:nvSpPr>
        <p:spPr>
          <a:xfrm>
            <a:off x="857250" y="2714625"/>
            <a:ext cx="666750" cy="9525"/>
          </a:xfrm>
          <a:prstGeom prst="rect">
            <a:avLst/>
          </a:prstGeom>
          <a:solidFill>
            <a:srgbClr val="E0DCD3"/>
          </a:solidFill>
          <a:ln/>
        </p:spPr>
      </p:sp>
      <p:sp>
        <p:nvSpPr>
          <p:cNvPr id="6" name="Text 4"/>
          <p:cNvSpPr/>
          <p:nvPr/>
        </p:nvSpPr>
        <p:spPr>
          <a:xfrm>
            <a:off x="933450" y="2295525"/>
            <a:ext cx="59055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a:t>
            </a:r>
            <a:endParaRPr lang="en-US" sz="1800" dirty="0"/>
          </a:p>
        </p:txBody>
      </p:sp>
      <p:sp>
        <p:nvSpPr>
          <p:cNvPr id="7" name="Shape 5"/>
          <p:cNvSpPr/>
          <p:nvPr/>
        </p:nvSpPr>
        <p:spPr>
          <a:xfrm>
            <a:off x="1524000" y="2714625"/>
            <a:ext cx="2476500" cy="9525"/>
          </a:xfrm>
          <a:prstGeom prst="rect">
            <a:avLst/>
          </a:prstGeom>
          <a:solidFill>
            <a:srgbClr val="E0DCD3"/>
          </a:solidFill>
          <a:ln/>
        </p:spPr>
      </p:sp>
      <p:sp>
        <p:nvSpPr>
          <p:cNvPr id="8" name="Text 6"/>
          <p:cNvSpPr/>
          <p:nvPr/>
        </p:nvSpPr>
        <p:spPr>
          <a:xfrm>
            <a:off x="1600200" y="2295525"/>
            <a:ext cx="24003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HOP</a:t>
            </a:r>
            <a:endParaRPr lang="en-US" sz="1800" dirty="0"/>
          </a:p>
        </p:txBody>
      </p:sp>
      <p:sp>
        <p:nvSpPr>
          <p:cNvPr id="9" name="Shape 7"/>
          <p:cNvSpPr/>
          <p:nvPr/>
        </p:nvSpPr>
        <p:spPr>
          <a:xfrm>
            <a:off x="4000500" y="2714625"/>
            <a:ext cx="13430250" cy="9525"/>
          </a:xfrm>
          <a:prstGeom prst="rect">
            <a:avLst/>
          </a:prstGeom>
          <a:solidFill>
            <a:srgbClr val="E0DCD3"/>
          </a:solidFill>
          <a:ln/>
        </p:spPr>
      </p:sp>
      <p:sp>
        <p:nvSpPr>
          <p:cNvPr id="10" name="Text 8"/>
          <p:cNvSpPr/>
          <p:nvPr/>
        </p:nvSpPr>
        <p:spPr>
          <a:xfrm>
            <a:off x="4076700" y="2295525"/>
            <a:ext cx="13680758"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ACTION</a:t>
            </a:r>
            <a:endParaRPr lang="en-US" sz="1800" dirty="0"/>
          </a:p>
        </p:txBody>
      </p:sp>
      <p:sp>
        <p:nvSpPr>
          <p:cNvPr id="11" name="Shape 9"/>
          <p:cNvSpPr/>
          <p:nvPr/>
        </p:nvSpPr>
        <p:spPr>
          <a:xfrm>
            <a:off x="857250" y="3257550"/>
            <a:ext cx="666750" cy="9525"/>
          </a:xfrm>
          <a:prstGeom prst="rect">
            <a:avLst/>
          </a:prstGeom>
          <a:solidFill>
            <a:srgbClr val="E0DCD3"/>
          </a:solidFill>
          <a:ln/>
        </p:spPr>
      </p:sp>
      <p:sp>
        <p:nvSpPr>
          <p:cNvPr id="12" name="Text 10"/>
          <p:cNvSpPr/>
          <p:nvPr/>
        </p:nvSpPr>
        <p:spPr>
          <a:xfrm>
            <a:off x="933450" y="2838450"/>
            <a:ext cx="59055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1</a:t>
            </a:r>
            <a:endParaRPr lang="en-US" sz="1800" dirty="0"/>
          </a:p>
        </p:txBody>
      </p:sp>
      <p:sp>
        <p:nvSpPr>
          <p:cNvPr id="13" name="Shape 11"/>
          <p:cNvSpPr/>
          <p:nvPr/>
        </p:nvSpPr>
        <p:spPr>
          <a:xfrm>
            <a:off x="1524000" y="3257550"/>
            <a:ext cx="2476500" cy="9525"/>
          </a:xfrm>
          <a:prstGeom prst="rect">
            <a:avLst/>
          </a:prstGeom>
          <a:solidFill>
            <a:srgbClr val="E0DCD3"/>
          </a:solidFill>
          <a:ln/>
        </p:spPr>
      </p:sp>
      <p:sp>
        <p:nvSpPr>
          <p:cNvPr id="14" name="Text 12"/>
          <p:cNvSpPr/>
          <p:nvPr/>
        </p:nvSpPr>
        <p:spPr>
          <a:xfrm>
            <a:off x="1600200" y="2838450"/>
            <a:ext cx="24003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191C20"/>
                </a:solidFill>
                <a:latin typeface="IBM Plex Mono" pitchFamily="34" charset="0"/>
                <a:ea typeface="IBM Plex Mono" pitchFamily="34" charset="-122"/>
                <a:cs typeface="IBM Plex Mono" pitchFamily="34" charset="-120"/>
              </a:rPr>
              <a:t>GH → RCV</a:t>
            </a:r>
            <a:endParaRPr lang="en-US" sz="1800" dirty="0"/>
          </a:p>
        </p:txBody>
      </p:sp>
      <p:sp>
        <p:nvSpPr>
          <p:cNvPr id="15" name="Shape 13"/>
          <p:cNvSpPr/>
          <p:nvPr/>
        </p:nvSpPr>
        <p:spPr>
          <a:xfrm>
            <a:off x="4000500" y="3257550"/>
            <a:ext cx="13430250" cy="9525"/>
          </a:xfrm>
          <a:prstGeom prst="rect">
            <a:avLst/>
          </a:prstGeom>
          <a:solidFill>
            <a:srgbClr val="E0DCD3"/>
          </a:solidFill>
          <a:ln/>
        </p:spPr>
      </p:sp>
      <p:sp>
        <p:nvSpPr>
          <p:cNvPr id="16" name="Text 14"/>
          <p:cNvSpPr/>
          <p:nvPr/>
        </p:nvSpPr>
        <p:spPr>
          <a:xfrm>
            <a:off x="4076700" y="2838450"/>
            <a:ext cx="13680758"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Sans" pitchFamily="34" charset="0"/>
                <a:ea typeface="IBM Plex Sans" pitchFamily="34" charset="-122"/>
                <a:cs typeface="IBM Plex Sans" pitchFamily="34" charset="-120"/>
              </a:rPr>
              <a:t>Push webhook with X-GitHub-Delivery GUID</a:t>
            </a:r>
            <a:endParaRPr lang="en-US" sz="1800" dirty="0"/>
          </a:p>
        </p:txBody>
      </p:sp>
      <p:sp>
        <p:nvSpPr>
          <p:cNvPr id="17" name="Shape 15"/>
          <p:cNvSpPr/>
          <p:nvPr/>
        </p:nvSpPr>
        <p:spPr>
          <a:xfrm>
            <a:off x="857250" y="3800475"/>
            <a:ext cx="666750" cy="9525"/>
          </a:xfrm>
          <a:prstGeom prst="rect">
            <a:avLst/>
          </a:prstGeom>
          <a:solidFill>
            <a:srgbClr val="E0DCD3"/>
          </a:solidFill>
          <a:ln/>
        </p:spPr>
      </p:sp>
      <p:sp>
        <p:nvSpPr>
          <p:cNvPr id="18" name="Text 16"/>
          <p:cNvSpPr/>
          <p:nvPr/>
        </p:nvSpPr>
        <p:spPr>
          <a:xfrm>
            <a:off x="933450" y="3381375"/>
            <a:ext cx="59055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2</a:t>
            </a:r>
            <a:endParaRPr lang="en-US" sz="1800" dirty="0"/>
          </a:p>
        </p:txBody>
      </p:sp>
      <p:sp>
        <p:nvSpPr>
          <p:cNvPr id="19" name="Shape 17"/>
          <p:cNvSpPr/>
          <p:nvPr/>
        </p:nvSpPr>
        <p:spPr>
          <a:xfrm>
            <a:off x="1524000" y="3800475"/>
            <a:ext cx="2476500" cy="9525"/>
          </a:xfrm>
          <a:prstGeom prst="rect">
            <a:avLst/>
          </a:prstGeom>
          <a:solidFill>
            <a:srgbClr val="E0DCD3"/>
          </a:solidFill>
          <a:ln/>
        </p:spPr>
      </p:sp>
      <p:sp>
        <p:nvSpPr>
          <p:cNvPr id="20" name="Text 18"/>
          <p:cNvSpPr/>
          <p:nvPr/>
        </p:nvSpPr>
        <p:spPr>
          <a:xfrm>
            <a:off x="1600200" y="3381375"/>
            <a:ext cx="24003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191C20"/>
                </a:solidFill>
                <a:latin typeface="IBM Plex Mono" pitchFamily="34" charset="0"/>
                <a:ea typeface="IBM Plex Mono" pitchFamily="34" charset="-122"/>
                <a:cs typeface="IBM Plex Mono" pitchFamily="34" charset="-120"/>
              </a:rPr>
              <a:t>RCV</a:t>
            </a:r>
            <a:endParaRPr lang="en-US" sz="1800" dirty="0"/>
          </a:p>
        </p:txBody>
      </p:sp>
      <p:sp>
        <p:nvSpPr>
          <p:cNvPr id="21" name="Shape 19"/>
          <p:cNvSpPr/>
          <p:nvPr/>
        </p:nvSpPr>
        <p:spPr>
          <a:xfrm>
            <a:off x="4000500" y="3800475"/>
            <a:ext cx="13430250" cy="9525"/>
          </a:xfrm>
          <a:prstGeom prst="rect">
            <a:avLst/>
          </a:prstGeom>
          <a:solidFill>
            <a:srgbClr val="E0DCD3"/>
          </a:solidFill>
          <a:ln/>
        </p:spPr>
      </p:sp>
      <p:sp>
        <p:nvSpPr>
          <p:cNvPr id="22" name="Text 20"/>
          <p:cNvSpPr/>
          <p:nvPr/>
        </p:nvSpPr>
        <p:spPr>
          <a:xfrm>
            <a:off x="4076700" y="3381375"/>
            <a:ext cx="13680758"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Sans" pitchFamily="34" charset="0"/>
                <a:ea typeface="IBM Plex Sans" pitchFamily="34" charset="-122"/>
                <a:cs typeface="IBM Plex Sans" pitchFamily="34" charset="-120"/>
              </a:rPr>
              <a:t>Verify HMAC signature (proves authenticity) · duplicates dropped via DynamoDB insert-if-new (ids kept 7 d)</a:t>
            </a:r>
            <a:endParaRPr lang="en-US" sz="1800" dirty="0"/>
          </a:p>
        </p:txBody>
      </p:sp>
      <p:sp>
        <p:nvSpPr>
          <p:cNvPr id="23" name="Shape 21"/>
          <p:cNvSpPr/>
          <p:nvPr/>
        </p:nvSpPr>
        <p:spPr>
          <a:xfrm>
            <a:off x="857250" y="4343400"/>
            <a:ext cx="666750" cy="9525"/>
          </a:xfrm>
          <a:prstGeom prst="rect">
            <a:avLst/>
          </a:prstGeom>
          <a:solidFill>
            <a:srgbClr val="E0DCD3"/>
          </a:solidFill>
          <a:ln/>
        </p:spPr>
      </p:sp>
      <p:sp>
        <p:nvSpPr>
          <p:cNvPr id="24" name="Text 22"/>
          <p:cNvSpPr/>
          <p:nvPr/>
        </p:nvSpPr>
        <p:spPr>
          <a:xfrm>
            <a:off x="933450" y="3924300"/>
            <a:ext cx="59055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3</a:t>
            </a:r>
            <a:endParaRPr lang="en-US" sz="1800" dirty="0"/>
          </a:p>
        </p:txBody>
      </p:sp>
      <p:sp>
        <p:nvSpPr>
          <p:cNvPr id="25" name="Shape 23"/>
          <p:cNvSpPr/>
          <p:nvPr/>
        </p:nvSpPr>
        <p:spPr>
          <a:xfrm>
            <a:off x="1524000" y="4343400"/>
            <a:ext cx="2476500" cy="9525"/>
          </a:xfrm>
          <a:prstGeom prst="rect">
            <a:avLst/>
          </a:prstGeom>
          <a:solidFill>
            <a:srgbClr val="E0DCD3"/>
          </a:solidFill>
          <a:ln/>
        </p:spPr>
      </p:sp>
      <p:sp>
        <p:nvSpPr>
          <p:cNvPr id="26" name="Text 24"/>
          <p:cNvSpPr/>
          <p:nvPr/>
        </p:nvSpPr>
        <p:spPr>
          <a:xfrm>
            <a:off x="1600200" y="3924300"/>
            <a:ext cx="24003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191C20"/>
                </a:solidFill>
                <a:latin typeface="IBM Plex Mono" pitchFamily="34" charset="0"/>
                <a:ea typeface="IBM Plex Mono" pitchFamily="34" charset="-122"/>
                <a:cs typeface="IBM Plex Mono" pitchFamily="34" charset="-120"/>
              </a:rPr>
              <a:t>RCV → EB</a:t>
            </a:r>
            <a:endParaRPr lang="en-US" sz="1800" dirty="0"/>
          </a:p>
        </p:txBody>
      </p:sp>
      <p:sp>
        <p:nvSpPr>
          <p:cNvPr id="27" name="Shape 25"/>
          <p:cNvSpPr/>
          <p:nvPr/>
        </p:nvSpPr>
        <p:spPr>
          <a:xfrm>
            <a:off x="4000500" y="4343400"/>
            <a:ext cx="13430250" cy="9525"/>
          </a:xfrm>
          <a:prstGeom prst="rect">
            <a:avLst/>
          </a:prstGeom>
          <a:solidFill>
            <a:srgbClr val="E0DCD3"/>
          </a:solidFill>
          <a:ln/>
        </p:spPr>
      </p:sp>
      <p:sp>
        <p:nvSpPr>
          <p:cNvPr id="28" name="Text 26"/>
          <p:cNvSpPr/>
          <p:nvPr/>
        </p:nvSpPr>
        <p:spPr>
          <a:xfrm>
            <a:off x="4076700" y="3924300"/>
            <a:ext cx="13680758"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Sans" pitchFamily="34" charset="0"/>
                <a:ea typeface="IBM Plex Sans" pitchFamily="34" charset="-122"/>
                <a:cs typeface="IBM Plex Sans" pitchFamily="34" charset="-120"/>
              </a:rPr>
              <a:t>repo.push {repo, sha, changedFiles, correlationId}</a:t>
            </a:r>
            <a:endParaRPr lang="en-US" sz="1800" dirty="0"/>
          </a:p>
        </p:txBody>
      </p:sp>
      <p:sp>
        <p:nvSpPr>
          <p:cNvPr id="29" name="Shape 27"/>
          <p:cNvSpPr/>
          <p:nvPr/>
        </p:nvSpPr>
        <p:spPr>
          <a:xfrm>
            <a:off x="857250" y="4886325"/>
            <a:ext cx="666750" cy="9525"/>
          </a:xfrm>
          <a:prstGeom prst="rect">
            <a:avLst/>
          </a:prstGeom>
          <a:solidFill>
            <a:srgbClr val="E0DCD3"/>
          </a:solidFill>
          <a:ln/>
        </p:spPr>
      </p:sp>
      <p:sp>
        <p:nvSpPr>
          <p:cNvPr id="30" name="Text 28"/>
          <p:cNvSpPr/>
          <p:nvPr/>
        </p:nvSpPr>
        <p:spPr>
          <a:xfrm>
            <a:off x="933450" y="4467225"/>
            <a:ext cx="59055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4</a:t>
            </a:r>
            <a:endParaRPr lang="en-US" sz="1800" dirty="0"/>
          </a:p>
        </p:txBody>
      </p:sp>
      <p:sp>
        <p:nvSpPr>
          <p:cNvPr id="31" name="Shape 29"/>
          <p:cNvSpPr/>
          <p:nvPr/>
        </p:nvSpPr>
        <p:spPr>
          <a:xfrm>
            <a:off x="1524000" y="4886325"/>
            <a:ext cx="2476500" cy="9525"/>
          </a:xfrm>
          <a:prstGeom prst="rect">
            <a:avLst/>
          </a:prstGeom>
          <a:solidFill>
            <a:srgbClr val="E0DCD3"/>
          </a:solidFill>
          <a:ln/>
        </p:spPr>
      </p:sp>
      <p:sp>
        <p:nvSpPr>
          <p:cNvPr id="32" name="Text 30"/>
          <p:cNvSpPr/>
          <p:nvPr/>
        </p:nvSpPr>
        <p:spPr>
          <a:xfrm>
            <a:off x="1600200" y="4467225"/>
            <a:ext cx="24003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191C20"/>
                </a:solidFill>
                <a:latin typeface="IBM Plex Mono" pitchFamily="34" charset="0"/>
                <a:ea typeface="IBM Plex Mono" pitchFamily="34" charset="-122"/>
                <a:cs typeface="IBM Plex Mono" pitchFamily="34" charset="-120"/>
              </a:rPr>
              <a:t>EB → SFN</a:t>
            </a:r>
            <a:endParaRPr lang="en-US" sz="1800" dirty="0"/>
          </a:p>
        </p:txBody>
      </p:sp>
      <p:sp>
        <p:nvSpPr>
          <p:cNvPr id="33" name="Shape 31"/>
          <p:cNvSpPr/>
          <p:nvPr/>
        </p:nvSpPr>
        <p:spPr>
          <a:xfrm>
            <a:off x="4000500" y="4886325"/>
            <a:ext cx="13430250" cy="9525"/>
          </a:xfrm>
          <a:prstGeom prst="rect">
            <a:avLst/>
          </a:prstGeom>
          <a:solidFill>
            <a:srgbClr val="E0DCD3"/>
          </a:solidFill>
          <a:ln/>
        </p:spPr>
      </p:sp>
      <p:sp>
        <p:nvSpPr>
          <p:cNvPr id="34" name="Text 32"/>
          <p:cNvSpPr/>
          <p:nvPr/>
        </p:nvSpPr>
        <p:spPr>
          <a:xfrm>
            <a:off x="4076700" y="4467225"/>
            <a:ext cx="13680758"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Sans" pitchFamily="34" charset="0"/>
                <a:ea typeface="IBM Plex Sans" pitchFamily="34" charset="-122"/>
                <a:cs typeface="IBM Plex Sans" pitchFamily="34" charset="-120"/>
              </a:rPr>
              <a:t>Rule starts IncrementalCollection · change classifier runs</a:t>
            </a:r>
            <a:endParaRPr lang="en-US" sz="1800" dirty="0"/>
          </a:p>
        </p:txBody>
      </p:sp>
      <p:sp>
        <p:nvSpPr>
          <p:cNvPr id="35" name="Shape 33"/>
          <p:cNvSpPr/>
          <p:nvPr/>
        </p:nvSpPr>
        <p:spPr>
          <a:xfrm>
            <a:off x="857250" y="5429250"/>
            <a:ext cx="666750" cy="9525"/>
          </a:xfrm>
          <a:prstGeom prst="rect">
            <a:avLst/>
          </a:prstGeom>
          <a:solidFill>
            <a:srgbClr val="E0DCD3"/>
          </a:solidFill>
          <a:ln/>
        </p:spPr>
      </p:sp>
      <p:sp>
        <p:nvSpPr>
          <p:cNvPr id="36" name="Text 34"/>
          <p:cNvSpPr/>
          <p:nvPr/>
        </p:nvSpPr>
        <p:spPr>
          <a:xfrm>
            <a:off x="933450" y="5010150"/>
            <a:ext cx="59055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5</a:t>
            </a:r>
            <a:endParaRPr lang="en-US" sz="1800" dirty="0"/>
          </a:p>
        </p:txBody>
      </p:sp>
      <p:sp>
        <p:nvSpPr>
          <p:cNvPr id="37" name="Shape 35"/>
          <p:cNvSpPr/>
          <p:nvPr/>
        </p:nvSpPr>
        <p:spPr>
          <a:xfrm>
            <a:off x="1524000" y="5429250"/>
            <a:ext cx="2476500" cy="9525"/>
          </a:xfrm>
          <a:prstGeom prst="rect">
            <a:avLst/>
          </a:prstGeom>
          <a:solidFill>
            <a:srgbClr val="E0DCD3"/>
          </a:solidFill>
          <a:ln/>
        </p:spPr>
      </p:sp>
      <p:sp>
        <p:nvSpPr>
          <p:cNvPr id="38" name="Text 36"/>
          <p:cNvSpPr/>
          <p:nvPr/>
        </p:nvSpPr>
        <p:spPr>
          <a:xfrm>
            <a:off x="1600200" y="5010150"/>
            <a:ext cx="24003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191C20"/>
                </a:solidFill>
                <a:latin typeface="IBM Plex Mono" pitchFamily="34" charset="0"/>
                <a:ea typeface="IBM Plex Mono" pitchFamily="34" charset="-122"/>
                <a:cs typeface="IBM Plex Mono" pitchFamily="34" charset="-120"/>
              </a:rPr>
              <a:t>branch</a:t>
            </a:r>
            <a:endParaRPr lang="en-US" sz="1800" dirty="0"/>
          </a:p>
        </p:txBody>
      </p:sp>
      <p:sp>
        <p:nvSpPr>
          <p:cNvPr id="39" name="Shape 37"/>
          <p:cNvSpPr/>
          <p:nvPr/>
        </p:nvSpPr>
        <p:spPr>
          <a:xfrm>
            <a:off x="4000500" y="5429250"/>
            <a:ext cx="13430250" cy="9525"/>
          </a:xfrm>
          <a:prstGeom prst="rect">
            <a:avLst/>
          </a:prstGeom>
          <a:solidFill>
            <a:srgbClr val="E0DCD3"/>
          </a:solidFill>
          <a:ln/>
        </p:spPr>
      </p:sp>
      <p:sp>
        <p:nvSpPr>
          <p:cNvPr id="40" name="Text 38"/>
          <p:cNvSpPr/>
          <p:nvPr/>
        </p:nvSpPr>
        <p:spPr>
          <a:xfrm>
            <a:off x="4076700" y="5010150"/>
            <a:ext cx="13680758"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Sans" pitchFamily="34" charset="0"/>
                <a:ea typeface="IBM Plex Sans" pitchFamily="34" charset="-122"/>
                <a:cs typeface="IBM Plex Sans" pitchFamily="34" charset="-120"/>
              </a:rPr>
              <a:t>No impact → no-impact flow record, done · otherwise continue ↓</a:t>
            </a:r>
            <a:endParaRPr lang="en-US" sz="1800" dirty="0"/>
          </a:p>
        </p:txBody>
      </p:sp>
      <p:sp>
        <p:nvSpPr>
          <p:cNvPr id="41" name="Shape 39"/>
          <p:cNvSpPr/>
          <p:nvPr/>
        </p:nvSpPr>
        <p:spPr>
          <a:xfrm>
            <a:off x="857250" y="5972175"/>
            <a:ext cx="666750" cy="9525"/>
          </a:xfrm>
          <a:prstGeom prst="rect">
            <a:avLst/>
          </a:prstGeom>
          <a:solidFill>
            <a:srgbClr val="E0DCD3"/>
          </a:solidFill>
          <a:ln/>
        </p:spPr>
      </p:sp>
      <p:sp>
        <p:nvSpPr>
          <p:cNvPr id="42" name="Text 40"/>
          <p:cNvSpPr/>
          <p:nvPr/>
        </p:nvSpPr>
        <p:spPr>
          <a:xfrm>
            <a:off x="933450" y="5553075"/>
            <a:ext cx="59055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6</a:t>
            </a:r>
            <a:endParaRPr lang="en-US" sz="1800" dirty="0"/>
          </a:p>
        </p:txBody>
      </p:sp>
      <p:sp>
        <p:nvSpPr>
          <p:cNvPr id="43" name="Shape 41"/>
          <p:cNvSpPr/>
          <p:nvPr/>
        </p:nvSpPr>
        <p:spPr>
          <a:xfrm>
            <a:off x="1524000" y="5972175"/>
            <a:ext cx="2476500" cy="9525"/>
          </a:xfrm>
          <a:prstGeom prst="rect">
            <a:avLst/>
          </a:prstGeom>
          <a:solidFill>
            <a:srgbClr val="E0DCD3"/>
          </a:solidFill>
          <a:ln/>
        </p:spPr>
      </p:sp>
      <p:sp>
        <p:nvSpPr>
          <p:cNvPr id="44" name="Text 42"/>
          <p:cNvSpPr/>
          <p:nvPr/>
        </p:nvSpPr>
        <p:spPr>
          <a:xfrm>
            <a:off x="1600200" y="5553075"/>
            <a:ext cx="24003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191C20"/>
                </a:solidFill>
                <a:latin typeface="IBM Plex Mono" pitchFamily="34" charset="0"/>
                <a:ea typeface="IBM Plex Mono" pitchFamily="34" charset="-122"/>
                <a:cs typeface="IBM Plex Mono" pitchFamily="34" charset="-120"/>
              </a:rPr>
              <a:t>SFN → FG</a:t>
            </a:r>
            <a:endParaRPr lang="en-US" sz="1800" dirty="0"/>
          </a:p>
        </p:txBody>
      </p:sp>
      <p:sp>
        <p:nvSpPr>
          <p:cNvPr id="45" name="Shape 43"/>
          <p:cNvSpPr/>
          <p:nvPr/>
        </p:nvSpPr>
        <p:spPr>
          <a:xfrm>
            <a:off x="4000500" y="5972175"/>
            <a:ext cx="13430250" cy="9525"/>
          </a:xfrm>
          <a:prstGeom prst="rect">
            <a:avLst/>
          </a:prstGeom>
          <a:solidFill>
            <a:srgbClr val="E0DCD3"/>
          </a:solidFill>
          <a:ln/>
        </p:spPr>
      </p:sp>
      <p:sp>
        <p:nvSpPr>
          <p:cNvPr id="46" name="Text 44"/>
          <p:cNvSpPr/>
          <p:nvPr/>
        </p:nvSpPr>
        <p:spPr>
          <a:xfrm>
            <a:off x="4076700" y="5553075"/>
            <a:ext cx="13680758"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Sans" pitchFamily="34" charset="0"/>
                <a:ea typeface="IBM Plex Sans" pitchFamily="34" charset="-122"/>
                <a:cs typeface="IBM Plex Sans" pitchFamily="34" charset="-120"/>
              </a:rPr>
              <a:t>RunTask .sync — shallow fetch @ sha · manifest resolve · extract (parsers → AST → LLM-gateway residue)</a:t>
            </a:r>
            <a:endParaRPr lang="en-US" sz="1800" dirty="0"/>
          </a:p>
        </p:txBody>
      </p:sp>
      <p:sp>
        <p:nvSpPr>
          <p:cNvPr id="47" name="Shape 45"/>
          <p:cNvSpPr/>
          <p:nvPr/>
        </p:nvSpPr>
        <p:spPr>
          <a:xfrm>
            <a:off x="857250" y="6515100"/>
            <a:ext cx="666750" cy="9525"/>
          </a:xfrm>
          <a:prstGeom prst="rect">
            <a:avLst/>
          </a:prstGeom>
          <a:solidFill>
            <a:srgbClr val="E0DCD3"/>
          </a:solidFill>
          <a:ln/>
        </p:spPr>
      </p:sp>
      <p:sp>
        <p:nvSpPr>
          <p:cNvPr id="48" name="Text 46"/>
          <p:cNvSpPr/>
          <p:nvPr/>
        </p:nvSpPr>
        <p:spPr>
          <a:xfrm>
            <a:off x="933450" y="6096000"/>
            <a:ext cx="59055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7</a:t>
            </a:r>
            <a:endParaRPr lang="en-US" sz="1800" dirty="0"/>
          </a:p>
        </p:txBody>
      </p:sp>
      <p:sp>
        <p:nvSpPr>
          <p:cNvPr id="49" name="Shape 47"/>
          <p:cNvSpPr/>
          <p:nvPr/>
        </p:nvSpPr>
        <p:spPr>
          <a:xfrm>
            <a:off x="1524000" y="6515100"/>
            <a:ext cx="2476500" cy="9525"/>
          </a:xfrm>
          <a:prstGeom prst="rect">
            <a:avLst/>
          </a:prstGeom>
          <a:solidFill>
            <a:srgbClr val="E0DCD3"/>
          </a:solidFill>
          <a:ln/>
        </p:spPr>
      </p:sp>
      <p:sp>
        <p:nvSpPr>
          <p:cNvPr id="50" name="Text 48"/>
          <p:cNvSpPr/>
          <p:nvPr/>
        </p:nvSpPr>
        <p:spPr>
          <a:xfrm>
            <a:off x="1600200" y="6096000"/>
            <a:ext cx="24003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191C20"/>
                </a:solidFill>
                <a:latin typeface="IBM Plex Mono" pitchFamily="34" charset="0"/>
                <a:ea typeface="IBM Plex Mono" pitchFamily="34" charset="-122"/>
                <a:cs typeface="IBM Plex Mono" pitchFamily="34" charset="-120"/>
              </a:rPr>
              <a:t>FG → S3</a:t>
            </a:r>
            <a:endParaRPr lang="en-US" sz="1800" dirty="0"/>
          </a:p>
        </p:txBody>
      </p:sp>
      <p:sp>
        <p:nvSpPr>
          <p:cNvPr id="51" name="Shape 49"/>
          <p:cNvSpPr/>
          <p:nvPr/>
        </p:nvSpPr>
        <p:spPr>
          <a:xfrm>
            <a:off x="4000500" y="6515100"/>
            <a:ext cx="13430250" cy="9525"/>
          </a:xfrm>
          <a:prstGeom prst="rect">
            <a:avLst/>
          </a:prstGeom>
          <a:solidFill>
            <a:srgbClr val="E0DCD3"/>
          </a:solidFill>
          <a:ln/>
        </p:spPr>
      </p:sp>
      <p:sp>
        <p:nvSpPr>
          <p:cNvPr id="52" name="Text 50"/>
          <p:cNvSpPr/>
          <p:nvPr/>
        </p:nvSpPr>
        <p:spPr>
          <a:xfrm>
            <a:off x="4076700" y="6096000"/>
            <a:ext cx="13680758"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Sans" pitchFamily="34" charset="0"/>
                <a:ea typeface="IBM Plex Sans" pitchFamily="34" charset="-122"/>
                <a:cs typeface="IBM Plex Sans" pitchFamily="34" charset="-120"/>
              </a:rPr>
              <a:t>Candidate artifact (repo, sha, toolchainHash → contentHash) to the artifact registry</a:t>
            </a:r>
            <a:endParaRPr lang="en-US" sz="1800" dirty="0"/>
          </a:p>
        </p:txBody>
      </p:sp>
      <p:sp>
        <p:nvSpPr>
          <p:cNvPr id="53" name="Shape 51"/>
          <p:cNvSpPr/>
          <p:nvPr/>
        </p:nvSpPr>
        <p:spPr>
          <a:xfrm>
            <a:off x="857250" y="7058025"/>
            <a:ext cx="666750" cy="9525"/>
          </a:xfrm>
          <a:prstGeom prst="rect">
            <a:avLst/>
          </a:prstGeom>
          <a:solidFill>
            <a:srgbClr val="E0DCD3"/>
          </a:solidFill>
          <a:ln/>
        </p:spPr>
      </p:sp>
      <p:sp>
        <p:nvSpPr>
          <p:cNvPr id="54" name="Text 52"/>
          <p:cNvSpPr/>
          <p:nvPr/>
        </p:nvSpPr>
        <p:spPr>
          <a:xfrm>
            <a:off x="933450" y="6638925"/>
            <a:ext cx="59055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8</a:t>
            </a:r>
            <a:endParaRPr lang="en-US" sz="1800" dirty="0"/>
          </a:p>
        </p:txBody>
      </p:sp>
      <p:sp>
        <p:nvSpPr>
          <p:cNvPr id="55" name="Shape 53"/>
          <p:cNvSpPr/>
          <p:nvPr/>
        </p:nvSpPr>
        <p:spPr>
          <a:xfrm>
            <a:off x="1524000" y="7058025"/>
            <a:ext cx="2476500" cy="9525"/>
          </a:xfrm>
          <a:prstGeom prst="rect">
            <a:avLst/>
          </a:prstGeom>
          <a:solidFill>
            <a:srgbClr val="E0DCD3"/>
          </a:solidFill>
          <a:ln/>
        </p:spPr>
      </p:sp>
      <p:sp>
        <p:nvSpPr>
          <p:cNvPr id="56" name="Text 54"/>
          <p:cNvSpPr/>
          <p:nvPr/>
        </p:nvSpPr>
        <p:spPr>
          <a:xfrm>
            <a:off x="1600200" y="6638925"/>
            <a:ext cx="24003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191C20"/>
                </a:solidFill>
                <a:latin typeface="IBM Plex Mono" pitchFamily="34" charset="0"/>
                <a:ea typeface="IBM Plex Mono" pitchFamily="34" charset="-122"/>
                <a:cs typeface="IBM Plex Mono" pitchFamily="34" charset="-120"/>
              </a:rPr>
              <a:t>VERIFY → HUMAN</a:t>
            </a:r>
            <a:endParaRPr lang="en-US" sz="1800" dirty="0"/>
          </a:p>
        </p:txBody>
      </p:sp>
      <p:sp>
        <p:nvSpPr>
          <p:cNvPr id="57" name="Shape 55"/>
          <p:cNvSpPr/>
          <p:nvPr/>
        </p:nvSpPr>
        <p:spPr>
          <a:xfrm>
            <a:off x="4000500" y="7058025"/>
            <a:ext cx="13430250" cy="9525"/>
          </a:xfrm>
          <a:prstGeom prst="rect">
            <a:avLst/>
          </a:prstGeom>
          <a:solidFill>
            <a:srgbClr val="E0DCD3"/>
          </a:solidFill>
          <a:ln/>
        </p:spPr>
      </p:sp>
      <p:sp>
        <p:nvSpPr>
          <p:cNvPr id="58" name="Text 56"/>
          <p:cNvSpPr/>
          <p:nvPr/>
        </p:nvSpPr>
        <p:spPr>
          <a:xfrm>
            <a:off x="4076700" y="6638925"/>
            <a:ext cx="13680758"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Sans" pitchFamily="34" charset="0"/>
                <a:ea typeface="IBM Plex Sans" pitchFamily="34" charset="-122"/>
                <a:cs typeface="IBM Plex Sans" pitchFamily="34" charset="-120"/>
              </a:rPr>
              <a:t>Canonical envelopes validated (schema + assertions) · two-axis confidence · before/after proposal → review</a:t>
            </a:r>
            <a:endParaRPr lang="en-US" sz="1800" dirty="0"/>
          </a:p>
        </p:txBody>
      </p:sp>
      <p:sp>
        <p:nvSpPr>
          <p:cNvPr id="59" name="Shape 57"/>
          <p:cNvSpPr/>
          <p:nvPr/>
        </p:nvSpPr>
        <p:spPr>
          <a:xfrm>
            <a:off x="857250" y="7600950"/>
            <a:ext cx="666750" cy="9525"/>
          </a:xfrm>
          <a:prstGeom prst="rect">
            <a:avLst/>
          </a:prstGeom>
          <a:solidFill>
            <a:srgbClr val="E0DCD3"/>
          </a:solidFill>
          <a:ln/>
        </p:spPr>
      </p:sp>
      <p:sp>
        <p:nvSpPr>
          <p:cNvPr id="60" name="Text 58"/>
          <p:cNvSpPr/>
          <p:nvPr/>
        </p:nvSpPr>
        <p:spPr>
          <a:xfrm>
            <a:off x="933450" y="7181850"/>
            <a:ext cx="59055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9</a:t>
            </a:r>
            <a:endParaRPr lang="en-US" sz="1800" dirty="0"/>
          </a:p>
        </p:txBody>
      </p:sp>
      <p:sp>
        <p:nvSpPr>
          <p:cNvPr id="61" name="Shape 59"/>
          <p:cNvSpPr/>
          <p:nvPr/>
        </p:nvSpPr>
        <p:spPr>
          <a:xfrm>
            <a:off x="1524000" y="7600950"/>
            <a:ext cx="2476500" cy="9525"/>
          </a:xfrm>
          <a:prstGeom prst="rect">
            <a:avLst/>
          </a:prstGeom>
          <a:solidFill>
            <a:srgbClr val="E0DCD3"/>
          </a:solidFill>
          <a:ln/>
        </p:spPr>
      </p:sp>
      <p:sp>
        <p:nvSpPr>
          <p:cNvPr id="62" name="Text 60"/>
          <p:cNvSpPr/>
          <p:nvPr/>
        </p:nvSpPr>
        <p:spPr>
          <a:xfrm>
            <a:off x="1600200" y="7181850"/>
            <a:ext cx="24003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191C20"/>
                </a:solidFill>
                <a:latin typeface="IBM Plex Mono" pitchFamily="34" charset="0"/>
                <a:ea typeface="IBM Plex Mono" pitchFamily="34" charset="-122"/>
                <a:cs typeface="IBM Plex Mono" pitchFamily="34" charset="-120"/>
              </a:rPr>
              <a:t>PUBLISH → NEP</a:t>
            </a:r>
            <a:endParaRPr lang="en-US" sz="1800" dirty="0"/>
          </a:p>
        </p:txBody>
      </p:sp>
      <p:sp>
        <p:nvSpPr>
          <p:cNvPr id="63" name="Shape 61"/>
          <p:cNvSpPr/>
          <p:nvPr/>
        </p:nvSpPr>
        <p:spPr>
          <a:xfrm>
            <a:off x="4000500" y="7600950"/>
            <a:ext cx="13430250" cy="9525"/>
          </a:xfrm>
          <a:prstGeom prst="rect">
            <a:avLst/>
          </a:prstGeom>
          <a:solidFill>
            <a:srgbClr val="E0DCD3"/>
          </a:solidFill>
          <a:ln/>
        </p:spPr>
      </p:sp>
      <p:sp>
        <p:nvSpPr>
          <p:cNvPr id="64" name="Text 62"/>
          <p:cNvSpPr/>
          <p:nvPr/>
        </p:nvSpPr>
        <p:spPr>
          <a:xfrm>
            <a:off x="4076700" y="7181850"/>
            <a:ext cx="13680758"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Sans" pitchFamily="34" charset="0"/>
                <a:ea typeface="IBM Plex Sans" pitchFamily="34" charset="-122"/>
                <a:cs typeface="IBM Plex Sans" pitchFamily="34" charset="-120"/>
              </a:rPr>
              <a:t>Approved → fenced publication → new Neptune graph version + OpenSearch refresh</a:t>
            </a:r>
            <a:endParaRPr lang="en-US" sz="1800" dirty="0"/>
          </a:p>
        </p:txBody>
      </p:sp>
      <p:sp>
        <p:nvSpPr>
          <p:cNvPr id="65" name="Text 63"/>
          <p:cNvSpPr/>
          <p:nvPr/>
        </p:nvSpPr>
        <p:spPr>
          <a:xfrm>
            <a:off x="857250" y="9315450"/>
            <a:ext cx="1823085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D535B"/>
                </a:solidFill>
                <a:latin typeface="IBM Plex Mono" pitchFamily="34" charset="0"/>
                <a:ea typeface="IBM Plex Mono" pitchFamily="34" charset="-122"/>
                <a:cs typeface="IBM Plex Mono" pitchFamily="34" charset="-120"/>
              </a:rPr>
              <a:t>EVERY HOP STAMPS THE CORRELATION-ID INTO THE FLOW-STATUS RECORD · PAYLOADS PASS BY S3 URI + CHECKSUM</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57250" y="666750"/>
            <a:ext cx="18230850" cy="361950"/>
          </a:xfrm>
          <a:prstGeom prst="rect">
            <a:avLst/>
          </a:prstGeom>
          <a:noFill/>
          <a:ln/>
        </p:spPr>
        <p:txBody>
          <a:bodyPr wrap="square" lIns="25400" tIns="25400" rIns="25400" bIns="25400" rtlCol="0" anchor="t">
            <a:normAutofit/>
          </a:bodyPr>
          <a:lstStyle/>
          <a:p>
            <a:pPr algn="l" indent="0" marL="0">
              <a:buNone/>
            </a:pPr>
            <a:r>
              <a:rPr lang="en-US" sz="1950" spc="312" kern="0" dirty="0">
                <a:solidFill>
                  <a:srgbClr val="4D535B"/>
                </a:solidFill>
                <a:latin typeface="IBM Plex Mono" pitchFamily="34" charset="0"/>
                <a:ea typeface="IBM Plex Mono" pitchFamily="34" charset="-122"/>
                <a:cs typeface="IBM Plex Mono" pitchFamily="34" charset="-120"/>
              </a:rPr>
              <a:t>16 · AUTHORITY VS PROJECTION</a:t>
            </a:r>
            <a:endParaRPr lang="en-US" sz="1950" dirty="0"/>
          </a:p>
        </p:txBody>
      </p:sp>
      <p:sp>
        <p:nvSpPr>
          <p:cNvPr id="3" name="Text 1"/>
          <p:cNvSpPr/>
          <p:nvPr/>
        </p:nvSpPr>
        <p:spPr>
          <a:xfrm>
            <a:off x="857250" y="1123950"/>
            <a:ext cx="18230850" cy="771525"/>
          </a:xfrm>
          <a:prstGeom prst="rect">
            <a:avLst/>
          </a:prstGeom>
          <a:noFill/>
          <a:ln/>
        </p:spPr>
        <p:txBody>
          <a:bodyPr wrap="square" lIns="25400" tIns="25400" rIns="25400" bIns="25400" rtlCol="0" anchor="t">
            <a:normAutofit/>
          </a:bodyPr>
          <a:lstStyle/>
          <a:p>
            <a:pPr algn="l" indent="0" marL="0">
              <a:buNone/>
            </a:pPr>
            <a:r>
              <a:rPr lang="en-US" sz="4500" b="1" dirty="0">
                <a:solidFill>
                  <a:srgbClr val="191C20"/>
                </a:solidFill>
                <a:latin typeface="IBM Plex Sans" pitchFamily="34" charset="0"/>
                <a:ea typeface="IBM Plex Sans" pitchFamily="34" charset="-122"/>
                <a:cs typeface="IBM Plex Sans" pitchFamily="34" charset="-120"/>
              </a:rPr>
              <a:t>Data Ownership &amp; Recovery</a:t>
            </a:r>
            <a:endParaRPr lang="en-US" sz="4500" dirty="0"/>
          </a:p>
        </p:txBody>
      </p:sp>
      <p:sp>
        <p:nvSpPr>
          <p:cNvPr id="4" name="Shape 2"/>
          <p:cNvSpPr/>
          <p:nvPr/>
        </p:nvSpPr>
        <p:spPr>
          <a:xfrm>
            <a:off x="857250" y="2219325"/>
            <a:ext cx="5397401" cy="3409950"/>
          </a:xfrm>
          <a:prstGeom prst="rect">
            <a:avLst/>
          </a:prstGeom>
          <a:solidFill>
            <a:srgbClr val="FFFFFF"/>
          </a:solidFill>
          <a:ln/>
        </p:spPr>
      </p:sp>
      <p:sp>
        <p:nvSpPr>
          <p:cNvPr id="5" name="Shape 3"/>
          <p:cNvSpPr/>
          <p:nvPr/>
        </p:nvSpPr>
        <p:spPr>
          <a:xfrm>
            <a:off x="857250" y="5619750"/>
            <a:ext cx="5397401" cy="9525"/>
          </a:xfrm>
          <a:prstGeom prst="rect">
            <a:avLst/>
          </a:prstGeom>
          <a:solidFill>
            <a:srgbClr val="E0DCD3"/>
          </a:solidFill>
          <a:ln/>
        </p:spPr>
      </p:sp>
      <p:sp>
        <p:nvSpPr>
          <p:cNvPr id="6" name="Shape 4"/>
          <p:cNvSpPr/>
          <p:nvPr/>
        </p:nvSpPr>
        <p:spPr>
          <a:xfrm>
            <a:off x="857250" y="2219325"/>
            <a:ext cx="5397401" cy="47625"/>
          </a:xfrm>
          <a:prstGeom prst="rect">
            <a:avLst/>
          </a:prstGeom>
          <a:solidFill>
            <a:srgbClr val="2F6B80"/>
          </a:solidFill>
          <a:ln/>
        </p:spPr>
      </p:sp>
      <p:sp>
        <p:nvSpPr>
          <p:cNvPr id="7" name="Shape 5"/>
          <p:cNvSpPr/>
          <p:nvPr/>
        </p:nvSpPr>
        <p:spPr>
          <a:xfrm>
            <a:off x="857250" y="2219325"/>
            <a:ext cx="9525" cy="3409950"/>
          </a:xfrm>
          <a:prstGeom prst="rect">
            <a:avLst/>
          </a:prstGeom>
          <a:solidFill>
            <a:srgbClr val="E0DCD3"/>
          </a:solidFill>
          <a:ln/>
        </p:spPr>
      </p:sp>
      <p:sp>
        <p:nvSpPr>
          <p:cNvPr id="8" name="Shape 6"/>
          <p:cNvSpPr/>
          <p:nvPr/>
        </p:nvSpPr>
        <p:spPr>
          <a:xfrm>
            <a:off x="6245126" y="2219325"/>
            <a:ext cx="9525" cy="3409950"/>
          </a:xfrm>
          <a:prstGeom prst="rect">
            <a:avLst/>
          </a:prstGeom>
          <a:solidFill>
            <a:srgbClr val="E0DCD3"/>
          </a:solidFill>
          <a:ln/>
        </p:spPr>
      </p:sp>
      <p:sp>
        <p:nvSpPr>
          <p:cNvPr id="9" name="Text 7"/>
          <p:cNvSpPr/>
          <p:nvPr/>
        </p:nvSpPr>
        <p:spPr>
          <a:xfrm>
            <a:off x="1152525" y="2533650"/>
            <a:ext cx="4968773" cy="2857500"/>
          </a:xfrm>
          <a:prstGeom prst="rect">
            <a:avLst/>
          </a:prstGeom>
          <a:noFill/>
          <a:ln/>
        </p:spPr>
        <p:txBody>
          <a:bodyPr wrap="square" lIns="25400" tIns="25400" rIns="25400" bIns="25400" rtlCol="0" anchor="t">
            <a:normAutofit/>
          </a:bodyPr>
          <a:lstStyle/>
          <a:p>
            <a:pPr algn="l" indent="0" marL="0">
              <a:lnSpc>
                <a:spcPct val="116250"/>
              </a:lnSpc>
              <a:buNone/>
            </a:pPr>
            <a:r>
              <a:rPr lang="en-US" sz="1800" b="1" dirty="0">
                <a:solidFill>
                  <a:srgbClr val="191C20"/>
                </a:solidFill>
                <a:latin typeface="IBM Plex Mono" pitchFamily="34" charset="0"/>
                <a:ea typeface="IBM Plex Mono" pitchFamily="34" charset="-122"/>
                <a:cs typeface="IBM Plex Mono" pitchFamily="34" charset="-120"/>
              </a:rPr>
              <a:t>S3 · IMMUTABLE TRUTH </a:t>
            </a:r>
            <a:pPr algn="l" indent="0" marL="0">
              <a:lnSpc>
                <a:spcPct val="116250"/>
              </a:lnSpc>
              <a:buNone/>
            </a:pPr>
            <a:r>
              <a:rPr lang="en-US" sz="1800" dirty="0">
                <a:solidFill>
                  <a:srgbClr val="4D535B"/>
                </a:solidFill>
                <a:latin typeface="IBM Plex Sans" pitchFamily="34" charset="0"/>
                <a:ea typeface="IBM Plex Sans" pitchFamily="34" charset="-122"/>
                <a:cs typeface="IBM Plex Sans" pitchFamily="34" charset="-120"/>
              </a:rPr>
              <a:t>Inventory &amp; context snapshots · analyzer output · runtime evidence · proposals &amp; diffs · reviewer corrections · accepted manifests (Object Lock) · graph exports · calibration corpus </a:t>
            </a:r>
            <a:pPr algn="l" indent="0" marL="0">
              <a:lnSpc>
                <a:spcPct val="116250"/>
              </a:lnSpc>
              <a:buNone/>
            </a:pPr>
            <a:r>
              <a:rPr lang="en-US" sz="1800" dirty="0">
                <a:solidFill>
                  <a:srgbClr val="2F6B80"/>
                </a:solidFill>
                <a:latin typeface="IBM Plex Mono" pitchFamily="34" charset="0"/>
                <a:ea typeface="IBM Plex Mono" pitchFamily="34" charset="-122"/>
                <a:cs typeface="IBM Plex Mono" pitchFamily="34" charset="-120"/>
              </a:rPr>
              <a:t>THE REBUILD SOURCE OF TRUTH</a:t>
            </a:r>
            <a:endParaRPr lang="en-US" sz="1800" dirty="0"/>
          </a:p>
        </p:txBody>
      </p:sp>
      <p:sp>
        <p:nvSpPr>
          <p:cNvPr id="10" name="Shape 8"/>
          <p:cNvSpPr/>
          <p:nvPr/>
        </p:nvSpPr>
        <p:spPr>
          <a:xfrm>
            <a:off x="6445151" y="2219325"/>
            <a:ext cx="5397550" cy="3409950"/>
          </a:xfrm>
          <a:prstGeom prst="rect">
            <a:avLst/>
          </a:prstGeom>
          <a:solidFill>
            <a:srgbClr val="FFFFFF"/>
          </a:solidFill>
          <a:ln/>
        </p:spPr>
      </p:sp>
      <p:sp>
        <p:nvSpPr>
          <p:cNvPr id="11" name="Shape 9"/>
          <p:cNvSpPr/>
          <p:nvPr/>
        </p:nvSpPr>
        <p:spPr>
          <a:xfrm>
            <a:off x="6445151" y="5619750"/>
            <a:ext cx="5397550" cy="9525"/>
          </a:xfrm>
          <a:prstGeom prst="rect">
            <a:avLst/>
          </a:prstGeom>
          <a:solidFill>
            <a:srgbClr val="E0DCD3"/>
          </a:solidFill>
          <a:ln/>
        </p:spPr>
      </p:sp>
      <p:sp>
        <p:nvSpPr>
          <p:cNvPr id="12" name="Shape 10"/>
          <p:cNvSpPr/>
          <p:nvPr/>
        </p:nvSpPr>
        <p:spPr>
          <a:xfrm>
            <a:off x="6445151" y="2219325"/>
            <a:ext cx="5397550" cy="47625"/>
          </a:xfrm>
          <a:prstGeom prst="rect">
            <a:avLst/>
          </a:prstGeom>
          <a:solidFill>
            <a:srgbClr val="2F6B80"/>
          </a:solidFill>
          <a:ln/>
        </p:spPr>
      </p:sp>
      <p:sp>
        <p:nvSpPr>
          <p:cNvPr id="13" name="Shape 11"/>
          <p:cNvSpPr/>
          <p:nvPr/>
        </p:nvSpPr>
        <p:spPr>
          <a:xfrm>
            <a:off x="6445151" y="2219325"/>
            <a:ext cx="9525" cy="3409950"/>
          </a:xfrm>
          <a:prstGeom prst="rect">
            <a:avLst/>
          </a:prstGeom>
          <a:solidFill>
            <a:srgbClr val="E0DCD3"/>
          </a:solidFill>
          <a:ln/>
        </p:spPr>
      </p:sp>
      <p:sp>
        <p:nvSpPr>
          <p:cNvPr id="14" name="Shape 12"/>
          <p:cNvSpPr/>
          <p:nvPr/>
        </p:nvSpPr>
        <p:spPr>
          <a:xfrm>
            <a:off x="11833175" y="2219325"/>
            <a:ext cx="9525" cy="3409950"/>
          </a:xfrm>
          <a:prstGeom prst="rect">
            <a:avLst/>
          </a:prstGeom>
          <a:solidFill>
            <a:srgbClr val="E0DCD3"/>
          </a:solidFill>
          <a:ln/>
        </p:spPr>
      </p:sp>
      <p:sp>
        <p:nvSpPr>
          <p:cNvPr id="15" name="Text 13"/>
          <p:cNvSpPr/>
          <p:nvPr/>
        </p:nvSpPr>
        <p:spPr>
          <a:xfrm>
            <a:off x="6740426" y="2533650"/>
            <a:ext cx="4968926" cy="2857500"/>
          </a:xfrm>
          <a:prstGeom prst="rect">
            <a:avLst/>
          </a:prstGeom>
          <a:noFill/>
          <a:ln/>
        </p:spPr>
        <p:txBody>
          <a:bodyPr wrap="square" lIns="25400" tIns="25400" rIns="25400" bIns="25400" rtlCol="0" anchor="t">
            <a:normAutofit/>
          </a:bodyPr>
          <a:lstStyle/>
          <a:p>
            <a:pPr algn="l" indent="0" marL="0">
              <a:lnSpc>
                <a:spcPct val="116250"/>
              </a:lnSpc>
              <a:buNone/>
            </a:pPr>
            <a:r>
              <a:rPr lang="en-US" sz="1800" b="1" dirty="0">
                <a:solidFill>
                  <a:srgbClr val="191C20"/>
                </a:solidFill>
                <a:latin typeface="IBM Plex Mono" pitchFamily="34" charset="0"/>
                <a:ea typeface="IBM Plex Mono" pitchFamily="34" charset="-122"/>
                <a:cs typeface="IBM Plex Mono" pitchFamily="34" charset="-120"/>
              </a:rPr>
              <a:t>DDB · CONTROL STATE </a:t>
            </a:r>
            <a:pPr algn="l" indent="0" marL="0">
              <a:lnSpc>
                <a:spcPct val="116250"/>
              </a:lnSpc>
              <a:buNone/>
            </a:pPr>
            <a:r>
              <a:rPr lang="en-US" sz="1800" dirty="0">
                <a:solidFill>
                  <a:srgbClr val="4D535B"/>
                </a:solidFill>
                <a:latin typeface="IBM Plex Sans" pitchFamily="34" charset="0"/>
                <a:ea typeface="IBM Plex Sans" pitchFamily="34" charset="-122"/>
                <a:cs typeface="IBM Plex Sans" pitchFamily="34" charset="-120"/>
              </a:rPr>
              <a:t>Run &amp; stage ledger · idempotency keys · leases · eligibility registry · dependency index · determinants · session state · proposal state · publication reservation + fencing token · active graph pointer · watermarks </a:t>
            </a:r>
            <a:pPr algn="l" indent="0" marL="0">
              <a:lnSpc>
                <a:spcPct val="116250"/>
              </a:lnSpc>
              <a:buNone/>
            </a:pPr>
            <a:r>
              <a:rPr lang="en-US" sz="1800" dirty="0">
                <a:solidFill>
                  <a:srgbClr val="2F6B80"/>
                </a:solidFill>
                <a:latin typeface="IBM Plex Mono" pitchFamily="34" charset="0"/>
                <a:ea typeface="IBM Plex Mono" pitchFamily="34" charset="-122"/>
                <a:cs typeface="IBM Plex Mono" pitchFamily="34" charset="-120"/>
              </a:rPr>
              <a:t>PITR + DELETION PROTECTION</a:t>
            </a:r>
            <a:endParaRPr lang="en-US" sz="1800" dirty="0"/>
          </a:p>
        </p:txBody>
      </p:sp>
      <p:sp>
        <p:nvSpPr>
          <p:cNvPr id="16" name="Shape 14"/>
          <p:cNvSpPr/>
          <p:nvPr/>
        </p:nvSpPr>
        <p:spPr>
          <a:xfrm>
            <a:off x="12033200" y="2219325"/>
            <a:ext cx="5397401" cy="3409950"/>
          </a:xfrm>
          <a:prstGeom prst="rect">
            <a:avLst/>
          </a:prstGeom>
          <a:solidFill>
            <a:srgbClr val="FFFFFF"/>
          </a:solidFill>
          <a:ln/>
        </p:spPr>
      </p:sp>
      <p:sp>
        <p:nvSpPr>
          <p:cNvPr id="17" name="Shape 15"/>
          <p:cNvSpPr/>
          <p:nvPr/>
        </p:nvSpPr>
        <p:spPr>
          <a:xfrm>
            <a:off x="12033200" y="5619750"/>
            <a:ext cx="5397401" cy="9525"/>
          </a:xfrm>
          <a:prstGeom prst="rect">
            <a:avLst/>
          </a:prstGeom>
          <a:solidFill>
            <a:srgbClr val="E0DCD3"/>
          </a:solidFill>
          <a:ln/>
        </p:spPr>
      </p:sp>
      <p:sp>
        <p:nvSpPr>
          <p:cNvPr id="18" name="Shape 16"/>
          <p:cNvSpPr/>
          <p:nvPr/>
        </p:nvSpPr>
        <p:spPr>
          <a:xfrm>
            <a:off x="12033200" y="2219325"/>
            <a:ext cx="5397401" cy="47625"/>
          </a:xfrm>
          <a:prstGeom prst="rect">
            <a:avLst/>
          </a:prstGeom>
          <a:solidFill>
            <a:srgbClr val="A8551F"/>
          </a:solidFill>
          <a:ln/>
        </p:spPr>
      </p:sp>
      <p:sp>
        <p:nvSpPr>
          <p:cNvPr id="19" name="Shape 17"/>
          <p:cNvSpPr/>
          <p:nvPr/>
        </p:nvSpPr>
        <p:spPr>
          <a:xfrm>
            <a:off x="12033200" y="2219325"/>
            <a:ext cx="9525" cy="3409950"/>
          </a:xfrm>
          <a:prstGeom prst="rect">
            <a:avLst/>
          </a:prstGeom>
          <a:solidFill>
            <a:srgbClr val="E0DCD3"/>
          </a:solidFill>
          <a:ln/>
        </p:spPr>
      </p:sp>
      <p:sp>
        <p:nvSpPr>
          <p:cNvPr id="20" name="Shape 18"/>
          <p:cNvSpPr/>
          <p:nvPr/>
        </p:nvSpPr>
        <p:spPr>
          <a:xfrm>
            <a:off x="17421076" y="2219325"/>
            <a:ext cx="9525" cy="3409950"/>
          </a:xfrm>
          <a:prstGeom prst="rect">
            <a:avLst/>
          </a:prstGeom>
          <a:solidFill>
            <a:srgbClr val="E0DCD3"/>
          </a:solidFill>
          <a:ln/>
        </p:spPr>
      </p:sp>
      <p:sp>
        <p:nvSpPr>
          <p:cNvPr id="21" name="Text 19"/>
          <p:cNvSpPr/>
          <p:nvPr/>
        </p:nvSpPr>
        <p:spPr>
          <a:xfrm>
            <a:off x="12328475" y="2533650"/>
            <a:ext cx="4968773" cy="2857500"/>
          </a:xfrm>
          <a:prstGeom prst="rect">
            <a:avLst/>
          </a:prstGeom>
          <a:noFill/>
          <a:ln/>
        </p:spPr>
        <p:txBody>
          <a:bodyPr wrap="square" lIns="25400" tIns="25400" rIns="25400" bIns="25400" rtlCol="0" anchor="t">
            <a:normAutofit/>
          </a:bodyPr>
          <a:lstStyle/>
          <a:p>
            <a:pPr algn="l" indent="0" marL="0">
              <a:lnSpc>
                <a:spcPct val="116250"/>
              </a:lnSpc>
              <a:buNone/>
            </a:pPr>
            <a:r>
              <a:rPr lang="en-US" sz="1800" b="1" dirty="0">
                <a:solidFill>
                  <a:srgbClr val="191C20"/>
                </a:solidFill>
                <a:latin typeface="IBM Plex Mono" pitchFamily="34" charset="0"/>
                <a:ea typeface="IBM Plex Mono" pitchFamily="34" charset="-122"/>
                <a:cs typeface="IBM Plex Mono" pitchFamily="34" charset="-120"/>
              </a:rPr>
              <a:t>NEP + OS · PROJECTIONS </a:t>
            </a:r>
            <a:pPr algn="l" indent="0" marL="0">
              <a:lnSpc>
                <a:spcPct val="116250"/>
              </a:lnSpc>
              <a:buNone/>
            </a:pPr>
            <a:r>
              <a:rPr lang="en-US" sz="1800" dirty="0">
                <a:solidFill>
                  <a:srgbClr val="4D535B"/>
                </a:solidFill>
                <a:latin typeface="IBM Plex Sans" pitchFamily="34" charset="0"/>
                <a:ea typeface="IBM Plex Sans" pitchFamily="34" charset="-122"/>
                <a:cs typeface="IBM Plex Sans" pitchFamily="34" charset="-120"/>
              </a:rPr>
              <a:t>Neptune: bounded traversal &amp; path explanation in versioned namespaces · OpenSearch: search, autocomplete, permission-aware discovery — both disposable and rebuildable from accepted manifests · approved state only </a:t>
            </a:r>
            <a:pPr algn="l" indent="0" marL="0">
              <a:lnSpc>
                <a:spcPct val="116250"/>
              </a:lnSpc>
              <a:buNone/>
            </a:pPr>
            <a:r>
              <a:rPr lang="en-US" sz="1800" dirty="0">
                <a:solidFill>
                  <a:srgbClr val="A8551F"/>
                </a:solidFill>
                <a:latin typeface="IBM Plex Mono" pitchFamily="34" charset="0"/>
                <a:ea typeface="IBM Plex Mono" pitchFamily="34" charset="-122"/>
                <a:cs typeface="IBM Plex Mono" pitchFamily="34" charset="-120"/>
              </a:rPr>
              <a:t>NEVER THE SYSTEM OF RECORD</a:t>
            </a:r>
            <a:endParaRPr lang="en-US" sz="1800" dirty="0"/>
          </a:p>
        </p:txBody>
      </p:sp>
      <p:sp>
        <p:nvSpPr>
          <p:cNvPr id="22" name="Shape 20"/>
          <p:cNvSpPr/>
          <p:nvPr/>
        </p:nvSpPr>
        <p:spPr>
          <a:xfrm>
            <a:off x="857250" y="7486650"/>
            <a:ext cx="6939558" cy="2133600"/>
          </a:xfrm>
          <a:prstGeom prst="rect">
            <a:avLst/>
          </a:prstGeom>
          <a:solidFill>
            <a:srgbClr val="191C20"/>
          </a:solidFill>
          <a:ln/>
        </p:spPr>
      </p:sp>
      <p:sp>
        <p:nvSpPr>
          <p:cNvPr id="23" name="Text 21"/>
          <p:cNvSpPr/>
          <p:nvPr/>
        </p:nvSpPr>
        <p:spPr>
          <a:xfrm>
            <a:off x="1123950" y="7696200"/>
            <a:ext cx="6614345" cy="1752600"/>
          </a:xfrm>
          <a:prstGeom prst="rect">
            <a:avLst/>
          </a:prstGeom>
          <a:noFill/>
          <a:ln/>
        </p:spPr>
        <p:txBody>
          <a:bodyPr wrap="square" lIns="25400" tIns="25400" rIns="25400" bIns="25400" rtlCol="0" anchor="t">
            <a:normAutofit/>
          </a:bodyPr>
          <a:lstStyle/>
          <a:p>
            <a:pPr algn="l" indent="0" marL="0">
              <a:lnSpc>
                <a:spcPct val="112500"/>
              </a:lnSpc>
              <a:buNone/>
            </a:pPr>
            <a:r>
              <a:rPr lang="en-US" sz="1800" dirty="0">
                <a:solidFill>
                  <a:srgbClr val="8FB3BF"/>
                </a:solidFill>
                <a:latin typeface="IBM Plex Mono" pitchFamily="34" charset="0"/>
                <a:ea typeface="IBM Plex Mono" pitchFamily="34" charset="-122"/>
                <a:cs typeface="IBM Plex Mono" pitchFamily="34" charset="-120"/>
              </a:rPr>
              <a:t>RESILIENCE </a:t>
            </a:r>
            <a:pPr algn="l" indent="0" marL="0">
              <a:lnSpc>
                <a:spcPct val="112500"/>
              </a:lnSpc>
              <a:buNone/>
            </a:pPr>
            <a:r>
              <a:rPr lang="en-US" sz="1800" dirty="0">
                <a:solidFill>
                  <a:srgbClr val="E8E4DC"/>
                </a:solidFill>
                <a:highlight>
                  <a:srgbClr val="191C20"/>
                </a:highlight>
                <a:latin typeface="IBM Plex Sans" pitchFamily="34" charset="0"/>
                <a:ea typeface="IBM Plex Sans" pitchFamily="34" charset="-122"/>
                <a:cs typeface="IBM Plex Sans" pitchFamily="34" charset="-120"/>
              </a:rPr>
              <a:t>Multi-AZ primary — Neptune writer + replicas, OpenSearch Multi-AZ, priority queues per AZ · Warm-standby region — S3 CRR, DynamoDB replication/restore, Neptune snapshots, OpenSearch rebuild</a:t>
            </a:r>
            <a:endParaRPr lang="en-US" sz="1800" dirty="0"/>
          </a:p>
        </p:txBody>
      </p:sp>
      <p:sp>
        <p:nvSpPr>
          <p:cNvPr id="24" name="Shape 22"/>
          <p:cNvSpPr/>
          <p:nvPr/>
        </p:nvSpPr>
        <p:spPr>
          <a:xfrm>
            <a:off x="7987308" y="7486650"/>
            <a:ext cx="4626471" cy="2133600"/>
          </a:xfrm>
          <a:prstGeom prst="rect">
            <a:avLst/>
          </a:prstGeom>
          <a:solidFill>
            <a:srgbClr val="191C20"/>
          </a:solidFill>
          <a:ln/>
        </p:spPr>
      </p:sp>
      <p:sp>
        <p:nvSpPr>
          <p:cNvPr id="25" name="Text 23"/>
          <p:cNvSpPr/>
          <p:nvPr/>
        </p:nvSpPr>
        <p:spPr>
          <a:xfrm>
            <a:off x="8254008" y="8010525"/>
            <a:ext cx="4502378" cy="381000"/>
          </a:xfrm>
          <a:prstGeom prst="rect">
            <a:avLst/>
          </a:prstGeom>
          <a:noFill/>
          <a:ln/>
        </p:spPr>
        <p:txBody>
          <a:bodyPr wrap="square" lIns="25400" tIns="25400" rIns="25400" bIns="25400" rtlCol="0" anchor="t">
            <a:normAutofit/>
          </a:bodyPr>
          <a:lstStyle/>
          <a:p>
            <a:pPr algn="l" indent="0" marL="0">
              <a:lnSpc>
                <a:spcPct val="112500"/>
              </a:lnSpc>
              <a:buNone/>
            </a:pPr>
            <a:r>
              <a:rPr lang="en-US" sz="1800" dirty="0">
                <a:solidFill>
                  <a:srgbClr val="8FB3BF"/>
                </a:solidFill>
                <a:latin typeface="IBM Plex Mono" pitchFamily="34" charset="0"/>
                <a:ea typeface="IBM Plex Mono" pitchFamily="34" charset="-122"/>
                <a:cs typeface="IBM Plex Mono" pitchFamily="34" charset="-120"/>
              </a:rPr>
              <a:t>RPO</a:t>
            </a:r>
            <a:endParaRPr lang="en-US" sz="1800" dirty="0"/>
          </a:p>
        </p:txBody>
      </p:sp>
      <p:sp>
        <p:nvSpPr>
          <p:cNvPr id="26" name="Text 24"/>
          <p:cNvSpPr/>
          <p:nvPr/>
        </p:nvSpPr>
        <p:spPr>
          <a:xfrm>
            <a:off x="8254008" y="8353425"/>
            <a:ext cx="4502378" cy="781050"/>
          </a:xfrm>
          <a:prstGeom prst="rect">
            <a:avLst/>
          </a:prstGeom>
          <a:noFill/>
          <a:ln/>
        </p:spPr>
        <p:txBody>
          <a:bodyPr wrap="square" lIns="25400" tIns="25400" rIns="25400" bIns="25400" rtlCol="0" anchor="t">
            <a:normAutofit/>
          </a:bodyPr>
          <a:lstStyle/>
          <a:p>
            <a:pPr algn="l" indent="0" marL="0">
              <a:lnSpc>
                <a:spcPct val="116418"/>
              </a:lnSpc>
              <a:buNone/>
            </a:pPr>
            <a:r>
              <a:rPr lang="en-US" sz="3900" b="1" dirty="0">
                <a:solidFill>
                  <a:srgbClr val="E8E4DC"/>
                </a:solidFill>
                <a:latin typeface="IBM Plex Sans" pitchFamily="34" charset="0"/>
                <a:ea typeface="IBM Plex Sans" pitchFamily="34" charset="-122"/>
                <a:cs typeface="IBM Plex Sans" pitchFamily="34" charset="-120"/>
              </a:rPr>
              <a:t>15 min</a:t>
            </a:r>
            <a:endParaRPr lang="en-US" sz="3900" dirty="0"/>
          </a:p>
        </p:txBody>
      </p:sp>
      <p:sp>
        <p:nvSpPr>
          <p:cNvPr id="27" name="Shape 25"/>
          <p:cNvSpPr/>
          <p:nvPr/>
        </p:nvSpPr>
        <p:spPr>
          <a:xfrm>
            <a:off x="12804279" y="7486650"/>
            <a:ext cx="4626471" cy="2133600"/>
          </a:xfrm>
          <a:prstGeom prst="rect">
            <a:avLst/>
          </a:prstGeom>
          <a:solidFill>
            <a:srgbClr val="191C20"/>
          </a:solidFill>
          <a:ln/>
        </p:spPr>
      </p:sp>
      <p:sp>
        <p:nvSpPr>
          <p:cNvPr id="28" name="Text 26"/>
          <p:cNvSpPr/>
          <p:nvPr/>
        </p:nvSpPr>
        <p:spPr>
          <a:xfrm>
            <a:off x="13070979" y="8010525"/>
            <a:ext cx="4502378" cy="381000"/>
          </a:xfrm>
          <a:prstGeom prst="rect">
            <a:avLst/>
          </a:prstGeom>
          <a:noFill/>
          <a:ln/>
        </p:spPr>
        <p:txBody>
          <a:bodyPr wrap="square" lIns="25400" tIns="25400" rIns="25400" bIns="25400" rtlCol="0" anchor="t">
            <a:normAutofit/>
          </a:bodyPr>
          <a:lstStyle/>
          <a:p>
            <a:pPr algn="l" indent="0" marL="0">
              <a:lnSpc>
                <a:spcPct val="112500"/>
              </a:lnSpc>
              <a:buNone/>
            </a:pPr>
            <a:r>
              <a:rPr lang="en-US" sz="1800" dirty="0">
                <a:solidFill>
                  <a:srgbClr val="8FB3BF"/>
                </a:solidFill>
                <a:latin typeface="IBM Plex Mono" pitchFamily="34" charset="0"/>
                <a:ea typeface="IBM Plex Mono" pitchFamily="34" charset="-122"/>
                <a:cs typeface="IBM Plex Mono" pitchFamily="34" charset="-120"/>
              </a:rPr>
              <a:t>RTO</a:t>
            </a:r>
            <a:endParaRPr lang="en-US" sz="1800" dirty="0"/>
          </a:p>
        </p:txBody>
      </p:sp>
      <p:sp>
        <p:nvSpPr>
          <p:cNvPr id="29" name="Text 27"/>
          <p:cNvSpPr/>
          <p:nvPr/>
        </p:nvSpPr>
        <p:spPr>
          <a:xfrm>
            <a:off x="13070979" y="8353425"/>
            <a:ext cx="4502378" cy="781050"/>
          </a:xfrm>
          <a:prstGeom prst="rect">
            <a:avLst/>
          </a:prstGeom>
          <a:noFill/>
          <a:ln/>
        </p:spPr>
        <p:txBody>
          <a:bodyPr wrap="square" lIns="25400" tIns="25400" rIns="25400" bIns="25400" rtlCol="0" anchor="t">
            <a:normAutofit/>
          </a:bodyPr>
          <a:lstStyle/>
          <a:p>
            <a:pPr algn="l" indent="0" marL="0">
              <a:lnSpc>
                <a:spcPct val="116418"/>
              </a:lnSpc>
              <a:buNone/>
            </a:pPr>
            <a:r>
              <a:rPr lang="en-US" sz="3900" b="1" dirty="0">
                <a:solidFill>
                  <a:srgbClr val="E8E4DC"/>
                </a:solidFill>
                <a:latin typeface="IBM Plex Sans" pitchFamily="34" charset="0"/>
                <a:ea typeface="IBM Plex Sans" pitchFamily="34" charset="-122"/>
                <a:cs typeface="IBM Plex Sans" pitchFamily="34" charset="-120"/>
              </a:rPr>
              <a:t>4 h</a:t>
            </a:r>
            <a:endParaRPr lang="en-US" sz="3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91C20"/>
        </a:solidFill>
      </p:bgPr>
    </p:bg>
    <p:spTree>
      <p:nvGrpSpPr>
        <p:cNvPr id="1" name=""/>
        <p:cNvGrpSpPr/>
        <p:nvPr/>
      </p:nvGrpSpPr>
      <p:grpSpPr>
        <a:xfrm>
          <a:off x="0" y="0"/>
          <a:ext cx="0" cy="0"/>
          <a:chOff x="0" y="0"/>
          <a:chExt cx="0" cy="0"/>
        </a:xfrm>
      </p:grpSpPr>
      <p:sp>
        <p:nvSpPr>
          <p:cNvPr id="2" name="Text 0"/>
          <p:cNvSpPr/>
          <p:nvPr/>
        </p:nvSpPr>
        <p:spPr>
          <a:xfrm>
            <a:off x="857250" y="666750"/>
            <a:ext cx="18230850" cy="361950"/>
          </a:xfrm>
          <a:prstGeom prst="rect">
            <a:avLst/>
          </a:prstGeom>
          <a:noFill/>
          <a:ln/>
        </p:spPr>
        <p:txBody>
          <a:bodyPr wrap="square" lIns="25400" tIns="25400" rIns="25400" bIns="25400" rtlCol="0" anchor="t">
            <a:normAutofit/>
          </a:bodyPr>
          <a:lstStyle/>
          <a:p>
            <a:pPr algn="l" indent="0" marL="0">
              <a:buNone/>
            </a:pPr>
            <a:r>
              <a:rPr lang="en-US" sz="1950" spc="312" kern="0" dirty="0">
                <a:solidFill>
                  <a:srgbClr val="8FB3BF"/>
                </a:solidFill>
                <a:latin typeface="IBM Plex Mono" pitchFamily="34" charset="0"/>
                <a:ea typeface="IBM Plex Mono" pitchFamily="34" charset="-122"/>
                <a:cs typeface="IBM Plex Mono" pitchFamily="34" charset="-120"/>
              </a:rPr>
              <a:t>17 · LAUNCH GATES, NOT GUARANTEES</a:t>
            </a:r>
            <a:endParaRPr lang="en-US" sz="1950" dirty="0"/>
          </a:p>
        </p:txBody>
      </p:sp>
      <p:sp>
        <p:nvSpPr>
          <p:cNvPr id="3" name="Text 1"/>
          <p:cNvSpPr/>
          <p:nvPr/>
        </p:nvSpPr>
        <p:spPr>
          <a:xfrm>
            <a:off x="857250" y="1123950"/>
            <a:ext cx="18230850" cy="771525"/>
          </a:xfrm>
          <a:prstGeom prst="rect">
            <a:avLst/>
          </a:prstGeom>
          <a:noFill/>
          <a:ln/>
        </p:spPr>
        <p:txBody>
          <a:bodyPr wrap="square" lIns="25400" tIns="25400" rIns="25400" bIns="25400" rtlCol="0" anchor="t">
            <a:normAutofit/>
          </a:bodyPr>
          <a:lstStyle/>
          <a:p>
            <a:pPr algn="l" indent="0" marL="0">
              <a:buNone/>
            </a:pPr>
            <a:r>
              <a:rPr lang="en-US" sz="4500" b="1" dirty="0">
                <a:solidFill>
                  <a:srgbClr val="F2EFE9"/>
                </a:solidFill>
                <a:latin typeface="IBM Plex Sans" pitchFamily="34" charset="0"/>
                <a:ea typeface="IBM Plex Sans" pitchFamily="34" charset="-122"/>
                <a:cs typeface="IBM Plex Sans" pitchFamily="34" charset="-120"/>
              </a:rPr>
              <a:t>Scale &amp; Performance Targets</a:t>
            </a:r>
            <a:endParaRPr lang="en-US" sz="4500" dirty="0"/>
          </a:p>
        </p:txBody>
      </p:sp>
      <p:sp>
        <p:nvSpPr>
          <p:cNvPr id="4" name="Shape 2"/>
          <p:cNvSpPr/>
          <p:nvPr/>
        </p:nvSpPr>
        <p:spPr>
          <a:xfrm>
            <a:off x="857250" y="2276475"/>
            <a:ext cx="5397401" cy="2095500"/>
          </a:xfrm>
          <a:prstGeom prst="rect">
            <a:avLst/>
          </a:prstGeom>
          <a:ln w="9525">
            <a:solidFill>
              <a:srgbClr val="33383F"/>
            </a:solidFill>
            <a:prstDash val="solid"/>
          </a:ln>
        </p:spPr>
      </p:sp>
      <p:sp>
        <p:nvSpPr>
          <p:cNvPr id="5" name="Text 3"/>
          <p:cNvSpPr/>
          <p:nvPr/>
        </p:nvSpPr>
        <p:spPr>
          <a:xfrm>
            <a:off x="1171575" y="2552700"/>
            <a:ext cx="2212037" cy="838200"/>
          </a:xfrm>
          <a:prstGeom prst="rect">
            <a:avLst/>
          </a:prstGeom>
          <a:noFill/>
          <a:ln/>
        </p:spPr>
        <p:txBody>
          <a:bodyPr wrap="square" lIns="25400" tIns="25400" rIns="25400" bIns="25400" rtlCol="0" anchor="t">
            <a:normAutofit/>
          </a:bodyPr>
          <a:lstStyle/>
          <a:p>
            <a:pPr algn="l" indent="0" marL="0">
              <a:buNone/>
            </a:pPr>
            <a:r>
              <a:rPr lang="en-US" sz="4800" b="1" dirty="0">
                <a:solidFill>
                  <a:srgbClr val="8FB3BF"/>
                </a:solidFill>
                <a:latin typeface="IBM Plex Sans" pitchFamily="34" charset="0"/>
                <a:ea typeface="IBM Plex Sans" pitchFamily="34" charset="-122"/>
                <a:cs typeface="IBM Plex Sans" pitchFamily="34" charset="-120"/>
              </a:rPr>
              <a:t>10,000</a:t>
            </a:r>
            <a:endParaRPr lang="en-US" sz="4800" dirty="0"/>
          </a:p>
        </p:txBody>
      </p:sp>
      <p:sp>
        <p:nvSpPr>
          <p:cNvPr id="6" name="Text 4"/>
          <p:cNvSpPr/>
          <p:nvPr/>
        </p:nvSpPr>
        <p:spPr>
          <a:xfrm>
            <a:off x="1171575" y="3448050"/>
            <a:ext cx="4911813" cy="68580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B8BDC4"/>
                </a:solidFill>
                <a:latin typeface="IBM Plex Sans" pitchFamily="34" charset="0"/>
                <a:ea typeface="IBM Plex Sans" pitchFamily="34" charset="-122"/>
                <a:cs typeface="IBM Plex Sans" pitchFamily="34" charset="-120"/>
              </a:rPr>
              <a:t>repositories baselined within a 12-hour window</a:t>
            </a:r>
            <a:endParaRPr lang="en-US" sz="1800" dirty="0"/>
          </a:p>
        </p:txBody>
      </p:sp>
      <p:sp>
        <p:nvSpPr>
          <p:cNvPr id="7" name="Shape 5"/>
          <p:cNvSpPr/>
          <p:nvPr/>
        </p:nvSpPr>
        <p:spPr>
          <a:xfrm>
            <a:off x="6445151" y="2276475"/>
            <a:ext cx="5397550" cy="2095500"/>
          </a:xfrm>
          <a:prstGeom prst="rect">
            <a:avLst/>
          </a:prstGeom>
          <a:ln w="9525">
            <a:solidFill>
              <a:srgbClr val="33383F"/>
            </a:solidFill>
            <a:prstDash val="solid"/>
          </a:ln>
        </p:spPr>
      </p:sp>
      <p:sp>
        <p:nvSpPr>
          <p:cNvPr id="8" name="Text 6"/>
          <p:cNvSpPr/>
          <p:nvPr/>
        </p:nvSpPr>
        <p:spPr>
          <a:xfrm>
            <a:off x="6759476" y="2552700"/>
            <a:ext cx="2151339" cy="838200"/>
          </a:xfrm>
          <a:prstGeom prst="rect">
            <a:avLst/>
          </a:prstGeom>
          <a:noFill/>
          <a:ln/>
        </p:spPr>
        <p:txBody>
          <a:bodyPr wrap="square" lIns="25400" tIns="25400" rIns="25400" bIns="25400" rtlCol="0" anchor="t">
            <a:normAutofit/>
          </a:bodyPr>
          <a:lstStyle/>
          <a:p>
            <a:pPr algn="l" indent="0" marL="0">
              <a:buNone/>
            </a:pPr>
            <a:r>
              <a:rPr lang="en-US" sz="4800" b="1" dirty="0">
                <a:solidFill>
                  <a:srgbClr val="8FB3BF"/>
                </a:solidFill>
                <a:latin typeface="IBM Plex Sans" pitchFamily="34" charset="0"/>
                <a:ea typeface="IBM Plex Sans" pitchFamily="34" charset="-122"/>
                <a:cs typeface="IBM Plex Sans" pitchFamily="34" charset="-120"/>
              </a:rPr>
              <a:t>100 / s</a:t>
            </a:r>
            <a:endParaRPr lang="en-US" sz="4800" dirty="0"/>
          </a:p>
        </p:txBody>
      </p:sp>
      <p:sp>
        <p:nvSpPr>
          <p:cNvPr id="9" name="Text 7"/>
          <p:cNvSpPr/>
          <p:nvPr/>
        </p:nvSpPr>
        <p:spPr>
          <a:xfrm>
            <a:off x="6759476" y="3448050"/>
            <a:ext cx="4911967" cy="68580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B8BDC4"/>
                </a:solidFill>
                <a:latin typeface="IBM Plex Sans" pitchFamily="34" charset="0"/>
                <a:ea typeface="IBM Plex Sans" pitchFamily="34" charset="-122"/>
                <a:cs typeface="IBM Plex Sans" pitchFamily="34" charset="-120"/>
              </a:rPr>
              <a:t>sustained normalized triggers; 10,000-event bursts absorbed without loss</a:t>
            </a:r>
            <a:endParaRPr lang="en-US" sz="1800" dirty="0"/>
          </a:p>
        </p:txBody>
      </p:sp>
      <p:sp>
        <p:nvSpPr>
          <p:cNvPr id="10" name="Shape 8"/>
          <p:cNvSpPr/>
          <p:nvPr/>
        </p:nvSpPr>
        <p:spPr>
          <a:xfrm>
            <a:off x="12033200" y="2276475"/>
            <a:ext cx="5397401" cy="2095500"/>
          </a:xfrm>
          <a:prstGeom prst="rect">
            <a:avLst/>
          </a:prstGeom>
          <a:ln w="9525">
            <a:solidFill>
              <a:srgbClr val="33383F"/>
            </a:solidFill>
            <a:prstDash val="solid"/>
          </a:ln>
        </p:spPr>
      </p:sp>
      <p:sp>
        <p:nvSpPr>
          <p:cNvPr id="11" name="Text 9"/>
          <p:cNvSpPr/>
          <p:nvPr/>
        </p:nvSpPr>
        <p:spPr>
          <a:xfrm>
            <a:off x="12347525" y="2552700"/>
            <a:ext cx="2137025" cy="838200"/>
          </a:xfrm>
          <a:prstGeom prst="rect">
            <a:avLst/>
          </a:prstGeom>
          <a:noFill/>
          <a:ln/>
        </p:spPr>
        <p:txBody>
          <a:bodyPr wrap="square" lIns="25400" tIns="25400" rIns="25400" bIns="25400" rtlCol="0" anchor="t">
            <a:normAutofit/>
          </a:bodyPr>
          <a:lstStyle/>
          <a:p>
            <a:pPr algn="l" indent="0" marL="0">
              <a:buNone/>
            </a:pPr>
            <a:r>
              <a:rPr lang="en-US" sz="4800" b="1" dirty="0">
                <a:solidFill>
                  <a:srgbClr val="8FB3BF"/>
                </a:solidFill>
                <a:latin typeface="IBM Plex Sans" pitchFamily="34" charset="0"/>
                <a:ea typeface="IBM Plex Sans" pitchFamily="34" charset="-122"/>
                <a:cs typeface="IBM Plex Sans" pitchFamily="34" charset="-120"/>
              </a:rPr>
              <a:t>30 min</a:t>
            </a:r>
            <a:endParaRPr lang="en-US" sz="4800" dirty="0"/>
          </a:p>
        </p:txBody>
      </p:sp>
      <p:sp>
        <p:nvSpPr>
          <p:cNvPr id="12" name="Text 10"/>
          <p:cNvSpPr/>
          <p:nvPr/>
        </p:nvSpPr>
        <p:spPr>
          <a:xfrm>
            <a:off x="12347525" y="3448050"/>
            <a:ext cx="4911813" cy="68580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B8BDC4"/>
                </a:solidFill>
                <a:latin typeface="IBM Plex Sans" pitchFamily="34" charset="0"/>
                <a:ea typeface="IBM Plex Sans" pitchFamily="34" charset="-122"/>
                <a:cs typeface="IBM Plex Sans" pitchFamily="34" charset="-120"/>
              </a:rPr>
              <a:t>p95 incremental analysis, excluding human review</a:t>
            </a:r>
            <a:endParaRPr lang="en-US" sz="1800" dirty="0"/>
          </a:p>
        </p:txBody>
      </p:sp>
      <p:sp>
        <p:nvSpPr>
          <p:cNvPr id="13" name="Shape 11"/>
          <p:cNvSpPr/>
          <p:nvPr/>
        </p:nvSpPr>
        <p:spPr>
          <a:xfrm>
            <a:off x="857250" y="4562475"/>
            <a:ext cx="5397401" cy="2095500"/>
          </a:xfrm>
          <a:prstGeom prst="rect">
            <a:avLst/>
          </a:prstGeom>
          <a:ln w="9525">
            <a:solidFill>
              <a:srgbClr val="33383F"/>
            </a:solidFill>
            <a:prstDash val="solid"/>
          </a:ln>
        </p:spPr>
      </p:sp>
      <p:sp>
        <p:nvSpPr>
          <p:cNvPr id="14" name="Text 12"/>
          <p:cNvSpPr/>
          <p:nvPr/>
        </p:nvSpPr>
        <p:spPr>
          <a:xfrm>
            <a:off x="1171575" y="4838700"/>
            <a:ext cx="1734689" cy="838200"/>
          </a:xfrm>
          <a:prstGeom prst="rect">
            <a:avLst/>
          </a:prstGeom>
          <a:noFill/>
          <a:ln/>
        </p:spPr>
        <p:txBody>
          <a:bodyPr wrap="square" lIns="25400" tIns="25400" rIns="25400" bIns="25400" rtlCol="0" anchor="t">
            <a:normAutofit/>
          </a:bodyPr>
          <a:lstStyle/>
          <a:p>
            <a:pPr algn="l" indent="0" marL="0">
              <a:buNone/>
            </a:pPr>
            <a:r>
              <a:rPr lang="en-US" sz="4800" b="1" dirty="0">
                <a:solidFill>
                  <a:srgbClr val="8FB3BF"/>
                </a:solidFill>
                <a:latin typeface="IBM Plex Sans" pitchFamily="34" charset="0"/>
                <a:ea typeface="IBM Plex Sans" pitchFamily="34" charset="-122"/>
                <a:cs typeface="IBM Plex Sans" pitchFamily="34" charset="-120"/>
              </a:rPr>
              <a:t>5 min</a:t>
            </a:r>
            <a:endParaRPr lang="en-US" sz="4800" dirty="0"/>
          </a:p>
        </p:txBody>
      </p:sp>
      <p:sp>
        <p:nvSpPr>
          <p:cNvPr id="15" name="Text 13"/>
          <p:cNvSpPr/>
          <p:nvPr/>
        </p:nvSpPr>
        <p:spPr>
          <a:xfrm>
            <a:off x="1171575" y="5734050"/>
            <a:ext cx="4911813" cy="68580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B8BDC4"/>
                </a:solidFill>
                <a:latin typeface="IBM Plex Sans" pitchFamily="34" charset="0"/>
                <a:ea typeface="IBM Plex Sans" pitchFamily="34" charset="-122"/>
                <a:cs typeface="IBM Plex Sans" pitchFamily="34" charset="-120"/>
              </a:rPr>
              <a:t>p95 Tier-1 start latency, even during baseline &amp; backfill</a:t>
            </a:r>
            <a:endParaRPr lang="en-US" sz="1800" dirty="0"/>
          </a:p>
        </p:txBody>
      </p:sp>
      <p:sp>
        <p:nvSpPr>
          <p:cNvPr id="16" name="Shape 14"/>
          <p:cNvSpPr/>
          <p:nvPr/>
        </p:nvSpPr>
        <p:spPr>
          <a:xfrm>
            <a:off x="6445151" y="4562475"/>
            <a:ext cx="5397550" cy="2095500"/>
          </a:xfrm>
          <a:prstGeom prst="rect">
            <a:avLst/>
          </a:prstGeom>
          <a:ln w="9525">
            <a:solidFill>
              <a:srgbClr val="33383F"/>
            </a:solidFill>
            <a:prstDash val="solid"/>
          </a:ln>
        </p:spPr>
      </p:sp>
      <p:sp>
        <p:nvSpPr>
          <p:cNvPr id="17" name="Text 15"/>
          <p:cNvSpPr/>
          <p:nvPr/>
        </p:nvSpPr>
        <p:spPr>
          <a:xfrm>
            <a:off x="6759476" y="4838700"/>
            <a:ext cx="1255767" cy="838200"/>
          </a:xfrm>
          <a:prstGeom prst="rect">
            <a:avLst/>
          </a:prstGeom>
          <a:noFill/>
          <a:ln/>
        </p:spPr>
        <p:txBody>
          <a:bodyPr wrap="square" lIns="25400" tIns="25400" rIns="25400" bIns="25400" rtlCol="0" anchor="t">
            <a:normAutofit/>
          </a:bodyPr>
          <a:lstStyle/>
          <a:p>
            <a:pPr algn="l" indent="0" marL="0">
              <a:buNone/>
            </a:pPr>
            <a:r>
              <a:rPr lang="en-US" sz="4800" b="1" dirty="0">
                <a:solidFill>
                  <a:srgbClr val="8FB3BF"/>
                </a:solidFill>
                <a:latin typeface="IBM Plex Sans" pitchFamily="34" charset="0"/>
                <a:ea typeface="IBM Plex Sans" pitchFamily="34" charset="-122"/>
                <a:cs typeface="IBM Plex Sans" pitchFamily="34" charset="-120"/>
              </a:rPr>
              <a:t>60 s</a:t>
            </a:r>
            <a:endParaRPr lang="en-US" sz="4800" dirty="0"/>
          </a:p>
        </p:txBody>
      </p:sp>
      <p:sp>
        <p:nvSpPr>
          <p:cNvPr id="18" name="Text 16"/>
          <p:cNvSpPr/>
          <p:nvPr/>
        </p:nvSpPr>
        <p:spPr>
          <a:xfrm>
            <a:off x="6759476" y="5734050"/>
            <a:ext cx="4911967" cy="68580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B8BDC4"/>
                </a:solidFill>
                <a:latin typeface="IBM Plex Sans" pitchFamily="34" charset="0"/>
                <a:ea typeface="IBM Plex Sans" pitchFamily="34" charset="-122"/>
                <a:cs typeface="IBM Plex Sans" pitchFamily="34" charset="-120"/>
              </a:rPr>
              <a:t>for 95% of approved changes to become queryable</a:t>
            </a:r>
            <a:endParaRPr lang="en-US" sz="1800" dirty="0"/>
          </a:p>
        </p:txBody>
      </p:sp>
      <p:sp>
        <p:nvSpPr>
          <p:cNvPr id="19" name="Shape 17"/>
          <p:cNvSpPr/>
          <p:nvPr/>
        </p:nvSpPr>
        <p:spPr>
          <a:xfrm>
            <a:off x="12033200" y="4562475"/>
            <a:ext cx="5397401" cy="2095500"/>
          </a:xfrm>
          <a:prstGeom prst="rect">
            <a:avLst/>
          </a:prstGeom>
          <a:ln w="9525">
            <a:solidFill>
              <a:srgbClr val="33383F"/>
            </a:solidFill>
            <a:prstDash val="solid"/>
          </a:ln>
        </p:spPr>
      </p:sp>
      <p:sp>
        <p:nvSpPr>
          <p:cNvPr id="20" name="Text 18"/>
          <p:cNvSpPr/>
          <p:nvPr/>
        </p:nvSpPr>
        <p:spPr>
          <a:xfrm>
            <a:off x="12347525" y="4838700"/>
            <a:ext cx="890007" cy="838200"/>
          </a:xfrm>
          <a:prstGeom prst="rect">
            <a:avLst/>
          </a:prstGeom>
          <a:noFill/>
          <a:ln/>
        </p:spPr>
        <p:txBody>
          <a:bodyPr wrap="square" lIns="25400" tIns="25400" rIns="25400" bIns="25400" rtlCol="0" anchor="t">
            <a:normAutofit/>
          </a:bodyPr>
          <a:lstStyle/>
          <a:p>
            <a:pPr algn="l" indent="0" marL="0">
              <a:buNone/>
            </a:pPr>
            <a:r>
              <a:rPr lang="en-US" sz="4800" b="1" dirty="0">
                <a:solidFill>
                  <a:srgbClr val="8FB3BF"/>
                </a:solidFill>
                <a:latin typeface="IBM Plex Sans" pitchFamily="34" charset="0"/>
                <a:ea typeface="IBM Plex Sans" pitchFamily="34" charset="-122"/>
                <a:cs typeface="IBM Plex Sans" pitchFamily="34" charset="-120"/>
              </a:rPr>
              <a:t>2 s</a:t>
            </a:r>
            <a:endParaRPr lang="en-US" sz="4800" dirty="0"/>
          </a:p>
        </p:txBody>
      </p:sp>
      <p:sp>
        <p:nvSpPr>
          <p:cNvPr id="21" name="Text 19"/>
          <p:cNvSpPr/>
          <p:nvPr/>
        </p:nvSpPr>
        <p:spPr>
          <a:xfrm>
            <a:off x="12347525" y="5734050"/>
            <a:ext cx="5245626" cy="361950"/>
          </a:xfrm>
          <a:prstGeom prst="rect">
            <a:avLst/>
          </a:prstGeom>
          <a:noFill/>
          <a:ln/>
        </p:spPr>
        <p:txBody>
          <a:bodyPr wrap="square" lIns="25400" tIns="25400" rIns="25400" bIns="25400" rtlCol="0" anchor="t">
            <a:normAutofit/>
          </a:bodyPr>
          <a:lstStyle/>
          <a:p>
            <a:pPr algn="l" indent="0" marL="0">
              <a:lnSpc>
                <a:spcPct val="108750"/>
              </a:lnSpc>
              <a:buNone/>
            </a:pPr>
            <a:r>
              <a:rPr lang="en-US" sz="1800" dirty="0">
                <a:solidFill>
                  <a:srgbClr val="B8BDC4"/>
                </a:solidFill>
                <a:latin typeface="IBM Plex Sans" pitchFamily="34" charset="0"/>
                <a:ea typeface="IBM Plex Sans" pitchFamily="34" charset="-122"/>
                <a:cs typeface="IBM Plex Sans" pitchFamily="34" charset="-120"/>
              </a:rPr>
              <a:t>p95 bounded one-hop graph query</a:t>
            </a:r>
            <a:endParaRPr lang="en-US" sz="1800" dirty="0"/>
          </a:p>
        </p:txBody>
      </p:sp>
      <p:sp>
        <p:nvSpPr>
          <p:cNvPr id="22" name="Text 20"/>
          <p:cNvSpPr/>
          <p:nvPr/>
        </p:nvSpPr>
        <p:spPr>
          <a:xfrm>
            <a:off x="857250" y="8591550"/>
            <a:ext cx="8437245" cy="1066800"/>
          </a:xfrm>
          <a:prstGeom prst="rect">
            <a:avLst/>
          </a:prstGeom>
          <a:noFill/>
          <a:ln/>
        </p:spPr>
        <p:txBody>
          <a:bodyPr wrap="square" lIns="25400" tIns="25400" rIns="25400" bIns="25400" rtlCol="0" anchor="t">
            <a:normAutofit/>
          </a:bodyPr>
          <a:lstStyle/>
          <a:p>
            <a:pPr algn="l" indent="0" marL="0">
              <a:lnSpc>
                <a:spcPct val="112500"/>
              </a:lnSpc>
              <a:buNone/>
            </a:pPr>
            <a:r>
              <a:rPr lang="en-US" sz="1800" dirty="0">
                <a:solidFill>
                  <a:srgbClr val="8A9099"/>
                </a:solidFill>
                <a:latin typeface="IBM Plex Mono" pitchFamily="34" charset="0"/>
                <a:ea typeface="IBM Plex Mono" pitchFamily="34" charset="-122"/>
                <a:cs typeface="IBM Plex Mono" pitchFamily="34" charset="-120"/>
              </a:rPr>
              <a:t>FAIRNESS · Tier-1 keeps reserved compute · baseline/backfill can never borrow it · LLM gateway separately rate-limited · per-domain admission control</a:t>
            </a:r>
            <a:endParaRPr lang="en-US" sz="1800" dirty="0"/>
          </a:p>
        </p:txBody>
      </p:sp>
      <p:sp>
        <p:nvSpPr>
          <p:cNvPr id="23" name="Text 21"/>
          <p:cNvSpPr/>
          <p:nvPr/>
        </p:nvSpPr>
        <p:spPr>
          <a:xfrm>
            <a:off x="9239250" y="8591550"/>
            <a:ext cx="8437245" cy="1066800"/>
          </a:xfrm>
          <a:prstGeom prst="rect">
            <a:avLst/>
          </a:prstGeom>
          <a:noFill/>
          <a:ln/>
        </p:spPr>
        <p:txBody>
          <a:bodyPr wrap="square" lIns="25400" tIns="25400" rIns="25400" bIns="25400" rtlCol="0" anchor="t">
            <a:normAutofit/>
          </a:bodyPr>
          <a:lstStyle/>
          <a:p>
            <a:pPr algn="l" indent="0" marL="0">
              <a:lnSpc>
                <a:spcPct val="112500"/>
              </a:lnSpc>
              <a:buNone/>
            </a:pPr>
            <a:r>
              <a:rPr lang="en-US" sz="1800" dirty="0">
                <a:solidFill>
                  <a:srgbClr val="8A9099"/>
                </a:solidFill>
                <a:latin typeface="IBM Plex Mono" pitchFamily="34" charset="0"/>
                <a:ea typeface="IBM Plex Mono" pitchFamily="34" charset="-122"/>
                <a:cs typeface="IBM Plex Mono" pitchFamily="34" charset="-120"/>
              </a:rPr>
              <a:t>SIZING · concurrency = repos × mean minutes ÷ (window × utilization) → ≈298 slots calculated, 500 provisioned &amp; load-tested</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2026-08-03T12:50:11Z</dcterms:created>
  <dcterms:modified xsi:type="dcterms:W3CDTF">2026-08-03T12:50:11Z</dcterms:modified>
</cp:coreProperties>
</file>